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37aa499fc5b45c6" /><Relationship Type="http://schemas.openxmlformats.org/officeDocument/2006/relationships/extended-properties" Target="/docProps/app.xml" Id="R067fde41c1294459" /><Relationship Type="http://schemas.openxmlformats.org/officeDocument/2006/relationships/officeDocument" Target="/ppt/presentation.xml" Id="R6b559c5c29844f7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e72e456cbce4330"/>
  </p:sldMasterIdLst>
  <p:notesMasterIdLst>
    <p:notesMasterId xmlns:r="http://schemas.openxmlformats.org/officeDocument/2006/relationships" r:id="R31b942875cd64c7c"/>
  </p:notesMasterIdLst>
  <p:sldIdLst>
    <p:sldId xmlns:r="http://schemas.openxmlformats.org/officeDocument/2006/relationships" id="256" r:id="R77612be8221b4d0f"/>
    <p:sldId xmlns:r="http://schemas.openxmlformats.org/officeDocument/2006/relationships" id="257" r:id="R85773c20a4cf4605"/>
    <p:sldId xmlns:r="http://schemas.openxmlformats.org/officeDocument/2006/relationships" id="258" r:id="R9607b4a9199545c1"/>
    <p:sldId xmlns:r="http://schemas.openxmlformats.org/officeDocument/2006/relationships" id="259" r:id="Rde150658776b4cd5"/>
    <p:sldId xmlns:r="http://schemas.openxmlformats.org/officeDocument/2006/relationships" id="260" r:id="R4cc3124d08e748ec"/>
    <p:sldId xmlns:r="http://schemas.openxmlformats.org/officeDocument/2006/relationships" id="261" r:id="Ra0f86a9b8236445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c2501cca83a4cc0" /><Relationship Type="http://schemas.openxmlformats.org/officeDocument/2006/relationships/slideMaster" Target="/ppt/slideMasters/slideMaster1.xml" Id="R8e72e456cbce4330" /><Relationship Type="http://schemas.openxmlformats.org/officeDocument/2006/relationships/notesMaster" Target="/ppt/notesMasters/notesMaster1.xml" Id="R31b942875cd64c7c" /><Relationship Type="http://schemas.openxmlformats.org/officeDocument/2006/relationships/presProps" Target="/ppt/presProps.xml" Id="Ra9fec68a1f094cf9" /><Relationship Type="http://schemas.openxmlformats.org/officeDocument/2006/relationships/viewProps" Target="/ppt/viewProps.xml" Id="R2290fb2dee644f2d" /><Relationship Type="http://schemas.openxmlformats.org/officeDocument/2006/relationships/tableStyles" Target="/ppt/tableStyles.xml" Id="R6cdd8c47411747ca" /><Relationship Type="http://schemas.openxmlformats.org/officeDocument/2006/relationships/slide" Target="/ppt/slides/slide1.xml" Id="R77612be8221b4d0f" /><Relationship Type="http://schemas.openxmlformats.org/officeDocument/2006/relationships/slide" Target="/ppt/slides/slide2.xml" Id="R85773c20a4cf4605" /><Relationship Type="http://schemas.openxmlformats.org/officeDocument/2006/relationships/slide" Target="/ppt/slides/slide3.xml" Id="R9607b4a9199545c1" /><Relationship Type="http://schemas.openxmlformats.org/officeDocument/2006/relationships/slide" Target="/ppt/slides/slide4.xml" Id="Rde150658776b4cd5" /><Relationship Type="http://schemas.openxmlformats.org/officeDocument/2006/relationships/slide" Target="/ppt/slides/slide5.xml" Id="R4cc3124d08e748ec" /><Relationship Type="http://schemas.openxmlformats.org/officeDocument/2006/relationships/slide" Target="/ppt/slides/slide6.xml" Id="Ra0f86a9b8236445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e77e58884134d4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8b4d220d7234f5f" /><Relationship Type="http://schemas.openxmlformats.org/officeDocument/2006/relationships/notesMaster" Target="/ppt/notesMasters/notesMaster1.xml" Id="Rcbb10b67ec5b4a2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485cfca6bc545bc" /><Relationship Type="http://schemas.openxmlformats.org/officeDocument/2006/relationships/notesMaster" Target="/ppt/notesMasters/notesMaster1.xml" Id="Rcccd0de698ba46a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470e0b538384755" /><Relationship Type="http://schemas.openxmlformats.org/officeDocument/2006/relationships/notesMaster" Target="/ppt/notesMasters/notesMaster1.xml" Id="R5a952b709bed40a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6df19ce0b9c426a" /><Relationship Type="http://schemas.openxmlformats.org/officeDocument/2006/relationships/notesMaster" Target="/ppt/notesMasters/notesMaster1.xml" Id="Rfa53e277591a407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f925895fba64571" /><Relationship Type="http://schemas.openxmlformats.org/officeDocument/2006/relationships/notesMaster" Target="/ppt/notesMasters/notesMaster1.xml" Id="Rdc106450a42f469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adc8e6b53424c7c" /><Relationship Type="http://schemas.openxmlformats.org/officeDocument/2006/relationships/notesMaster" Target="/ppt/notesMasters/notesMaster1.xml" Id="Rfa073cebd834476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Lesson slides all follow: history left, practice right. This one is the foundation - everything else assumes the audience accepts throughput-over-latency as baked 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matrixAddition rabbit hole (floats packed into RGBA texels) is the visceral proof that the model predates the API. Open it if anyone doubts the 'disguise' framing.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cudaLuck callback: the libraries were the runway. AlexNet was the plane. Deliberate skill was recognizing the landing within months - cuDNN 2014, DGX, the pivot.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bridge to the Roofline Simulator companion - the measurement discipline lives there. The HPC-objection framing gives the skeptics their due (expertResistance pattern).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Two independent small-print lessons on one slide. The 1:8-to-1:64 sequence is verified in the document's claims ledger (#21); the EULA moment (2017, legal limit replacing technical) is worth telling aloud.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two additions: (1) FP64 is not gone from GPUs - datacenter silicon runs it at 1:2; only the consumer segment is capped (ratios per the document's verified claim #21) - so 'check the spec line' is a real design step, not paranoia. (2) The deep reason low precision wins on most kernels is bandwidth, not FLOPs: bytes halve, effective bandwidth doubles, and that pays even on hardware with no tensor cores at all. The QUDA example (8-bit block floats inside double outer solves, verified this session from the QUDA project page) shows iterative refinement making aggressive precision safe in production physics.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9377340ca74df6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95410e72a31497e" /><Relationship Type="http://schemas.openxmlformats.org/officeDocument/2006/relationships/slideLayout" Target="/ppt/slideLayouts/slideLayout1.xml" Id="R95640e40795f4a05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640e40795f4a05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51d93522204c03" /><Relationship Type="http://schemas.openxmlformats.org/officeDocument/2006/relationships/notesSlide" Target="/ppt/notesSlides/notesSlide1.xml" Id="R4518a2a47f974d3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d83eb96e424195" /><Relationship Type="http://schemas.openxmlformats.org/officeDocument/2006/relationships/notesSlide" Target="/ppt/notesSlides/notesSlide2.xml" Id="Rbbb5fda1c74b470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ceae761d944920" /><Relationship Type="http://schemas.openxmlformats.org/officeDocument/2006/relationships/notesSlide" Target="/ppt/notesSlides/notesSlide3.xml" Id="R5475f8f31d25409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ce227ded1a40f0" /><Relationship Type="http://schemas.openxmlformats.org/officeDocument/2006/relationships/notesSlide" Target="/ppt/notesSlides/notesSlide4.xml" Id="R27cf4acfea90477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59b62ae1e544a8" /><Relationship Type="http://schemas.openxmlformats.org/officeDocument/2006/relationships/notesSlide" Target="/ppt/notesSlides/notesSlide5.xml" Id="R2982402e7ab1467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9422d28fec4913" /><Relationship Type="http://schemas.openxmlformats.org/officeDocument/2006/relationships/notesSlide" Target="/ppt/notesSlides/notesSlide6.xml" Id="R3cd20461e311475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0B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E7993EE-8F67-4539-9662-29F762EBF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"/>
            <a:ext cx="11064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E8A832"/>
                </a:solidFill>
                <a:latin typeface="Courier New"/>
                <a:ea typeface="Courier New"/>
                <a:cs typeface="Courier New"/>
              </a:rPr>
              <a:t>SECTION 9 · WHY THIS MATTERS FOR YOU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97CB907-19D0-4305-9192-423309436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6928"/>
            <a:ext cx="11064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Lesson 1 — It is a throughput machine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200900C-4C3B-45EF-B336-764DC98CF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1320" y="256032"/>
            <a:ext cx="105156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5200" b="1">
                <a:solidFill>
                  <a:srgbClr val="23232F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7D172FB9-2428-410C-90C7-D38859BF6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54480"/>
            <a:ext cx="5394960" cy="3566160"/>
          </a:xfrm>
          <a:prstGeom xmlns:a="http://schemas.openxmlformats.org/drawingml/2006/main" prst="roundRect">
            <a:avLst>
              <a:gd name="adj" fmla="val 1410"/>
            </a:avLst>
          </a:prstGeom>
          <a:solidFill xmlns:a="http://schemas.openxmlformats.org/drawingml/2006/main">
            <a:srgbClr val="14141D"/>
          </a:solidFill>
          <a:ln xmlns:a="http://schemas.openxmlformats.org/drawingml/2006/main" w="12700">
            <a:solidFill>
              <a:srgbClr val="2A2A38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7101A53-6F84-4965-A921-2B31B6501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55648"/>
            <a:ext cx="4846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3CE8B2"/>
                </a:solidFill>
                <a:latin typeface="Courier New"/>
                <a:ea typeface="Courier New"/>
                <a:cs typeface="Courier New"/>
              </a:rPr>
              <a:t>THE HISTORY THAT EXPLAINS IT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3C13C8B-8F86-48A4-900D-DF3EBEECD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48840"/>
            <a:ext cx="4892040" cy="2834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DDDDDD"/>
                </a:solidFill>
                <a:latin typeface="Calibri"/>
                <a:ea typeface="Calibri"/>
                <a:cs typeface="Calibri"/>
              </a:rPr>
              <a:t>Gaming economics built it: millions of $300 cards, not thousands of $100k workstations — the volume flywheel from Section 2.</a:t>
            </a:r>
          </a:p>
          <a:p xmlns:a="http://schemas.openxmlformats.org/drawingml/2006/main"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DDDDDD"/>
                </a:solidFill>
                <a:latin typeface="Calibri"/>
                <a:ea typeface="Calibri"/>
                <a:cs typeface="Calibri"/>
              </a:rPr>
              <a:t>A frame is millions of independent pixels; latency on any one of them is irrelevant.  The silicon inherited that: thousands of small, slow, simple cores.</a:t>
            </a:r>
          </a:p>
          <a:p xmlns:a="http://schemas.openxmlformats.org/drawingml/2006/main"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DDDDDD"/>
                </a:solidFill>
                <a:latin typeface="Calibri"/>
                <a:ea typeface="Calibri"/>
                <a:cs typeface="Calibri"/>
              </a:rPr>
              <a:t>Nothing about CUDA changed the economics — compute rides on hardware shaped by games.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328F6F71-435E-496F-8409-807FBD1FA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554480"/>
            <a:ext cx="5257800" cy="3566160"/>
          </a:xfrm>
          <a:prstGeom xmlns:a="http://schemas.openxmlformats.org/drawingml/2006/main" prst="roundRect">
            <a:avLst>
              <a:gd name="adj" fmla="val 1410"/>
            </a:avLst>
          </a:prstGeom>
          <a:solidFill xmlns:a="http://schemas.openxmlformats.org/drawingml/2006/main">
            <a:srgbClr val="14141D"/>
          </a:solidFill>
          <a:ln xmlns:a="http://schemas.openxmlformats.org/drawingml/2006/main" w="12700">
            <a:solidFill>
              <a:srgbClr val="2A2A38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311F2D0-C217-4AC2-8255-D643F5C5A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755648"/>
            <a:ext cx="4754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E8A832"/>
                </a:solidFill>
                <a:latin typeface="Courier New"/>
                <a:ea typeface="Courier New"/>
                <a:cs typeface="Courier New"/>
              </a:rPr>
              <a:t>THE PRACTICE IT DEMANDS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221D62D5-1B68-436F-AA63-E2D4E25FF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148840"/>
            <a:ext cx="4754880" cy="2834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DDDDDD"/>
                </a:solidFill>
                <a:latin typeface="Calibri"/>
                <a:ea typeface="Calibri"/>
                <a:cs typeface="Calibri"/>
              </a:rPr>
              <a:t>The first question of any port is not “how fast is the GPU?” but “is there enough parallel work to be worth the trip?”</a:t>
            </a:r>
          </a:p>
          <a:p xmlns:a="http://schemas.openxmlformats.org/drawingml/2006/main"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DDDDDD"/>
                </a:solidFill>
                <a:latin typeface="Calibri"/>
                <a:ea typeface="Calibri"/>
                <a:cs typeface="Calibri"/>
              </a:rPr>
              <a:t>Small or serial work often loses, sometimes by orders of magnitude.</a:t>
            </a:r>
            <a:r>
              <a:rPr sz="1250">
                <a:solidFill>
                  <a:srgbClr val="DDDDDD"/>
                </a:solidFill>
                <a:latin typeface="Calibri"/>
                <a:ea typeface="Calibri"/>
                <a:cs typeface="Calibri"/>
              </a:rPr>
              <a:t>  One fast core beats a thousand slow ones on a serial problem.</a:t>
            </a:r>
          </a:p>
          <a:p xmlns:a="http://schemas.openxmlformats.org/drawingml/2006/main"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DDDDDD"/>
                </a:solidFill>
                <a:latin typeface="Calibri"/>
                <a:ea typeface="Calibri"/>
                <a:cs typeface="Calibri"/>
              </a:rPr>
              <a:t>Throughput-over-latency is not a setting.  It is the machine.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D0DED0B-111D-477C-9D3C-3F10C7C25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349240"/>
            <a:ext cx="10881360" cy="868680"/>
          </a:xfrm>
          <a:prstGeom xmlns:a="http://schemas.openxmlformats.org/drawingml/2006/main" prst="roundRect">
            <a:avLst>
              <a:gd name="adj" fmla="val 5789"/>
            </a:avLst>
          </a:prstGeom>
          <a:solidFill xmlns:a="http://schemas.openxmlformats.org/drawingml/2006/main">
            <a:srgbClr val="14141D"/>
          </a:solidFill>
          <a:ln xmlns:a="http://schemas.openxmlformats.org/drawingml/2006/main" w="12700">
            <a:solidFill>
              <a:srgbClr val="2A2A38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980698A-5AD2-4816-A1F0-137B6BAF0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32120"/>
            <a:ext cx="103327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45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machine is a consequence of who paid for it.  Program the economics, not the brochure.</a:t>
            </a:r>
          </a:p>
        </p:txBody>
      </p:sp>
    </p:spTree>
    <p:extLst>
      <p:ext uri="{BB962C8B-B14F-4D97-AF65-F5344CB8AC3E}">
        <p14:creationId xmlns:p14="http://schemas.microsoft.com/office/powerpoint/2010/main" val="1317731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0B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783AAFF-A359-4BDF-806D-D0A8D7468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"/>
            <a:ext cx="11064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E8A832"/>
                </a:solidFill>
                <a:latin typeface="Courier New"/>
                <a:ea typeface="Courier New"/>
                <a:cs typeface="Courier New"/>
              </a:rPr>
              <a:t>SECTION 9 · WHY THIS MATTERS FOR YOU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1B0301E-2E4F-4595-B635-C1716A51A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6928"/>
            <a:ext cx="11064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Lesson 2 — The programming model is the hardware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6D3CEB5-BDDA-4057-A644-749909E79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1320" y="256032"/>
            <a:ext cx="105156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5200" b="1">
                <a:solidFill>
                  <a:srgbClr val="23232F"/>
                </a:solidFill>
                <a:latin typeface="Courier New"/>
                <a:ea typeface="Courier New"/>
                <a:cs typeface="Courier New"/>
              </a:rPr>
              <a:t>2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8010103-8102-4575-84A9-C865158BA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54480"/>
            <a:ext cx="5394960" cy="3566160"/>
          </a:xfrm>
          <a:prstGeom xmlns:a="http://schemas.openxmlformats.org/drawingml/2006/main" prst="roundRect">
            <a:avLst>
              <a:gd name="adj" fmla="val 1410"/>
            </a:avLst>
          </a:prstGeom>
          <a:solidFill xmlns:a="http://schemas.openxmlformats.org/drawingml/2006/main">
            <a:srgbClr val="14141D"/>
          </a:solidFill>
          <a:ln xmlns:a="http://schemas.openxmlformats.org/drawingml/2006/main" w="12700">
            <a:solidFill>
              <a:srgbClr val="2A2A38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2DBA66E-6C7B-4652-80BE-272FDD8C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55648"/>
            <a:ext cx="4846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3CE8B2"/>
                </a:solidFill>
                <a:latin typeface="Courier New"/>
                <a:ea typeface="Courier New"/>
                <a:cs typeface="Courier New"/>
              </a:rPr>
              <a:t>THE HISTORY THAT EXPLAINS IT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474F554-AA26-442B-914B-8298A3700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48840"/>
            <a:ext cx="4892040" cy="2834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DDDDDD"/>
                </a:solidFill>
                <a:latin typeface="Calibri"/>
                <a:ea typeface="Calibri"/>
                <a:cs typeface="Calibri"/>
              </a:rPr>
              <a:t>Section 1’s bargain: every pixel decided independently.  The model was always there — one function over many independent elements.</a:t>
            </a:r>
          </a:p>
          <a:p xmlns:a="http://schemas.openxmlformats.org/drawingml/2006/main"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DDDDDD"/>
                </a:solidFill>
                <a:latin typeface="Calibri"/>
                <a:ea typeface="Calibri"/>
                <a:cs typeface="Calibri"/>
              </a:rPr>
              <a:t>Section 4’s hacks proved it: floats disguised as pixel colors, matrices as textures — general compute forced through a graphics-shaped hole.</a:t>
            </a:r>
          </a:p>
          <a:p xmlns:a="http://schemas.openxmlformats.org/drawingml/2006/main"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DDDDDD"/>
                </a:solidFill>
                <a:latin typeface="Calibri"/>
                <a:ea typeface="Calibri"/>
                <a:cs typeface="Calibri"/>
              </a:rPr>
              <a:t>Brook (2004) named it — streams and kernels — and CUDA (2006) made it the native tongue.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F0A5F733-06A1-4ED8-AE20-3348E3C8E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554480"/>
            <a:ext cx="5257800" cy="3566160"/>
          </a:xfrm>
          <a:prstGeom xmlns:a="http://schemas.openxmlformats.org/drawingml/2006/main" prst="roundRect">
            <a:avLst>
              <a:gd name="adj" fmla="val 1410"/>
            </a:avLst>
          </a:prstGeom>
          <a:solidFill xmlns:a="http://schemas.openxmlformats.org/drawingml/2006/main">
            <a:srgbClr val="14141D"/>
          </a:solidFill>
          <a:ln xmlns:a="http://schemas.openxmlformats.org/drawingml/2006/main" w="12700">
            <a:solidFill>
              <a:srgbClr val="2A2A38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CE05781-16ED-4847-8C32-4E36D8D1E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755648"/>
            <a:ext cx="4754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E8A832"/>
                </a:solidFill>
                <a:latin typeface="Courier New"/>
                <a:ea typeface="Courier New"/>
                <a:cs typeface="Courier New"/>
              </a:rPr>
              <a:t>THE PRACTICE IT DEMANDS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E12B590-035E-49AD-ADA1-5DC1A6CF5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148840"/>
            <a:ext cx="4754880" cy="2834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DDDDDD"/>
                </a:solidFill>
                <a:latin typeface="Calibri"/>
                <a:ea typeface="Calibri"/>
                <a:cs typeface="Calibri"/>
              </a:rPr>
              <a:t>Data-parallel code ports almost by transcription: one kernel, many elements, no cross-talk.</a:t>
            </a:r>
          </a:p>
          <a:p xmlns:a="http://schemas.openxmlformats.org/drawingml/2006/main"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DDDDDD"/>
                </a:solidFill>
                <a:latin typeface="Calibri"/>
                <a:ea typeface="Calibri"/>
                <a:cs typeface="Calibri"/>
              </a:rPr>
              <a:t>Deeply serial code must be rethought, not translated.  If element i needs element i−1, you are fighting the machine’s founding assumption.</a:t>
            </a:r>
          </a:p>
          <a:p xmlns:a="http://schemas.openxmlformats.org/drawingml/2006/main"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DDDDDD"/>
                </a:solidFill>
                <a:latin typeface="Calibri"/>
                <a:ea typeface="Calibri"/>
                <a:cs typeface="Calibri"/>
              </a:rPr>
              <a:t>Ask of every loop: are the iterations strangers to each other?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71B2ACEC-8C3B-498E-BB99-FA1491F65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681728"/>
            <a:ext cx="274320" cy="27432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1B30"/>
          </a:solidFill>
          <a:ln xmlns:a="http://schemas.openxmlformats.org/drawingml/2006/main" w="15875">
            <a:solidFill>
              <a:srgbClr val="6AA6FF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44123BE-8918-4947-A446-58D461410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670755"/>
            <a:ext cx="2743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6AA6FF"/>
                </a:solidFill>
                <a:latin typeface="Courier New"/>
                <a:ea typeface="Courier New"/>
                <a:cs typeface="Courier New"/>
              </a:rPr>
              <a:t>N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51BBAD9-C170-4FEA-8F3A-32512ECCC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4670755"/>
            <a:ext cx="51206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6AA6FF"/>
                </a:solidFill>
                <a:latin typeface="Courier New"/>
                <a:ea typeface="Courier New"/>
                <a:cs typeface="Courier New"/>
              </a:rPr>
              <a:t>MATRIX ADDITION AS PIXELS · §4 NOTE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5E510B5E-F821-45C5-90D6-91D333A0F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349240"/>
            <a:ext cx="10881360" cy="868680"/>
          </a:xfrm>
          <a:prstGeom xmlns:a="http://schemas.openxmlformats.org/drawingml/2006/main" prst="roundRect">
            <a:avLst>
              <a:gd name="adj" fmla="val 5789"/>
            </a:avLst>
          </a:prstGeom>
          <a:solidFill xmlns:a="http://schemas.openxmlformats.org/drawingml/2006/main">
            <a:srgbClr val="14141D"/>
          </a:solidFill>
          <a:ln xmlns:a="http://schemas.openxmlformats.org/drawingml/2006/main" w="12700">
            <a:solidFill>
              <a:srgbClr val="2A2A38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8A1E01C-7BBD-4164-86A5-37AB2332B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32120"/>
            <a:ext cx="103327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45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CUDA did not invent the model — it stopped requiring the disguise.  The hardware’s shape was the model all along.</a:t>
            </a:r>
          </a:p>
        </p:txBody>
      </p:sp>
    </p:spTree>
    <p:extLst>
      <p:ext uri="{BB962C8B-B14F-4D97-AF65-F5344CB8AC3E}">
        <p14:creationId xmlns:p14="http://schemas.microsoft.com/office/powerpoint/2010/main" val="1769134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0B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1E7D663-5CDF-421D-B039-795F48CD7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"/>
            <a:ext cx="11064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E8A832"/>
                </a:solidFill>
                <a:latin typeface="Courier New"/>
                <a:ea typeface="Courier New"/>
                <a:cs typeface="Courier New"/>
              </a:rPr>
              <a:t>SECTION 9 · WHY THIS MATTERS FOR YOU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1734D03-700B-4AC0-B8A7-58BAA3272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6928"/>
            <a:ext cx="11064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Lesson 3 — Call a library, not a kernel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C330E84-4538-4FF2-90F0-0546D96BA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1320" y="256032"/>
            <a:ext cx="105156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5200" b="1">
                <a:solidFill>
                  <a:srgbClr val="23232F"/>
                </a:solidFill>
                <a:latin typeface="Courier New"/>
                <a:ea typeface="Courier New"/>
                <a:cs typeface="Courier New"/>
              </a:rPr>
              <a:t>3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AF7782E-F69A-428D-9F01-C7A256C10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54480"/>
            <a:ext cx="5394960" cy="3566160"/>
          </a:xfrm>
          <a:prstGeom xmlns:a="http://schemas.openxmlformats.org/drawingml/2006/main" prst="roundRect">
            <a:avLst>
              <a:gd name="adj" fmla="val 1410"/>
            </a:avLst>
          </a:prstGeom>
          <a:solidFill xmlns:a="http://schemas.openxmlformats.org/drawingml/2006/main">
            <a:srgbClr val="14141D"/>
          </a:solidFill>
          <a:ln xmlns:a="http://schemas.openxmlformats.org/drawingml/2006/main" w="12700">
            <a:solidFill>
              <a:srgbClr val="2A2A38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9B7F610-7015-4057-97F0-B6F7A28B4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55648"/>
            <a:ext cx="4846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3CE8B2"/>
                </a:solidFill>
                <a:latin typeface="Courier New"/>
                <a:ea typeface="Courier New"/>
                <a:cs typeface="Courier New"/>
              </a:rPr>
              <a:t>THE HISTORY THAT EXPLAINS IT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1C208FF-72F1-48ED-A97B-F1BCF6B27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48840"/>
            <a:ext cx="4892040" cy="2834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DDDDDD"/>
                </a:solidFill>
                <a:latin typeface="Calibri"/>
                <a:ea typeface="Calibri"/>
                <a:cs typeface="Calibri"/>
              </a:rPr>
              <a:t>Section 5’s bet: the integrated proprietary stack — CUDA plus its libraries — beat the open alternative that shipped as a spec.</a:t>
            </a:r>
          </a:p>
          <a:p xmlns:a="http://schemas.openxmlformats.org/drawingml/2006/main"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DDDDDD"/>
                </a:solidFill>
                <a:latin typeface="Calibri"/>
                <a:ea typeface="Calibri"/>
                <a:cs typeface="Calibri"/>
              </a:rPr>
              <a:t>cuBLAS, cuFFT, cuSOLVER, cuDNN: vendor kernels tuned per architecture, by the people who designed the silicon.</a:t>
            </a:r>
          </a:p>
          <a:p xmlns:a="http://schemas.openxmlformats.org/drawingml/2006/main"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DDDDDD"/>
                </a:solidFill>
                <a:latin typeface="Calibri"/>
                <a:ea typeface="Calibri"/>
                <a:cs typeface="Calibri"/>
              </a:rPr>
              <a:t>When tensor cores arrived in 2017, updated libraries could expose them with little or no application-code change.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A7E89109-C884-4B8C-9D0C-829FBB148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554480"/>
            <a:ext cx="5257800" cy="3566160"/>
          </a:xfrm>
          <a:prstGeom xmlns:a="http://schemas.openxmlformats.org/drawingml/2006/main" prst="roundRect">
            <a:avLst>
              <a:gd name="adj" fmla="val 1410"/>
            </a:avLst>
          </a:prstGeom>
          <a:solidFill xmlns:a="http://schemas.openxmlformats.org/drawingml/2006/main">
            <a:srgbClr val="14141D"/>
          </a:solidFill>
          <a:ln xmlns:a="http://schemas.openxmlformats.org/drawingml/2006/main" w="12700">
            <a:solidFill>
              <a:srgbClr val="2A2A38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AB32C81-B4C7-4947-9D25-980511E0D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755648"/>
            <a:ext cx="4754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E8A832"/>
                </a:solidFill>
                <a:latin typeface="Courier New"/>
                <a:ea typeface="Courier New"/>
                <a:cs typeface="Courier New"/>
              </a:rPr>
              <a:t>THE PRACTICE IT DEMANDS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5BC70A4-34FA-41F5-9CDC-1FD3353C2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148840"/>
            <a:ext cx="4754880" cy="2834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DDDDDD"/>
                </a:solidFill>
                <a:latin typeface="Calibri"/>
                <a:ea typeface="Calibri"/>
                <a:cs typeface="Calibri"/>
              </a:rPr>
              <a:t>On common operations, hand-written kernels often lose to vendor libraries — and may age worse across hardware generations.</a:t>
            </a:r>
          </a:p>
          <a:p xmlns:a="http://schemas.openxmlformats.org/drawingml/2006/main"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DDDDDD"/>
                </a:solidFill>
                <a:latin typeface="Calibri"/>
                <a:ea typeface="Calibri"/>
                <a:cs typeface="Calibri"/>
              </a:rPr>
              <a:t>Write to the operation, not the device: say “multiply these matrices,” let the library choose the silicon.</a:t>
            </a:r>
          </a:p>
          <a:p xmlns:a="http://schemas.openxmlformats.org/drawingml/2006/main"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DDDDDD"/>
                </a:solidFill>
                <a:latin typeface="Calibri"/>
                <a:ea typeface="Calibri"/>
                <a:cs typeface="Calibri"/>
              </a:rPr>
              <a:t>Your own kernels are for the glue between library calls — not the linear algebra inside them.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19FD80B0-BBB7-4A8B-B344-5709A1AEC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681728"/>
            <a:ext cx="274320" cy="27432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1B30"/>
          </a:solidFill>
          <a:ln xmlns:a="http://schemas.openxmlformats.org/drawingml/2006/main" w="15875">
            <a:solidFill>
              <a:srgbClr val="6AA6FF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D506806-8A0A-4428-98BD-B0AEF2A4E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670755"/>
            <a:ext cx="2743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6AA6FF"/>
                </a:solidFill>
                <a:latin typeface="Courier New"/>
                <a:ea typeface="Courier New"/>
                <a:cs typeface="Courier New"/>
              </a:rPr>
              <a:t>N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50B3055-2277-4C4D-8999-FB6B6DD2E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4670755"/>
            <a:ext cx="51206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6AA6FF"/>
                </a:solidFill>
                <a:latin typeface="Courier New"/>
                <a:ea typeface="Courier New"/>
                <a:cs typeface="Courier New"/>
              </a:rPr>
              <a:t>THE RUNWAY AND THE PLANE · §7 NOTE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27AB48B6-072F-4753-9647-B094D47B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349240"/>
            <a:ext cx="10881360" cy="868680"/>
          </a:xfrm>
          <a:prstGeom xmlns:a="http://schemas.openxmlformats.org/drawingml/2006/main" prst="roundRect">
            <a:avLst>
              <a:gd name="adj" fmla="val 5789"/>
            </a:avLst>
          </a:prstGeom>
          <a:solidFill xmlns:a="http://schemas.openxmlformats.org/drawingml/2006/main">
            <a:srgbClr val="14141D"/>
          </a:solidFill>
          <a:ln xmlns:a="http://schemas.openxmlformats.org/drawingml/2006/main" w="12700">
            <a:solidFill>
              <a:srgbClr val="2A2A38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BE96827E-0692-44AA-9E1A-52C3D00E1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32120"/>
            <a:ext cx="103327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45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library is the contract that outlives the hardware.  </a:t>
            </a:r>
            <a:r>
              <a:rPr sz="145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It is also the usual door to the tensor cores.</a:t>
            </a:r>
          </a:p>
        </p:txBody>
      </p:sp>
    </p:spTree>
    <p:extLst>
      <p:ext uri="{BB962C8B-B14F-4D97-AF65-F5344CB8AC3E}">
        <p14:creationId xmlns:p14="http://schemas.microsoft.com/office/powerpoint/2010/main" val="292339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0B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77E4297-76DD-4D09-9A9D-E56FFDE05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"/>
            <a:ext cx="11064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E8A832"/>
                </a:solidFill>
                <a:latin typeface="Courier New"/>
                <a:ea typeface="Courier New"/>
                <a:cs typeface="Courier New"/>
              </a:rPr>
              <a:t>SECTION 9 · WHY THIS MATTERS FOR YOU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C803D21-7013-47D7-A733-A094A22B4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6928"/>
            <a:ext cx="11064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Lesson 4 — Moving data is the hidden cost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E9802C7-CD53-4342-AB61-76777D100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1320" y="256032"/>
            <a:ext cx="105156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5200" b="1">
                <a:solidFill>
                  <a:srgbClr val="23232F"/>
                </a:solidFill>
                <a:latin typeface="Courier New"/>
                <a:ea typeface="Courier New"/>
                <a:cs typeface="Courier New"/>
              </a:rPr>
              <a:t>4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982F286-B7C8-44A6-B8D3-D0CC06BEF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54480"/>
            <a:ext cx="5394960" cy="3566160"/>
          </a:xfrm>
          <a:prstGeom xmlns:a="http://schemas.openxmlformats.org/drawingml/2006/main" prst="roundRect">
            <a:avLst>
              <a:gd name="adj" fmla="val 1410"/>
            </a:avLst>
          </a:prstGeom>
          <a:solidFill xmlns:a="http://schemas.openxmlformats.org/drawingml/2006/main">
            <a:srgbClr val="14141D"/>
          </a:solidFill>
          <a:ln xmlns:a="http://schemas.openxmlformats.org/drawingml/2006/main" w="12700">
            <a:solidFill>
              <a:srgbClr val="2A2A38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848411E-629B-4393-8E7C-FC65C898C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55648"/>
            <a:ext cx="4846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3CE8B2"/>
                </a:solidFill>
                <a:latin typeface="Courier New"/>
                <a:ea typeface="Courier New"/>
                <a:cs typeface="Courier New"/>
              </a:rPr>
              <a:t>THE HISTORY THAT EXPLAINS IT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1E425F86-8D4E-48EC-BEB3-0C83474F0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48840"/>
            <a:ext cx="4892040" cy="2834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DDDDDD"/>
                </a:solidFill>
                <a:latin typeface="Calibri"/>
                <a:ea typeface="Calibri"/>
                <a:cs typeface="Calibri"/>
              </a:rPr>
              <a:t>The GPU is a coprocessor across a bus — Section 6’s HPC skeptics said exactly this, and they were right; it just was not fatal.</a:t>
            </a:r>
          </a:p>
          <a:p xmlns:a="http://schemas.openxmlformats.org/drawingml/2006/main"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DDDDDD"/>
                </a:solidFill>
                <a:latin typeface="Calibri"/>
                <a:ea typeface="Calibri"/>
                <a:cs typeface="Calibri"/>
              </a:rPr>
              <a:t>Tianhe-1A and Titan won by keeping data resident on the device, not by shuttling it per operation.</a:t>
            </a:r>
          </a:p>
          <a:p xmlns:a="http://schemas.openxmlformats.org/drawingml/2006/main"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DDDDDD"/>
                </a:solidFill>
                <a:latin typeface="Calibri"/>
                <a:ea typeface="Calibri"/>
                <a:cs typeface="Calibri"/>
              </a:rPr>
              <a:t>The exception proves the rule: matmul’s n³-on-n² is why it can be frozen at all (Slide 4).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6671F888-283C-45A3-8E66-BF3B4C8D9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554480"/>
            <a:ext cx="5257800" cy="3566160"/>
          </a:xfrm>
          <a:prstGeom xmlns:a="http://schemas.openxmlformats.org/drawingml/2006/main" prst="roundRect">
            <a:avLst>
              <a:gd name="adj" fmla="val 1410"/>
            </a:avLst>
          </a:prstGeom>
          <a:solidFill xmlns:a="http://schemas.openxmlformats.org/drawingml/2006/main">
            <a:srgbClr val="14141D"/>
          </a:solidFill>
          <a:ln xmlns:a="http://schemas.openxmlformats.org/drawingml/2006/main" w="12700">
            <a:solidFill>
              <a:srgbClr val="2A2A38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B701980-4BFE-4B8D-8BD4-6847CA6F2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755648"/>
            <a:ext cx="4754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E8A832"/>
                </a:solidFill>
                <a:latin typeface="Courier New"/>
                <a:ea typeface="Courier New"/>
                <a:cs typeface="Courier New"/>
              </a:rPr>
              <a:t>THE PRACTICE IT DEMANDS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4ECCA6AA-E7EE-4189-A5BE-13659A8AE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148840"/>
            <a:ext cx="4754880" cy="2834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DDDDDD"/>
                </a:solidFill>
                <a:latin typeface="Calibri"/>
                <a:ea typeface="Calibri"/>
                <a:cs typeface="Calibri"/>
              </a:rPr>
              <a:t>Arithmetic per byte moved must pay for the move.  Count it before you port — this is the roofline question.</a:t>
            </a:r>
          </a:p>
          <a:p xmlns:a="http://schemas.openxmlformats.org/drawingml/2006/main"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DDDDDD"/>
                </a:solidFill>
                <a:latin typeface="Calibri"/>
                <a:ea typeface="Calibri"/>
                <a:cs typeface="Calibri"/>
              </a:rPr>
              <a:t>Keep data resident: chain operations on the device; the worst pattern is transfer–compute–transfer per step.</a:t>
            </a:r>
          </a:p>
          <a:p xmlns:a="http://schemas.openxmlformats.org/drawingml/2006/main"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DDDDDD"/>
                </a:solidFill>
                <a:latin typeface="Calibri"/>
                <a:ea typeface="Calibri"/>
                <a:cs typeface="Calibri"/>
              </a:rPr>
              <a:t>A slow GPU port may be a transfer problem wearing a compute costume.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D569F801-1AAF-4665-B265-4981B596E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349240"/>
            <a:ext cx="10881360" cy="868680"/>
          </a:xfrm>
          <a:prstGeom xmlns:a="http://schemas.openxmlformats.org/drawingml/2006/main" prst="roundRect">
            <a:avLst>
              <a:gd name="adj" fmla="val 5789"/>
            </a:avLst>
          </a:prstGeom>
          <a:solidFill xmlns:a="http://schemas.openxmlformats.org/drawingml/2006/main">
            <a:srgbClr val="14141D"/>
          </a:solidFill>
          <a:ln xmlns:a="http://schemas.openxmlformats.org/drawingml/2006/main" w="12700">
            <a:solidFill>
              <a:srgbClr val="2A2A38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FD052A4F-9862-48C1-91F5-964CD3CF5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32120"/>
            <a:ext cx="103327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45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bus never got fast enough to stop mattering.  Every fast GPU program is, first, a data-residency design.</a:t>
            </a:r>
          </a:p>
        </p:txBody>
      </p:sp>
    </p:spTree>
    <p:extLst>
      <p:ext uri="{BB962C8B-B14F-4D97-AF65-F5344CB8AC3E}">
        <p14:creationId xmlns:p14="http://schemas.microsoft.com/office/powerpoint/2010/main" val="1230538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0B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9F99629-9002-4BE7-B3B1-20F831956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"/>
            <a:ext cx="11064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E8A832"/>
                </a:solidFill>
                <a:latin typeface="Courier New"/>
                <a:ea typeface="Courier New"/>
                <a:cs typeface="Courier New"/>
              </a:rPr>
              <a:t>SECTION 9 · WHY THIS MATTERS FOR YOU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8364F1A-CE05-4EDB-B325-00C7879F6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6928"/>
            <a:ext cx="11064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Lesson 5 — Small costs; priced precision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4DFC7CB-64E6-4843-A06E-BF67372EA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1320" y="256032"/>
            <a:ext cx="105156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5200" b="1">
                <a:solidFill>
                  <a:srgbClr val="23232F"/>
                </a:solidFill>
                <a:latin typeface="Courier New"/>
                <a:ea typeface="Courier New"/>
                <a:cs typeface="Courier New"/>
              </a:rPr>
              <a:t>5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DA3AA4B-2347-4C50-9520-E534D7C24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54480"/>
            <a:ext cx="5394960" cy="3566160"/>
          </a:xfrm>
          <a:prstGeom xmlns:a="http://schemas.openxmlformats.org/drawingml/2006/main" prst="roundRect">
            <a:avLst>
              <a:gd name="adj" fmla="val 1410"/>
            </a:avLst>
          </a:prstGeom>
          <a:solidFill xmlns:a="http://schemas.openxmlformats.org/drawingml/2006/main">
            <a:srgbClr val="14141D"/>
          </a:solidFill>
          <a:ln xmlns:a="http://schemas.openxmlformats.org/drawingml/2006/main" w="12700">
            <a:solidFill>
              <a:srgbClr val="2A2A38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BAEFBDF-63AF-4024-8E82-6D32CEC51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55648"/>
            <a:ext cx="4846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3CE8B2"/>
                </a:solidFill>
                <a:latin typeface="Courier New"/>
                <a:ea typeface="Courier New"/>
                <a:cs typeface="Courier New"/>
              </a:rPr>
              <a:t>LAUNCH OVERHEAD · THE HISTORY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777CF1D-8B4B-467E-AF77-C15A6BBA4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48840"/>
            <a:ext cx="4892040" cy="2834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DDDDDD"/>
                </a:solidFill>
                <a:latin typeface="Calibri"/>
                <a:ea typeface="Calibri"/>
                <a:cs typeface="Calibri"/>
              </a:rPr>
              <a:t>Each kernel launch costs microseconds of host round-trip — invisible once, ruinous a million times.</a:t>
            </a:r>
          </a:p>
          <a:p xmlns:a="http://schemas.openxmlformats.org/drawingml/2006/main"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DDDDDD"/>
                </a:solidFill>
                <a:latin typeface="Calibri"/>
                <a:ea typeface="Calibri"/>
                <a:cs typeface="Calibri"/>
              </a:rPr>
              <a:t>The fixes are structural: batch the work, fuse the kernels, capture-and-replay the whole graph (CUDA Graphs).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A8EF0788-3AEC-429A-A192-2176D445B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554480"/>
            <a:ext cx="5257800" cy="3566160"/>
          </a:xfrm>
          <a:prstGeom xmlns:a="http://schemas.openxmlformats.org/drawingml/2006/main" prst="roundRect">
            <a:avLst>
              <a:gd name="adj" fmla="val 1410"/>
            </a:avLst>
          </a:prstGeom>
          <a:solidFill xmlns:a="http://schemas.openxmlformats.org/drawingml/2006/main">
            <a:srgbClr val="14141D"/>
          </a:solidFill>
          <a:ln xmlns:a="http://schemas.openxmlformats.org/drawingml/2006/main" w="12700">
            <a:solidFill>
              <a:srgbClr val="2A2A38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7DDF203-775B-4D40-8957-C43323C50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755648"/>
            <a:ext cx="4754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E8A832"/>
                </a:solidFill>
                <a:latin typeface="Courier New"/>
                <a:ea typeface="Courier New"/>
                <a:cs typeface="Courier New"/>
              </a:rPr>
              <a:t>PRECISION · THE PRICE LIST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4C9FDC3A-6C0C-4151-B582-A4E49890C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148840"/>
            <a:ext cx="4754880" cy="2834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DDDDDD"/>
                </a:solidFill>
                <a:latin typeface="Calibri"/>
                <a:ea typeface="Calibri"/>
                <a:cs typeface="Calibri"/>
              </a:rPr>
              <a:t>FP64 on consumer cards: 1:8 → 1:24 → 1:32 → 1:64 of FP32, generation by generation — a business decision, not physics (Section 6).</a:t>
            </a:r>
          </a:p>
          <a:p xmlns:a="http://schemas.openxmlformats.org/drawingml/2006/main"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DDDDDD"/>
                </a:solidFill>
                <a:latin typeface="Calibri"/>
                <a:ea typeface="Calibri"/>
                <a:cs typeface="Calibri"/>
              </a:rPr>
              <a:t>Tensor cores dial the other way: FP16 → INT8 → INT4 — precision engineered as a spectrum, priced by the workload.</a:t>
            </a:r>
          </a:p>
          <a:p xmlns:a="http://schemas.openxmlformats.org/drawingml/2006/main"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DDDDDD"/>
                </a:solidFill>
                <a:latin typeface="Calibri"/>
                <a:ea typeface="Calibri"/>
                <a:cs typeface="Calibri"/>
              </a:rPr>
              <a:t>Choose precision like you choose an algorithm: deliberately, and check what your card actually provides.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2BCA327A-7841-4D1D-B94D-F736146F4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349240"/>
            <a:ext cx="10881360" cy="868680"/>
          </a:xfrm>
          <a:prstGeom xmlns:a="http://schemas.openxmlformats.org/drawingml/2006/main" prst="roundRect">
            <a:avLst>
              <a:gd name="adj" fmla="val 5789"/>
            </a:avLst>
          </a:prstGeom>
          <a:solidFill xmlns:a="http://schemas.openxmlformats.org/drawingml/2006/main">
            <a:srgbClr val="14141D"/>
          </a:solidFill>
          <a:ln xmlns:a="http://schemas.openxmlformats.org/drawingml/2006/main" w="12700">
            <a:solidFill>
              <a:srgbClr val="2A2A38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6A062EE-996F-4189-A404-1B572207A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32120"/>
            <a:ext cx="103327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45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FP64 penalty in the offload guide is a price list, not a law of nature.  Read the price list before you design.</a:t>
            </a:r>
          </a:p>
        </p:txBody>
      </p:sp>
    </p:spTree>
    <p:extLst>
      <p:ext uri="{BB962C8B-B14F-4D97-AF65-F5344CB8AC3E}">
        <p14:creationId xmlns:p14="http://schemas.microsoft.com/office/powerpoint/2010/main" val="2125353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0B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0AED4B1-E8D3-4287-9CBA-7049E4206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"/>
            <a:ext cx="11064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E8A832"/>
                </a:solidFill>
                <a:latin typeface="Courier New"/>
                <a:ea typeface="Courier New"/>
                <a:cs typeface="Courier New"/>
              </a:rPr>
              <a:t>SECTION 9 · WHY THIS MATTERS FOR YOU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D2A2304-A8C1-42D9-B883-911E9F3C7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6928"/>
            <a:ext cx="11064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Lesson 5, continued — precision in practice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9FC412B-A3CF-4D9A-A7CD-EF238257F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54480"/>
            <a:ext cx="5394960" cy="2286000"/>
          </a:xfrm>
          <a:prstGeom xmlns:a="http://schemas.openxmlformats.org/drawingml/2006/main" prst="roundRect">
            <a:avLst>
              <a:gd name="adj" fmla="val 2200"/>
            </a:avLst>
          </a:prstGeom>
          <a:solidFill xmlns:a="http://schemas.openxmlformats.org/drawingml/2006/main">
            <a:srgbClr val="14141D"/>
          </a:solidFill>
          <a:ln xmlns:a="http://schemas.openxmlformats.org/drawingml/2006/main" w="12700">
            <a:solidFill>
              <a:srgbClr val="2A2A38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5C8E2F7-7768-40F5-92A7-8D99CECF8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7360"/>
            <a:ext cx="4846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3CE8B2"/>
                </a:solidFill>
                <a:latin typeface="Courier New"/>
                <a:ea typeface="Courier New"/>
                <a:cs typeface="Courier New"/>
              </a:rPr>
              <a:t>CHECK THE FP64 LINE FIRST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E32FF9C-BE45-4A44-A815-C16731BC3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8256"/>
            <a:ext cx="4892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datacenter ≈ 1:2   ·   consumer 1:8 → 1:64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08DFB5E-CA65-4D06-81AF-72B5186FA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77440"/>
            <a:ext cx="489204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7000"/>
              </a:lnSpc>
              <a:buNone/>
            </a:pPr>
            <a:r>
              <a:rPr sz="1050">
                <a:solidFill>
                  <a:srgbClr val="DDDDDD"/>
                </a:solidFill>
                <a:latin typeface="Calibri"/>
                <a:ea typeface="Calibri"/>
                <a:cs typeface="Calibri"/>
              </a:rPr>
              <a:t>GPUs are not one machine.  Many datacenter parts run double precision near half the FP32 rate — engineering-grade FP64 at high speed.  Consumer cards of the same generation may be limited to 1:32–1:64, deliberately.</a:t>
            </a:r>
            <a:r>
              <a:rPr sz="1050">
                <a:solidFill>
                  <a:srgbClr val="DDDDDD"/>
                </a:solidFill>
                <a:latin typeface="Calibri"/>
                <a:ea typeface="Calibri"/>
                <a:cs typeface="Calibri"/>
              </a:rPr>
              <a:t>  If your work leans on FP64 — structural dynamics, covariance solves, anywhere conditioning bites — the card class is the first architectural decision you make.  One line of the spec sheet decides the design.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68D82D83-1AD5-46E0-AC46-796A13C68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554480"/>
            <a:ext cx="5257800" cy="2286000"/>
          </a:xfrm>
          <a:prstGeom xmlns:a="http://schemas.openxmlformats.org/drawingml/2006/main" prst="roundRect">
            <a:avLst>
              <a:gd name="adj" fmla="val 2200"/>
            </a:avLst>
          </a:prstGeom>
          <a:solidFill xmlns:a="http://schemas.openxmlformats.org/drawingml/2006/main">
            <a:srgbClr val="14141D"/>
          </a:solidFill>
          <a:ln xmlns:a="http://schemas.openxmlformats.org/drawingml/2006/main" w="12700">
            <a:solidFill>
              <a:srgbClr val="2A2A38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759235A-1C83-4393-812D-FF0ED2EB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737360"/>
            <a:ext cx="4754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E8A832"/>
                </a:solidFill>
                <a:latin typeface="Courier New"/>
                <a:ea typeface="Courier New"/>
                <a:cs typeface="Courier New"/>
              </a:rPr>
              <a:t>16-BIT IS A MEMORY STORY, NOT AN ARITHMETIC ONE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62BF91E-6820-43A9-BA02-939763226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084832"/>
            <a:ext cx="475488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8000"/>
              </a:lnSpc>
              <a:buNone/>
            </a:pPr>
            <a:r>
              <a:rPr sz="1050">
                <a:solidFill>
                  <a:srgbClr val="DDDDDD"/>
                </a:solidFill>
                <a:latin typeface="Calibri"/>
                <a:ea typeface="Calibri"/>
                <a:cs typeface="Calibri"/>
              </a:rPr>
              <a:t>Many important kernels are memory-bound (Lesson 4).</a:t>
            </a:r>
            <a:r>
              <a:rPr sz="1050">
                <a:solidFill>
                  <a:srgbClr val="DDDDDD"/>
                </a:solidFill>
                <a:latin typeface="Calibri"/>
                <a:ea typeface="Calibri"/>
                <a:cs typeface="Calibri"/>
              </a:rPr>
              <a:t>  Halve the width and twice as many values arrive per fetch; the working set halves; every cache line carries double.  A bandwidth-limited kernel speeds up ~2× in FP16 with no tensor cores and no new ALUs — the arithmetic was never the bottleneck.  Precision is a data-movement dial first, and a compute dial second.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24CBE8FF-25C9-4EEE-A8CE-2A56324E3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023360"/>
            <a:ext cx="10881360" cy="150876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4141D"/>
          </a:solidFill>
          <a:ln xmlns:a="http://schemas.openxmlformats.org/drawingml/2006/main" w="12700">
            <a:solidFill>
              <a:srgbClr val="2A2A38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AC65F41-A874-42FE-A5FA-CEB0FDE17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69664"/>
            <a:ext cx="10058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6AA6FF"/>
                </a:solidFill>
                <a:latin typeface="Courier New"/>
                <a:ea typeface="Courier New"/>
                <a:cs typeface="Courier New"/>
              </a:rPr>
              <a:t>THE DECISION PROCEDURE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A437C06-FF16-427A-8F16-07D27FFE2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80560"/>
            <a:ext cx="1033272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sz="1100">
                <a:solidFill>
                  <a:srgbClr val="DDDDDD"/>
                </a:solidFill>
                <a:latin typeface="Calibri"/>
                <a:ea typeface="Calibri"/>
                <a:cs typeface="Calibri"/>
              </a:rPr>
              <a:t>Locate the kernel on the roofline first: memory-bound or compute-bound?  (The companion lab exists for exactly this question.)</a:t>
            </a:r>
          </a:p>
          <a:p xmlns:a="http://schemas.openxmlformats.org/drawingml/2006/main"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sz="1100">
                <a:solidFill>
                  <a:srgbClr val="DDDDDD"/>
                </a:solidFill>
                <a:latin typeface="Calibri"/>
                <a:ea typeface="Calibri"/>
                <a:cs typeface="Calibri"/>
              </a:rPr>
              <a:t>Memory-bound → cut bytes: consider lower precision, then recover accuracy where appropriate through iterative refinement.</a:t>
            </a:r>
          </a:p>
          <a:p xmlns:a="http://schemas.openxmlformats.org/drawingml/2006/main"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sz="1100">
                <a:solidFill>
                  <a:srgbClr val="DDDDDD"/>
                </a:solidFill>
                <a:latin typeface="Calibri"/>
                <a:ea typeface="Calibri"/>
                <a:cs typeface="Calibri"/>
              </a:rPr>
              <a:t>Compute-bound matmul → the tensor-core menu sets your formats.  FP64-dominated → buy the datacenter part, or do not offload.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9EBE716F-8C51-4F20-9CAD-9CCE051B8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715000"/>
            <a:ext cx="10881360" cy="640080"/>
          </a:xfrm>
          <a:prstGeom xmlns:a="http://schemas.openxmlformats.org/drawingml/2006/main" prst="roundRect">
            <a:avLst>
              <a:gd name="adj" fmla="val 7857"/>
            </a:avLst>
          </a:prstGeom>
          <a:solidFill xmlns:a="http://schemas.openxmlformats.org/drawingml/2006/main">
            <a:srgbClr val="1A160C"/>
          </a:solidFill>
          <a:ln xmlns:a="http://schemas.openxmlformats.org/drawingml/2006/main" w="12700">
            <a:solidFill>
              <a:srgbClr val="2A2A38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161F9EB-6E31-4218-B6DA-370827270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33872"/>
            <a:ext cx="1033272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i="1">
                <a:solidFill>
                  <a:srgbClr val="E8A832"/>
                </a:solidFill>
                <a:latin typeface="Calibri"/>
                <a:ea typeface="Calibri"/>
                <a:cs typeface="Calibri"/>
              </a:rPr>
              <a:t>Precision is priced twice: once in silicon — the FP64 market segment — and once in bytes — the bandwidth bill.  Read both price lists before you design.</a:t>
            </a:r>
          </a:p>
        </p:txBody>
      </p:sp>
    </p:spTree>
    <p:extLst>
      <p:ext uri="{BB962C8B-B14F-4D97-AF65-F5344CB8AC3E}">
        <p14:creationId xmlns:p14="http://schemas.microsoft.com/office/powerpoint/2010/main" val="15985997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2026-07-23T05:34:02.5500000Z</dcterms:created>
  <dcterms:modified xsi:type="dcterms:W3CDTF">2026-07-23T05:34:02.5500000Z</dcterms:modified>
</coreProperties>
</file>