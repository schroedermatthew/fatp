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Gaming economics built a machine optimized for aggregate throughput: millions of inexpensive cards drawing millions of independent pixels. The audience has already seen that history. Emphasize that CUDA did not change the economics; compute inherited the architecture shaped by games. Small or serial work often loses, sometimes by orders of magnitude. The first question is not how fast the GPU is, but whether the work exposes enough parallelism.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was present before CUDA: every pixel was already decided independently. Section 4 showed floats disguised as colors and matrices as textures. Brook named the stream-and-kernel abstraction; CUDA removed the graphics disguise and made it native. Data-parallel code often ports naturally. Deeply serial code must be rethought rather than translated.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NVIDIA's integrated stack—CUDA plus tuned libraries—became part of the product. Vendor libraries are rewritten for each architecture and are the usual path to specialized units such as tensor cores. On common operations, hand-written kernels often lose to vendor libraries and may age worse across hardware generations. Do not make the claim absolute: custom kernels remain important for fusion, unusual operations, and the glue between library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GPU remains a coprocessor across a bus. The HPC skeptics were right that movement could erase the arithmetic win; it simply was not fatal when workloads kept data resident and did enough work per byte. Use this slide to introduce arithmetic intensity and the roofline vocabulary. A slow GPU port may be a transfer problem, but also acknowledge occupancy, divergence, synchronization, and insufficient parallelism.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every launch has overhead. The structural remedies are batching, fusion, and capture/replay for repeated sequences. Second, precision is a priced choice. The history showed consumer FP64 deliberately segmented from datacenter FP64, while tensor cores created fast lower-precision paths. Precision also changes data movement: halving width doubles the values carried by the same memory traffic. Avoid treating the displayed formats as a universal ranking; the real device and workload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restores the card-class argument. GPUs are not one machine: many datacenter parts run double precision near half the FP32 rate, while consumer cards of the same generation may be limited to 1:32 or 1:64. That gap is a market decision, not physics. If FP64 dominates the workload, the product class is the first architectural decision, before any kernel is written. The right-hand panel makes the second, separate point: narrower formats are a data-movement win before they are an arithmetic win, because a bandwidth-limited kernel gets roughly twice the values from the same fetch. Iterative refinement is the standard way to buy accuracy back after cutting 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handoff to the technical porting discussions. The goal is not a universal recipe; it is a disciplined first set of questions. Locate the kernel on the roofline. If memory-bound, reduce bytes and preserve residency. If compute-bound, match the mathematical operation and supported formats to the hardware path. If FP64 dominates, inspect the actual device ratio before choosing hardware. If the operation is common, start with the library. Measure before offloading.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52450" y="228600"/>
            <a:ext cx="8572500" cy="26670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9  ·  WHY THIS MATTERS FOR YOU</a:t>
            </a:r>
            <a:endParaRPr lang="en-US" sz="1200" dirty="0"/>
          </a:p>
        </p:txBody>
      </p:sp>
      <p:sp>
        <p:nvSpPr>
          <p:cNvPr id="3" name="Text 1"/>
          <p:cNvSpPr/>
          <p:nvPr/>
        </p:nvSpPr>
        <p:spPr>
          <a:xfrm>
            <a:off x="552450" y="523875"/>
            <a:ext cx="10287000" cy="590550"/>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It is a throughput machine</a:t>
            </a:r>
            <a:endParaRPr lang="en-US" sz="2700" dirty="0"/>
          </a:p>
        </p:txBody>
      </p:sp>
      <p:sp>
        <p:nvSpPr>
          <p:cNvPr id="4" name="Text 2"/>
          <p:cNvSpPr/>
          <p:nvPr/>
        </p:nvSpPr>
        <p:spPr>
          <a:xfrm>
            <a:off x="10668000" y="190500"/>
            <a:ext cx="952500" cy="876300"/>
          </a:xfrm>
          <a:prstGeom prst="rect">
            <a:avLst/>
          </a:prstGeom>
          <a:noFill/>
          <a:ln/>
        </p:spPr>
        <p:txBody>
          <a:bodyPr wrap="square" lIns="0" tIns="0" rIns="0" bIns="0" rtlCol="0" anchor="ctr"/>
          <a:lstStyle/>
          <a:p>
            <a:pPr algn="r" indent="0" marL="0">
              <a:buNone/>
            </a:pPr>
            <a:r>
              <a:rPr lang="en-US" sz="5100" b="1" dirty="0">
                <a:solidFill>
                  <a:srgbClr val="23232F"/>
                </a:solidFill>
                <a:latin typeface="Courier New" pitchFamily="34" charset="0"/>
                <a:ea typeface="Courier New" pitchFamily="34" charset="-122"/>
                <a:cs typeface="Courier New" pitchFamily="34" charset="-120"/>
              </a:rPr>
              <a:t>1</a:t>
            </a:r>
            <a:endParaRPr lang="en-US" sz="5100" dirty="0"/>
          </a:p>
        </p:txBody>
      </p:sp>
      <p:sp>
        <p:nvSpPr>
          <p:cNvPr id="5" name="Text 3"/>
          <p:cNvSpPr/>
          <p:nvPr/>
        </p:nvSpPr>
        <p:spPr>
          <a:xfrm>
            <a:off x="762000" y="1295400"/>
            <a:ext cx="3810000" cy="228600"/>
          </a:xfrm>
          <a:prstGeom prst="rect">
            <a:avLst/>
          </a:prstGeom>
          <a:noFill/>
          <a:ln/>
        </p:spPr>
        <p:txBody>
          <a:bodyPr wrap="square" lIns="0" tIns="0" rIns="0" bIns="0" rtlCol="0" anchor="ctr"/>
          <a:lstStyle/>
          <a:p>
            <a:pPr indent="0" marL="0">
              <a:buNone/>
            </a:pPr>
            <a:r>
              <a:rPr lang="en-US" sz="1150" b="1" dirty="0">
                <a:solidFill>
                  <a:srgbClr val="63A4FF"/>
                </a:solidFill>
                <a:latin typeface="Courier New" pitchFamily="34" charset="0"/>
                <a:ea typeface="Courier New" pitchFamily="34" charset="-122"/>
                <a:cs typeface="Courier New" pitchFamily="34" charset="-120"/>
              </a:rPr>
              <a:t>CPU  ·  FAST PER TASK</a:t>
            </a:r>
            <a:endParaRPr lang="en-US" sz="1150" dirty="0"/>
          </a:p>
        </p:txBody>
      </p:sp>
      <p:sp>
        <p:nvSpPr>
          <p:cNvPr id="6" name="Text 4"/>
          <p:cNvSpPr/>
          <p:nvPr/>
        </p:nvSpPr>
        <p:spPr>
          <a:xfrm>
            <a:off x="5715000" y="1295400"/>
            <a:ext cx="4762500" cy="228600"/>
          </a:xfrm>
          <a:prstGeom prst="rect">
            <a:avLst/>
          </a:prstGeom>
          <a:noFill/>
          <a:ln/>
        </p:spPr>
        <p:txBody>
          <a:bodyPr wrap="square" lIns="0" tIns="0" rIns="0" bIns="0" rtlCol="0" anchor="ctr"/>
          <a:lstStyle/>
          <a:p>
            <a:pPr indent="0" marL="0">
              <a:buNone/>
            </a:pPr>
            <a:r>
              <a:rPr lang="en-US" sz="1150" b="1" dirty="0">
                <a:solidFill>
                  <a:srgbClr val="3CE8B2"/>
                </a:solidFill>
                <a:latin typeface="Courier New" pitchFamily="34" charset="0"/>
                <a:ea typeface="Courier New" pitchFamily="34" charset="-122"/>
                <a:cs typeface="Courier New" pitchFamily="34" charset="-120"/>
              </a:rPr>
              <a:t>GPU  ·  FAST IN AGGREGATE</a:t>
            </a:r>
            <a:endParaRPr lang="en-US" sz="1150" dirty="0"/>
          </a:p>
        </p:txBody>
      </p:sp>
      <p:sp>
        <p:nvSpPr>
          <p:cNvPr id="7" name="Shape 5"/>
          <p:cNvSpPr/>
          <p:nvPr/>
        </p:nvSpPr>
        <p:spPr>
          <a:xfrm>
            <a:off x="1047750" y="1581150"/>
            <a:ext cx="2571750" cy="1524000"/>
          </a:xfrm>
          <a:prstGeom prst="roundRect">
            <a:avLst>
              <a:gd name="adj" fmla="val 3000"/>
            </a:avLst>
          </a:prstGeom>
          <a:solidFill>
            <a:srgbClr val="14141D"/>
          </a:solidFill>
          <a:ln w="12700">
            <a:solidFill>
              <a:srgbClr val="63A4FF"/>
            </a:solidFill>
            <a:prstDash val="solid"/>
          </a:ln>
        </p:spPr>
      </p:sp>
      <p:sp>
        <p:nvSpPr>
          <p:cNvPr id="8" name="Text 6"/>
          <p:cNvSpPr/>
          <p:nvPr/>
        </p:nvSpPr>
        <p:spPr>
          <a:xfrm>
            <a:off x="1238250" y="1771650"/>
            <a:ext cx="2190750" cy="723900"/>
          </a:xfrm>
          <a:prstGeom prst="rect">
            <a:avLst/>
          </a:prstGeom>
          <a:noFill/>
          <a:ln/>
        </p:spPr>
        <p:txBody>
          <a:bodyPr wrap="square" lIns="0" tIns="0" rIns="0" bIns="0" rtlCol="0" anchor="ctr"/>
          <a:lstStyle/>
          <a:p>
            <a:pPr algn="ctr" indent="0" marL="0">
              <a:lnSpc>
                <a:spcPct val="105000"/>
              </a:lnSpc>
              <a:buNone/>
            </a:pPr>
            <a:r>
              <a:rPr lang="en-US" sz="1500" b="1" dirty="0">
                <a:solidFill>
                  <a:srgbClr val="FFFFFF"/>
                </a:solidFill>
                <a:latin typeface="Calibri" pitchFamily="34" charset="0"/>
                <a:ea typeface="Calibri" pitchFamily="34" charset="-122"/>
                <a:cs typeface="Calibri" pitchFamily="34" charset="-120"/>
              </a:rPr>
              <a:t>one hard problem</a:t>
            </a:r>
            <a:endParaRPr lang="en-US" sz="1500" dirty="0"/>
          </a:p>
          <a:p>
            <a:pPr algn="ctr" indent="0" marL="0">
              <a:lnSpc>
                <a:spcPct val="105000"/>
              </a:lnSpc>
              <a:buNone/>
            </a:pPr>
            <a:r>
              <a:rPr lang="en-US" sz="1500" b="1" dirty="0">
                <a:solidFill>
                  <a:srgbClr val="FFFFFF"/>
                </a:solidFill>
                <a:latin typeface="Calibri" pitchFamily="34" charset="0"/>
                <a:ea typeface="Calibri" pitchFamily="34" charset="-122"/>
                <a:cs typeface="Calibri" pitchFamily="34" charset="-120"/>
              </a:rPr>
              <a:t>as quickly as possible</a:t>
            </a:r>
            <a:endParaRPr lang="en-US" sz="1500" dirty="0"/>
          </a:p>
        </p:txBody>
      </p:sp>
      <p:sp>
        <p:nvSpPr>
          <p:cNvPr id="9" name="Text 7"/>
          <p:cNvSpPr/>
          <p:nvPr/>
        </p:nvSpPr>
        <p:spPr>
          <a:xfrm>
            <a:off x="1047750" y="2628900"/>
            <a:ext cx="2571750" cy="285750"/>
          </a:xfrm>
          <a:prstGeom prst="rect">
            <a:avLst/>
          </a:prstGeom>
          <a:noFill/>
          <a:ln/>
        </p:spPr>
        <p:txBody>
          <a:bodyPr wrap="square" lIns="0" tIns="0" rIns="0" bIns="0" rtlCol="0" anchor="ctr"/>
          <a:lstStyle/>
          <a:p>
            <a:pPr algn="ctr" indent="0" marL="0">
              <a:buNone/>
            </a:pPr>
            <a:r>
              <a:rPr lang="en-US" sz="1300" dirty="0">
                <a:solidFill>
                  <a:srgbClr val="858596"/>
                </a:solidFill>
                <a:latin typeface="Courier New" pitchFamily="34" charset="0"/>
                <a:ea typeface="Courier New" pitchFamily="34" charset="-122"/>
                <a:cs typeface="Courier New" pitchFamily="34" charset="-120"/>
              </a:rPr>
              <a:t>latency</a:t>
            </a:r>
            <a:endParaRPr lang="en-US" sz="1300" dirty="0"/>
          </a:p>
        </p:txBody>
      </p:sp>
      <p:sp>
        <p:nvSpPr>
          <p:cNvPr id="10" name="Shape 8"/>
          <p:cNvSpPr/>
          <p:nvPr/>
        </p:nvSpPr>
        <p:spPr>
          <a:xfrm>
            <a:off x="4305300" y="2152650"/>
            <a:ext cx="876300" cy="381000"/>
          </a:xfrm>
          <a:prstGeom prst="rightArrow">
            <a:avLst/>
          </a:prstGeom>
          <a:solidFill>
            <a:srgbClr val="23232F"/>
          </a:solidFill>
          <a:ln w="12700">
            <a:solidFill>
              <a:srgbClr val="23232F"/>
            </a:solidFill>
            <a:prstDash val="solid"/>
          </a:ln>
        </p:spPr>
      </p:sp>
      <p:sp>
        <p:nvSpPr>
          <p:cNvPr id="11" name="Shape 9"/>
          <p:cNvSpPr/>
          <p:nvPr/>
        </p:nvSpPr>
        <p:spPr>
          <a:xfrm>
            <a:off x="5715000" y="1581150"/>
            <a:ext cx="323850" cy="323850"/>
          </a:xfrm>
          <a:prstGeom prst="roundRect">
            <a:avLst>
              <a:gd name="adj" fmla="val 16941"/>
            </a:avLst>
          </a:prstGeom>
          <a:solidFill>
            <a:srgbClr val="1D5A4C"/>
          </a:solidFill>
          <a:ln w="12700">
            <a:solidFill>
              <a:srgbClr val="3CE8B2"/>
            </a:solidFill>
            <a:prstDash val="solid"/>
          </a:ln>
        </p:spPr>
      </p:sp>
      <p:sp>
        <p:nvSpPr>
          <p:cNvPr id="12" name="Shape 10"/>
          <p:cNvSpPr/>
          <p:nvPr/>
        </p:nvSpPr>
        <p:spPr>
          <a:xfrm>
            <a:off x="6115050" y="1581150"/>
            <a:ext cx="323850" cy="323850"/>
          </a:xfrm>
          <a:prstGeom prst="roundRect">
            <a:avLst>
              <a:gd name="adj" fmla="val 16941"/>
            </a:avLst>
          </a:prstGeom>
          <a:solidFill>
            <a:srgbClr val="153A34"/>
          </a:solidFill>
          <a:ln w="12700">
            <a:solidFill>
              <a:srgbClr val="153A34"/>
            </a:solidFill>
            <a:prstDash val="solid"/>
          </a:ln>
        </p:spPr>
      </p:sp>
      <p:sp>
        <p:nvSpPr>
          <p:cNvPr id="13" name="Shape 11"/>
          <p:cNvSpPr/>
          <p:nvPr/>
        </p:nvSpPr>
        <p:spPr>
          <a:xfrm>
            <a:off x="6515100" y="1581150"/>
            <a:ext cx="323850" cy="323850"/>
          </a:xfrm>
          <a:prstGeom prst="roundRect">
            <a:avLst>
              <a:gd name="adj" fmla="val 16941"/>
            </a:avLst>
          </a:prstGeom>
          <a:solidFill>
            <a:srgbClr val="153A34"/>
          </a:solidFill>
          <a:ln w="12700">
            <a:solidFill>
              <a:srgbClr val="153A34"/>
            </a:solidFill>
            <a:prstDash val="solid"/>
          </a:ln>
        </p:spPr>
      </p:sp>
      <p:sp>
        <p:nvSpPr>
          <p:cNvPr id="14" name="Shape 12"/>
          <p:cNvSpPr/>
          <p:nvPr/>
        </p:nvSpPr>
        <p:spPr>
          <a:xfrm>
            <a:off x="6915150" y="1581150"/>
            <a:ext cx="323850" cy="323850"/>
          </a:xfrm>
          <a:prstGeom prst="roundRect">
            <a:avLst>
              <a:gd name="adj" fmla="val 16941"/>
            </a:avLst>
          </a:prstGeom>
          <a:solidFill>
            <a:srgbClr val="153A34"/>
          </a:solidFill>
          <a:ln w="12700">
            <a:solidFill>
              <a:srgbClr val="153A34"/>
            </a:solidFill>
            <a:prstDash val="solid"/>
          </a:ln>
        </p:spPr>
      </p:sp>
      <p:sp>
        <p:nvSpPr>
          <p:cNvPr id="15" name="Shape 13"/>
          <p:cNvSpPr/>
          <p:nvPr/>
        </p:nvSpPr>
        <p:spPr>
          <a:xfrm>
            <a:off x="7315200" y="1581150"/>
            <a:ext cx="323850" cy="323850"/>
          </a:xfrm>
          <a:prstGeom prst="roundRect">
            <a:avLst>
              <a:gd name="adj" fmla="val 16941"/>
            </a:avLst>
          </a:prstGeom>
          <a:solidFill>
            <a:srgbClr val="153A34"/>
          </a:solidFill>
          <a:ln w="12700">
            <a:solidFill>
              <a:srgbClr val="153A34"/>
            </a:solidFill>
            <a:prstDash val="solid"/>
          </a:ln>
        </p:spPr>
      </p:sp>
      <p:sp>
        <p:nvSpPr>
          <p:cNvPr id="16" name="Shape 14"/>
          <p:cNvSpPr/>
          <p:nvPr/>
        </p:nvSpPr>
        <p:spPr>
          <a:xfrm>
            <a:off x="7715250" y="1581150"/>
            <a:ext cx="323850" cy="323850"/>
          </a:xfrm>
          <a:prstGeom prst="roundRect">
            <a:avLst>
              <a:gd name="adj" fmla="val 16941"/>
            </a:avLst>
          </a:prstGeom>
          <a:solidFill>
            <a:srgbClr val="153A34"/>
          </a:solidFill>
          <a:ln w="12700">
            <a:solidFill>
              <a:srgbClr val="153A34"/>
            </a:solidFill>
            <a:prstDash val="solid"/>
          </a:ln>
        </p:spPr>
      </p:sp>
      <p:sp>
        <p:nvSpPr>
          <p:cNvPr id="17" name="Shape 15"/>
          <p:cNvSpPr/>
          <p:nvPr/>
        </p:nvSpPr>
        <p:spPr>
          <a:xfrm>
            <a:off x="8115300" y="1581150"/>
            <a:ext cx="323850" cy="323850"/>
          </a:xfrm>
          <a:prstGeom prst="roundRect">
            <a:avLst>
              <a:gd name="adj" fmla="val 16941"/>
            </a:avLst>
          </a:prstGeom>
          <a:solidFill>
            <a:srgbClr val="153A34"/>
          </a:solidFill>
          <a:ln w="12700">
            <a:solidFill>
              <a:srgbClr val="153A34"/>
            </a:solidFill>
            <a:prstDash val="solid"/>
          </a:ln>
        </p:spPr>
      </p:sp>
      <p:sp>
        <p:nvSpPr>
          <p:cNvPr id="18" name="Shape 16"/>
          <p:cNvSpPr/>
          <p:nvPr/>
        </p:nvSpPr>
        <p:spPr>
          <a:xfrm>
            <a:off x="8515350" y="1581150"/>
            <a:ext cx="323850" cy="323850"/>
          </a:xfrm>
          <a:prstGeom prst="roundRect">
            <a:avLst>
              <a:gd name="adj" fmla="val 16941"/>
            </a:avLst>
          </a:prstGeom>
          <a:solidFill>
            <a:srgbClr val="1D5A4C"/>
          </a:solidFill>
          <a:ln w="12700">
            <a:solidFill>
              <a:srgbClr val="3CE8B2"/>
            </a:solidFill>
            <a:prstDash val="solid"/>
          </a:ln>
        </p:spPr>
      </p:sp>
      <p:sp>
        <p:nvSpPr>
          <p:cNvPr id="19" name="Shape 17"/>
          <p:cNvSpPr/>
          <p:nvPr/>
        </p:nvSpPr>
        <p:spPr>
          <a:xfrm>
            <a:off x="8915400" y="1581150"/>
            <a:ext cx="323850" cy="323850"/>
          </a:xfrm>
          <a:prstGeom prst="roundRect">
            <a:avLst>
              <a:gd name="adj" fmla="val 16941"/>
            </a:avLst>
          </a:prstGeom>
          <a:solidFill>
            <a:srgbClr val="153A34"/>
          </a:solidFill>
          <a:ln w="12700">
            <a:solidFill>
              <a:srgbClr val="153A34"/>
            </a:solidFill>
            <a:prstDash val="solid"/>
          </a:ln>
        </p:spPr>
      </p:sp>
      <p:sp>
        <p:nvSpPr>
          <p:cNvPr id="20" name="Shape 18"/>
          <p:cNvSpPr/>
          <p:nvPr/>
        </p:nvSpPr>
        <p:spPr>
          <a:xfrm>
            <a:off x="9315450" y="1581150"/>
            <a:ext cx="323850" cy="323850"/>
          </a:xfrm>
          <a:prstGeom prst="roundRect">
            <a:avLst>
              <a:gd name="adj" fmla="val 16941"/>
            </a:avLst>
          </a:prstGeom>
          <a:solidFill>
            <a:srgbClr val="153A34"/>
          </a:solidFill>
          <a:ln w="12700">
            <a:solidFill>
              <a:srgbClr val="153A34"/>
            </a:solidFill>
            <a:prstDash val="solid"/>
          </a:ln>
        </p:spPr>
      </p:sp>
      <p:sp>
        <p:nvSpPr>
          <p:cNvPr id="21" name="Shape 19"/>
          <p:cNvSpPr/>
          <p:nvPr/>
        </p:nvSpPr>
        <p:spPr>
          <a:xfrm>
            <a:off x="9715500" y="1581150"/>
            <a:ext cx="323850" cy="323850"/>
          </a:xfrm>
          <a:prstGeom prst="roundRect">
            <a:avLst>
              <a:gd name="adj" fmla="val 16941"/>
            </a:avLst>
          </a:prstGeom>
          <a:solidFill>
            <a:srgbClr val="153A34"/>
          </a:solidFill>
          <a:ln w="12700">
            <a:solidFill>
              <a:srgbClr val="153A34"/>
            </a:solidFill>
            <a:prstDash val="solid"/>
          </a:ln>
        </p:spPr>
      </p:sp>
      <p:sp>
        <p:nvSpPr>
          <p:cNvPr id="22" name="Shape 20"/>
          <p:cNvSpPr/>
          <p:nvPr/>
        </p:nvSpPr>
        <p:spPr>
          <a:xfrm>
            <a:off x="10115550" y="1581150"/>
            <a:ext cx="323850" cy="323850"/>
          </a:xfrm>
          <a:prstGeom prst="roundRect">
            <a:avLst>
              <a:gd name="adj" fmla="val 16941"/>
            </a:avLst>
          </a:prstGeom>
          <a:solidFill>
            <a:srgbClr val="153A34"/>
          </a:solidFill>
          <a:ln w="12700">
            <a:solidFill>
              <a:srgbClr val="153A34"/>
            </a:solidFill>
            <a:prstDash val="solid"/>
          </a:ln>
        </p:spPr>
      </p:sp>
      <p:sp>
        <p:nvSpPr>
          <p:cNvPr id="23" name="Shape 21"/>
          <p:cNvSpPr/>
          <p:nvPr/>
        </p:nvSpPr>
        <p:spPr>
          <a:xfrm>
            <a:off x="10515600" y="1581150"/>
            <a:ext cx="323850" cy="323850"/>
          </a:xfrm>
          <a:prstGeom prst="roundRect">
            <a:avLst>
              <a:gd name="adj" fmla="val 16941"/>
            </a:avLst>
          </a:prstGeom>
          <a:solidFill>
            <a:srgbClr val="153A34"/>
          </a:solidFill>
          <a:ln w="12700">
            <a:solidFill>
              <a:srgbClr val="153A34"/>
            </a:solidFill>
            <a:prstDash val="solid"/>
          </a:ln>
        </p:spPr>
      </p:sp>
      <p:sp>
        <p:nvSpPr>
          <p:cNvPr id="24" name="Shape 22"/>
          <p:cNvSpPr/>
          <p:nvPr/>
        </p:nvSpPr>
        <p:spPr>
          <a:xfrm>
            <a:off x="5715000" y="1981200"/>
            <a:ext cx="323850" cy="323850"/>
          </a:xfrm>
          <a:prstGeom prst="roundRect">
            <a:avLst>
              <a:gd name="adj" fmla="val 16941"/>
            </a:avLst>
          </a:prstGeom>
          <a:solidFill>
            <a:srgbClr val="153A34"/>
          </a:solidFill>
          <a:ln w="12700">
            <a:solidFill>
              <a:srgbClr val="153A34"/>
            </a:solidFill>
            <a:prstDash val="solid"/>
          </a:ln>
        </p:spPr>
      </p:sp>
      <p:sp>
        <p:nvSpPr>
          <p:cNvPr id="25" name="Shape 23"/>
          <p:cNvSpPr/>
          <p:nvPr/>
        </p:nvSpPr>
        <p:spPr>
          <a:xfrm>
            <a:off x="6115050" y="1981200"/>
            <a:ext cx="323850" cy="323850"/>
          </a:xfrm>
          <a:prstGeom prst="roundRect">
            <a:avLst>
              <a:gd name="adj" fmla="val 16941"/>
            </a:avLst>
          </a:prstGeom>
          <a:solidFill>
            <a:srgbClr val="153A34"/>
          </a:solidFill>
          <a:ln w="12700">
            <a:solidFill>
              <a:srgbClr val="153A34"/>
            </a:solidFill>
            <a:prstDash val="solid"/>
          </a:ln>
        </p:spPr>
      </p:sp>
      <p:sp>
        <p:nvSpPr>
          <p:cNvPr id="26" name="Shape 24"/>
          <p:cNvSpPr/>
          <p:nvPr/>
        </p:nvSpPr>
        <p:spPr>
          <a:xfrm>
            <a:off x="6515100" y="1981200"/>
            <a:ext cx="323850" cy="323850"/>
          </a:xfrm>
          <a:prstGeom prst="roundRect">
            <a:avLst>
              <a:gd name="adj" fmla="val 16941"/>
            </a:avLst>
          </a:prstGeom>
          <a:solidFill>
            <a:srgbClr val="153A34"/>
          </a:solidFill>
          <a:ln w="12700">
            <a:solidFill>
              <a:srgbClr val="153A34"/>
            </a:solidFill>
            <a:prstDash val="solid"/>
          </a:ln>
        </p:spPr>
      </p:sp>
      <p:sp>
        <p:nvSpPr>
          <p:cNvPr id="27" name="Shape 25"/>
          <p:cNvSpPr/>
          <p:nvPr/>
        </p:nvSpPr>
        <p:spPr>
          <a:xfrm>
            <a:off x="6915150" y="1981200"/>
            <a:ext cx="323850" cy="323850"/>
          </a:xfrm>
          <a:prstGeom prst="roundRect">
            <a:avLst>
              <a:gd name="adj" fmla="val 16941"/>
            </a:avLst>
          </a:prstGeom>
          <a:solidFill>
            <a:srgbClr val="1D5A4C"/>
          </a:solidFill>
          <a:ln w="12700">
            <a:solidFill>
              <a:srgbClr val="3CE8B2"/>
            </a:solidFill>
            <a:prstDash val="solid"/>
          </a:ln>
        </p:spPr>
      </p:sp>
      <p:sp>
        <p:nvSpPr>
          <p:cNvPr id="28" name="Shape 26"/>
          <p:cNvSpPr/>
          <p:nvPr/>
        </p:nvSpPr>
        <p:spPr>
          <a:xfrm>
            <a:off x="7315200" y="1981200"/>
            <a:ext cx="323850" cy="323850"/>
          </a:xfrm>
          <a:prstGeom prst="roundRect">
            <a:avLst>
              <a:gd name="adj" fmla="val 16941"/>
            </a:avLst>
          </a:prstGeom>
          <a:solidFill>
            <a:srgbClr val="153A34"/>
          </a:solidFill>
          <a:ln w="12700">
            <a:solidFill>
              <a:srgbClr val="153A34"/>
            </a:solidFill>
            <a:prstDash val="solid"/>
          </a:ln>
        </p:spPr>
      </p:sp>
      <p:sp>
        <p:nvSpPr>
          <p:cNvPr id="29" name="Shape 27"/>
          <p:cNvSpPr/>
          <p:nvPr/>
        </p:nvSpPr>
        <p:spPr>
          <a:xfrm>
            <a:off x="7715250" y="1981200"/>
            <a:ext cx="323850" cy="323850"/>
          </a:xfrm>
          <a:prstGeom prst="roundRect">
            <a:avLst>
              <a:gd name="adj" fmla="val 16941"/>
            </a:avLst>
          </a:prstGeom>
          <a:solidFill>
            <a:srgbClr val="153A34"/>
          </a:solidFill>
          <a:ln w="12700">
            <a:solidFill>
              <a:srgbClr val="153A34"/>
            </a:solidFill>
            <a:prstDash val="solid"/>
          </a:ln>
        </p:spPr>
      </p:sp>
      <p:sp>
        <p:nvSpPr>
          <p:cNvPr id="30" name="Shape 28"/>
          <p:cNvSpPr/>
          <p:nvPr/>
        </p:nvSpPr>
        <p:spPr>
          <a:xfrm>
            <a:off x="8115300" y="1981200"/>
            <a:ext cx="323850" cy="323850"/>
          </a:xfrm>
          <a:prstGeom prst="roundRect">
            <a:avLst>
              <a:gd name="adj" fmla="val 16941"/>
            </a:avLst>
          </a:prstGeom>
          <a:solidFill>
            <a:srgbClr val="153A34"/>
          </a:solidFill>
          <a:ln w="12700">
            <a:solidFill>
              <a:srgbClr val="153A34"/>
            </a:solidFill>
            <a:prstDash val="solid"/>
          </a:ln>
        </p:spPr>
      </p:sp>
      <p:sp>
        <p:nvSpPr>
          <p:cNvPr id="31" name="Shape 29"/>
          <p:cNvSpPr/>
          <p:nvPr/>
        </p:nvSpPr>
        <p:spPr>
          <a:xfrm>
            <a:off x="8515350" y="1981200"/>
            <a:ext cx="323850" cy="323850"/>
          </a:xfrm>
          <a:prstGeom prst="roundRect">
            <a:avLst>
              <a:gd name="adj" fmla="val 16941"/>
            </a:avLst>
          </a:prstGeom>
          <a:solidFill>
            <a:srgbClr val="153A34"/>
          </a:solidFill>
          <a:ln w="12700">
            <a:solidFill>
              <a:srgbClr val="153A34"/>
            </a:solidFill>
            <a:prstDash val="solid"/>
          </a:ln>
        </p:spPr>
      </p:sp>
      <p:sp>
        <p:nvSpPr>
          <p:cNvPr id="32" name="Shape 30"/>
          <p:cNvSpPr/>
          <p:nvPr/>
        </p:nvSpPr>
        <p:spPr>
          <a:xfrm>
            <a:off x="8915400" y="1981200"/>
            <a:ext cx="323850" cy="323850"/>
          </a:xfrm>
          <a:prstGeom prst="roundRect">
            <a:avLst>
              <a:gd name="adj" fmla="val 16941"/>
            </a:avLst>
          </a:prstGeom>
          <a:solidFill>
            <a:srgbClr val="153A34"/>
          </a:solidFill>
          <a:ln w="12700">
            <a:solidFill>
              <a:srgbClr val="153A34"/>
            </a:solidFill>
            <a:prstDash val="solid"/>
          </a:ln>
        </p:spPr>
      </p:sp>
      <p:sp>
        <p:nvSpPr>
          <p:cNvPr id="33" name="Shape 31"/>
          <p:cNvSpPr/>
          <p:nvPr/>
        </p:nvSpPr>
        <p:spPr>
          <a:xfrm>
            <a:off x="9315450" y="1981200"/>
            <a:ext cx="323850" cy="323850"/>
          </a:xfrm>
          <a:prstGeom prst="roundRect">
            <a:avLst>
              <a:gd name="adj" fmla="val 16941"/>
            </a:avLst>
          </a:prstGeom>
          <a:solidFill>
            <a:srgbClr val="153A34"/>
          </a:solidFill>
          <a:ln w="12700">
            <a:solidFill>
              <a:srgbClr val="153A34"/>
            </a:solidFill>
            <a:prstDash val="solid"/>
          </a:ln>
        </p:spPr>
      </p:sp>
      <p:sp>
        <p:nvSpPr>
          <p:cNvPr id="34" name="Shape 32"/>
          <p:cNvSpPr/>
          <p:nvPr/>
        </p:nvSpPr>
        <p:spPr>
          <a:xfrm>
            <a:off x="9715500" y="1981200"/>
            <a:ext cx="323850" cy="323850"/>
          </a:xfrm>
          <a:prstGeom prst="roundRect">
            <a:avLst>
              <a:gd name="adj" fmla="val 16941"/>
            </a:avLst>
          </a:prstGeom>
          <a:solidFill>
            <a:srgbClr val="1D5A4C"/>
          </a:solidFill>
          <a:ln w="12700">
            <a:solidFill>
              <a:srgbClr val="3CE8B2"/>
            </a:solidFill>
            <a:prstDash val="solid"/>
          </a:ln>
        </p:spPr>
      </p:sp>
      <p:sp>
        <p:nvSpPr>
          <p:cNvPr id="35" name="Shape 33"/>
          <p:cNvSpPr/>
          <p:nvPr/>
        </p:nvSpPr>
        <p:spPr>
          <a:xfrm>
            <a:off x="10115550" y="1981200"/>
            <a:ext cx="323850" cy="323850"/>
          </a:xfrm>
          <a:prstGeom prst="roundRect">
            <a:avLst>
              <a:gd name="adj" fmla="val 16941"/>
            </a:avLst>
          </a:prstGeom>
          <a:solidFill>
            <a:srgbClr val="153A34"/>
          </a:solidFill>
          <a:ln w="12700">
            <a:solidFill>
              <a:srgbClr val="153A34"/>
            </a:solidFill>
            <a:prstDash val="solid"/>
          </a:ln>
        </p:spPr>
      </p:sp>
      <p:sp>
        <p:nvSpPr>
          <p:cNvPr id="36" name="Shape 34"/>
          <p:cNvSpPr/>
          <p:nvPr/>
        </p:nvSpPr>
        <p:spPr>
          <a:xfrm>
            <a:off x="10515600" y="1981200"/>
            <a:ext cx="323850" cy="323850"/>
          </a:xfrm>
          <a:prstGeom prst="roundRect">
            <a:avLst>
              <a:gd name="adj" fmla="val 16941"/>
            </a:avLst>
          </a:prstGeom>
          <a:solidFill>
            <a:srgbClr val="153A34"/>
          </a:solidFill>
          <a:ln w="12700">
            <a:solidFill>
              <a:srgbClr val="153A34"/>
            </a:solidFill>
            <a:prstDash val="solid"/>
          </a:ln>
        </p:spPr>
      </p:sp>
      <p:sp>
        <p:nvSpPr>
          <p:cNvPr id="37" name="Shape 35"/>
          <p:cNvSpPr/>
          <p:nvPr/>
        </p:nvSpPr>
        <p:spPr>
          <a:xfrm>
            <a:off x="5715000" y="2381250"/>
            <a:ext cx="323850" cy="323850"/>
          </a:xfrm>
          <a:prstGeom prst="roundRect">
            <a:avLst>
              <a:gd name="adj" fmla="val 16941"/>
            </a:avLst>
          </a:prstGeom>
          <a:solidFill>
            <a:srgbClr val="153A34"/>
          </a:solidFill>
          <a:ln w="12700">
            <a:solidFill>
              <a:srgbClr val="153A34"/>
            </a:solidFill>
            <a:prstDash val="solid"/>
          </a:ln>
        </p:spPr>
      </p:sp>
      <p:sp>
        <p:nvSpPr>
          <p:cNvPr id="38" name="Shape 36"/>
          <p:cNvSpPr/>
          <p:nvPr/>
        </p:nvSpPr>
        <p:spPr>
          <a:xfrm>
            <a:off x="6115050" y="2381250"/>
            <a:ext cx="323850" cy="323850"/>
          </a:xfrm>
          <a:prstGeom prst="roundRect">
            <a:avLst>
              <a:gd name="adj" fmla="val 16941"/>
            </a:avLst>
          </a:prstGeom>
          <a:solidFill>
            <a:srgbClr val="153A34"/>
          </a:solidFill>
          <a:ln w="12700">
            <a:solidFill>
              <a:srgbClr val="153A34"/>
            </a:solidFill>
            <a:prstDash val="solid"/>
          </a:ln>
        </p:spPr>
      </p:sp>
      <p:sp>
        <p:nvSpPr>
          <p:cNvPr id="39" name="Shape 37"/>
          <p:cNvSpPr/>
          <p:nvPr/>
        </p:nvSpPr>
        <p:spPr>
          <a:xfrm>
            <a:off x="6515100" y="2381250"/>
            <a:ext cx="323850" cy="323850"/>
          </a:xfrm>
          <a:prstGeom prst="roundRect">
            <a:avLst>
              <a:gd name="adj" fmla="val 16941"/>
            </a:avLst>
          </a:prstGeom>
          <a:solidFill>
            <a:srgbClr val="153A34"/>
          </a:solidFill>
          <a:ln w="12700">
            <a:solidFill>
              <a:srgbClr val="153A34"/>
            </a:solidFill>
            <a:prstDash val="solid"/>
          </a:ln>
        </p:spPr>
      </p:sp>
      <p:sp>
        <p:nvSpPr>
          <p:cNvPr id="40" name="Shape 38"/>
          <p:cNvSpPr/>
          <p:nvPr/>
        </p:nvSpPr>
        <p:spPr>
          <a:xfrm>
            <a:off x="6915150" y="2381250"/>
            <a:ext cx="323850" cy="323850"/>
          </a:xfrm>
          <a:prstGeom prst="roundRect">
            <a:avLst>
              <a:gd name="adj" fmla="val 16941"/>
            </a:avLst>
          </a:prstGeom>
          <a:solidFill>
            <a:srgbClr val="153A34"/>
          </a:solidFill>
          <a:ln w="12700">
            <a:solidFill>
              <a:srgbClr val="153A34"/>
            </a:solidFill>
            <a:prstDash val="solid"/>
          </a:ln>
        </p:spPr>
      </p:sp>
      <p:sp>
        <p:nvSpPr>
          <p:cNvPr id="41" name="Shape 39"/>
          <p:cNvSpPr/>
          <p:nvPr/>
        </p:nvSpPr>
        <p:spPr>
          <a:xfrm>
            <a:off x="7315200" y="2381250"/>
            <a:ext cx="323850" cy="323850"/>
          </a:xfrm>
          <a:prstGeom prst="roundRect">
            <a:avLst>
              <a:gd name="adj" fmla="val 16941"/>
            </a:avLst>
          </a:prstGeom>
          <a:solidFill>
            <a:srgbClr val="153A34"/>
          </a:solidFill>
          <a:ln w="12700">
            <a:solidFill>
              <a:srgbClr val="153A34"/>
            </a:solidFill>
            <a:prstDash val="solid"/>
          </a:ln>
        </p:spPr>
      </p:sp>
      <p:sp>
        <p:nvSpPr>
          <p:cNvPr id="42" name="Shape 40"/>
          <p:cNvSpPr/>
          <p:nvPr/>
        </p:nvSpPr>
        <p:spPr>
          <a:xfrm>
            <a:off x="7715250" y="2381250"/>
            <a:ext cx="323850" cy="323850"/>
          </a:xfrm>
          <a:prstGeom prst="roundRect">
            <a:avLst>
              <a:gd name="adj" fmla="val 16941"/>
            </a:avLst>
          </a:prstGeom>
          <a:solidFill>
            <a:srgbClr val="153A34"/>
          </a:solidFill>
          <a:ln w="12700">
            <a:solidFill>
              <a:srgbClr val="153A34"/>
            </a:solidFill>
            <a:prstDash val="solid"/>
          </a:ln>
        </p:spPr>
      </p:sp>
      <p:sp>
        <p:nvSpPr>
          <p:cNvPr id="43" name="Shape 41"/>
          <p:cNvSpPr/>
          <p:nvPr/>
        </p:nvSpPr>
        <p:spPr>
          <a:xfrm>
            <a:off x="8115300" y="2381250"/>
            <a:ext cx="323850" cy="323850"/>
          </a:xfrm>
          <a:prstGeom prst="roundRect">
            <a:avLst>
              <a:gd name="adj" fmla="val 16941"/>
            </a:avLst>
          </a:prstGeom>
          <a:solidFill>
            <a:srgbClr val="1D5A4C"/>
          </a:solidFill>
          <a:ln w="12700">
            <a:solidFill>
              <a:srgbClr val="3CE8B2"/>
            </a:solidFill>
            <a:prstDash val="solid"/>
          </a:ln>
        </p:spPr>
      </p:sp>
      <p:sp>
        <p:nvSpPr>
          <p:cNvPr id="44" name="Shape 42"/>
          <p:cNvSpPr/>
          <p:nvPr/>
        </p:nvSpPr>
        <p:spPr>
          <a:xfrm>
            <a:off x="8515350" y="2381250"/>
            <a:ext cx="323850" cy="323850"/>
          </a:xfrm>
          <a:prstGeom prst="roundRect">
            <a:avLst>
              <a:gd name="adj" fmla="val 16941"/>
            </a:avLst>
          </a:prstGeom>
          <a:solidFill>
            <a:srgbClr val="153A34"/>
          </a:solidFill>
          <a:ln w="12700">
            <a:solidFill>
              <a:srgbClr val="153A34"/>
            </a:solidFill>
            <a:prstDash val="solid"/>
          </a:ln>
        </p:spPr>
      </p:sp>
      <p:sp>
        <p:nvSpPr>
          <p:cNvPr id="45" name="Shape 43"/>
          <p:cNvSpPr/>
          <p:nvPr/>
        </p:nvSpPr>
        <p:spPr>
          <a:xfrm>
            <a:off x="8915400" y="2381250"/>
            <a:ext cx="323850" cy="323850"/>
          </a:xfrm>
          <a:prstGeom prst="roundRect">
            <a:avLst>
              <a:gd name="adj" fmla="val 16941"/>
            </a:avLst>
          </a:prstGeom>
          <a:solidFill>
            <a:srgbClr val="153A34"/>
          </a:solidFill>
          <a:ln w="12700">
            <a:solidFill>
              <a:srgbClr val="153A34"/>
            </a:solidFill>
            <a:prstDash val="solid"/>
          </a:ln>
        </p:spPr>
      </p:sp>
      <p:sp>
        <p:nvSpPr>
          <p:cNvPr id="46" name="Shape 44"/>
          <p:cNvSpPr/>
          <p:nvPr/>
        </p:nvSpPr>
        <p:spPr>
          <a:xfrm>
            <a:off x="9315450" y="2381250"/>
            <a:ext cx="323850" cy="323850"/>
          </a:xfrm>
          <a:prstGeom prst="roundRect">
            <a:avLst>
              <a:gd name="adj" fmla="val 16941"/>
            </a:avLst>
          </a:prstGeom>
          <a:solidFill>
            <a:srgbClr val="153A34"/>
          </a:solidFill>
          <a:ln w="12700">
            <a:solidFill>
              <a:srgbClr val="153A34"/>
            </a:solidFill>
            <a:prstDash val="solid"/>
          </a:ln>
        </p:spPr>
      </p:sp>
      <p:sp>
        <p:nvSpPr>
          <p:cNvPr id="47" name="Shape 45"/>
          <p:cNvSpPr/>
          <p:nvPr/>
        </p:nvSpPr>
        <p:spPr>
          <a:xfrm>
            <a:off x="9715500" y="2381250"/>
            <a:ext cx="323850" cy="323850"/>
          </a:xfrm>
          <a:prstGeom prst="roundRect">
            <a:avLst>
              <a:gd name="adj" fmla="val 16941"/>
            </a:avLst>
          </a:prstGeom>
          <a:solidFill>
            <a:srgbClr val="153A34"/>
          </a:solidFill>
          <a:ln w="12700">
            <a:solidFill>
              <a:srgbClr val="153A34"/>
            </a:solidFill>
            <a:prstDash val="solid"/>
          </a:ln>
        </p:spPr>
      </p:sp>
      <p:sp>
        <p:nvSpPr>
          <p:cNvPr id="48" name="Shape 46"/>
          <p:cNvSpPr/>
          <p:nvPr/>
        </p:nvSpPr>
        <p:spPr>
          <a:xfrm>
            <a:off x="10115550" y="2381250"/>
            <a:ext cx="323850" cy="323850"/>
          </a:xfrm>
          <a:prstGeom prst="roundRect">
            <a:avLst>
              <a:gd name="adj" fmla="val 16941"/>
            </a:avLst>
          </a:prstGeom>
          <a:solidFill>
            <a:srgbClr val="153A34"/>
          </a:solidFill>
          <a:ln w="12700">
            <a:solidFill>
              <a:srgbClr val="153A34"/>
            </a:solidFill>
            <a:prstDash val="solid"/>
          </a:ln>
        </p:spPr>
      </p:sp>
      <p:sp>
        <p:nvSpPr>
          <p:cNvPr id="49" name="Shape 47"/>
          <p:cNvSpPr/>
          <p:nvPr/>
        </p:nvSpPr>
        <p:spPr>
          <a:xfrm>
            <a:off x="10515600" y="2381250"/>
            <a:ext cx="323850" cy="323850"/>
          </a:xfrm>
          <a:prstGeom prst="roundRect">
            <a:avLst>
              <a:gd name="adj" fmla="val 16941"/>
            </a:avLst>
          </a:prstGeom>
          <a:solidFill>
            <a:srgbClr val="153A34"/>
          </a:solidFill>
          <a:ln w="12700">
            <a:solidFill>
              <a:srgbClr val="153A34"/>
            </a:solidFill>
            <a:prstDash val="solid"/>
          </a:ln>
        </p:spPr>
      </p:sp>
      <p:sp>
        <p:nvSpPr>
          <p:cNvPr id="50" name="Shape 48"/>
          <p:cNvSpPr/>
          <p:nvPr/>
        </p:nvSpPr>
        <p:spPr>
          <a:xfrm>
            <a:off x="5715000" y="2781300"/>
            <a:ext cx="323850" cy="323850"/>
          </a:xfrm>
          <a:prstGeom prst="roundRect">
            <a:avLst>
              <a:gd name="adj" fmla="val 16941"/>
            </a:avLst>
          </a:prstGeom>
          <a:solidFill>
            <a:srgbClr val="153A34"/>
          </a:solidFill>
          <a:ln w="12700">
            <a:solidFill>
              <a:srgbClr val="153A34"/>
            </a:solidFill>
            <a:prstDash val="solid"/>
          </a:ln>
        </p:spPr>
      </p:sp>
      <p:sp>
        <p:nvSpPr>
          <p:cNvPr id="51" name="Shape 49"/>
          <p:cNvSpPr/>
          <p:nvPr/>
        </p:nvSpPr>
        <p:spPr>
          <a:xfrm>
            <a:off x="6115050" y="2781300"/>
            <a:ext cx="323850" cy="323850"/>
          </a:xfrm>
          <a:prstGeom prst="roundRect">
            <a:avLst>
              <a:gd name="adj" fmla="val 16941"/>
            </a:avLst>
          </a:prstGeom>
          <a:solidFill>
            <a:srgbClr val="153A34"/>
          </a:solidFill>
          <a:ln w="12700">
            <a:solidFill>
              <a:srgbClr val="153A34"/>
            </a:solidFill>
            <a:prstDash val="solid"/>
          </a:ln>
        </p:spPr>
      </p:sp>
      <p:sp>
        <p:nvSpPr>
          <p:cNvPr id="52" name="Shape 50"/>
          <p:cNvSpPr/>
          <p:nvPr/>
        </p:nvSpPr>
        <p:spPr>
          <a:xfrm>
            <a:off x="6515100" y="2781300"/>
            <a:ext cx="323850" cy="323850"/>
          </a:xfrm>
          <a:prstGeom prst="roundRect">
            <a:avLst>
              <a:gd name="adj" fmla="val 16941"/>
            </a:avLst>
          </a:prstGeom>
          <a:solidFill>
            <a:srgbClr val="1D5A4C"/>
          </a:solidFill>
          <a:ln w="12700">
            <a:solidFill>
              <a:srgbClr val="3CE8B2"/>
            </a:solidFill>
            <a:prstDash val="solid"/>
          </a:ln>
        </p:spPr>
      </p:sp>
      <p:sp>
        <p:nvSpPr>
          <p:cNvPr id="53" name="Shape 51"/>
          <p:cNvSpPr/>
          <p:nvPr/>
        </p:nvSpPr>
        <p:spPr>
          <a:xfrm>
            <a:off x="6915150" y="2781300"/>
            <a:ext cx="323850" cy="323850"/>
          </a:xfrm>
          <a:prstGeom prst="roundRect">
            <a:avLst>
              <a:gd name="adj" fmla="val 16941"/>
            </a:avLst>
          </a:prstGeom>
          <a:solidFill>
            <a:srgbClr val="153A34"/>
          </a:solidFill>
          <a:ln w="12700">
            <a:solidFill>
              <a:srgbClr val="153A34"/>
            </a:solidFill>
            <a:prstDash val="solid"/>
          </a:ln>
        </p:spPr>
      </p:sp>
      <p:sp>
        <p:nvSpPr>
          <p:cNvPr id="54" name="Shape 52"/>
          <p:cNvSpPr/>
          <p:nvPr/>
        </p:nvSpPr>
        <p:spPr>
          <a:xfrm>
            <a:off x="7315200" y="2781300"/>
            <a:ext cx="323850" cy="323850"/>
          </a:xfrm>
          <a:prstGeom prst="roundRect">
            <a:avLst>
              <a:gd name="adj" fmla="val 16941"/>
            </a:avLst>
          </a:prstGeom>
          <a:solidFill>
            <a:srgbClr val="153A34"/>
          </a:solidFill>
          <a:ln w="12700">
            <a:solidFill>
              <a:srgbClr val="153A34"/>
            </a:solidFill>
            <a:prstDash val="solid"/>
          </a:ln>
        </p:spPr>
      </p:sp>
      <p:sp>
        <p:nvSpPr>
          <p:cNvPr id="55" name="Shape 53"/>
          <p:cNvSpPr/>
          <p:nvPr/>
        </p:nvSpPr>
        <p:spPr>
          <a:xfrm>
            <a:off x="7715250" y="2781300"/>
            <a:ext cx="323850" cy="323850"/>
          </a:xfrm>
          <a:prstGeom prst="roundRect">
            <a:avLst>
              <a:gd name="adj" fmla="val 16941"/>
            </a:avLst>
          </a:prstGeom>
          <a:solidFill>
            <a:srgbClr val="153A34"/>
          </a:solidFill>
          <a:ln w="12700">
            <a:solidFill>
              <a:srgbClr val="153A34"/>
            </a:solidFill>
            <a:prstDash val="solid"/>
          </a:ln>
        </p:spPr>
      </p:sp>
      <p:sp>
        <p:nvSpPr>
          <p:cNvPr id="56" name="Shape 54"/>
          <p:cNvSpPr/>
          <p:nvPr/>
        </p:nvSpPr>
        <p:spPr>
          <a:xfrm>
            <a:off x="8115300" y="2781300"/>
            <a:ext cx="323850" cy="323850"/>
          </a:xfrm>
          <a:prstGeom prst="roundRect">
            <a:avLst>
              <a:gd name="adj" fmla="val 16941"/>
            </a:avLst>
          </a:prstGeom>
          <a:solidFill>
            <a:srgbClr val="153A34"/>
          </a:solidFill>
          <a:ln w="12700">
            <a:solidFill>
              <a:srgbClr val="153A34"/>
            </a:solidFill>
            <a:prstDash val="solid"/>
          </a:ln>
        </p:spPr>
      </p:sp>
      <p:sp>
        <p:nvSpPr>
          <p:cNvPr id="57" name="Shape 55"/>
          <p:cNvSpPr/>
          <p:nvPr/>
        </p:nvSpPr>
        <p:spPr>
          <a:xfrm>
            <a:off x="8515350" y="2781300"/>
            <a:ext cx="323850" cy="323850"/>
          </a:xfrm>
          <a:prstGeom prst="roundRect">
            <a:avLst>
              <a:gd name="adj" fmla="val 16941"/>
            </a:avLst>
          </a:prstGeom>
          <a:solidFill>
            <a:srgbClr val="153A34"/>
          </a:solidFill>
          <a:ln w="12700">
            <a:solidFill>
              <a:srgbClr val="153A34"/>
            </a:solidFill>
            <a:prstDash val="solid"/>
          </a:ln>
        </p:spPr>
      </p:sp>
      <p:sp>
        <p:nvSpPr>
          <p:cNvPr id="58" name="Shape 56"/>
          <p:cNvSpPr/>
          <p:nvPr/>
        </p:nvSpPr>
        <p:spPr>
          <a:xfrm>
            <a:off x="8915400" y="2781300"/>
            <a:ext cx="323850" cy="323850"/>
          </a:xfrm>
          <a:prstGeom prst="roundRect">
            <a:avLst>
              <a:gd name="adj" fmla="val 16941"/>
            </a:avLst>
          </a:prstGeom>
          <a:solidFill>
            <a:srgbClr val="153A34"/>
          </a:solidFill>
          <a:ln w="12700">
            <a:solidFill>
              <a:srgbClr val="153A34"/>
            </a:solidFill>
            <a:prstDash val="solid"/>
          </a:ln>
        </p:spPr>
      </p:sp>
      <p:sp>
        <p:nvSpPr>
          <p:cNvPr id="59" name="Shape 57"/>
          <p:cNvSpPr/>
          <p:nvPr/>
        </p:nvSpPr>
        <p:spPr>
          <a:xfrm>
            <a:off x="9315450" y="2781300"/>
            <a:ext cx="323850" cy="323850"/>
          </a:xfrm>
          <a:prstGeom prst="roundRect">
            <a:avLst>
              <a:gd name="adj" fmla="val 16941"/>
            </a:avLst>
          </a:prstGeom>
          <a:solidFill>
            <a:srgbClr val="1D5A4C"/>
          </a:solidFill>
          <a:ln w="12700">
            <a:solidFill>
              <a:srgbClr val="3CE8B2"/>
            </a:solidFill>
            <a:prstDash val="solid"/>
          </a:ln>
        </p:spPr>
      </p:sp>
      <p:sp>
        <p:nvSpPr>
          <p:cNvPr id="60" name="Shape 58"/>
          <p:cNvSpPr/>
          <p:nvPr/>
        </p:nvSpPr>
        <p:spPr>
          <a:xfrm>
            <a:off x="9715500" y="2781300"/>
            <a:ext cx="323850" cy="323850"/>
          </a:xfrm>
          <a:prstGeom prst="roundRect">
            <a:avLst>
              <a:gd name="adj" fmla="val 16941"/>
            </a:avLst>
          </a:prstGeom>
          <a:solidFill>
            <a:srgbClr val="153A34"/>
          </a:solidFill>
          <a:ln w="12700">
            <a:solidFill>
              <a:srgbClr val="153A34"/>
            </a:solidFill>
            <a:prstDash val="solid"/>
          </a:ln>
        </p:spPr>
      </p:sp>
      <p:sp>
        <p:nvSpPr>
          <p:cNvPr id="61" name="Shape 59"/>
          <p:cNvSpPr/>
          <p:nvPr/>
        </p:nvSpPr>
        <p:spPr>
          <a:xfrm>
            <a:off x="10115550" y="2781300"/>
            <a:ext cx="323850" cy="323850"/>
          </a:xfrm>
          <a:prstGeom prst="roundRect">
            <a:avLst>
              <a:gd name="adj" fmla="val 16941"/>
            </a:avLst>
          </a:prstGeom>
          <a:solidFill>
            <a:srgbClr val="153A34"/>
          </a:solidFill>
          <a:ln w="12700">
            <a:solidFill>
              <a:srgbClr val="153A34"/>
            </a:solidFill>
            <a:prstDash val="solid"/>
          </a:ln>
        </p:spPr>
      </p:sp>
      <p:sp>
        <p:nvSpPr>
          <p:cNvPr id="62" name="Shape 60"/>
          <p:cNvSpPr/>
          <p:nvPr/>
        </p:nvSpPr>
        <p:spPr>
          <a:xfrm>
            <a:off x="10515600" y="2781300"/>
            <a:ext cx="323850" cy="323850"/>
          </a:xfrm>
          <a:prstGeom prst="roundRect">
            <a:avLst>
              <a:gd name="adj" fmla="val 16941"/>
            </a:avLst>
          </a:prstGeom>
          <a:solidFill>
            <a:srgbClr val="153A34"/>
          </a:solidFill>
          <a:ln w="12700">
            <a:solidFill>
              <a:srgbClr val="153A34"/>
            </a:solidFill>
            <a:prstDash val="solid"/>
          </a:ln>
        </p:spPr>
      </p:sp>
      <p:sp>
        <p:nvSpPr>
          <p:cNvPr id="63" name="Text 61"/>
          <p:cNvSpPr/>
          <p:nvPr/>
        </p:nvSpPr>
        <p:spPr>
          <a:xfrm>
            <a:off x="5715000" y="3200400"/>
            <a:ext cx="5124450" cy="266700"/>
          </a:xfrm>
          <a:prstGeom prst="rect">
            <a:avLst/>
          </a:prstGeom>
          <a:noFill/>
          <a:ln/>
        </p:spPr>
        <p:txBody>
          <a:bodyPr wrap="square" lIns="0" tIns="0" rIns="0" bIns="0" rtlCol="0" anchor="ctr"/>
          <a:lstStyle/>
          <a:p>
            <a:pPr indent="0" marL="0">
              <a:buNone/>
            </a:pPr>
            <a:r>
              <a:rPr lang="en-US" sz="1350" dirty="0">
                <a:solidFill>
                  <a:srgbClr val="3CE8B2"/>
                </a:solidFill>
                <a:latin typeface="Calibri" pitchFamily="34" charset="0"/>
                <a:ea typeface="Calibri" pitchFamily="34" charset="-122"/>
                <a:cs typeface="Calibri" pitchFamily="34" charset="-120"/>
              </a:rPr>
              <a:t>millions of independent pixels made latency irrelevant</a:t>
            </a:r>
            <a:endParaRPr lang="en-US" sz="1350" dirty="0"/>
          </a:p>
        </p:txBody>
      </p:sp>
      <p:sp>
        <p:nvSpPr>
          <p:cNvPr id="64" name="Shape 62"/>
          <p:cNvSpPr/>
          <p:nvPr/>
        </p:nvSpPr>
        <p:spPr>
          <a:xfrm>
            <a:off x="552450" y="3619500"/>
            <a:ext cx="5467350" cy="1905000"/>
          </a:xfrm>
          <a:prstGeom prst="roundRect">
            <a:avLst>
              <a:gd name="adj" fmla="val 2400"/>
            </a:avLst>
          </a:prstGeom>
          <a:solidFill>
            <a:srgbClr val="101018"/>
          </a:solidFill>
          <a:ln w="12700">
            <a:solidFill>
              <a:srgbClr val="2A2A38"/>
            </a:solidFill>
            <a:prstDash val="solid"/>
          </a:ln>
        </p:spPr>
      </p:sp>
      <p:sp>
        <p:nvSpPr>
          <p:cNvPr id="65" name="Text 63"/>
          <p:cNvSpPr/>
          <p:nvPr/>
        </p:nvSpPr>
        <p:spPr>
          <a:xfrm>
            <a:off x="781050" y="3752850"/>
            <a:ext cx="5010150" cy="209550"/>
          </a:xfrm>
          <a:prstGeom prst="rect">
            <a:avLst/>
          </a:prstGeom>
          <a:noFill/>
          <a:ln/>
        </p:spPr>
        <p:txBody>
          <a:bodyPr wrap="square" lIns="0" tIns="0" rIns="0" bIns="0" rtlCol="0" anchor="ctr"/>
          <a:lstStyle/>
          <a:p>
            <a:pPr indent="0" marL="0">
              <a:buNone/>
            </a:pPr>
            <a:r>
              <a:rPr lang="en-US" sz="1100" b="1" dirty="0">
                <a:solidFill>
                  <a:srgbClr val="858596"/>
                </a:solidFill>
                <a:latin typeface="Courier New" pitchFamily="34" charset="0"/>
                <a:ea typeface="Courier New" pitchFamily="34" charset="-122"/>
                <a:cs typeface="Courier New" pitchFamily="34" charset="-120"/>
              </a:rPr>
              <a:t>THE HISTORY THAT EXPLAINS IT</a:t>
            </a:r>
            <a:endParaRPr lang="en-US" sz="1100" dirty="0"/>
          </a:p>
        </p:txBody>
      </p:sp>
      <p:sp>
        <p:nvSpPr>
          <p:cNvPr id="66" name="Text 64"/>
          <p:cNvSpPr/>
          <p:nvPr/>
        </p:nvSpPr>
        <p:spPr>
          <a:xfrm>
            <a:off x="781050" y="4038600"/>
            <a:ext cx="5010150" cy="1200150"/>
          </a:xfrm>
          <a:prstGeom prst="rect">
            <a:avLst/>
          </a:prstGeom>
          <a:noFill/>
          <a:ln/>
        </p:spPr>
        <p:txBody>
          <a:bodyPr wrap="square" lIns="0" tIns="0" rIns="0" bIns="0" rtlCol="0" anchor="t"/>
          <a:lstStyle/>
          <a:p>
            <a:pPr marL="165100" indent="-165100">
              <a:lnSpc>
                <a:spcPct val="92000"/>
              </a:lnSpc>
              <a:spcAft>
                <a:spcPts val="500"/>
              </a:spcAft>
              <a:buSzPct val="100000"/>
              <a:buChar char="•"/>
            </a:pPr>
            <a:r>
              <a:rPr lang="en-US" sz="1200" dirty="0">
                <a:solidFill>
                  <a:srgbClr val="D8D8DE"/>
                </a:solidFill>
                <a:latin typeface="Calibri" pitchFamily="34" charset="0"/>
                <a:ea typeface="Calibri" pitchFamily="34" charset="-122"/>
                <a:cs typeface="Calibri" pitchFamily="34" charset="-120"/>
              </a:rPr>
              <a:t>Gaming economics built it — millions of $300 cards, not thousands of $100k workstations.</a:t>
            </a:r>
            <a:endParaRPr lang="en-US" sz="1200" dirty="0"/>
          </a:p>
          <a:p>
            <a:pPr marL="165100" indent="-165100">
              <a:lnSpc>
                <a:spcPct val="92000"/>
              </a:lnSpc>
              <a:spcAft>
                <a:spcPts val="500"/>
              </a:spcAft>
              <a:buSzPct val="100000"/>
              <a:buChar char="•"/>
            </a:pPr>
            <a:r>
              <a:rPr lang="en-US" sz="1200" dirty="0">
                <a:solidFill>
                  <a:srgbClr val="D8D8DE"/>
                </a:solidFill>
                <a:latin typeface="Calibri" pitchFamily="34" charset="0"/>
                <a:ea typeface="Calibri" pitchFamily="34" charset="-122"/>
                <a:cs typeface="Calibri" pitchFamily="34" charset="-120"/>
              </a:rPr>
              <a:t>A frame is millions of independent pixels, so latency on any one never mattered. The silicon inherited that.</a:t>
            </a:r>
            <a:endParaRPr lang="en-US" sz="1200" dirty="0"/>
          </a:p>
          <a:p>
            <a:pPr marL="165100" indent="-165100">
              <a:lnSpc>
                <a:spcPct val="92000"/>
              </a:lnSpc>
              <a:spcAft>
                <a:spcPts val="500"/>
              </a:spcAft>
              <a:buSzPct val="100000"/>
              <a:buChar char="•"/>
            </a:pPr>
            <a:r>
              <a:rPr lang="en-US" sz="1200" dirty="0">
                <a:solidFill>
                  <a:srgbClr val="D8D8DE"/>
                </a:solidFill>
                <a:latin typeface="Calibri" pitchFamily="34" charset="0"/>
                <a:ea typeface="Calibri" pitchFamily="34" charset="-122"/>
                <a:cs typeface="Calibri" pitchFamily="34" charset="-120"/>
              </a:rPr>
              <a:t>CUDA changed the language, not the economics: compute rides hardware that games paid for.</a:t>
            </a:r>
            <a:endParaRPr lang="en-US" sz="1200" dirty="0"/>
          </a:p>
        </p:txBody>
      </p:sp>
      <p:sp>
        <p:nvSpPr>
          <p:cNvPr id="67" name="Text 65"/>
          <p:cNvSpPr/>
          <p:nvPr/>
        </p:nvSpPr>
        <p:spPr>
          <a:xfrm>
            <a:off x="781050" y="5257800"/>
            <a:ext cx="5010150" cy="190500"/>
          </a:xfrm>
          <a:prstGeom prst="rect">
            <a:avLst/>
          </a:prstGeom>
          <a:noFill/>
          <a:ln/>
        </p:spPr>
        <p:txBody>
          <a:bodyPr wrap="square" lIns="0" tIns="0" rIns="0" bIns="0" rtlCol="0" anchor="ctr"/>
          <a:lstStyle/>
          <a:p>
            <a:pPr indent="0" marL="0">
              <a:buNone/>
            </a:pPr>
            <a:r>
              <a:rPr lang="en-US" sz="1050" b="1" dirty="0">
                <a:solidFill>
                  <a:srgbClr val="6E6E82"/>
                </a:solidFill>
                <a:latin typeface="Calibri" pitchFamily="34" charset="0"/>
                <a:ea typeface="Calibri" pitchFamily="34" charset="-122"/>
                <a:cs typeface="Calibri" pitchFamily="34" charset="-120"/>
              </a:rPr>
              <a:t>→  §2 · THE VOLUME FLYWHEEL</a:t>
            </a:r>
            <a:endParaRPr lang="en-US" sz="1050" dirty="0"/>
          </a:p>
        </p:txBody>
      </p:sp>
      <p:sp>
        <p:nvSpPr>
          <p:cNvPr id="68" name="Shape 66"/>
          <p:cNvSpPr/>
          <p:nvPr/>
        </p:nvSpPr>
        <p:spPr>
          <a:xfrm>
            <a:off x="6172200" y="3619500"/>
            <a:ext cx="5467350" cy="1905000"/>
          </a:xfrm>
          <a:prstGeom prst="roundRect">
            <a:avLst>
              <a:gd name="adj" fmla="val 2400"/>
            </a:avLst>
          </a:prstGeom>
          <a:solidFill>
            <a:srgbClr val="14141D"/>
          </a:solidFill>
          <a:ln w="12700">
            <a:solidFill>
              <a:srgbClr val="2A2A38"/>
            </a:solidFill>
            <a:prstDash val="solid"/>
          </a:ln>
        </p:spPr>
      </p:sp>
      <p:sp>
        <p:nvSpPr>
          <p:cNvPr id="69" name="Text 67"/>
          <p:cNvSpPr/>
          <p:nvPr/>
        </p:nvSpPr>
        <p:spPr>
          <a:xfrm>
            <a:off x="6400800" y="3752850"/>
            <a:ext cx="5010150" cy="209550"/>
          </a:xfrm>
          <a:prstGeom prst="rect">
            <a:avLst/>
          </a:prstGeom>
          <a:noFill/>
          <a:ln/>
        </p:spPr>
        <p:txBody>
          <a:bodyPr wrap="square" lIns="0" tIns="0" rIns="0" bIns="0" rtlCol="0" anchor="ctr"/>
          <a:lstStyle/>
          <a:p>
            <a:pPr indent="0" marL="0">
              <a:buNone/>
            </a:pPr>
            <a:r>
              <a:rPr lang="en-US" sz="1100" b="1" dirty="0">
                <a:solidFill>
                  <a:srgbClr val="E8A832"/>
                </a:solidFill>
                <a:latin typeface="Courier New" pitchFamily="34" charset="0"/>
                <a:ea typeface="Courier New" pitchFamily="34" charset="-122"/>
                <a:cs typeface="Courier New" pitchFamily="34" charset="-120"/>
              </a:rPr>
              <a:t>THE PRACTICE IT DEMANDS</a:t>
            </a:r>
            <a:endParaRPr lang="en-US" sz="1100" dirty="0"/>
          </a:p>
        </p:txBody>
      </p:sp>
      <p:sp>
        <p:nvSpPr>
          <p:cNvPr id="70" name="Text 68"/>
          <p:cNvSpPr/>
          <p:nvPr/>
        </p:nvSpPr>
        <p:spPr>
          <a:xfrm>
            <a:off x="6400800" y="4038600"/>
            <a:ext cx="5010150" cy="1352550"/>
          </a:xfrm>
          <a:prstGeom prst="rect">
            <a:avLst/>
          </a:prstGeom>
          <a:noFill/>
          <a:ln/>
        </p:spPr>
        <p:txBody>
          <a:bodyPr wrap="square" lIns="0" tIns="0" rIns="0" bIns="0" rtlCol="0" anchor="t"/>
          <a:lstStyle/>
          <a:p>
            <a:pPr marL="165100" indent="-165100">
              <a:lnSpc>
                <a:spcPct val="92000"/>
              </a:lnSpc>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Ask whether there is enough independent work to be worth the trip — not how fast the card is.</a:t>
            </a:r>
            <a:endParaRPr lang="en-US" sz="1200" dirty="0"/>
          </a:p>
          <a:p>
            <a:pPr marL="165100" indent="-165100">
              <a:lnSpc>
                <a:spcPct val="92000"/>
              </a:lnSpc>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Small or serial work often loses, sometimes by orders of magnitude.</a:t>
            </a:r>
            <a:endParaRPr lang="en-US" sz="1200" dirty="0"/>
          </a:p>
          <a:p>
            <a:pPr marL="165100" indent="-165100">
              <a:lnSpc>
                <a:spcPct val="92000"/>
              </a:lnSpc>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Throughput-over-latency is not a setting you choose. It is the machine you were given.</a:t>
            </a:r>
            <a:endParaRPr lang="en-US" sz="1200" dirty="0"/>
          </a:p>
        </p:txBody>
      </p:sp>
      <p:sp>
        <p:nvSpPr>
          <p:cNvPr id="71" name="Text 69"/>
          <p:cNvSpPr/>
          <p:nvPr/>
        </p:nvSpPr>
        <p:spPr>
          <a:xfrm>
            <a:off x="552450" y="5676900"/>
            <a:ext cx="11087100" cy="533400"/>
          </a:xfrm>
          <a:prstGeom prst="roundRect">
            <a:avLst>
              <a:gd name="adj" fmla="val 8571"/>
            </a:avLst>
          </a:prstGeom>
          <a:solidFill>
            <a:srgbClr val="211A0D"/>
          </a:solidFill>
          <a:ln w="12700">
            <a:solidFill>
              <a:srgbClr val="E8A832"/>
            </a:solidFill>
          </a:ln>
        </p:spPr>
        <p:txBody>
          <a:bodyPr wrap="square" lIns="0" tIns="0" rIns="0" bIns="0" rtlCol="0" anchor="ctr"/>
          <a:lstStyle/>
          <a:p>
            <a:pPr algn="ctr" indent="0" marL="0">
              <a:buNone/>
            </a:pPr>
            <a:r>
              <a:rPr lang="en-US" sz="1500" b="1" dirty="0">
                <a:solidFill>
                  <a:srgbClr val="E8A832"/>
                </a:solidFill>
                <a:latin typeface="Calibri" pitchFamily="34" charset="0"/>
                <a:ea typeface="Calibri" pitchFamily="34" charset="-122"/>
                <a:cs typeface="Calibri" pitchFamily="34" charset="-120"/>
              </a:rPr>
              <a:t>The machine is a consequence of who paid for it. Program the economics, not the brochure.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52450" y="228600"/>
            <a:ext cx="8572500" cy="26670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9  ·  WHY THIS MATTERS FOR YOU</a:t>
            </a:r>
            <a:endParaRPr lang="en-US" sz="1200" dirty="0"/>
          </a:p>
        </p:txBody>
      </p:sp>
      <p:sp>
        <p:nvSpPr>
          <p:cNvPr id="3" name="Text 1"/>
          <p:cNvSpPr/>
          <p:nvPr/>
        </p:nvSpPr>
        <p:spPr>
          <a:xfrm>
            <a:off x="552450" y="523875"/>
            <a:ext cx="10287000" cy="590550"/>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The programming model is the hardware</a:t>
            </a:r>
            <a:endParaRPr lang="en-US" sz="2700" dirty="0"/>
          </a:p>
        </p:txBody>
      </p:sp>
      <p:sp>
        <p:nvSpPr>
          <p:cNvPr id="4" name="Text 2"/>
          <p:cNvSpPr/>
          <p:nvPr/>
        </p:nvSpPr>
        <p:spPr>
          <a:xfrm>
            <a:off x="10668000" y="190500"/>
            <a:ext cx="952500" cy="876300"/>
          </a:xfrm>
          <a:prstGeom prst="rect">
            <a:avLst/>
          </a:prstGeom>
          <a:noFill/>
          <a:ln/>
        </p:spPr>
        <p:txBody>
          <a:bodyPr wrap="square" lIns="0" tIns="0" rIns="0" bIns="0" rtlCol="0" anchor="ctr"/>
          <a:lstStyle/>
          <a:p>
            <a:pPr algn="r" indent="0" marL="0">
              <a:buNone/>
            </a:pPr>
            <a:r>
              <a:rPr lang="en-US" sz="5100" b="1" dirty="0">
                <a:solidFill>
                  <a:srgbClr val="23232F"/>
                </a:solidFill>
                <a:latin typeface="Courier New" pitchFamily="34" charset="0"/>
                <a:ea typeface="Courier New" pitchFamily="34" charset="-122"/>
                <a:cs typeface="Courier New" pitchFamily="34" charset="-120"/>
              </a:rPr>
              <a:t>2</a:t>
            </a:r>
            <a:endParaRPr lang="en-US" sz="5100" dirty="0"/>
          </a:p>
        </p:txBody>
      </p:sp>
      <p:sp>
        <p:nvSpPr>
          <p:cNvPr id="5" name="Text 3"/>
          <p:cNvSpPr/>
          <p:nvPr/>
        </p:nvSpPr>
        <p:spPr>
          <a:xfrm>
            <a:off x="742950" y="1295400"/>
            <a:ext cx="3143250" cy="228600"/>
          </a:xfrm>
          <a:prstGeom prst="rect">
            <a:avLst/>
          </a:prstGeom>
          <a:noFill/>
          <a:ln/>
        </p:spPr>
        <p:txBody>
          <a:bodyPr wrap="square" lIns="0" tIns="0" rIns="0" bIns="0" rtlCol="0" anchor="ctr"/>
          <a:lstStyle/>
          <a:p>
            <a:pPr indent="0" marL="0">
              <a:buNone/>
            </a:pPr>
            <a:r>
              <a:rPr lang="en-US" sz="1150" b="1" dirty="0">
                <a:solidFill>
                  <a:srgbClr val="E8A832"/>
                </a:solidFill>
                <a:latin typeface="Courier New" pitchFamily="34" charset="0"/>
                <a:ea typeface="Courier New" pitchFamily="34" charset="-122"/>
                <a:cs typeface="Courier New" pitchFamily="34" charset="-120"/>
              </a:rPr>
              <a:t>WRITE ONCE</a:t>
            </a:r>
            <a:endParaRPr lang="en-US" sz="1150" dirty="0"/>
          </a:p>
        </p:txBody>
      </p:sp>
      <p:sp>
        <p:nvSpPr>
          <p:cNvPr id="6" name="Shape 4"/>
          <p:cNvSpPr/>
          <p:nvPr/>
        </p:nvSpPr>
        <p:spPr>
          <a:xfrm>
            <a:off x="742950" y="1581150"/>
            <a:ext cx="3429000" cy="1428750"/>
          </a:xfrm>
          <a:prstGeom prst="roundRect">
            <a:avLst>
              <a:gd name="adj" fmla="val 3200"/>
            </a:avLst>
          </a:prstGeom>
          <a:solidFill>
            <a:srgbClr val="101018"/>
          </a:solidFill>
          <a:ln w="12700">
            <a:solidFill>
              <a:srgbClr val="E8A832"/>
            </a:solidFill>
            <a:prstDash val="solid"/>
          </a:ln>
        </p:spPr>
      </p:sp>
      <p:sp>
        <p:nvSpPr>
          <p:cNvPr id="7" name="Text 5"/>
          <p:cNvSpPr/>
          <p:nvPr/>
        </p:nvSpPr>
        <p:spPr>
          <a:xfrm>
            <a:off x="971550" y="1733550"/>
            <a:ext cx="3048000" cy="1143000"/>
          </a:xfrm>
          <a:prstGeom prst="rect">
            <a:avLst/>
          </a:prstGeom>
          <a:noFill/>
          <a:ln/>
        </p:spPr>
        <p:txBody>
          <a:bodyPr wrap="square" lIns="0" tIns="0" rIns="0" bIns="0" rtlCol="0" anchor="ctr"/>
          <a:lstStyle/>
          <a:p>
            <a:pPr indent="0" marL="0">
              <a:lnSpc>
                <a:spcPct val="115000"/>
              </a:lnSpc>
              <a:buNone/>
            </a:pPr>
            <a:r>
              <a:rPr lang="en-US" sz="1450" dirty="0">
                <a:solidFill>
                  <a:srgbClr val="FFFFFF"/>
                </a:solidFill>
                <a:latin typeface="Courier New" pitchFamily="34" charset="0"/>
                <a:ea typeface="Courier New" pitchFamily="34" charset="-122"/>
                <a:cs typeface="Courier New" pitchFamily="34" charset="-120"/>
              </a:rPr>
              <a:t>kernel update(i)</a:t>
            </a:r>
            <a:endParaRPr lang="en-US" sz="1450" dirty="0"/>
          </a:p>
          <a:p>
            <a:pPr indent="0" marL="0">
              <a:lnSpc>
                <a:spcPct val="115000"/>
              </a:lnSpc>
              <a:buNone/>
            </a:pPr>
            <a:r>
              <a:rPr lang="en-US" sz="1450" dirty="0">
                <a:solidFill>
                  <a:srgbClr val="FFFFFF"/>
                </a:solidFill>
                <a:latin typeface="Courier New" pitchFamily="34" charset="0"/>
                <a:ea typeface="Courier New" pitchFamily="34" charset="-122"/>
                <a:cs typeface="Courier New" pitchFamily="34" charset="-120"/>
              </a:rPr>
              <a:t>{</a:t>
            </a:r>
            <a:endParaRPr lang="en-US" sz="1450" dirty="0"/>
          </a:p>
          <a:p>
            <a:pPr indent="0" marL="0">
              <a:lnSpc>
                <a:spcPct val="115000"/>
              </a:lnSpc>
              <a:buNone/>
            </a:pPr>
            <a:r>
              <a:rPr lang="en-US" sz="1450" dirty="0">
                <a:solidFill>
                  <a:srgbClr val="FFFFFF"/>
                </a:solidFill>
                <a:latin typeface="Courier New" pitchFamily="34" charset="0"/>
                <a:ea typeface="Courier New" pitchFamily="34" charset="-122"/>
                <a:cs typeface="Courier New" pitchFamily="34" charset="-120"/>
              </a:rPr>
              <a:t>    y[i] = a*x[i] + y[i];</a:t>
            </a:r>
            <a:endParaRPr lang="en-US" sz="1450" dirty="0"/>
          </a:p>
          <a:p>
            <a:pPr indent="0" marL="0">
              <a:lnSpc>
                <a:spcPct val="115000"/>
              </a:lnSpc>
              <a:buNone/>
            </a:pPr>
            <a:r>
              <a:rPr lang="en-US" sz="1450" dirty="0">
                <a:solidFill>
                  <a:srgbClr val="FFFFFF"/>
                </a:solidFill>
                <a:latin typeface="Courier New" pitchFamily="34" charset="0"/>
                <a:ea typeface="Courier New" pitchFamily="34" charset="-122"/>
                <a:cs typeface="Courier New" pitchFamily="34" charset="-120"/>
              </a:rPr>
              <a:t>}</a:t>
            </a:r>
            <a:endParaRPr lang="en-US" sz="1450" dirty="0"/>
          </a:p>
        </p:txBody>
      </p:sp>
      <p:sp>
        <p:nvSpPr>
          <p:cNvPr id="8" name="Text 6"/>
          <p:cNvSpPr/>
          <p:nvPr/>
        </p:nvSpPr>
        <p:spPr>
          <a:xfrm>
            <a:off x="742950" y="3086100"/>
            <a:ext cx="3429000" cy="266700"/>
          </a:xfrm>
          <a:prstGeom prst="rect">
            <a:avLst/>
          </a:prstGeom>
          <a:noFill/>
          <a:ln/>
        </p:spPr>
        <p:txBody>
          <a:bodyPr wrap="square" lIns="0" tIns="0" rIns="0" bIns="0" rtlCol="0" anchor="ctr"/>
          <a:lstStyle/>
          <a:p>
            <a:pPr indent="0" marL="0">
              <a:buNone/>
            </a:pPr>
            <a:r>
              <a:rPr lang="en-US" sz="1350" b="1" dirty="0">
                <a:solidFill>
                  <a:srgbClr val="E8A832"/>
                </a:solidFill>
                <a:latin typeface="Calibri" pitchFamily="34" charset="0"/>
                <a:ea typeface="Calibri" pitchFamily="34" charset="-122"/>
                <a:cs typeface="Calibri" pitchFamily="34" charset="-120"/>
              </a:rPr>
              <a:t>one function</a:t>
            </a:r>
            <a:endParaRPr lang="en-US" sz="1350" dirty="0"/>
          </a:p>
        </p:txBody>
      </p:sp>
      <p:sp>
        <p:nvSpPr>
          <p:cNvPr id="9" name="Shape 7"/>
          <p:cNvSpPr/>
          <p:nvPr/>
        </p:nvSpPr>
        <p:spPr>
          <a:xfrm>
            <a:off x="4362450" y="2105025"/>
            <a:ext cx="857250" cy="381000"/>
          </a:xfrm>
          <a:prstGeom prst="rightArrow">
            <a:avLst/>
          </a:prstGeom>
          <a:solidFill>
            <a:srgbClr val="E8A832"/>
          </a:solidFill>
          <a:ln w="12700">
            <a:solidFill>
              <a:srgbClr val="E8A832"/>
            </a:solidFill>
            <a:prstDash val="solid"/>
          </a:ln>
        </p:spPr>
      </p:sp>
      <p:sp>
        <p:nvSpPr>
          <p:cNvPr id="10" name="Text 8"/>
          <p:cNvSpPr/>
          <p:nvPr/>
        </p:nvSpPr>
        <p:spPr>
          <a:xfrm>
            <a:off x="5619750" y="1295400"/>
            <a:ext cx="4953000" cy="228600"/>
          </a:xfrm>
          <a:prstGeom prst="rect">
            <a:avLst/>
          </a:prstGeom>
          <a:noFill/>
          <a:ln/>
        </p:spPr>
        <p:txBody>
          <a:bodyPr wrap="square" lIns="0" tIns="0" rIns="0" bIns="0" rtlCol="0" anchor="ctr"/>
          <a:lstStyle/>
          <a:p>
            <a:pPr indent="0" marL="0">
              <a:buNone/>
            </a:pPr>
            <a:r>
              <a:rPr lang="en-US" sz="1150" b="1" dirty="0">
                <a:solidFill>
                  <a:srgbClr val="3CE8B2"/>
                </a:solidFill>
                <a:latin typeface="Courier New" pitchFamily="34" charset="0"/>
                <a:ea typeface="Courier New" pitchFamily="34" charset="-122"/>
                <a:cs typeface="Courier New" pitchFamily="34" charset="-120"/>
              </a:rPr>
              <a:t>RUN EVERYWHERE</a:t>
            </a:r>
            <a:endParaRPr lang="en-US" sz="1150" dirty="0"/>
          </a:p>
        </p:txBody>
      </p:sp>
      <p:sp>
        <p:nvSpPr>
          <p:cNvPr id="11" name="Text 9"/>
          <p:cNvSpPr/>
          <p:nvPr/>
        </p:nvSpPr>
        <p:spPr>
          <a:xfrm>
            <a:off x="5619750" y="1581150"/>
            <a:ext cx="457200" cy="285750"/>
          </a:xfrm>
          <a:prstGeom prst="roundRect">
            <a:avLst>
              <a:gd name="adj" fmla="val 16000"/>
            </a:avLst>
          </a:prstGeom>
          <a:solidFill>
            <a:srgbClr val="1D5A4C"/>
          </a:solidFill>
          <a:ln w="12700">
            <a:solidFill>
              <a:srgbClr val="3CE8B2"/>
            </a:solidFill>
          </a:ln>
        </p:spPr>
        <p:txBody>
          <a:bodyPr wrap="square" lIns="0" tIns="0" rIns="0" bIns="0" rtlCol="0" anchor="ctr"/>
          <a:lstStyle/>
          <a:p>
            <a:pPr algn="ctr" indent="0" marL="0">
              <a:buNone/>
            </a:pPr>
            <a:r>
              <a:rPr lang="en-US" sz="950" b="1" dirty="0">
                <a:solidFill>
                  <a:srgbClr val="3CE8B2"/>
                </a:solidFill>
                <a:latin typeface="Courier New" pitchFamily="34" charset="0"/>
                <a:ea typeface="Courier New" pitchFamily="34" charset="-122"/>
                <a:cs typeface="Courier New" pitchFamily="34" charset="-120"/>
              </a:rPr>
              <a:t>i0</a:t>
            </a:r>
            <a:endParaRPr lang="en-US" sz="950" dirty="0"/>
          </a:p>
        </p:txBody>
      </p:sp>
      <p:sp>
        <p:nvSpPr>
          <p:cNvPr id="12" name="Shape 10"/>
          <p:cNvSpPr/>
          <p:nvPr/>
        </p:nvSpPr>
        <p:spPr>
          <a:xfrm>
            <a:off x="6134100" y="1581150"/>
            <a:ext cx="457200" cy="285750"/>
          </a:xfrm>
          <a:prstGeom prst="roundRect">
            <a:avLst>
              <a:gd name="adj" fmla="val 19200"/>
            </a:avLst>
          </a:prstGeom>
          <a:solidFill>
            <a:srgbClr val="14141D"/>
          </a:solidFill>
          <a:ln w="12700">
            <a:solidFill>
              <a:srgbClr val="2A2A38"/>
            </a:solidFill>
            <a:prstDash val="solid"/>
          </a:ln>
        </p:spPr>
      </p:sp>
      <p:sp>
        <p:nvSpPr>
          <p:cNvPr id="13" name="Shape 11"/>
          <p:cNvSpPr/>
          <p:nvPr/>
        </p:nvSpPr>
        <p:spPr>
          <a:xfrm>
            <a:off x="6648450" y="1581150"/>
            <a:ext cx="457200" cy="285750"/>
          </a:xfrm>
          <a:prstGeom prst="roundRect">
            <a:avLst>
              <a:gd name="adj" fmla="val 19200"/>
            </a:avLst>
          </a:prstGeom>
          <a:solidFill>
            <a:srgbClr val="14141D"/>
          </a:solidFill>
          <a:ln w="12700">
            <a:solidFill>
              <a:srgbClr val="2A2A38"/>
            </a:solidFill>
            <a:prstDash val="solid"/>
          </a:ln>
        </p:spPr>
      </p:sp>
      <p:sp>
        <p:nvSpPr>
          <p:cNvPr id="14" name="Shape 12"/>
          <p:cNvSpPr/>
          <p:nvPr/>
        </p:nvSpPr>
        <p:spPr>
          <a:xfrm>
            <a:off x="7162800" y="1581150"/>
            <a:ext cx="457200" cy="285750"/>
          </a:xfrm>
          <a:prstGeom prst="roundRect">
            <a:avLst>
              <a:gd name="adj" fmla="val 19200"/>
            </a:avLst>
          </a:prstGeom>
          <a:solidFill>
            <a:srgbClr val="14141D"/>
          </a:solidFill>
          <a:ln w="12700">
            <a:solidFill>
              <a:srgbClr val="2A2A38"/>
            </a:solidFill>
            <a:prstDash val="solid"/>
          </a:ln>
        </p:spPr>
      </p:sp>
      <p:sp>
        <p:nvSpPr>
          <p:cNvPr id="15" name="Shape 13"/>
          <p:cNvSpPr/>
          <p:nvPr/>
        </p:nvSpPr>
        <p:spPr>
          <a:xfrm>
            <a:off x="7677150" y="1581150"/>
            <a:ext cx="457200" cy="285750"/>
          </a:xfrm>
          <a:prstGeom prst="roundRect">
            <a:avLst>
              <a:gd name="adj" fmla="val 19200"/>
            </a:avLst>
          </a:prstGeom>
          <a:solidFill>
            <a:srgbClr val="14141D"/>
          </a:solidFill>
          <a:ln w="12700">
            <a:solidFill>
              <a:srgbClr val="2A2A38"/>
            </a:solidFill>
            <a:prstDash val="solid"/>
          </a:ln>
        </p:spPr>
      </p:sp>
      <p:sp>
        <p:nvSpPr>
          <p:cNvPr id="16" name="Shape 14"/>
          <p:cNvSpPr/>
          <p:nvPr/>
        </p:nvSpPr>
        <p:spPr>
          <a:xfrm>
            <a:off x="8191500" y="1581150"/>
            <a:ext cx="457200" cy="285750"/>
          </a:xfrm>
          <a:prstGeom prst="roundRect">
            <a:avLst>
              <a:gd name="adj" fmla="val 19200"/>
            </a:avLst>
          </a:prstGeom>
          <a:solidFill>
            <a:srgbClr val="14141D"/>
          </a:solidFill>
          <a:ln w="12700">
            <a:solidFill>
              <a:srgbClr val="2A2A38"/>
            </a:solidFill>
            <a:prstDash val="solid"/>
          </a:ln>
        </p:spPr>
      </p:sp>
      <p:sp>
        <p:nvSpPr>
          <p:cNvPr id="17" name="Shape 15"/>
          <p:cNvSpPr/>
          <p:nvPr/>
        </p:nvSpPr>
        <p:spPr>
          <a:xfrm>
            <a:off x="8705850" y="1581150"/>
            <a:ext cx="457200" cy="285750"/>
          </a:xfrm>
          <a:prstGeom prst="roundRect">
            <a:avLst>
              <a:gd name="adj" fmla="val 19200"/>
            </a:avLst>
          </a:prstGeom>
          <a:solidFill>
            <a:srgbClr val="14141D"/>
          </a:solidFill>
          <a:ln w="12700">
            <a:solidFill>
              <a:srgbClr val="2A2A38"/>
            </a:solidFill>
            <a:prstDash val="solid"/>
          </a:ln>
        </p:spPr>
      </p:sp>
      <p:sp>
        <p:nvSpPr>
          <p:cNvPr id="18" name="Text 16"/>
          <p:cNvSpPr/>
          <p:nvPr/>
        </p:nvSpPr>
        <p:spPr>
          <a:xfrm>
            <a:off x="9220200" y="1581150"/>
            <a:ext cx="457200" cy="285750"/>
          </a:xfrm>
          <a:prstGeom prst="roundRect">
            <a:avLst>
              <a:gd name="adj" fmla="val 16000"/>
            </a:avLst>
          </a:prstGeom>
          <a:solidFill>
            <a:srgbClr val="1D5A4C"/>
          </a:solidFill>
          <a:ln w="12700">
            <a:solidFill>
              <a:srgbClr val="3CE8B2"/>
            </a:solidFill>
          </a:ln>
        </p:spPr>
        <p:txBody>
          <a:bodyPr wrap="square" lIns="0" tIns="0" rIns="0" bIns="0" rtlCol="0" anchor="ctr"/>
          <a:lstStyle/>
          <a:p>
            <a:pPr algn="ctr" indent="0" marL="0">
              <a:buNone/>
            </a:pPr>
            <a:r>
              <a:rPr lang="en-US" sz="950" b="1" dirty="0">
                <a:solidFill>
                  <a:srgbClr val="3CE8B2"/>
                </a:solidFill>
                <a:latin typeface="Courier New" pitchFamily="34" charset="0"/>
                <a:ea typeface="Courier New" pitchFamily="34" charset="-122"/>
                <a:cs typeface="Courier New" pitchFamily="34" charset="-120"/>
              </a:rPr>
              <a:t>i7</a:t>
            </a:r>
            <a:endParaRPr lang="en-US" sz="950" dirty="0"/>
          </a:p>
        </p:txBody>
      </p:sp>
      <p:sp>
        <p:nvSpPr>
          <p:cNvPr id="19" name="Shape 17"/>
          <p:cNvSpPr/>
          <p:nvPr/>
        </p:nvSpPr>
        <p:spPr>
          <a:xfrm>
            <a:off x="9734550" y="1581150"/>
            <a:ext cx="457200" cy="285750"/>
          </a:xfrm>
          <a:prstGeom prst="roundRect">
            <a:avLst>
              <a:gd name="adj" fmla="val 19200"/>
            </a:avLst>
          </a:prstGeom>
          <a:solidFill>
            <a:srgbClr val="14141D"/>
          </a:solidFill>
          <a:ln w="12700">
            <a:solidFill>
              <a:srgbClr val="2A2A38"/>
            </a:solidFill>
            <a:prstDash val="solid"/>
          </a:ln>
        </p:spPr>
      </p:sp>
      <p:sp>
        <p:nvSpPr>
          <p:cNvPr id="20" name="Shape 18"/>
          <p:cNvSpPr/>
          <p:nvPr/>
        </p:nvSpPr>
        <p:spPr>
          <a:xfrm>
            <a:off x="10248900" y="1581150"/>
            <a:ext cx="457200" cy="285750"/>
          </a:xfrm>
          <a:prstGeom prst="roundRect">
            <a:avLst>
              <a:gd name="adj" fmla="val 19200"/>
            </a:avLst>
          </a:prstGeom>
          <a:solidFill>
            <a:srgbClr val="14141D"/>
          </a:solidFill>
          <a:ln w="12700">
            <a:solidFill>
              <a:srgbClr val="2A2A38"/>
            </a:solidFill>
            <a:prstDash val="solid"/>
          </a:ln>
        </p:spPr>
      </p:sp>
      <p:sp>
        <p:nvSpPr>
          <p:cNvPr id="21" name="Shape 19"/>
          <p:cNvSpPr/>
          <p:nvPr/>
        </p:nvSpPr>
        <p:spPr>
          <a:xfrm>
            <a:off x="5619750" y="1924050"/>
            <a:ext cx="457200" cy="285750"/>
          </a:xfrm>
          <a:prstGeom prst="roundRect">
            <a:avLst>
              <a:gd name="adj" fmla="val 19200"/>
            </a:avLst>
          </a:prstGeom>
          <a:solidFill>
            <a:srgbClr val="14141D"/>
          </a:solidFill>
          <a:ln w="12700">
            <a:solidFill>
              <a:srgbClr val="2A2A38"/>
            </a:solidFill>
            <a:prstDash val="solid"/>
          </a:ln>
        </p:spPr>
      </p:sp>
      <p:sp>
        <p:nvSpPr>
          <p:cNvPr id="22" name="Shape 20"/>
          <p:cNvSpPr/>
          <p:nvPr/>
        </p:nvSpPr>
        <p:spPr>
          <a:xfrm>
            <a:off x="6134100" y="1924050"/>
            <a:ext cx="457200" cy="285750"/>
          </a:xfrm>
          <a:prstGeom prst="roundRect">
            <a:avLst>
              <a:gd name="adj" fmla="val 19200"/>
            </a:avLst>
          </a:prstGeom>
          <a:solidFill>
            <a:srgbClr val="14141D"/>
          </a:solidFill>
          <a:ln w="12700">
            <a:solidFill>
              <a:srgbClr val="2A2A38"/>
            </a:solidFill>
            <a:prstDash val="solid"/>
          </a:ln>
        </p:spPr>
      </p:sp>
      <p:sp>
        <p:nvSpPr>
          <p:cNvPr id="23" name="Shape 21"/>
          <p:cNvSpPr/>
          <p:nvPr/>
        </p:nvSpPr>
        <p:spPr>
          <a:xfrm>
            <a:off x="6648450" y="1924050"/>
            <a:ext cx="457200" cy="285750"/>
          </a:xfrm>
          <a:prstGeom prst="roundRect">
            <a:avLst>
              <a:gd name="adj" fmla="val 19200"/>
            </a:avLst>
          </a:prstGeom>
          <a:solidFill>
            <a:srgbClr val="14141D"/>
          </a:solidFill>
          <a:ln w="12700">
            <a:solidFill>
              <a:srgbClr val="2A2A38"/>
            </a:solidFill>
            <a:prstDash val="solid"/>
          </a:ln>
        </p:spPr>
      </p:sp>
      <p:sp>
        <p:nvSpPr>
          <p:cNvPr id="24" name="Shape 22"/>
          <p:cNvSpPr/>
          <p:nvPr/>
        </p:nvSpPr>
        <p:spPr>
          <a:xfrm>
            <a:off x="7162800" y="1924050"/>
            <a:ext cx="457200" cy="285750"/>
          </a:xfrm>
          <a:prstGeom prst="roundRect">
            <a:avLst>
              <a:gd name="adj" fmla="val 19200"/>
            </a:avLst>
          </a:prstGeom>
          <a:solidFill>
            <a:srgbClr val="14141D"/>
          </a:solidFill>
          <a:ln w="12700">
            <a:solidFill>
              <a:srgbClr val="2A2A38"/>
            </a:solidFill>
            <a:prstDash val="solid"/>
          </a:ln>
        </p:spPr>
      </p:sp>
      <p:sp>
        <p:nvSpPr>
          <p:cNvPr id="25" name="Text 23"/>
          <p:cNvSpPr/>
          <p:nvPr/>
        </p:nvSpPr>
        <p:spPr>
          <a:xfrm>
            <a:off x="7677150" y="1924050"/>
            <a:ext cx="457200" cy="285750"/>
          </a:xfrm>
          <a:prstGeom prst="roundRect">
            <a:avLst>
              <a:gd name="adj" fmla="val 16000"/>
            </a:avLst>
          </a:prstGeom>
          <a:solidFill>
            <a:srgbClr val="1D5A4C"/>
          </a:solidFill>
          <a:ln w="12700">
            <a:solidFill>
              <a:srgbClr val="3CE8B2"/>
            </a:solidFill>
          </a:ln>
        </p:spPr>
        <p:txBody>
          <a:bodyPr wrap="square" lIns="0" tIns="0" rIns="0" bIns="0" rtlCol="0" anchor="ctr"/>
          <a:lstStyle/>
          <a:p>
            <a:pPr algn="ctr" indent="0" marL="0">
              <a:buNone/>
            </a:pPr>
            <a:r>
              <a:rPr lang="en-US" sz="950" b="1" dirty="0">
                <a:solidFill>
                  <a:srgbClr val="3CE8B2"/>
                </a:solidFill>
                <a:latin typeface="Courier New" pitchFamily="34" charset="0"/>
                <a:ea typeface="Courier New" pitchFamily="34" charset="-122"/>
                <a:cs typeface="Courier New" pitchFamily="34" charset="-120"/>
              </a:rPr>
              <a:t>i14</a:t>
            </a:r>
            <a:endParaRPr lang="en-US" sz="950" dirty="0"/>
          </a:p>
        </p:txBody>
      </p:sp>
      <p:sp>
        <p:nvSpPr>
          <p:cNvPr id="26" name="Shape 24"/>
          <p:cNvSpPr/>
          <p:nvPr/>
        </p:nvSpPr>
        <p:spPr>
          <a:xfrm>
            <a:off x="8191500" y="1924050"/>
            <a:ext cx="457200" cy="285750"/>
          </a:xfrm>
          <a:prstGeom prst="roundRect">
            <a:avLst>
              <a:gd name="adj" fmla="val 19200"/>
            </a:avLst>
          </a:prstGeom>
          <a:solidFill>
            <a:srgbClr val="14141D"/>
          </a:solidFill>
          <a:ln w="12700">
            <a:solidFill>
              <a:srgbClr val="2A2A38"/>
            </a:solidFill>
            <a:prstDash val="solid"/>
          </a:ln>
        </p:spPr>
      </p:sp>
      <p:sp>
        <p:nvSpPr>
          <p:cNvPr id="27" name="Shape 25"/>
          <p:cNvSpPr/>
          <p:nvPr/>
        </p:nvSpPr>
        <p:spPr>
          <a:xfrm>
            <a:off x="8705850" y="1924050"/>
            <a:ext cx="457200" cy="285750"/>
          </a:xfrm>
          <a:prstGeom prst="roundRect">
            <a:avLst>
              <a:gd name="adj" fmla="val 19200"/>
            </a:avLst>
          </a:prstGeom>
          <a:solidFill>
            <a:srgbClr val="14141D"/>
          </a:solidFill>
          <a:ln w="12700">
            <a:solidFill>
              <a:srgbClr val="2A2A38"/>
            </a:solidFill>
            <a:prstDash val="solid"/>
          </a:ln>
        </p:spPr>
      </p:sp>
      <p:sp>
        <p:nvSpPr>
          <p:cNvPr id="28" name="Shape 26"/>
          <p:cNvSpPr/>
          <p:nvPr/>
        </p:nvSpPr>
        <p:spPr>
          <a:xfrm>
            <a:off x="9220200" y="1924050"/>
            <a:ext cx="457200" cy="285750"/>
          </a:xfrm>
          <a:prstGeom prst="roundRect">
            <a:avLst>
              <a:gd name="adj" fmla="val 19200"/>
            </a:avLst>
          </a:prstGeom>
          <a:solidFill>
            <a:srgbClr val="14141D"/>
          </a:solidFill>
          <a:ln w="12700">
            <a:solidFill>
              <a:srgbClr val="2A2A38"/>
            </a:solidFill>
            <a:prstDash val="solid"/>
          </a:ln>
        </p:spPr>
      </p:sp>
      <p:sp>
        <p:nvSpPr>
          <p:cNvPr id="29" name="Shape 27"/>
          <p:cNvSpPr/>
          <p:nvPr/>
        </p:nvSpPr>
        <p:spPr>
          <a:xfrm>
            <a:off x="9734550" y="1924050"/>
            <a:ext cx="457200" cy="285750"/>
          </a:xfrm>
          <a:prstGeom prst="roundRect">
            <a:avLst>
              <a:gd name="adj" fmla="val 19200"/>
            </a:avLst>
          </a:prstGeom>
          <a:solidFill>
            <a:srgbClr val="14141D"/>
          </a:solidFill>
          <a:ln w="12700">
            <a:solidFill>
              <a:srgbClr val="2A2A38"/>
            </a:solidFill>
            <a:prstDash val="solid"/>
          </a:ln>
        </p:spPr>
      </p:sp>
      <p:sp>
        <p:nvSpPr>
          <p:cNvPr id="30" name="Shape 28"/>
          <p:cNvSpPr/>
          <p:nvPr/>
        </p:nvSpPr>
        <p:spPr>
          <a:xfrm>
            <a:off x="10248900" y="1924050"/>
            <a:ext cx="457200" cy="285750"/>
          </a:xfrm>
          <a:prstGeom prst="roundRect">
            <a:avLst>
              <a:gd name="adj" fmla="val 19200"/>
            </a:avLst>
          </a:prstGeom>
          <a:solidFill>
            <a:srgbClr val="14141D"/>
          </a:solidFill>
          <a:ln w="12700">
            <a:solidFill>
              <a:srgbClr val="2A2A38"/>
            </a:solidFill>
            <a:prstDash val="solid"/>
          </a:ln>
        </p:spPr>
      </p:sp>
      <p:sp>
        <p:nvSpPr>
          <p:cNvPr id="31" name="Shape 29"/>
          <p:cNvSpPr/>
          <p:nvPr/>
        </p:nvSpPr>
        <p:spPr>
          <a:xfrm>
            <a:off x="5619750" y="2266950"/>
            <a:ext cx="457200" cy="285750"/>
          </a:xfrm>
          <a:prstGeom prst="roundRect">
            <a:avLst>
              <a:gd name="adj" fmla="val 19200"/>
            </a:avLst>
          </a:prstGeom>
          <a:solidFill>
            <a:srgbClr val="14141D"/>
          </a:solidFill>
          <a:ln w="12700">
            <a:solidFill>
              <a:srgbClr val="2A2A38"/>
            </a:solidFill>
            <a:prstDash val="solid"/>
          </a:ln>
        </p:spPr>
      </p:sp>
      <p:sp>
        <p:nvSpPr>
          <p:cNvPr id="32" name="Text 30"/>
          <p:cNvSpPr/>
          <p:nvPr/>
        </p:nvSpPr>
        <p:spPr>
          <a:xfrm>
            <a:off x="6134100" y="2266950"/>
            <a:ext cx="457200" cy="285750"/>
          </a:xfrm>
          <a:prstGeom prst="roundRect">
            <a:avLst>
              <a:gd name="adj" fmla="val 16000"/>
            </a:avLst>
          </a:prstGeom>
          <a:solidFill>
            <a:srgbClr val="1D5A4C"/>
          </a:solidFill>
          <a:ln w="12700">
            <a:solidFill>
              <a:srgbClr val="3CE8B2"/>
            </a:solidFill>
          </a:ln>
        </p:spPr>
        <p:txBody>
          <a:bodyPr wrap="square" lIns="0" tIns="0" rIns="0" bIns="0" rtlCol="0" anchor="ctr"/>
          <a:lstStyle/>
          <a:p>
            <a:pPr algn="ctr" indent="0" marL="0">
              <a:buNone/>
            </a:pPr>
            <a:r>
              <a:rPr lang="en-US" sz="950" b="1" dirty="0">
                <a:solidFill>
                  <a:srgbClr val="3CE8B2"/>
                </a:solidFill>
                <a:latin typeface="Courier New" pitchFamily="34" charset="0"/>
                <a:ea typeface="Courier New" pitchFamily="34" charset="-122"/>
                <a:cs typeface="Courier New" pitchFamily="34" charset="-120"/>
              </a:rPr>
              <a:t>i21</a:t>
            </a:r>
            <a:endParaRPr lang="en-US" sz="950" dirty="0"/>
          </a:p>
        </p:txBody>
      </p:sp>
      <p:sp>
        <p:nvSpPr>
          <p:cNvPr id="33" name="Shape 31"/>
          <p:cNvSpPr/>
          <p:nvPr/>
        </p:nvSpPr>
        <p:spPr>
          <a:xfrm>
            <a:off x="6648450" y="2266950"/>
            <a:ext cx="457200" cy="285750"/>
          </a:xfrm>
          <a:prstGeom prst="roundRect">
            <a:avLst>
              <a:gd name="adj" fmla="val 19200"/>
            </a:avLst>
          </a:prstGeom>
          <a:solidFill>
            <a:srgbClr val="14141D"/>
          </a:solidFill>
          <a:ln w="12700">
            <a:solidFill>
              <a:srgbClr val="2A2A38"/>
            </a:solidFill>
            <a:prstDash val="solid"/>
          </a:ln>
        </p:spPr>
      </p:sp>
      <p:sp>
        <p:nvSpPr>
          <p:cNvPr id="34" name="Shape 32"/>
          <p:cNvSpPr/>
          <p:nvPr/>
        </p:nvSpPr>
        <p:spPr>
          <a:xfrm>
            <a:off x="7162800" y="2266950"/>
            <a:ext cx="457200" cy="285750"/>
          </a:xfrm>
          <a:prstGeom prst="roundRect">
            <a:avLst>
              <a:gd name="adj" fmla="val 19200"/>
            </a:avLst>
          </a:prstGeom>
          <a:solidFill>
            <a:srgbClr val="14141D"/>
          </a:solidFill>
          <a:ln w="12700">
            <a:solidFill>
              <a:srgbClr val="2A2A38"/>
            </a:solidFill>
            <a:prstDash val="solid"/>
          </a:ln>
        </p:spPr>
      </p:sp>
      <p:sp>
        <p:nvSpPr>
          <p:cNvPr id="35" name="Shape 33"/>
          <p:cNvSpPr/>
          <p:nvPr/>
        </p:nvSpPr>
        <p:spPr>
          <a:xfrm>
            <a:off x="7677150" y="2266950"/>
            <a:ext cx="457200" cy="285750"/>
          </a:xfrm>
          <a:prstGeom prst="roundRect">
            <a:avLst>
              <a:gd name="adj" fmla="val 19200"/>
            </a:avLst>
          </a:prstGeom>
          <a:solidFill>
            <a:srgbClr val="14141D"/>
          </a:solidFill>
          <a:ln w="12700">
            <a:solidFill>
              <a:srgbClr val="2A2A38"/>
            </a:solidFill>
            <a:prstDash val="solid"/>
          </a:ln>
        </p:spPr>
      </p:sp>
      <p:sp>
        <p:nvSpPr>
          <p:cNvPr id="36" name="Shape 34"/>
          <p:cNvSpPr/>
          <p:nvPr/>
        </p:nvSpPr>
        <p:spPr>
          <a:xfrm>
            <a:off x="8191500" y="2266950"/>
            <a:ext cx="457200" cy="285750"/>
          </a:xfrm>
          <a:prstGeom prst="roundRect">
            <a:avLst>
              <a:gd name="adj" fmla="val 19200"/>
            </a:avLst>
          </a:prstGeom>
          <a:solidFill>
            <a:srgbClr val="14141D"/>
          </a:solidFill>
          <a:ln w="12700">
            <a:solidFill>
              <a:srgbClr val="2A2A38"/>
            </a:solidFill>
            <a:prstDash val="solid"/>
          </a:ln>
        </p:spPr>
      </p:sp>
      <p:sp>
        <p:nvSpPr>
          <p:cNvPr id="37" name="Shape 35"/>
          <p:cNvSpPr/>
          <p:nvPr/>
        </p:nvSpPr>
        <p:spPr>
          <a:xfrm>
            <a:off x="8705850" y="2266950"/>
            <a:ext cx="457200" cy="285750"/>
          </a:xfrm>
          <a:prstGeom prst="roundRect">
            <a:avLst>
              <a:gd name="adj" fmla="val 19200"/>
            </a:avLst>
          </a:prstGeom>
          <a:solidFill>
            <a:srgbClr val="14141D"/>
          </a:solidFill>
          <a:ln w="12700">
            <a:solidFill>
              <a:srgbClr val="2A2A38"/>
            </a:solidFill>
            <a:prstDash val="solid"/>
          </a:ln>
        </p:spPr>
      </p:sp>
      <p:sp>
        <p:nvSpPr>
          <p:cNvPr id="38" name="Shape 36"/>
          <p:cNvSpPr/>
          <p:nvPr/>
        </p:nvSpPr>
        <p:spPr>
          <a:xfrm>
            <a:off x="9220200" y="2266950"/>
            <a:ext cx="457200" cy="285750"/>
          </a:xfrm>
          <a:prstGeom prst="roundRect">
            <a:avLst>
              <a:gd name="adj" fmla="val 19200"/>
            </a:avLst>
          </a:prstGeom>
          <a:solidFill>
            <a:srgbClr val="14141D"/>
          </a:solidFill>
          <a:ln w="12700">
            <a:solidFill>
              <a:srgbClr val="2A2A38"/>
            </a:solidFill>
            <a:prstDash val="solid"/>
          </a:ln>
        </p:spPr>
      </p:sp>
      <p:sp>
        <p:nvSpPr>
          <p:cNvPr id="39" name="Text 37"/>
          <p:cNvSpPr/>
          <p:nvPr/>
        </p:nvSpPr>
        <p:spPr>
          <a:xfrm>
            <a:off x="9734550" y="2266950"/>
            <a:ext cx="457200" cy="285750"/>
          </a:xfrm>
          <a:prstGeom prst="roundRect">
            <a:avLst>
              <a:gd name="adj" fmla="val 16000"/>
            </a:avLst>
          </a:prstGeom>
          <a:solidFill>
            <a:srgbClr val="1D5A4C"/>
          </a:solidFill>
          <a:ln w="12700">
            <a:solidFill>
              <a:srgbClr val="3CE8B2"/>
            </a:solidFill>
          </a:ln>
        </p:spPr>
        <p:txBody>
          <a:bodyPr wrap="square" lIns="0" tIns="0" rIns="0" bIns="0" rtlCol="0" anchor="ctr"/>
          <a:lstStyle/>
          <a:p>
            <a:pPr algn="ctr" indent="0" marL="0">
              <a:buNone/>
            </a:pPr>
            <a:r>
              <a:rPr lang="en-US" sz="950" b="1" dirty="0">
                <a:solidFill>
                  <a:srgbClr val="3CE8B2"/>
                </a:solidFill>
                <a:latin typeface="Courier New" pitchFamily="34" charset="0"/>
                <a:ea typeface="Courier New" pitchFamily="34" charset="-122"/>
                <a:cs typeface="Courier New" pitchFamily="34" charset="-120"/>
              </a:rPr>
              <a:t>i28</a:t>
            </a:r>
            <a:endParaRPr lang="en-US" sz="950" dirty="0"/>
          </a:p>
        </p:txBody>
      </p:sp>
      <p:sp>
        <p:nvSpPr>
          <p:cNvPr id="40" name="Shape 38"/>
          <p:cNvSpPr/>
          <p:nvPr/>
        </p:nvSpPr>
        <p:spPr>
          <a:xfrm>
            <a:off x="10248900" y="2266950"/>
            <a:ext cx="457200" cy="285750"/>
          </a:xfrm>
          <a:prstGeom prst="roundRect">
            <a:avLst>
              <a:gd name="adj" fmla="val 19200"/>
            </a:avLst>
          </a:prstGeom>
          <a:solidFill>
            <a:srgbClr val="14141D"/>
          </a:solidFill>
          <a:ln w="12700">
            <a:solidFill>
              <a:srgbClr val="2A2A38"/>
            </a:solidFill>
            <a:prstDash val="solid"/>
          </a:ln>
        </p:spPr>
      </p:sp>
      <p:sp>
        <p:nvSpPr>
          <p:cNvPr id="41" name="Shape 39"/>
          <p:cNvSpPr/>
          <p:nvPr/>
        </p:nvSpPr>
        <p:spPr>
          <a:xfrm>
            <a:off x="5619750" y="2609850"/>
            <a:ext cx="457200" cy="285750"/>
          </a:xfrm>
          <a:prstGeom prst="roundRect">
            <a:avLst>
              <a:gd name="adj" fmla="val 19200"/>
            </a:avLst>
          </a:prstGeom>
          <a:solidFill>
            <a:srgbClr val="14141D"/>
          </a:solidFill>
          <a:ln w="12700">
            <a:solidFill>
              <a:srgbClr val="2A2A38"/>
            </a:solidFill>
            <a:prstDash val="solid"/>
          </a:ln>
        </p:spPr>
      </p:sp>
      <p:sp>
        <p:nvSpPr>
          <p:cNvPr id="42" name="Shape 40"/>
          <p:cNvSpPr/>
          <p:nvPr/>
        </p:nvSpPr>
        <p:spPr>
          <a:xfrm>
            <a:off x="6134100" y="2609850"/>
            <a:ext cx="457200" cy="285750"/>
          </a:xfrm>
          <a:prstGeom prst="roundRect">
            <a:avLst>
              <a:gd name="adj" fmla="val 19200"/>
            </a:avLst>
          </a:prstGeom>
          <a:solidFill>
            <a:srgbClr val="14141D"/>
          </a:solidFill>
          <a:ln w="12700">
            <a:solidFill>
              <a:srgbClr val="2A2A38"/>
            </a:solidFill>
            <a:prstDash val="solid"/>
          </a:ln>
        </p:spPr>
      </p:sp>
      <p:sp>
        <p:nvSpPr>
          <p:cNvPr id="43" name="Shape 41"/>
          <p:cNvSpPr/>
          <p:nvPr/>
        </p:nvSpPr>
        <p:spPr>
          <a:xfrm>
            <a:off x="6648450" y="2609850"/>
            <a:ext cx="457200" cy="285750"/>
          </a:xfrm>
          <a:prstGeom prst="roundRect">
            <a:avLst>
              <a:gd name="adj" fmla="val 19200"/>
            </a:avLst>
          </a:prstGeom>
          <a:solidFill>
            <a:srgbClr val="14141D"/>
          </a:solidFill>
          <a:ln w="12700">
            <a:solidFill>
              <a:srgbClr val="2A2A38"/>
            </a:solidFill>
            <a:prstDash val="solid"/>
          </a:ln>
        </p:spPr>
      </p:sp>
      <p:sp>
        <p:nvSpPr>
          <p:cNvPr id="44" name="Shape 42"/>
          <p:cNvSpPr/>
          <p:nvPr/>
        </p:nvSpPr>
        <p:spPr>
          <a:xfrm>
            <a:off x="7162800" y="2609850"/>
            <a:ext cx="457200" cy="285750"/>
          </a:xfrm>
          <a:prstGeom prst="roundRect">
            <a:avLst>
              <a:gd name="adj" fmla="val 19200"/>
            </a:avLst>
          </a:prstGeom>
          <a:solidFill>
            <a:srgbClr val="14141D"/>
          </a:solidFill>
          <a:ln w="12700">
            <a:solidFill>
              <a:srgbClr val="2A2A38"/>
            </a:solidFill>
            <a:prstDash val="solid"/>
          </a:ln>
        </p:spPr>
      </p:sp>
      <p:sp>
        <p:nvSpPr>
          <p:cNvPr id="45" name="Shape 43"/>
          <p:cNvSpPr/>
          <p:nvPr/>
        </p:nvSpPr>
        <p:spPr>
          <a:xfrm>
            <a:off x="7677150" y="2609850"/>
            <a:ext cx="457200" cy="285750"/>
          </a:xfrm>
          <a:prstGeom prst="roundRect">
            <a:avLst>
              <a:gd name="adj" fmla="val 19200"/>
            </a:avLst>
          </a:prstGeom>
          <a:solidFill>
            <a:srgbClr val="14141D"/>
          </a:solidFill>
          <a:ln w="12700">
            <a:solidFill>
              <a:srgbClr val="2A2A38"/>
            </a:solidFill>
            <a:prstDash val="solid"/>
          </a:ln>
        </p:spPr>
      </p:sp>
      <p:sp>
        <p:nvSpPr>
          <p:cNvPr id="46" name="Text 44"/>
          <p:cNvSpPr/>
          <p:nvPr/>
        </p:nvSpPr>
        <p:spPr>
          <a:xfrm>
            <a:off x="8191500" y="2609850"/>
            <a:ext cx="457200" cy="285750"/>
          </a:xfrm>
          <a:prstGeom prst="roundRect">
            <a:avLst>
              <a:gd name="adj" fmla="val 16000"/>
            </a:avLst>
          </a:prstGeom>
          <a:solidFill>
            <a:srgbClr val="1D5A4C"/>
          </a:solidFill>
          <a:ln w="12700">
            <a:solidFill>
              <a:srgbClr val="3CE8B2"/>
            </a:solidFill>
          </a:ln>
        </p:spPr>
        <p:txBody>
          <a:bodyPr wrap="square" lIns="0" tIns="0" rIns="0" bIns="0" rtlCol="0" anchor="ctr"/>
          <a:lstStyle/>
          <a:p>
            <a:pPr algn="ctr" indent="0" marL="0">
              <a:buNone/>
            </a:pPr>
            <a:r>
              <a:rPr lang="en-US" sz="950" b="1" dirty="0">
                <a:solidFill>
                  <a:srgbClr val="3CE8B2"/>
                </a:solidFill>
                <a:latin typeface="Courier New" pitchFamily="34" charset="0"/>
                <a:ea typeface="Courier New" pitchFamily="34" charset="-122"/>
                <a:cs typeface="Courier New" pitchFamily="34" charset="-120"/>
              </a:rPr>
              <a:t>i35</a:t>
            </a:r>
            <a:endParaRPr lang="en-US" sz="950" dirty="0"/>
          </a:p>
        </p:txBody>
      </p:sp>
      <p:sp>
        <p:nvSpPr>
          <p:cNvPr id="47" name="Shape 45"/>
          <p:cNvSpPr/>
          <p:nvPr/>
        </p:nvSpPr>
        <p:spPr>
          <a:xfrm>
            <a:off x="8705850" y="2609850"/>
            <a:ext cx="457200" cy="285750"/>
          </a:xfrm>
          <a:prstGeom prst="roundRect">
            <a:avLst>
              <a:gd name="adj" fmla="val 19200"/>
            </a:avLst>
          </a:prstGeom>
          <a:solidFill>
            <a:srgbClr val="14141D"/>
          </a:solidFill>
          <a:ln w="12700">
            <a:solidFill>
              <a:srgbClr val="2A2A38"/>
            </a:solidFill>
            <a:prstDash val="solid"/>
          </a:ln>
        </p:spPr>
      </p:sp>
      <p:sp>
        <p:nvSpPr>
          <p:cNvPr id="48" name="Shape 46"/>
          <p:cNvSpPr/>
          <p:nvPr/>
        </p:nvSpPr>
        <p:spPr>
          <a:xfrm>
            <a:off x="9220200" y="2609850"/>
            <a:ext cx="457200" cy="285750"/>
          </a:xfrm>
          <a:prstGeom prst="roundRect">
            <a:avLst>
              <a:gd name="adj" fmla="val 19200"/>
            </a:avLst>
          </a:prstGeom>
          <a:solidFill>
            <a:srgbClr val="14141D"/>
          </a:solidFill>
          <a:ln w="12700">
            <a:solidFill>
              <a:srgbClr val="2A2A38"/>
            </a:solidFill>
            <a:prstDash val="solid"/>
          </a:ln>
        </p:spPr>
      </p:sp>
      <p:sp>
        <p:nvSpPr>
          <p:cNvPr id="49" name="Shape 47"/>
          <p:cNvSpPr/>
          <p:nvPr/>
        </p:nvSpPr>
        <p:spPr>
          <a:xfrm>
            <a:off x="9734550" y="2609850"/>
            <a:ext cx="457200" cy="285750"/>
          </a:xfrm>
          <a:prstGeom prst="roundRect">
            <a:avLst>
              <a:gd name="adj" fmla="val 19200"/>
            </a:avLst>
          </a:prstGeom>
          <a:solidFill>
            <a:srgbClr val="14141D"/>
          </a:solidFill>
          <a:ln w="12700">
            <a:solidFill>
              <a:srgbClr val="2A2A38"/>
            </a:solidFill>
            <a:prstDash val="solid"/>
          </a:ln>
        </p:spPr>
      </p:sp>
      <p:sp>
        <p:nvSpPr>
          <p:cNvPr id="50" name="Shape 48"/>
          <p:cNvSpPr/>
          <p:nvPr/>
        </p:nvSpPr>
        <p:spPr>
          <a:xfrm>
            <a:off x="10248900" y="2609850"/>
            <a:ext cx="457200" cy="285750"/>
          </a:xfrm>
          <a:prstGeom prst="roundRect">
            <a:avLst>
              <a:gd name="adj" fmla="val 19200"/>
            </a:avLst>
          </a:prstGeom>
          <a:solidFill>
            <a:srgbClr val="14141D"/>
          </a:solidFill>
          <a:ln w="12700">
            <a:solidFill>
              <a:srgbClr val="2A2A38"/>
            </a:solidFill>
            <a:prstDash val="solid"/>
          </a:ln>
        </p:spPr>
      </p:sp>
      <p:sp>
        <p:nvSpPr>
          <p:cNvPr id="51" name="Text 49"/>
          <p:cNvSpPr/>
          <p:nvPr/>
        </p:nvSpPr>
        <p:spPr>
          <a:xfrm>
            <a:off x="5619750" y="3086100"/>
            <a:ext cx="5086350" cy="266700"/>
          </a:xfrm>
          <a:prstGeom prst="rect">
            <a:avLst/>
          </a:prstGeom>
          <a:noFill/>
          <a:ln/>
        </p:spPr>
        <p:txBody>
          <a:bodyPr wrap="square" lIns="0" tIns="0" rIns="0" bIns="0" rtlCol="0" anchor="ctr"/>
          <a:lstStyle/>
          <a:p>
            <a:pPr indent="0" marL="0">
              <a:buNone/>
            </a:pPr>
            <a:r>
              <a:rPr lang="en-US" sz="1350" b="1" dirty="0">
                <a:solidFill>
                  <a:srgbClr val="3CE8B2"/>
                </a:solidFill>
                <a:latin typeface="Calibri" pitchFamily="34" charset="0"/>
                <a:ea typeface="Calibri" pitchFamily="34" charset="-122"/>
                <a:cs typeface="Calibri" pitchFamily="34" charset="-120"/>
              </a:rPr>
              <a:t>many independent elements</a:t>
            </a:r>
            <a:endParaRPr lang="en-US" sz="1350" dirty="0"/>
          </a:p>
        </p:txBody>
      </p:sp>
      <p:sp>
        <p:nvSpPr>
          <p:cNvPr id="52" name="Shape 50"/>
          <p:cNvSpPr/>
          <p:nvPr/>
        </p:nvSpPr>
        <p:spPr>
          <a:xfrm>
            <a:off x="552450" y="3619500"/>
            <a:ext cx="5467350" cy="1905000"/>
          </a:xfrm>
          <a:prstGeom prst="roundRect">
            <a:avLst>
              <a:gd name="adj" fmla="val 2400"/>
            </a:avLst>
          </a:prstGeom>
          <a:solidFill>
            <a:srgbClr val="101018"/>
          </a:solidFill>
          <a:ln w="12700">
            <a:solidFill>
              <a:srgbClr val="2A2A38"/>
            </a:solidFill>
            <a:prstDash val="solid"/>
          </a:ln>
        </p:spPr>
      </p:sp>
      <p:sp>
        <p:nvSpPr>
          <p:cNvPr id="53" name="Text 51"/>
          <p:cNvSpPr/>
          <p:nvPr/>
        </p:nvSpPr>
        <p:spPr>
          <a:xfrm>
            <a:off x="781050" y="3752850"/>
            <a:ext cx="5010150" cy="209550"/>
          </a:xfrm>
          <a:prstGeom prst="rect">
            <a:avLst/>
          </a:prstGeom>
          <a:noFill/>
          <a:ln/>
        </p:spPr>
        <p:txBody>
          <a:bodyPr wrap="square" lIns="0" tIns="0" rIns="0" bIns="0" rtlCol="0" anchor="ctr"/>
          <a:lstStyle/>
          <a:p>
            <a:pPr indent="0" marL="0">
              <a:buNone/>
            </a:pPr>
            <a:r>
              <a:rPr lang="en-US" sz="1100" b="1" dirty="0">
                <a:solidFill>
                  <a:srgbClr val="858596"/>
                </a:solidFill>
                <a:latin typeface="Courier New" pitchFamily="34" charset="0"/>
                <a:ea typeface="Courier New" pitchFamily="34" charset="-122"/>
                <a:cs typeface="Courier New" pitchFamily="34" charset="-120"/>
              </a:rPr>
              <a:t>THE HISTORY THAT EXPLAINS IT</a:t>
            </a:r>
            <a:endParaRPr lang="en-US" sz="1100" dirty="0"/>
          </a:p>
        </p:txBody>
      </p:sp>
      <p:sp>
        <p:nvSpPr>
          <p:cNvPr id="54" name="Text 52"/>
          <p:cNvSpPr/>
          <p:nvPr/>
        </p:nvSpPr>
        <p:spPr>
          <a:xfrm>
            <a:off x="781050" y="4038600"/>
            <a:ext cx="5010150" cy="1200150"/>
          </a:xfrm>
          <a:prstGeom prst="rect">
            <a:avLst/>
          </a:prstGeom>
          <a:noFill/>
          <a:ln/>
        </p:spPr>
        <p:txBody>
          <a:bodyPr wrap="square" lIns="0" tIns="0" rIns="0" bIns="0" rtlCol="0" anchor="t"/>
          <a:lstStyle/>
          <a:p>
            <a:pPr marL="165100" indent="-165100">
              <a:lnSpc>
                <a:spcPct val="92000"/>
              </a:lnSpc>
              <a:spcAft>
                <a:spcPts val="500"/>
              </a:spcAft>
              <a:buSzPct val="100000"/>
              <a:buChar char="•"/>
            </a:pPr>
            <a:r>
              <a:rPr lang="en-US" sz="1200" dirty="0">
                <a:solidFill>
                  <a:srgbClr val="858596"/>
                </a:solidFill>
                <a:latin typeface="Calibri" pitchFamily="34" charset="0"/>
                <a:ea typeface="Calibri" pitchFamily="34" charset="-122"/>
                <a:cs typeface="Calibri" pitchFamily="34" charset="-120"/>
              </a:rPr>
              <a:t>graphics disguise — floats as pixel colours, matrices as textures</a:t>
            </a:r>
            <a:endParaRPr lang="en-US" sz="1200" dirty="0"/>
          </a:p>
          <a:p>
            <a:pPr marL="165100" indent="-165100">
              <a:lnSpc>
                <a:spcPct val="92000"/>
              </a:lnSpc>
              <a:spcAft>
                <a:spcPts val="500"/>
              </a:spcAft>
              <a:buSzPct val="100000"/>
              <a:buChar char="•"/>
            </a:pPr>
            <a:r>
              <a:rPr lang="en-US" sz="1200" dirty="0">
                <a:solidFill>
                  <a:srgbClr val="63A4FF"/>
                </a:solidFill>
                <a:latin typeface="Calibri" pitchFamily="34" charset="0"/>
                <a:ea typeface="Calibri" pitchFamily="34" charset="-122"/>
                <a:cs typeface="Calibri" pitchFamily="34" charset="-120"/>
              </a:rPr>
              <a:t>Brook, 2004 — streams and kernels; the model finally gets a name</a:t>
            </a:r>
            <a:endParaRPr lang="en-US" sz="1200" dirty="0"/>
          </a:p>
          <a:p>
            <a:pPr marL="165100" indent="-165100">
              <a:lnSpc>
                <a:spcPct val="92000"/>
              </a:lnSpc>
              <a:spcAft>
                <a:spcPts val="500"/>
              </a:spcAft>
              <a:buSzPct val="100000"/>
              <a:buChar char="•"/>
            </a:pPr>
            <a:r>
              <a:rPr lang="en-US" sz="1200" dirty="0">
                <a:solidFill>
                  <a:srgbClr val="3CE8B2"/>
                </a:solidFill>
                <a:latin typeface="Calibri" pitchFamily="34" charset="0"/>
                <a:ea typeface="Calibri" pitchFamily="34" charset="-122"/>
                <a:cs typeface="Calibri" pitchFamily="34" charset="-120"/>
              </a:rPr>
              <a:t>CUDA, 2006 — the same model, with the disguise removed</a:t>
            </a:r>
            <a:endParaRPr lang="en-US" sz="1200" dirty="0"/>
          </a:p>
        </p:txBody>
      </p:sp>
      <p:sp>
        <p:nvSpPr>
          <p:cNvPr id="55" name="Text 53"/>
          <p:cNvSpPr/>
          <p:nvPr/>
        </p:nvSpPr>
        <p:spPr>
          <a:xfrm>
            <a:off x="781050" y="5257800"/>
            <a:ext cx="5010150" cy="190500"/>
          </a:xfrm>
          <a:prstGeom prst="rect">
            <a:avLst/>
          </a:prstGeom>
          <a:noFill/>
          <a:ln/>
        </p:spPr>
        <p:txBody>
          <a:bodyPr wrap="square" lIns="0" tIns="0" rIns="0" bIns="0" rtlCol="0" anchor="ctr"/>
          <a:lstStyle/>
          <a:p>
            <a:pPr indent="0" marL="0">
              <a:buNone/>
            </a:pPr>
            <a:r>
              <a:rPr lang="en-US" sz="1050" b="1" dirty="0">
                <a:solidFill>
                  <a:srgbClr val="6E6E82"/>
                </a:solidFill>
                <a:latin typeface="Calibri" pitchFamily="34" charset="0"/>
                <a:ea typeface="Calibri" pitchFamily="34" charset="-122"/>
                <a:cs typeface="Calibri" pitchFamily="34" charset="-120"/>
              </a:rPr>
              <a:t>→  §4 NOTE · MATRIX ADDITION AS PIXELS</a:t>
            </a:r>
            <a:endParaRPr lang="en-US" sz="1050" dirty="0"/>
          </a:p>
        </p:txBody>
      </p:sp>
      <p:sp>
        <p:nvSpPr>
          <p:cNvPr id="56" name="Shape 54"/>
          <p:cNvSpPr/>
          <p:nvPr/>
        </p:nvSpPr>
        <p:spPr>
          <a:xfrm>
            <a:off x="6172200" y="3619500"/>
            <a:ext cx="5467350" cy="1905000"/>
          </a:xfrm>
          <a:prstGeom prst="roundRect">
            <a:avLst>
              <a:gd name="adj" fmla="val 2400"/>
            </a:avLst>
          </a:prstGeom>
          <a:solidFill>
            <a:srgbClr val="14141D"/>
          </a:solidFill>
          <a:ln w="12700">
            <a:solidFill>
              <a:srgbClr val="2A2A38"/>
            </a:solidFill>
            <a:prstDash val="solid"/>
          </a:ln>
        </p:spPr>
      </p:sp>
      <p:sp>
        <p:nvSpPr>
          <p:cNvPr id="57" name="Text 55"/>
          <p:cNvSpPr/>
          <p:nvPr/>
        </p:nvSpPr>
        <p:spPr>
          <a:xfrm>
            <a:off x="6400800" y="3752850"/>
            <a:ext cx="5010150" cy="209550"/>
          </a:xfrm>
          <a:prstGeom prst="rect">
            <a:avLst/>
          </a:prstGeom>
          <a:noFill/>
          <a:ln/>
        </p:spPr>
        <p:txBody>
          <a:bodyPr wrap="square" lIns="0" tIns="0" rIns="0" bIns="0" rtlCol="0" anchor="ctr"/>
          <a:lstStyle/>
          <a:p>
            <a:pPr indent="0" marL="0">
              <a:buNone/>
            </a:pPr>
            <a:r>
              <a:rPr lang="en-US" sz="1100" b="1" dirty="0">
                <a:solidFill>
                  <a:srgbClr val="E8A832"/>
                </a:solidFill>
                <a:latin typeface="Courier New" pitchFamily="34" charset="0"/>
                <a:ea typeface="Courier New" pitchFamily="34" charset="-122"/>
                <a:cs typeface="Courier New" pitchFamily="34" charset="-120"/>
              </a:rPr>
              <a:t>THE PRACTICE IT DEMANDS</a:t>
            </a:r>
            <a:endParaRPr lang="en-US" sz="1100" dirty="0"/>
          </a:p>
        </p:txBody>
      </p:sp>
      <p:sp>
        <p:nvSpPr>
          <p:cNvPr id="58" name="Text 56"/>
          <p:cNvSpPr/>
          <p:nvPr/>
        </p:nvSpPr>
        <p:spPr>
          <a:xfrm>
            <a:off x="6400800" y="4038600"/>
            <a:ext cx="5010150" cy="1352550"/>
          </a:xfrm>
          <a:prstGeom prst="rect">
            <a:avLst/>
          </a:prstGeom>
          <a:noFill/>
          <a:ln/>
        </p:spPr>
        <p:txBody>
          <a:bodyPr wrap="square" lIns="0" tIns="0" rIns="0" bIns="0" rtlCol="0" anchor="t"/>
          <a:lstStyle/>
          <a:p>
            <a:pPr marL="165100" indent="-165100">
              <a:lnSpc>
                <a:spcPct val="92000"/>
              </a:lnSpc>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Data-parallel code often ports almost by transcription: one kernel, many elements, no cross-talk.</a:t>
            </a:r>
            <a:endParaRPr lang="en-US" sz="1200" dirty="0"/>
          </a:p>
          <a:p>
            <a:pPr marL="165100" indent="-165100">
              <a:lnSpc>
                <a:spcPct val="92000"/>
              </a:lnSpc>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Deeply serial code must be rethought, not translated. If element i needs i−1, you fight the machine.</a:t>
            </a:r>
            <a:endParaRPr lang="en-US" sz="1200" dirty="0"/>
          </a:p>
          <a:p>
            <a:pPr marL="165100" indent="-165100">
              <a:lnSpc>
                <a:spcPct val="92000"/>
              </a:lnSpc>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Ask of every loop: are the iterations strangers to each other?</a:t>
            </a:r>
            <a:endParaRPr lang="en-US" sz="1200" dirty="0"/>
          </a:p>
        </p:txBody>
      </p:sp>
      <p:sp>
        <p:nvSpPr>
          <p:cNvPr id="59" name="Text 57"/>
          <p:cNvSpPr/>
          <p:nvPr/>
        </p:nvSpPr>
        <p:spPr>
          <a:xfrm>
            <a:off x="552450" y="5676900"/>
            <a:ext cx="11087100" cy="533400"/>
          </a:xfrm>
          <a:prstGeom prst="roundRect">
            <a:avLst>
              <a:gd name="adj" fmla="val 8571"/>
            </a:avLst>
          </a:prstGeom>
          <a:solidFill>
            <a:srgbClr val="211A0D"/>
          </a:solidFill>
          <a:ln w="12700">
            <a:solidFill>
              <a:srgbClr val="E8A832"/>
            </a:solidFill>
          </a:ln>
        </p:spPr>
        <p:txBody>
          <a:bodyPr wrap="square" lIns="0" tIns="0" rIns="0" bIns="0" rtlCol="0" anchor="ctr"/>
          <a:lstStyle/>
          <a:p>
            <a:pPr algn="ctr" indent="0" marL="0">
              <a:buNone/>
            </a:pPr>
            <a:r>
              <a:rPr lang="en-US" sz="1500" b="1" dirty="0">
                <a:solidFill>
                  <a:srgbClr val="E8A832"/>
                </a:solidFill>
                <a:latin typeface="Calibri" pitchFamily="34" charset="0"/>
                <a:ea typeface="Calibri" pitchFamily="34" charset="-122"/>
                <a:cs typeface="Calibri" pitchFamily="34" charset="-120"/>
              </a:rPr>
              <a:t>CUDA did not invent the model — it stopped requiring the disguise.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52450" y="228600"/>
            <a:ext cx="8572500" cy="26670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9  ·  WHY THIS MATTERS FOR YOU</a:t>
            </a:r>
            <a:endParaRPr lang="en-US" sz="1200" dirty="0"/>
          </a:p>
        </p:txBody>
      </p:sp>
      <p:sp>
        <p:nvSpPr>
          <p:cNvPr id="3" name="Text 1"/>
          <p:cNvSpPr/>
          <p:nvPr/>
        </p:nvSpPr>
        <p:spPr>
          <a:xfrm>
            <a:off x="552450" y="523875"/>
            <a:ext cx="10287000" cy="590550"/>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Call a library first</a:t>
            </a:r>
            <a:endParaRPr lang="en-US" sz="2700" dirty="0"/>
          </a:p>
        </p:txBody>
      </p:sp>
      <p:sp>
        <p:nvSpPr>
          <p:cNvPr id="4" name="Text 2"/>
          <p:cNvSpPr/>
          <p:nvPr/>
        </p:nvSpPr>
        <p:spPr>
          <a:xfrm>
            <a:off x="10668000" y="190500"/>
            <a:ext cx="952500" cy="876300"/>
          </a:xfrm>
          <a:prstGeom prst="rect">
            <a:avLst/>
          </a:prstGeom>
          <a:noFill/>
          <a:ln/>
        </p:spPr>
        <p:txBody>
          <a:bodyPr wrap="square" lIns="0" tIns="0" rIns="0" bIns="0" rtlCol="0" anchor="ctr"/>
          <a:lstStyle/>
          <a:p>
            <a:pPr algn="r" indent="0" marL="0">
              <a:buNone/>
            </a:pPr>
            <a:r>
              <a:rPr lang="en-US" sz="5100" b="1" dirty="0">
                <a:solidFill>
                  <a:srgbClr val="23232F"/>
                </a:solidFill>
                <a:latin typeface="Courier New" pitchFamily="34" charset="0"/>
                <a:ea typeface="Courier New" pitchFamily="34" charset="-122"/>
                <a:cs typeface="Courier New" pitchFamily="34" charset="-120"/>
              </a:rPr>
              <a:t>3</a:t>
            </a:r>
            <a:endParaRPr lang="en-US" sz="5100" dirty="0"/>
          </a:p>
        </p:txBody>
      </p:sp>
      <p:sp>
        <p:nvSpPr>
          <p:cNvPr id="5" name="Text 3"/>
          <p:cNvSpPr/>
          <p:nvPr/>
        </p:nvSpPr>
        <p:spPr>
          <a:xfrm>
            <a:off x="762000" y="1295400"/>
            <a:ext cx="2286000" cy="228600"/>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YOUR CODE</a:t>
            </a:r>
            <a:endParaRPr lang="en-US" sz="1150" dirty="0"/>
          </a:p>
        </p:txBody>
      </p:sp>
      <p:sp>
        <p:nvSpPr>
          <p:cNvPr id="6" name="Text 4"/>
          <p:cNvSpPr/>
          <p:nvPr/>
        </p:nvSpPr>
        <p:spPr>
          <a:xfrm>
            <a:off x="762000" y="1581150"/>
            <a:ext cx="2476500" cy="800100"/>
          </a:xfrm>
          <a:prstGeom prst="roundRect">
            <a:avLst>
              <a:gd name="adj" fmla="val 5714"/>
            </a:avLst>
          </a:prstGeom>
          <a:solidFill>
            <a:srgbClr val="14141D"/>
          </a:solidFill>
          <a:ln w="12700">
            <a:solidFill>
              <a:srgbClr val="FFFFFF"/>
            </a:solid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A · B</a:t>
            </a:r>
            <a:endParaRPr lang="en-US" sz="2200" dirty="0"/>
          </a:p>
        </p:txBody>
      </p:sp>
      <p:sp>
        <p:nvSpPr>
          <p:cNvPr id="7" name="Text 5"/>
          <p:cNvSpPr/>
          <p:nvPr/>
        </p:nvSpPr>
        <p:spPr>
          <a:xfrm>
            <a:off x="762000" y="2533650"/>
            <a:ext cx="2476500" cy="800100"/>
          </a:xfrm>
          <a:prstGeom prst="roundRect">
            <a:avLst>
              <a:gd name="adj" fmla="val 5714"/>
            </a:avLst>
          </a:prstGeom>
          <a:solidFill>
            <a:srgbClr val="14141D"/>
          </a:solidFill>
          <a:ln w="12700">
            <a:solidFill>
              <a:srgbClr val="FFFFFF"/>
            </a:solid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FFT(x)</a:t>
            </a:r>
            <a:endParaRPr lang="en-US" sz="2200" dirty="0"/>
          </a:p>
        </p:txBody>
      </p:sp>
      <p:sp>
        <p:nvSpPr>
          <p:cNvPr id="8" name="Shape 6"/>
          <p:cNvSpPr/>
          <p:nvPr/>
        </p:nvSpPr>
        <p:spPr>
          <a:xfrm>
            <a:off x="3352800" y="1838325"/>
            <a:ext cx="857250" cy="285750"/>
          </a:xfrm>
          <a:prstGeom prst="rightArrow">
            <a:avLst/>
          </a:prstGeom>
          <a:solidFill>
            <a:srgbClr val="23232F"/>
          </a:solidFill>
          <a:ln w="12700">
            <a:solidFill>
              <a:srgbClr val="23232F"/>
            </a:solidFill>
            <a:prstDash val="solid"/>
          </a:ln>
        </p:spPr>
      </p:sp>
      <p:sp>
        <p:nvSpPr>
          <p:cNvPr id="9" name="Shape 7"/>
          <p:cNvSpPr/>
          <p:nvPr/>
        </p:nvSpPr>
        <p:spPr>
          <a:xfrm>
            <a:off x="3352800" y="2790825"/>
            <a:ext cx="857250" cy="285750"/>
          </a:xfrm>
          <a:prstGeom prst="rightArrow">
            <a:avLst/>
          </a:prstGeom>
          <a:solidFill>
            <a:srgbClr val="23232F"/>
          </a:solidFill>
          <a:ln w="12700">
            <a:solidFill>
              <a:srgbClr val="23232F"/>
            </a:solidFill>
            <a:prstDash val="solid"/>
          </a:ln>
        </p:spPr>
      </p:sp>
      <p:sp>
        <p:nvSpPr>
          <p:cNvPr id="10" name="Text 8"/>
          <p:cNvSpPr/>
          <p:nvPr/>
        </p:nvSpPr>
        <p:spPr>
          <a:xfrm>
            <a:off x="4333875" y="1295400"/>
            <a:ext cx="2667000" cy="228600"/>
          </a:xfrm>
          <a:prstGeom prst="rect">
            <a:avLst/>
          </a:prstGeom>
          <a:noFill/>
          <a:ln/>
        </p:spPr>
        <p:txBody>
          <a:bodyPr wrap="square" lIns="0" tIns="0" rIns="0" bIns="0" rtlCol="0" anchor="ctr"/>
          <a:lstStyle/>
          <a:p>
            <a:pPr indent="0" marL="0">
              <a:buNone/>
            </a:pPr>
            <a:r>
              <a:rPr lang="en-US" sz="1150" b="1" dirty="0">
                <a:solidFill>
                  <a:srgbClr val="E8A832"/>
                </a:solidFill>
                <a:latin typeface="Courier New" pitchFamily="34" charset="0"/>
                <a:ea typeface="Courier New" pitchFamily="34" charset="-122"/>
                <a:cs typeface="Courier New" pitchFamily="34" charset="-120"/>
              </a:rPr>
              <a:t>OPERATION CONTRACT</a:t>
            </a:r>
            <a:endParaRPr lang="en-US" sz="1150" dirty="0"/>
          </a:p>
        </p:txBody>
      </p:sp>
      <p:sp>
        <p:nvSpPr>
          <p:cNvPr id="11" name="Text 9"/>
          <p:cNvSpPr/>
          <p:nvPr/>
        </p:nvSpPr>
        <p:spPr>
          <a:xfrm>
            <a:off x="4333875" y="1581150"/>
            <a:ext cx="2476500" cy="800100"/>
          </a:xfrm>
          <a:prstGeom prst="roundRect">
            <a:avLst>
              <a:gd name="adj" fmla="val 5714"/>
            </a:avLst>
          </a:prstGeom>
          <a:solidFill>
            <a:srgbClr val="211A0D"/>
          </a:solidFill>
          <a:ln w="12700">
            <a:solidFill>
              <a:srgbClr val="E8A832"/>
            </a:solidFill>
          </a:ln>
        </p:spPr>
        <p:txBody>
          <a:bodyPr wrap="square" lIns="0" tIns="0" rIns="0" bIns="0" rtlCol="0" anchor="ctr"/>
          <a:lstStyle/>
          <a:p>
            <a:pPr algn="ctr" indent="0" marL="0">
              <a:buNone/>
            </a:pPr>
            <a:r>
              <a:rPr lang="en-US" sz="2000" b="1" dirty="0">
                <a:solidFill>
                  <a:srgbClr val="E8A832"/>
                </a:solidFill>
                <a:latin typeface="Courier New" pitchFamily="34" charset="0"/>
                <a:ea typeface="Courier New" pitchFamily="34" charset="-122"/>
                <a:cs typeface="Courier New" pitchFamily="34" charset="-120"/>
              </a:rPr>
              <a:t>cuBLAS</a:t>
            </a:r>
            <a:endParaRPr lang="en-US" sz="2000" dirty="0"/>
          </a:p>
        </p:txBody>
      </p:sp>
      <p:sp>
        <p:nvSpPr>
          <p:cNvPr id="12" name="Text 10"/>
          <p:cNvSpPr/>
          <p:nvPr/>
        </p:nvSpPr>
        <p:spPr>
          <a:xfrm>
            <a:off x="4333875" y="2533650"/>
            <a:ext cx="2476500" cy="800100"/>
          </a:xfrm>
          <a:prstGeom prst="roundRect">
            <a:avLst>
              <a:gd name="adj" fmla="val 5714"/>
            </a:avLst>
          </a:prstGeom>
          <a:solidFill>
            <a:srgbClr val="211A0D"/>
          </a:solidFill>
          <a:ln w="12700">
            <a:solidFill>
              <a:srgbClr val="E8A832"/>
            </a:solidFill>
          </a:ln>
        </p:spPr>
        <p:txBody>
          <a:bodyPr wrap="square" lIns="0" tIns="0" rIns="0" bIns="0" rtlCol="0" anchor="ctr"/>
          <a:lstStyle/>
          <a:p>
            <a:pPr algn="ctr" indent="0" marL="0">
              <a:buNone/>
            </a:pPr>
            <a:r>
              <a:rPr lang="en-US" sz="2000" b="1" dirty="0">
                <a:solidFill>
                  <a:srgbClr val="E8A832"/>
                </a:solidFill>
                <a:latin typeface="Courier New" pitchFamily="34" charset="0"/>
                <a:ea typeface="Courier New" pitchFamily="34" charset="-122"/>
                <a:cs typeface="Courier New" pitchFamily="34" charset="-120"/>
              </a:rPr>
              <a:t>cuFFT</a:t>
            </a:r>
            <a:endParaRPr lang="en-US" sz="2000" dirty="0"/>
          </a:p>
        </p:txBody>
      </p:sp>
      <p:sp>
        <p:nvSpPr>
          <p:cNvPr id="13" name="Shape 11"/>
          <p:cNvSpPr/>
          <p:nvPr/>
        </p:nvSpPr>
        <p:spPr>
          <a:xfrm>
            <a:off x="6924675" y="1838325"/>
            <a:ext cx="857250" cy="285750"/>
          </a:xfrm>
          <a:prstGeom prst="rightArrow">
            <a:avLst/>
          </a:prstGeom>
          <a:solidFill>
            <a:srgbClr val="23232F"/>
          </a:solidFill>
          <a:ln w="12700">
            <a:solidFill>
              <a:srgbClr val="23232F"/>
            </a:solidFill>
            <a:prstDash val="solid"/>
          </a:ln>
        </p:spPr>
      </p:sp>
      <p:sp>
        <p:nvSpPr>
          <p:cNvPr id="14" name="Shape 12"/>
          <p:cNvSpPr/>
          <p:nvPr/>
        </p:nvSpPr>
        <p:spPr>
          <a:xfrm>
            <a:off x="6924675" y="2790825"/>
            <a:ext cx="857250" cy="285750"/>
          </a:xfrm>
          <a:prstGeom prst="rightArrow">
            <a:avLst/>
          </a:prstGeom>
          <a:solidFill>
            <a:srgbClr val="23232F"/>
          </a:solidFill>
          <a:ln w="12700">
            <a:solidFill>
              <a:srgbClr val="23232F"/>
            </a:solidFill>
            <a:prstDash val="solid"/>
          </a:ln>
        </p:spPr>
      </p:sp>
      <p:sp>
        <p:nvSpPr>
          <p:cNvPr id="15" name="Text 13"/>
          <p:cNvSpPr/>
          <p:nvPr/>
        </p:nvSpPr>
        <p:spPr>
          <a:xfrm>
            <a:off x="7905750" y="1295400"/>
            <a:ext cx="3143250" cy="228600"/>
          </a:xfrm>
          <a:prstGeom prst="rect">
            <a:avLst/>
          </a:prstGeom>
          <a:noFill/>
          <a:ln/>
        </p:spPr>
        <p:txBody>
          <a:bodyPr wrap="square" lIns="0" tIns="0" rIns="0" bIns="0" rtlCol="0" anchor="ctr"/>
          <a:lstStyle/>
          <a:p>
            <a:pPr indent="0" marL="0">
              <a:buNone/>
            </a:pPr>
            <a:r>
              <a:rPr lang="en-US" sz="1150" b="1" dirty="0">
                <a:solidFill>
                  <a:srgbClr val="3CE8B2"/>
                </a:solidFill>
                <a:latin typeface="Courier New" pitchFamily="34" charset="0"/>
                <a:ea typeface="Courier New" pitchFamily="34" charset="-122"/>
                <a:cs typeface="Courier New" pitchFamily="34" charset="-120"/>
              </a:rPr>
              <a:t>CHANGING SILICON</a:t>
            </a:r>
            <a:endParaRPr lang="en-US" sz="1150" dirty="0"/>
          </a:p>
        </p:txBody>
      </p:sp>
      <p:sp>
        <p:nvSpPr>
          <p:cNvPr id="16" name="Text 14"/>
          <p:cNvSpPr/>
          <p:nvPr/>
        </p:nvSpPr>
        <p:spPr>
          <a:xfrm>
            <a:off x="7905750" y="1581150"/>
            <a:ext cx="3048000" cy="495300"/>
          </a:xfrm>
          <a:prstGeom prst="roundRect">
            <a:avLst>
              <a:gd name="adj" fmla="val 9231"/>
            </a:avLst>
          </a:prstGeom>
          <a:solidFill>
            <a:srgbClr val="14141D"/>
          </a:solidFill>
          <a:ln w="12700">
            <a:solidFill>
              <a:srgbClr val="3CE8B2"/>
            </a:solidFill>
          </a:ln>
        </p:spPr>
        <p:txBody>
          <a:bodyPr wrap="square" lIns="0" tIns="0" rIns="0" bIns="0" rtlCol="0" anchor="ctr"/>
          <a:lstStyle/>
          <a:p>
            <a:pPr algn="ctr" indent="0" marL="0">
              <a:buNone/>
            </a:pPr>
            <a:r>
              <a:rPr lang="en-US" sz="1600" b="1" dirty="0">
                <a:solidFill>
                  <a:srgbClr val="3CE8B2"/>
                </a:solidFill>
                <a:latin typeface="Courier New" pitchFamily="34" charset="0"/>
                <a:ea typeface="Courier New" pitchFamily="34" charset="-122"/>
                <a:cs typeface="Courier New" pitchFamily="34" charset="-120"/>
              </a:rPr>
              <a:t>Volta</a:t>
            </a:r>
            <a:endParaRPr lang="en-US" sz="1600" dirty="0"/>
          </a:p>
        </p:txBody>
      </p:sp>
      <p:sp>
        <p:nvSpPr>
          <p:cNvPr id="17" name="Text 15"/>
          <p:cNvSpPr/>
          <p:nvPr/>
        </p:nvSpPr>
        <p:spPr>
          <a:xfrm>
            <a:off x="7905750" y="2171700"/>
            <a:ext cx="3048000" cy="495300"/>
          </a:xfrm>
          <a:prstGeom prst="roundRect">
            <a:avLst>
              <a:gd name="adj" fmla="val 9231"/>
            </a:avLst>
          </a:prstGeom>
          <a:solidFill>
            <a:srgbClr val="14141D"/>
          </a:solidFill>
          <a:ln w="12700">
            <a:solidFill>
              <a:srgbClr val="3CE8B2"/>
            </a:solidFill>
          </a:ln>
        </p:spPr>
        <p:txBody>
          <a:bodyPr wrap="square" lIns="0" tIns="0" rIns="0" bIns="0" rtlCol="0" anchor="ctr"/>
          <a:lstStyle/>
          <a:p>
            <a:pPr algn="ctr" indent="0" marL="0">
              <a:buNone/>
            </a:pPr>
            <a:r>
              <a:rPr lang="en-US" sz="1600" b="1" dirty="0">
                <a:solidFill>
                  <a:srgbClr val="3CE8B2"/>
                </a:solidFill>
                <a:latin typeface="Courier New" pitchFamily="34" charset="0"/>
                <a:ea typeface="Courier New" pitchFamily="34" charset="-122"/>
                <a:cs typeface="Courier New" pitchFamily="34" charset="-120"/>
              </a:rPr>
              <a:t>Ampere</a:t>
            </a:r>
            <a:endParaRPr lang="en-US" sz="1600" dirty="0"/>
          </a:p>
        </p:txBody>
      </p:sp>
      <p:sp>
        <p:nvSpPr>
          <p:cNvPr id="18" name="Text 16"/>
          <p:cNvSpPr/>
          <p:nvPr/>
        </p:nvSpPr>
        <p:spPr>
          <a:xfrm>
            <a:off x="7905750" y="2762250"/>
            <a:ext cx="3048000" cy="571500"/>
          </a:xfrm>
          <a:prstGeom prst="roundRect">
            <a:avLst>
              <a:gd name="adj" fmla="val 8000"/>
            </a:avLst>
          </a:prstGeom>
          <a:solidFill>
            <a:srgbClr val="153A34"/>
          </a:solidFill>
          <a:ln w="12700">
            <a:solidFill>
              <a:srgbClr val="3CE8B2"/>
            </a:solidFill>
          </a:ln>
        </p:spPr>
        <p:txBody>
          <a:bodyPr wrap="square" lIns="0" tIns="0" rIns="0" bIns="0" rtlCol="0" anchor="ctr"/>
          <a:lstStyle/>
          <a:p>
            <a:pPr algn="ctr" indent="0" marL="0">
              <a:buNone/>
            </a:pPr>
            <a:r>
              <a:rPr lang="en-US" sz="1600" b="1" dirty="0">
                <a:solidFill>
                  <a:srgbClr val="3CE8B2"/>
                </a:solidFill>
                <a:latin typeface="Courier New" pitchFamily="34" charset="0"/>
                <a:ea typeface="Courier New" pitchFamily="34" charset="-122"/>
                <a:cs typeface="Courier New" pitchFamily="34" charset="-120"/>
              </a:rPr>
              <a:t>Hopper</a:t>
            </a:r>
            <a:endParaRPr lang="en-US" sz="1600" dirty="0"/>
          </a:p>
        </p:txBody>
      </p:sp>
      <p:sp>
        <p:nvSpPr>
          <p:cNvPr id="19" name="Shape 17"/>
          <p:cNvSpPr/>
          <p:nvPr/>
        </p:nvSpPr>
        <p:spPr>
          <a:xfrm>
            <a:off x="552450" y="3619500"/>
            <a:ext cx="5467350" cy="1905000"/>
          </a:xfrm>
          <a:prstGeom prst="roundRect">
            <a:avLst>
              <a:gd name="adj" fmla="val 2400"/>
            </a:avLst>
          </a:prstGeom>
          <a:solidFill>
            <a:srgbClr val="101018"/>
          </a:solidFill>
          <a:ln w="12700">
            <a:solidFill>
              <a:srgbClr val="2A2A38"/>
            </a:solidFill>
            <a:prstDash val="solid"/>
          </a:ln>
        </p:spPr>
      </p:sp>
      <p:sp>
        <p:nvSpPr>
          <p:cNvPr id="20" name="Text 18"/>
          <p:cNvSpPr/>
          <p:nvPr/>
        </p:nvSpPr>
        <p:spPr>
          <a:xfrm>
            <a:off x="781050" y="3752850"/>
            <a:ext cx="5010150" cy="209550"/>
          </a:xfrm>
          <a:prstGeom prst="rect">
            <a:avLst/>
          </a:prstGeom>
          <a:noFill/>
          <a:ln/>
        </p:spPr>
        <p:txBody>
          <a:bodyPr wrap="square" lIns="0" tIns="0" rIns="0" bIns="0" rtlCol="0" anchor="ctr"/>
          <a:lstStyle/>
          <a:p>
            <a:pPr indent="0" marL="0">
              <a:buNone/>
            </a:pPr>
            <a:r>
              <a:rPr lang="en-US" sz="1100" b="1" dirty="0">
                <a:solidFill>
                  <a:srgbClr val="858596"/>
                </a:solidFill>
                <a:latin typeface="Courier New" pitchFamily="34" charset="0"/>
                <a:ea typeface="Courier New" pitchFamily="34" charset="-122"/>
                <a:cs typeface="Courier New" pitchFamily="34" charset="-120"/>
              </a:rPr>
              <a:t>THE HISTORY THAT EXPLAINS IT</a:t>
            </a:r>
            <a:endParaRPr lang="en-US" sz="1100" dirty="0"/>
          </a:p>
        </p:txBody>
      </p:sp>
      <p:sp>
        <p:nvSpPr>
          <p:cNvPr id="21" name="Text 19"/>
          <p:cNvSpPr/>
          <p:nvPr/>
        </p:nvSpPr>
        <p:spPr>
          <a:xfrm>
            <a:off x="781050" y="4038600"/>
            <a:ext cx="5010150" cy="1200150"/>
          </a:xfrm>
          <a:prstGeom prst="rect">
            <a:avLst/>
          </a:prstGeom>
          <a:noFill/>
          <a:ln/>
        </p:spPr>
        <p:txBody>
          <a:bodyPr wrap="square" lIns="0" tIns="0" rIns="0" bIns="0" rtlCol="0" anchor="t"/>
          <a:lstStyle/>
          <a:p>
            <a:pPr marL="165100" indent="-165100">
              <a:lnSpc>
                <a:spcPct val="92000"/>
              </a:lnSpc>
              <a:spcAft>
                <a:spcPts val="500"/>
              </a:spcAft>
              <a:buSzPct val="100000"/>
              <a:buChar char="•"/>
            </a:pPr>
            <a:r>
              <a:rPr lang="en-US" sz="1200" dirty="0">
                <a:solidFill>
                  <a:srgbClr val="D8D8DE"/>
                </a:solidFill>
                <a:latin typeface="Calibri" pitchFamily="34" charset="0"/>
                <a:ea typeface="Calibri" pitchFamily="34" charset="-122"/>
                <a:cs typeface="Calibri" pitchFamily="34" charset="-120"/>
              </a:rPr>
              <a:t>Section 5's bet: the integrated stack — CUDA plus tuned libraries — beat the spec that shipped alone.</a:t>
            </a:r>
            <a:endParaRPr lang="en-US" sz="1200" dirty="0"/>
          </a:p>
          <a:p>
            <a:pPr marL="165100" indent="-165100">
              <a:lnSpc>
                <a:spcPct val="92000"/>
              </a:lnSpc>
              <a:spcAft>
                <a:spcPts val="500"/>
              </a:spcAft>
              <a:buSzPct val="100000"/>
              <a:buChar char="•"/>
            </a:pPr>
            <a:r>
              <a:rPr lang="en-US" sz="1200" dirty="0">
                <a:solidFill>
                  <a:srgbClr val="D8D8DE"/>
                </a:solidFill>
                <a:latin typeface="Calibri" pitchFamily="34" charset="0"/>
                <a:ea typeface="Calibri" pitchFamily="34" charset="-122"/>
                <a:cs typeface="Calibri" pitchFamily="34" charset="-120"/>
              </a:rPr>
              <a:t>cuBLAS, cuFFT, cuSOLVER, cuDNN: kernels retuned per architecture by the people who drew the silicon.</a:t>
            </a:r>
            <a:endParaRPr lang="en-US" sz="1200" dirty="0"/>
          </a:p>
          <a:p>
            <a:pPr marL="165100" indent="-165100">
              <a:lnSpc>
                <a:spcPct val="92000"/>
              </a:lnSpc>
              <a:spcAft>
                <a:spcPts val="500"/>
              </a:spcAft>
              <a:buSzPct val="100000"/>
              <a:buChar char="•"/>
            </a:pPr>
            <a:r>
              <a:rPr lang="en-US" sz="1200" dirty="0">
                <a:solidFill>
                  <a:srgbClr val="D8D8DE"/>
                </a:solidFill>
                <a:latin typeface="Calibri" pitchFamily="34" charset="0"/>
                <a:ea typeface="Calibri" pitchFamily="34" charset="-122"/>
                <a:cs typeface="Calibri" pitchFamily="34" charset="-120"/>
              </a:rPr>
              <a:t>When tensor cores arrived in 2017, updated libraries could expose them with little or no code change.</a:t>
            </a:r>
            <a:endParaRPr lang="en-US" sz="1200" dirty="0"/>
          </a:p>
        </p:txBody>
      </p:sp>
      <p:sp>
        <p:nvSpPr>
          <p:cNvPr id="22" name="Text 20"/>
          <p:cNvSpPr/>
          <p:nvPr/>
        </p:nvSpPr>
        <p:spPr>
          <a:xfrm>
            <a:off x="781050" y="5257800"/>
            <a:ext cx="5010150" cy="190500"/>
          </a:xfrm>
          <a:prstGeom prst="rect">
            <a:avLst/>
          </a:prstGeom>
          <a:noFill/>
          <a:ln/>
        </p:spPr>
        <p:txBody>
          <a:bodyPr wrap="square" lIns="0" tIns="0" rIns="0" bIns="0" rtlCol="0" anchor="ctr"/>
          <a:lstStyle/>
          <a:p>
            <a:pPr indent="0" marL="0">
              <a:buNone/>
            </a:pPr>
            <a:r>
              <a:rPr lang="en-US" sz="1050" b="1" dirty="0">
                <a:solidFill>
                  <a:srgbClr val="6E6E82"/>
                </a:solidFill>
                <a:latin typeface="Calibri" pitchFamily="34" charset="0"/>
                <a:ea typeface="Calibri" pitchFamily="34" charset="-122"/>
                <a:cs typeface="Calibri" pitchFamily="34" charset="-120"/>
              </a:rPr>
              <a:t>→  §7 NOTE · THE RUNWAY AND THE PLANE</a:t>
            </a:r>
            <a:endParaRPr lang="en-US" sz="1050" dirty="0"/>
          </a:p>
        </p:txBody>
      </p:sp>
      <p:sp>
        <p:nvSpPr>
          <p:cNvPr id="23" name="Shape 21"/>
          <p:cNvSpPr/>
          <p:nvPr/>
        </p:nvSpPr>
        <p:spPr>
          <a:xfrm>
            <a:off x="6172200" y="3619500"/>
            <a:ext cx="5467350" cy="1905000"/>
          </a:xfrm>
          <a:prstGeom prst="roundRect">
            <a:avLst>
              <a:gd name="adj" fmla="val 2400"/>
            </a:avLst>
          </a:prstGeom>
          <a:solidFill>
            <a:srgbClr val="14141D"/>
          </a:solidFill>
          <a:ln w="12700">
            <a:solidFill>
              <a:srgbClr val="2A2A38"/>
            </a:solidFill>
            <a:prstDash val="solid"/>
          </a:ln>
        </p:spPr>
      </p:sp>
      <p:sp>
        <p:nvSpPr>
          <p:cNvPr id="24" name="Text 22"/>
          <p:cNvSpPr/>
          <p:nvPr/>
        </p:nvSpPr>
        <p:spPr>
          <a:xfrm>
            <a:off x="6400800" y="3752850"/>
            <a:ext cx="5010150" cy="209550"/>
          </a:xfrm>
          <a:prstGeom prst="rect">
            <a:avLst/>
          </a:prstGeom>
          <a:noFill/>
          <a:ln/>
        </p:spPr>
        <p:txBody>
          <a:bodyPr wrap="square" lIns="0" tIns="0" rIns="0" bIns="0" rtlCol="0" anchor="ctr"/>
          <a:lstStyle/>
          <a:p>
            <a:pPr indent="0" marL="0">
              <a:buNone/>
            </a:pPr>
            <a:r>
              <a:rPr lang="en-US" sz="1100" b="1" dirty="0">
                <a:solidFill>
                  <a:srgbClr val="E8A832"/>
                </a:solidFill>
                <a:latin typeface="Courier New" pitchFamily="34" charset="0"/>
                <a:ea typeface="Courier New" pitchFamily="34" charset="-122"/>
                <a:cs typeface="Courier New" pitchFamily="34" charset="-120"/>
              </a:rPr>
              <a:t>THE PRACTICE IT DEMANDS</a:t>
            </a:r>
            <a:endParaRPr lang="en-US" sz="1100" dirty="0"/>
          </a:p>
        </p:txBody>
      </p:sp>
      <p:sp>
        <p:nvSpPr>
          <p:cNvPr id="25" name="Text 23"/>
          <p:cNvSpPr/>
          <p:nvPr/>
        </p:nvSpPr>
        <p:spPr>
          <a:xfrm>
            <a:off x="6400800" y="4038600"/>
            <a:ext cx="5010150" cy="1352550"/>
          </a:xfrm>
          <a:prstGeom prst="rect">
            <a:avLst/>
          </a:prstGeom>
          <a:noFill/>
          <a:ln/>
        </p:spPr>
        <p:txBody>
          <a:bodyPr wrap="square" lIns="0" tIns="0" rIns="0" bIns="0" rtlCol="0" anchor="t"/>
          <a:lstStyle/>
          <a:p>
            <a:pPr marL="165100" indent="-165100">
              <a:lnSpc>
                <a:spcPct val="92000"/>
              </a:lnSpc>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On common operations, hand-written kernels often lose to vendor libraries, and may age worse.</a:t>
            </a:r>
            <a:endParaRPr lang="en-US" sz="1200" dirty="0"/>
          </a:p>
          <a:p>
            <a:pPr marL="165100" indent="-165100">
              <a:lnSpc>
                <a:spcPct val="92000"/>
              </a:lnSpc>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Write to the operation, not the device: say multiply these matrices, and let the library pick the path.</a:t>
            </a:r>
            <a:endParaRPr lang="en-US" sz="1200" dirty="0"/>
          </a:p>
          <a:p>
            <a:pPr marL="165100" indent="-165100">
              <a:lnSpc>
                <a:spcPct val="92000"/>
              </a:lnSpc>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Your own kernels are for the glue between library calls — not the linear algebra inside them.</a:t>
            </a:r>
            <a:endParaRPr lang="en-US" sz="1200" dirty="0"/>
          </a:p>
        </p:txBody>
      </p:sp>
      <p:sp>
        <p:nvSpPr>
          <p:cNvPr id="26" name="Text 24"/>
          <p:cNvSpPr/>
          <p:nvPr/>
        </p:nvSpPr>
        <p:spPr>
          <a:xfrm>
            <a:off x="552450" y="5676900"/>
            <a:ext cx="11087100" cy="533400"/>
          </a:xfrm>
          <a:prstGeom prst="roundRect">
            <a:avLst>
              <a:gd name="adj" fmla="val 8571"/>
            </a:avLst>
          </a:prstGeom>
          <a:solidFill>
            <a:srgbClr val="211A0D"/>
          </a:solidFill>
          <a:ln w="12700">
            <a:solidFill>
              <a:srgbClr val="E8A832"/>
            </a:solidFill>
          </a:ln>
        </p:spPr>
        <p:txBody>
          <a:bodyPr wrap="square" lIns="0" tIns="0" rIns="0" bIns="0" rtlCol="0" anchor="ctr"/>
          <a:lstStyle/>
          <a:p>
            <a:pPr algn="ctr" indent="0" marL="0">
              <a:buNone/>
            </a:pPr>
            <a:r>
              <a:rPr lang="en-US" sz="1500" b="1" dirty="0">
                <a:solidFill>
                  <a:srgbClr val="E8A832"/>
                </a:solidFill>
                <a:latin typeface="Calibri" pitchFamily="34" charset="0"/>
                <a:ea typeface="Calibri" pitchFamily="34" charset="-122"/>
                <a:cs typeface="Calibri" pitchFamily="34" charset="-120"/>
              </a:rPr>
              <a:t>The library is the contract that can outlive the hardware — and the usual door to the tensor cores.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52450" y="228600"/>
            <a:ext cx="8572500" cy="26670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9  ·  WHY THIS MATTERS FOR YOU</a:t>
            </a:r>
            <a:endParaRPr lang="en-US" sz="1200" dirty="0"/>
          </a:p>
        </p:txBody>
      </p:sp>
      <p:sp>
        <p:nvSpPr>
          <p:cNvPr id="3" name="Text 1"/>
          <p:cNvSpPr/>
          <p:nvPr/>
        </p:nvSpPr>
        <p:spPr>
          <a:xfrm>
            <a:off x="552450" y="523875"/>
            <a:ext cx="10287000" cy="590550"/>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Moving data is the hidden cost</a:t>
            </a:r>
            <a:endParaRPr lang="en-US" sz="2700" dirty="0"/>
          </a:p>
        </p:txBody>
      </p:sp>
      <p:sp>
        <p:nvSpPr>
          <p:cNvPr id="4" name="Text 2"/>
          <p:cNvSpPr/>
          <p:nvPr/>
        </p:nvSpPr>
        <p:spPr>
          <a:xfrm>
            <a:off x="10668000" y="190500"/>
            <a:ext cx="952500" cy="876300"/>
          </a:xfrm>
          <a:prstGeom prst="rect">
            <a:avLst/>
          </a:prstGeom>
          <a:noFill/>
          <a:ln/>
        </p:spPr>
        <p:txBody>
          <a:bodyPr wrap="square" lIns="0" tIns="0" rIns="0" bIns="0" rtlCol="0" anchor="ctr"/>
          <a:lstStyle/>
          <a:p>
            <a:pPr algn="r" indent="0" marL="0">
              <a:buNone/>
            </a:pPr>
            <a:r>
              <a:rPr lang="en-US" sz="5100" b="1" dirty="0">
                <a:solidFill>
                  <a:srgbClr val="23232F"/>
                </a:solidFill>
                <a:latin typeface="Courier New" pitchFamily="34" charset="0"/>
                <a:ea typeface="Courier New" pitchFamily="34" charset="-122"/>
                <a:cs typeface="Courier New" pitchFamily="34" charset="-120"/>
              </a:rPr>
              <a:t>4</a:t>
            </a:r>
            <a:endParaRPr lang="en-US" sz="5100" dirty="0"/>
          </a:p>
        </p:txBody>
      </p:sp>
      <p:sp>
        <p:nvSpPr>
          <p:cNvPr id="5" name="Text 3"/>
          <p:cNvSpPr/>
          <p:nvPr/>
        </p:nvSpPr>
        <p:spPr>
          <a:xfrm>
            <a:off x="742950" y="1276350"/>
            <a:ext cx="7239000" cy="228600"/>
          </a:xfrm>
          <a:prstGeom prst="rect">
            <a:avLst/>
          </a:prstGeom>
          <a:noFill/>
          <a:ln/>
        </p:spPr>
        <p:txBody>
          <a:bodyPr wrap="square" lIns="0" tIns="0" rIns="0" bIns="0" rtlCol="0" anchor="ctr"/>
          <a:lstStyle/>
          <a:p>
            <a:pPr indent="0" marL="0">
              <a:buNone/>
            </a:pPr>
            <a:r>
              <a:rPr lang="en-US" sz="1150" b="1" dirty="0">
                <a:solidFill>
                  <a:srgbClr val="F27878"/>
                </a:solidFill>
                <a:latin typeface="Courier New" pitchFamily="34" charset="0"/>
                <a:ea typeface="Courier New" pitchFamily="34" charset="-122"/>
                <a:cs typeface="Courier New" pitchFamily="34" charset="-120"/>
              </a:rPr>
              <a:t>THE EXPENSIVE CROSSING  ·  transfer → compute → transfer</a:t>
            </a:r>
            <a:endParaRPr lang="en-US" sz="1150" dirty="0"/>
          </a:p>
        </p:txBody>
      </p:sp>
      <p:sp>
        <p:nvSpPr>
          <p:cNvPr id="6" name="Text 4"/>
          <p:cNvSpPr/>
          <p:nvPr/>
        </p:nvSpPr>
        <p:spPr>
          <a:xfrm>
            <a:off x="762000" y="1543050"/>
            <a:ext cx="2047875" cy="762000"/>
          </a:xfrm>
          <a:prstGeom prst="roundRect">
            <a:avLst>
              <a:gd name="adj" fmla="val 6000"/>
            </a:avLst>
          </a:prstGeom>
          <a:solidFill>
            <a:srgbClr val="14141D"/>
          </a:solidFill>
          <a:ln w="12700">
            <a:solidFill>
              <a:srgbClr val="63A4FF"/>
            </a:solidFill>
          </a:ln>
        </p:spPr>
        <p:txBody>
          <a:bodyPr wrap="square" lIns="0" tIns="0" rIns="0" bIns="0" rtlCol="0" anchor="ctr"/>
          <a:lstStyle/>
          <a:p>
            <a:pPr algn="ctr" indent="0" marL="0">
              <a:buNone/>
            </a:pPr>
            <a:r>
              <a:rPr lang="en-US" sz="1700" b="1" dirty="0">
                <a:solidFill>
                  <a:srgbClr val="63A4FF"/>
                </a:solidFill>
                <a:latin typeface="Courier New" pitchFamily="34" charset="0"/>
                <a:ea typeface="Courier New" pitchFamily="34" charset="-122"/>
                <a:cs typeface="Courier New" pitchFamily="34" charset="-120"/>
              </a:rPr>
              <a:t>CPU</a:t>
            </a:r>
            <a:endParaRPr lang="en-US" sz="1700" dirty="0"/>
          </a:p>
          <a:p>
            <a:pPr algn="ctr" indent="0" marL="0">
              <a:buNone/>
            </a:pPr>
            <a:r>
              <a:rPr lang="en-US" sz="1700" b="1" dirty="0">
                <a:solidFill>
                  <a:srgbClr val="63A4FF"/>
                </a:solidFill>
                <a:latin typeface="Courier New" pitchFamily="34" charset="0"/>
                <a:ea typeface="Courier New" pitchFamily="34" charset="-122"/>
                <a:cs typeface="Courier New" pitchFamily="34" charset="-120"/>
              </a:rPr>
              <a:t>MEMORY</a:t>
            </a:r>
            <a:endParaRPr lang="en-US" sz="1700" dirty="0"/>
          </a:p>
        </p:txBody>
      </p:sp>
      <p:sp>
        <p:nvSpPr>
          <p:cNvPr id="7" name="Shape 5"/>
          <p:cNvSpPr/>
          <p:nvPr/>
        </p:nvSpPr>
        <p:spPr>
          <a:xfrm>
            <a:off x="2943225" y="1771650"/>
            <a:ext cx="1333500" cy="304800"/>
          </a:xfrm>
          <a:prstGeom prst="rightArrow">
            <a:avLst/>
          </a:prstGeom>
          <a:solidFill>
            <a:srgbClr val="F27878"/>
          </a:solidFill>
          <a:ln w="12700">
            <a:solidFill>
              <a:srgbClr val="F27878"/>
            </a:solidFill>
            <a:prstDash val="solid"/>
          </a:ln>
        </p:spPr>
      </p:sp>
      <p:sp>
        <p:nvSpPr>
          <p:cNvPr id="8" name="Text 6"/>
          <p:cNvSpPr/>
          <p:nvPr/>
        </p:nvSpPr>
        <p:spPr>
          <a:xfrm>
            <a:off x="4391025" y="1543050"/>
            <a:ext cx="2047875" cy="762000"/>
          </a:xfrm>
          <a:prstGeom prst="roundRect">
            <a:avLst>
              <a:gd name="adj" fmla="val 6000"/>
            </a:avLst>
          </a:prstGeom>
          <a:solidFill>
            <a:srgbClr val="211010"/>
          </a:solidFill>
          <a:ln w="12700">
            <a:solidFill>
              <a:srgbClr val="F27878"/>
            </a:solidFill>
          </a:ln>
        </p:spPr>
        <p:txBody>
          <a:bodyPr wrap="square" lIns="0" tIns="0" rIns="0" bIns="0" rtlCol="0" anchor="ctr"/>
          <a:lstStyle/>
          <a:p>
            <a:pPr algn="ctr" indent="0" marL="0">
              <a:buNone/>
            </a:pPr>
            <a:r>
              <a:rPr lang="en-US" sz="1700" b="1" dirty="0">
                <a:solidFill>
                  <a:srgbClr val="F27878"/>
                </a:solidFill>
                <a:latin typeface="Courier New" pitchFamily="34" charset="0"/>
                <a:ea typeface="Courier New" pitchFamily="34" charset="-122"/>
                <a:cs typeface="Courier New" pitchFamily="34" charset="-120"/>
              </a:rPr>
              <a:t>GPU</a:t>
            </a:r>
            <a:endParaRPr lang="en-US" sz="1700" dirty="0"/>
          </a:p>
          <a:p>
            <a:pPr algn="ctr" indent="0" marL="0">
              <a:buNone/>
            </a:pPr>
            <a:r>
              <a:rPr lang="en-US" sz="1700" b="1" dirty="0">
                <a:solidFill>
                  <a:srgbClr val="F27878"/>
                </a:solidFill>
                <a:latin typeface="Courier New" pitchFamily="34" charset="0"/>
                <a:ea typeface="Courier New" pitchFamily="34" charset="-122"/>
                <a:cs typeface="Courier New" pitchFamily="34" charset="-120"/>
              </a:rPr>
              <a:t>KERNEL</a:t>
            </a:r>
            <a:endParaRPr lang="en-US" sz="1700" dirty="0"/>
          </a:p>
        </p:txBody>
      </p:sp>
      <p:sp>
        <p:nvSpPr>
          <p:cNvPr id="9" name="Shape 7"/>
          <p:cNvSpPr/>
          <p:nvPr/>
        </p:nvSpPr>
        <p:spPr>
          <a:xfrm>
            <a:off x="6572250" y="1771650"/>
            <a:ext cx="1333500" cy="304800"/>
          </a:xfrm>
          <a:prstGeom prst="rightArrow">
            <a:avLst/>
          </a:prstGeom>
          <a:solidFill>
            <a:srgbClr val="F27878"/>
          </a:solidFill>
          <a:ln w="12700">
            <a:solidFill>
              <a:srgbClr val="F27878"/>
            </a:solidFill>
            <a:prstDash val="solid"/>
          </a:ln>
        </p:spPr>
      </p:sp>
      <p:sp>
        <p:nvSpPr>
          <p:cNvPr id="10" name="Text 8"/>
          <p:cNvSpPr/>
          <p:nvPr/>
        </p:nvSpPr>
        <p:spPr>
          <a:xfrm>
            <a:off x="8020050" y="1543050"/>
            <a:ext cx="2047875" cy="762000"/>
          </a:xfrm>
          <a:prstGeom prst="roundRect">
            <a:avLst>
              <a:gd name="adj" fmla="val 6000"/>
            </a:avLst>
          </a:prstGeom>
          <a:solidFill>
            <a:srgbClr val="14141D"/>
          </a:solidFill>
          <a:ln w="12700">
            <a:solidFill>
              <a:srgbClr val="63A4FF"/>
            </a:solidFill>
          </a:ln>
        </p:spPr>
        <p:txBody>
          <a:bodyPr wrap="square" lIns="0" tIns="0" rIns="0" bIns="0" rtlCol="0" anchor="ctr"/>
          <a:lstStyle/>
          <a:p>
            <a:pPr algn="ctr" indent="0" marL="0">
              <a:buNone/>
            </a:pPr>
            <a:r>
              <a:rPr lang="en-US" sz="1700" b="1" dirty="0">
                <a:solidFill>
                  <a:srgbClr val="63A4FF"/>
                </a:solidFill>
                <a:latin typeface="Courier New" pitchFamily="34" charset="0"/>
                <a:ea typeface="Courier New" pitchFamily="34" charset="-122"/>
                <a:cs typeface="Courier New" pitchFamily="34" charset="-120"/>
              </a:rPr>
              <a:t>CPU</a:t>
            </a:r>
            <a:endParaRPr lang="en-US" sz="1700" dirty="0"/>
          </a:p>
          <a:p>
            <a:pPr algn="ctr" indent="0" marL="0">
              <a:buNone/>
            </a:pPr>
            <a:r>
              <a:rPr lang="en-US" sz="1700" b="1" dirty="0">
                <a:solidFill>
                  <a:srgbClr val="63A4FF"/>
                </a:solidFill>
                <a:latin typeface="Courier New" pitchFamily="34" charset="0"/>
                <a:ea typeface="Courier New" pitchFamily="34" charset="-122"/>
                <a:cs typeface="Courier New" pitchFamily="34" charset="-120"/>
              </a:rPr>
              <a:t>MEMORY</a:t>
            </a:r>
            <a:endParaRPr lang="en-US" sz="1700" dirty="0"/>
          </a:p>
        </p:txBody>
      </p:sp>
      <p:sp>
        <p:nvSpPr>
          <p:cNvPr id="11" name="Text 9"/>
          <p:cNvSpPr/>
          <p:nvPr/>
        </p:nvSpPr>
        <p:spPr>
          <a:xfrm>
            <a:off x="2943225" y="2095500"/>
            <a:ext cx="1333500" cy="190500"/>
          </a:xfrm>
          <a:prstGeom prst="rect">
            <a:avLst/>
          </a:prstGeom>
          <a:noFill/>
          <a:ln/>
        </p:spPr>
        <p:txBody>
          <a:bodyPr wrap="square" lIns="0" tIns="0" rIns="0" bIns="0" rtlCol="0" anchor="ctr"/>
          <a:lstStyle/>
          <a:p>
            <a:pPr algn="ctr" indent="0" marL="0">
              <a:buNone/>
            </a:pPr>
            <a:r>
              <a:rPr lang="en-US" sz="1000" b="1" dirty="0">
                <a:solidFill>
                  <a:srgbClr val="F27878"/>
                </a:solidFill>
                <a:latin typeface="Courier New" pitchFamily="34" charset="0"/>
                <a:ea typeface="Courier New" pitchFamily="34" charset="-122"/>
                <a:cs typeface="Courier New" pitchFamily="34" charset="-120"/>
              </a:rPr>
              <a:t>transfer</a:t>
            </a:r>
            <a:endParaRPr lang="en-US" sz="1000" dirty="0"/>
          </a:p>
        </p:txBody>
      </p:sp>
      <p:sp>
        <p:nvSpPr>
          <p:cNvPr id="12" name="Text 10"/>
          <p:cNvSpPr/>
          <p:nvPr/>
        </p:nvSpPr>
        <p:spPr>
          <a:xfrm>
            <a:off x="6572250" y="2095500"/>
            <a:ext cx="1333500" cy="190500"/>
          </a:xfrm>
          <a:prstGeom prst="rect">
            <a:avLst/>
          </a:prstGeom>
          <a:noFill/>
          <a:ln/>
        </p:spPr>
        <p:txBody>
          <a:bodyPr wrap="square" lIns="0" tIns="0" rIns="0" bIns="0" rtlCol="0" anchor="ctr"/>
          <a:lstStyle/>
          <a:p>
            <a:pPr algn="ctr" indent="0" marL="0">
              <a:buNone/>
            </a:pPr>
            <a:r>
              <a:rPr lang="en-US" sz="1000" b="1" dirty="0">
                <a:solidFill>
                  <a:srgbClr val="F27878"/>
                </a:solidFill>
                <a:latin typeface="Courier New" pitchFamily="34" charset="0"/>
                <a:ea typeface="Courier New" pitchFamily="34" charset="-122"/>
                <a:cs typeface="Courier New" pitchFamily="34" charset="-120"/>
              </a:rPr>
              <a:t>transfer</a:t>
            </a:r>
            <a:endParaRPr lang="en-US" sz="1000" dirty="0"/>
          </a:p>
        </p:txBody>
      </p:sp>
      <p:sp>
        <p:nvSpPr>
          <p:cNvPr id="13" name="Text 11"/>
          <p:cNvSpPr/>
          <p:nvPr/>
        </p:nvSpPr>
        <p:spPr>
          <a:xfrm>
            <a:off x="742950" y="2495550"/>
            <a:ext cx="7239000" cy="228600"/>
          </a:xfrm>
          <a:prstGeom prst="rect">
            <a:avLst/>
          </a:prstGeom>
          <a:noFill/>
          <a:ln/>
        </p:spPr>
        <p:txBody>
          <a:bodyPr wrap="square" lIns="0" tIns="0" rIns="0" bIns="0" rtlCol="0" anchor="ctr"/>
          <a:lstStyle/>
          <a:p>
            <a:pPr indent="0" marL="0">
              <a:buNone/>
            </a:pPr>
            <a:r>
              <a:rPr lang="en-US" sz="1150" b="1" dirty="0">
                <a:solidFill>
                  <a:srgbClr val="3CE8B2"/>
                </a:solidFill>
                <a:latin typeface="Courier New" pitchFamily="34" charset="0"/>
                <a:ea typeface="Courier New" pitchFamily="34" charset="-122"/>
                <a:cs typeface="Courier New" pitchFamily="34" charset="-120"/>
              </a:rPr>
              <a:t>THE RESIDENT LOOP  ·  upload once, then compute</a:t>
            </a:r>
            <a:endParaRPr lang="en-US" sz="1150" dirty="0"/>
          </a:p>
        </p:txBody>
      </p:sp>
      <p:sp>
        <p:nvSpPr>
          <p:cNvPr id="14" name="Text 12"/>
          <p:cNvSpPr/>
          <p:nvPr/>
        </p:nvSpPr>
        <p:spPr>
          <a:xfrm>
            <a:off x="762000" y="2781300"/>
            <a:ext cx="2047875" cy="723900"/>
          </a:xfrm>
          <a:prstGeom prst="roundRect">
            <a:avLst>
              <a:gd name="adj" fmla="val 6316"/>
            </a:avLst>
          </a:prstGeom>
          <a:solidFill>
            <a:srgbClr val="14141D"/>
          </a:solidFill>
          <a:ln w="12700">
            <a:solidFill>
              <a:srgbClr val="63A4FF"/>
            </a:solidFill>
          </a:ln>
        </p:spPr>
        <p:txBody>
          <a:bodyPr wrap="square" lIns="0" tIns="0" rIns="0" bIns="0" rtlCol="0" anchor="ctr"/>
          <a:lstStyle/>
          <a:p>
            <a:pPr algn="ctr" indent="0" marL="0">
              <a:buNone/>
            </a:pPr>
            <a:r>
              <a:rPr lang="en-US" sz="1600" b="1" dirty="0">
                <a:solidFill>
                  <a:srgbClr val="63A4FF"/>
                </a:solidFill>
                <a:latin typeface="Courier New" pitchFamily="34" charset="0"/>
                <a:ea typeface="Courier New" pitchFamily="34" charset="-122"/>
                <a:cs typeface="Courier New" pitchFamily="34" charset="-120"/>
              </a:rPr>
              <a:t>UPLOAD</a:t>
            </a:r>
            <a:endParaRPr lang="en-US" sz="1600" dirty="0"/>
          </a:p>
          <a:p>
            <a:pPr algn="ctr" indent="0" marL="0">
              <a:buNone/>
            </a:pPr>
            <a:r>
              <a:rPr lang="en-US" sz="1600" b="1" dirty="0">
                <a:solidFill>
                  <a:srgbClr val="63A4FF"/>
                </a:solidFill>
                <a:latin typeface="Courier New" pitchFamily="34" charset="0"/>
                <a:ea typeface="Courier New" pitchFamily="34" charset="-122"/>
                <a:cs typeface="Courier New" pitchFamily="34" charset="-120"/>
              </a:rPr>
              <a:t>ONCE</a:t>
            </a:r>
            <a:endParaRPr lang="en-US" sz="1600" dirty="0"/>
          </a:p>
        </p:txBody>
      </p:sp>
      <p:sp>
        <p:nvSpPr>
          <p:cNvPr id="15" name="Shape 13"/>
          <p:cNvSpPr/>
          <p:nvPr/>
        </p:nvSpPr>
        <p:spPr>
          <a:xfrm>
            <a:off x="2943225" y="3009900"/>
            <a:ext cx="571500" cy="266700"/>
          </a:xfrm>
          <a:prstGeom prst="rightArrow">
            <a:avLst/>
          </a:prstGeom>
          <a:solidFill>
            <a:srgbClr val="3CE8B2"/>
          </a:solidFill>
          <a:ln w="12700">
            <a:solidFill>
              <a:srgbClr val="3CE8B2"/>
            </a:solidFill>
            <a:prstDash val="solid"/>
          </a:ln>
        </p:spPr>
      </p:sp>
      <p:sp>
        <p:nvSpPr>
          <p:cNvPr id="16" name="Shape 14"/>
          <p:cNvSpPr/>
          <p:nvPr/>
        </p:nvSpPr>
        <p:spPr>
          <a:xfrm>
            <a:off x="3686175" y="2781300"/>
            <a:ext cx="6381750" cy="723900"/>
          </a:xfrm>
          <a:prstGeom prst="roundRect">
            <a:avLst>
              <a:gd name="adj" fmla="val 6316"/>
            </a:avLst>
          </a:prstGeom>
          <a:solidFill>
            <a:srgbClr val="10231F"/>
          </a:solidFill>
          <a:ln w="12700">
            <a:solidFill>
              <a:srgbClr val="3CE8B2"/>
            </a:solidFill>
            <a:prstDash val="solid"/>
          </a:ln>
        </p:spPr>
      </p:sp>
      <p:sp>
        <p:nvSpPr>
          <p:cNvPr id="17" name="Text 15"/>
          <p:cNvSpPr/>
          <p:nvPr/>
        </p:nvSpPr>
        <p:spPr>
          <a:xfrm>
            <a:off x="3895725" y="2952750"/>
            <a:ext cx="1257300" cy="381000"/>
          </a:xfrm>
          <a:prstGeom prst="roundRect">
            <a:avLst>
              <a:gd name="adj" fmla="val 12000"/>
            </a:avLst>
          </a:prstGeom>
          <a:solidFill>
            <a:srgbClr val="153A34"/>
          </a:solidFill>
          <a:ln w="12700">
            <a:solidFill>
              <a:srgbClr val="3CE8B2"/>
            </a:solidFill>
          </a:ln>
        </p:spPr>
        <p:txBody>
          <a:bodyPr wrap="square" lIns="0" tIns="0" rIns="0" bIns="0" rtlCol="0" anchor="ctr"/>
          <a:lstStyle/>
          <a:p>
            <a:pPr algn="ctr" indent="0" marL="0">
              <a:buNone/>
            </a:pPr>
            <a:r>
              <a:rPr lang="en-US" sz="1500" b="1" dirty="0">
                <a:solidFill>
                  <a:srgbClr val="3CE8B2"/>
                </a:solidFill>
                <a:latin typeface="Courier New" pitchFamily="34" charset="0"/>
                <a:ea typeface="Courier New" pitchFamily="34" charset="-122"/>
                <a:cs typeface="Courier New" pitchFamily="34" charset="-120"/>
              </a:rPr>
              <a:t>K1</a:t>
            </a:r>
            <a:endParaRPr lang="en-US" sz="1500" dirty="0"/>
          </a:p>
        </p:txBody>
      </p:sp>
      <p:sp>
        <p:nvSpPr>
          <p:cNvPr id="18" name="Shape 16"/>
          <p:cNvSpPr/>
          <p:nvPr/>
        </p:nvSpPr>
        <p:spPr>
          <a:xfrm>
            <a:off x="5238750" y="3048000"/>
            <a:ext cx="228600" cy="190500"/>
          </a:xfrm>
          <a:prstGeom prst="rightArrow">
            <a:avLst/>
          </a:prstGeom>
          <a:solidFill>
            <a:srgbClr val="3CE8B2"/>
          </a:solidFill>
          <a:ln w="12700">
            <a:solidFill>
              <a:srgbClr val="3CE8B2"/>
            </a:solidFill>
            <a:prstDash val="solid"/>
          </a:ln>
        </p:spPr>
      </p:sp>
      <p:sp>
        <p:nvSpPr>
          <p:cNvPr id="19" name="Text 17"/>
          <p:cNvSpPr/>
          <p:nvPr/>
        </p:nvSpPr>
        <p:spPr>
          <a:xfrm>
            <a:off x="5476875" y="2952750"/>
            <a:ext cx="1257300" cy="381000"/>
          </a:xfrm>
          <a:prstGeom prst="roundRect">
            <a:avLst>
              <a:gd name="adj" fmla="val 12000"/>
            </a:avLst>
          </a:prstGeom>
          <a:solidFill>
            <a:srgbClr val="153A34"/>
          </a:solidFill>
          <a:ln w="12700">
            <a:solidFill>
              <a:srgbClr val="3CE8B2"/>
            </a:solidFill>
          </a:ln>
        </p:spPr>
        <p:txBody>
          <a:bodyPr wrap="square" lIns="0" tIns="0" rIns="0" bIns="0" rtlCol="0" anchor="ctr"/>
          <a:lstStyle/>
          <a:p>
            <a:pPr algn="ctr" indent="0" marL="0">
              <a:buNone/>
            </a:pPr>
            <a:r>
              <a:rPr lang="en-US" sz="1500" b="1" dirty="0">
                <a:solidFill>
                  <a:srgbClr val="3CE8B2"/>
                </a:solidFill>
                <a:latin typeface="Courier New" pitchFamily="34" charset="0"/>
                <a:ea typeface="Courier New" pitchFamily="34" charset="-122"/>
                <a:cs typeface="Courier New" pitchFamily="34" charset="-120"/>
              </a:rPr>
              <a:t>K2</a:t>
            </a:r>
            <a:endParaRPr lang="en-US" sz="1500" dirty="0"/>
          </a:p>
        </p:txBody>
      </p:sp>
      <p:sp>
        <p:nvSpPr>
          <p:cNvPr id="20" name="Shape 18"/>
          <p:cNvSpPr/>
          <p:nvPr/>
        </p:nvSpPr>
        <p:spPr>
          <a:xfrm>
            <a:off x="6819900" y="3048000"/>
            <a:ext cx="228600" cy="190500"/>
          </a:xfrm>
          <a:prstGeom prst="rightArrow">
            <a:avLst/>
          </a:prstGeom>
          <a:solidFill>
            <a:srgbClr val="3CE8B2"/>
          </a:solidFill>
          <a:ln w="12700">
            <a:solidFill>
              <a:srgbClr val="3CE8B2"/>
            </a:solidFill>
            <a:prstDash val="solid"/>
          </a:ln>
        </p:spPr>
      </p:sp>
      <p:sp>
        <p:nvSpPr>
          <p:cNvPr id="21" name="Text 19"/>
          <p:cNvSpPr/>
          <p:nvPr/>
        </p:nvSpPr>
        <p:spPr>
          <a:xfrm>
            <a:off x="7058025" y="2952750"/>
            <a:ext cx="1257300" cy="381000"/>
          </a:xfrm>
          <a:prstGeom prst="roundRect">
            <a:avLst>
              <a:gd name="adj" fmla="val 12000"/>
            </a:avLst>
          </a:prstGeom>
          <a:solidFill>
            <a:srgbClr val="153A34"/>
          </a:solidFill>
          <a:ln w="12700">
            <a:solidFill>
              <a:srgbClr val="3CE8B2"/>
            </a:solidFill>
          </a:ln>
        </p:spPr>
        <p:txBody>
          <a:bodyPr wrap="square" lIns="0" tIns="0" rIns="0" bIns="0" rtlCol="0" anchor="ctr"/>
          <a:lstStyle/>
          <a:p>
            <a:pPr algn="ctr" indent="0" marL="0">
              <a:buNone/>
            </a:pPr>
            <a:r>
              <a:rPr lang="en-US" sz="1500" b="1" dirty="0">
                <a:solidFill>
                  <a:srgbClr val="3CE8B2"/>
                </a:solidFill>
                <a:latin typeface="Courier New" pitchFamily="34" charset="0"/>
                <a:ea typeface="Courier New" pitchFamily="34" charset="-122"/>
                <a:cs typeface="Courier New" pitchFamily="34" charset="-120"/>
              </a:rPr>
              <a:t>K3</a:t>
            </a:r>
            <a:endParaRPr lang="en-US" sz="1500" dirty="0"/>
          </a:p>
        </p:txBody>
      </p:sp>
      <p:sp>
        <p:nvSpPr>
          <p:cNvPr id="22" name="Shape 20"/>
          <p:cNvSpPr/>
          <p:nvPr/>
        </p:nvSpPr>
        <p:spPr>
          <a:xfrm>
            <a:off x="8401050" y="3048000"/>
            <a:ext cx="228600" cy="190500"/>
          </a:xfrm>
          <a:prstGeom prst="rightArrow">
            <a:avLst/>
          </a:prstGeom>
          <a:solidFill>
            <a:srgbClr val="3CE8B2"/>
          </a:solidFill>
          <a:ln w="12700">
            <a:solidFill>
              <a:srgbClr val="3CE8B2"/>
            </a:solidFill>
            <a:prstDash val="solid"/>
          </a:ln>
        </p:spPr>
      </p:sp>
      <p:sp>
        <p:nvSpPr>
          <p:cNvPr id="23" name="Text 21"/>
          <p:cNvSpPr/>
          <p:nvPr/>
        </p:nvSpPr>
        <p:spPr>
          <a:xfrm>
            <a:off x="8639175" y="2952750"/>
            <a:ext cx="1257300" cy="381000"/>
          </a:xfrm>
          <a:prstGeom prst="roundRect">
            <a:avLst>
              <a:gd name="adj" fmla="val 12000"/>
            </a:avLst>
          </a:prstGeom>
          <a:solidFill>
            <a:srgbClr val="153A34"/>
          </a:solidFill>
          <a:ln w="12700">
            <a:solidFill>
              <a:srgbClr val="3CE8B2"/>
            </a:solidFill>
          </a:ln>
        </p:spPr>
        <p:txBody>
          <a:bodyPr wrap="square" lIns="0" tIns="0" rIns="0" bIns="0" rtlCol="0" anchor="ctr"/>
          <a:lstStyle/>
          <a:p>
            <a:pPr algn="ctr" indent="0" marL="0">
              <a:buNone/>
            </a:pPr>
            <a:r>
              <a:rPr lang="en-US" sz="1500" b="1" dirty="0">
                <a:solidFill>
                  <a:srgbClr val="3CE8B2"/>
                </a:solidFill>
                <a:latin typeface="Courier New" pitchFamily="34" charset="0"/>
                <a:ea typeface="Courier New" pitchFamily="34" charset="-122"/>
                <a:cs typeface="Courier New" pitchFamily="34" charset="-120"/>
              </a:rPr>
              <a:t>K4</a:t>
            </a:r>
            <a:endParaRPr lang="en-US" sz="1500" dirty="0"/>
          </a:p>
        </p:txBody>
      </p:sp>
      <p:sp>
        <p:nvSpPr>
          <p:cNvPr id="24" name="Shape 22"/>
          <p:cNvSpPr/>
          <p:nvPr/>
        </p:nvSpPr>
        <p:spPr>
          <a:xfrm>
            <a:off x="552450" y="3619500"/>
            <a:ext cx="5467350" cy="1905000"/>
          </a:xfrm>
          <a:prstGeom prst="roundRect">
            <a:avLst>
              <a:gd name="adj" fmla="val 2400"/>
            </a:avLst>
          </a:prstGeom>
          <a:solidFill>
            <a:srgbClr val="101018"/>
          </a:solidFill>
          <a:ln w="12700">
            <a:solidFill>
              <a:srgbClr val="2A2A38"/>
            </a:solidFill>
            <a:prstDash val="solid"/>
          </a:ln>
        </p:spPr>
      </p:sp>
      <p:sp>
        <p:nvSpPr>
          <p:cNvPr id="25" name="Text 23"/>
          <p:cNvSpPr/>
          <p:nvPr/>
        </p:nvSpPr>
        <p:spPr>
          <a:xfrm>
            <a:off x="781050" y="3752850"/>
            <a:ext cx="5010150" cy="209550"/>
          </a:xfrm>
          <a:prstGeom prst="rect">
            <a:avLst/>
          </a:prstGeom>
          <a:noFill/>
          <a:ln/>
        </p:spPr>
        <p:txBody>
          <a:bodyPr wrap="square" lIns="0" tIns="0" rIns="0" bIns="0" rtlCol="0" anchor="ctr"/>
          <a:lstStyle/>
          <a:p>
            <a:pPr indent="0" marL="0">
              <a:buNone/>
            </a:pPr>
            <a:r>
              <a:rPr lang="en-US" sz="1100" b="1" dirty="0">
                <a:solidFill>
                  <a:srgbClr val="858596"/>
                </a:solidFill>
                <a:latin typeface="Courier New" pitchFamily="34" charset="0"/>
                <a:ea typeface="Courier New" pitchFamily="34" charset="-122"/>
                <a:cs typeface="Courier New" pitchFamily="34" charset="-120"/>
              </a:rPr>
              <a:t>THE HISTORY THAT EXPLAINS IT</a:t>
            </a:r>
            <a:endParaRPr lang="en-US" sz="1100" dirty="0"/>
          </a:p>
        </p:txBody>
      </p:sp>
      <p:sp>
        <p:nvSpPr>
          <p:cNvPr id="26" name="Text 24"/>
          <p:cNvSpPr/>
          <p:nvPr/>
        </p:nvSpPr>
        <p:spPr>
          <a:xfrm>
            <a:off x="781050" y="4038600"/>
            <a:ext cx="5010150" cy="1352550"/>
          </a:xfrm>
          <a:prstGeom prst="rect">
            <a:avLst/>
          </a:prstGeom>
          <a:noFill/>
          <a:ln/>
        </p:spPr>
        <p:txBody>
          <a:bodyPr wrap="square" lIns="0" tIns="0" rIns="0" bIns="0" rtlCol="0" anchor="t"/>
          <a:lstStyle/>
          <a:p>
            <a:pPr marL="165100" indent="-165100">
              <a:lnSpc>
                <a:spcPct val="92000"/>
              </a:lnSpc>
              <a:spcAft>
                <a:spcPts val="500"/>
              </a:spcAft>
              <a:buSzPct val="100000"/>
              <a:buChar char="•"/>
            </a:pPr>
            <a:r>
              <a:rPr lang="en-US" sz="1200" dirty="0">
                <a:solidFill>
                  <a:srgbClr val="D8D8DE"/>
                </a:solidFill>
                <a:latin typeface="Calibri" pitchFamily="34" charset="0"/>
                <a:ea typeface="Calibri" pitchFamily="34" charset="-122"/>
                <a:cs typeface="Calibri" pitchFamily="34" charset="-120"/>
              </a:rPr>
              <a:t>The GPU is a coprocessor across a bus. Section 6's skeptics said so, and were right; it was not fatal.</a:t>
            </a:r>
            <a:endParaRPr lang="en-US" sz="1200" dirty="0"/>
          </a:p>
          <a:p>
            <a:pPr marL="165100" indent="-165100">
              <a:lnSpc>
                <a:spcPct val="92000"/>
              </a:lnSpc>
              <a:spcAft>
                <a:spcPts val="500"/>
              </a:spcAft>
              <a:buSzPct val="100000"/>
              <a:buChar char="•"/>
            </a:pPr>
            <a:r>
              <a:rPr lang="en-US" sz="1200" dirty="0">
                <a:solidFill>
                  <a:srgbClr val="D8D8DE"/>
                </a:solidFill>
                <a:latin typeface="Calibri" pitchFamily="34" charset="0"/>
                <a:ea typeface="Calibri" pitchFamily="34" charset="-122"/>
                <a:cs typeface="Calibri" pitchFamily="34" charset="-120"/>
              </a:rPr>
              <a:t>Tianhe-1A and Titan won by keeping data resident on the device, not shuttling it per operation.</a:t>
            </a:r>
            <a:endParaRPr lang="en-US" sz="1200" dirty="0"/>
          </a:p>
          <a:p>
            <a:pPr marL="165100" indent="-165100">
              <a:lnSpc>
                <a:spcPct val="92000"/>
              </a:lnSpc>
              <a:spcAft>
                <a:spcPts val="500"/>
              </a:spcAft>
              <a:buSzPct val="100000"/>
              <a:buChar char="•"/>
            </a:pPr>
            <a:r>
              <a:rPr lang="en-US" sz="1200" dirty="0">
                <a:solidFill>
                  <a:srgbClr val="D8D8DE"/>
                </a:solidFill>
                <a:latin typeface="Calibri" pitchFamily="34" charset="0"/>
                <a:ea typeface="Calibri" pitchFamily="34" charset="-122"/>
                <a:cs typeface="Calibri" pitchFamily="34" charset="-120"/>
              </a:rPr>
              <a:t>Matmul is the exception that proves it: n³ arithmetic on n² data is why it could be frozen (§8).</a:t>
            </a:r>
            <a:endParaRPr lang="en-US" sz="1200" dirty="0"/>
          </a:p>
        </p:txBody>
      </p:sp>
      <p:sp>
        <p:nvSpPr>
          <p:cNvPr id="27" name="Shape 25"/>
          <p:cNvSpPr/>
          <p:nvPr/>
        </p:nvSpPr>
        <p:spPr>
          <a:xfrm>
            <a:off x="6172200" y="3619500"/>
            <a:ext cx="5467350" cy="1905000"/>
          </a:xfrm>
          <a:prstGeom prst="roundRect">
            <a:avLst>
              <a:gd name="adj" fmla="val 2400"/>
            </a:avLst>
          </a:prstGeom>
          <a:solidFill>
            <a:srgbClr val="14141D"/>
          </a:solidFill>
          <a:ln w="12700">
            <a:solidFill>
              <a:srgbClr val="2A2A38"/>
            </a:solidFill>
            <a:prstDash val="solid"/>
          </a:ln>
        </p:spPr>
      </p:sp>
      <p:sp>
        <p:nvSpPr>
          <p:cNvPr id="28" name="Text 26"/>
          <p:cNvSpPr/>
          <p:nvPr/>
        </p:nvSpPr>
        <p:spPr>
          <a:xfrm>
            <a:off x="6400800" y="3752850"/>
            <a:ext cx="5010150" cy="209550"/>
          </a:xfrm>
          <a:prstGeom prst="rect">
            <a:avLst/>
          </a:prstGeom>
          <a:noFill/>
          <a:ln/>
        </p:spPr>
        <p:txBody>
          <a:bodyPr wrap="square" lIns="0" tIns="0" rIns="0" bIns="0" rtlCol="0" anchor="ctr"/>
          <a:lstStyle/>
          <a:p>
            <a:pPr indent="0" marL="0">
              <a:buNone/>
            </a:pPr>
            <a:r>
              <a:rPr lang="en-US" sz="1100" b="1" dirty="0">
                <a:solidFill>
                  <a:srgbClr val="E8A832"/>
                </a:solidFill>
                <a:latin typeface="Courier New" pitchFamily="34" charset="0"/>
                <a:ea typeface="Courier New" pitchFamily="34" charset="-122"/>
                <a:cs typeface="Courier New" pitchFamily="34" charset="-120"/>
              </a:rPr>
              <a:t>THE PRACTICE IT DEMANDS</a:t>
            </a:r>
            <a:endParaRPr lang="en-US" sz="1100" dirty="0"/>
          </a:p>
        </p:txBody>
      </p:sp>
      <p:sp>
        <p:nvSpPr>
          <p:cNvPr id="29" name="Text 27"/>
          <p:cNvSpPr/>
          <p:nvPr/>
        </p:nvSpPr>
        <p:spPr>
          <a:xfrm>
            <a:off x="6400800" y="4038600"/>
            <a:ext cx="5010150" cy="1352550"/>
          </a:xfrm>
          <a:prstGeom prst="rect">
            <a:avLst/>
          </a:prstGeom>
          <a:noFill/>
          <a:ln/>
        </p:spPr>
        <p:txBody>
          <a:bodyPr wrap="square" lIns="0" tIns="0" rIns="0" bIns="0" rtlCol="0" anchor="t"/>
          <a:lstStyle/>
          <a:p>
            <a:pPr marL="165100" indent="-165100">
              <a:lnSpc>
                <a:spcPct val="92000"/>
              </a:lnSpc>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Arithmetic per byte moved must pay for the move. Count it before you port — the roofline question.</a:t>
            </a:r>
            <a:endParaRPr lang="en-US" sz="1200" dirty="0"/>
          </a:p>
          <a:p>
            <a:pPr marL="165100" indent="-165100">
              <a:lnSpc>
                <a:spcPct val="92000"/>
              </a:lnSpc>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Keep data resident: chain kernels on the device. The worst pattern is transfer–compute–transfer.</a:t>
            </a:r>
            <a:endParaRPr lang="en-US" sz="1200" dirty="0"/>
          </a:p>
          <a:p>
            <a:pPr marL="165100" indent="-165100">
              <a:lnSpc>
                <a:spcPct val="92000"/>
              </a:lnSpc>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A slow port is often a transfer problem in a compute costume — but check occupancy and divergence.</a:t>
            </a:r>
            <a:endParaRPr lang="en-US" sz="1200" dirty="0"/>
          </a:p>
        </p:txBody>
      </p:sp>
      <p:sp>
        <p:nvSpPr>
          <p:cNvPr id="30" name="Text 28"/>
          <p:cNvSpPr/>
          <p:nvPr/>
        </p:nvSpPr>
        <p:spPr>
          <a:xfrm>
            <a:off x="552450" y="5676900"/>
            <a:ext cx="11087100" cy="533400"/>
          </a:xfrm>
          <a:prstGeom prst="roundRect">
            <a:avLst>
              <a:gd name="adj" fmla="val 8571"/>
            </a:avLst>
          </a:prstGeom>
          <a:solidFill>
            <a:srgbClr val="211A0D"/>
          </a:solidFill>
          <a:ln w="12700">
            <a:solidFill>
              <a:srgbClr val="E8A832"/>
            </a:solidFill>
          </a:ln>
        </p:spPr>
        <p:txBody>
          <a:bodyPr wrap="square" lIns="0" tIns="0" rIns="0" bIns="0" rtlCol="0" anchor="ctr"/>
          <a:lstStyle/>
          <a:p>
            <a:pPr algn="ctr" indent="0" marL="0">
              <a:buNone/>
            </a:pPr>
            <a:r>
              <a:rPr lang="en-US" sz="1500" b="1" dirty="0">
                <a:solidFill>
                  <a:srgbClr val="E8A832"/>
                </a:solidFill>
                <a:latin typeface="Calibri" pitchFamily="34" charset="0"/>
                <a:ea typeface="Calibri" pitchFamily="34" charset="-122"/>
                <a:cs typeface="Calibri" pitchFamily="34" charset="-120"/>
              </a:rPr>
              <a:t>The bus never got fast enough to stop mattering. Every fast GPU program is a data-residency design first.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52450" y="228600"/>
            <a:ext cx="8572500" cy="26670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9  ·  WHY THIS MATTERS FOR YOU</a:t>
            </a:r>
            <a:endParaRPr lang="en-US" sz="1200" dirty="0"/>
          </a:p>
        </p:txBody>
      </p:sp>
      <p:sp>
        <p:nvSpPr>
          <p:cNvPr id="3" name="Text 1"/>
          <p:cNvSpPr/>
          <p:nvPr/>
        </p:nvSpPr>
        <p:spPr>
          <a:xfrm>
            <a:off x="552450" y="523875"/>
            <a:ext cx="10287000" cy="590550"/>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Small costs scale; precision is priced</a:t>
            </a:r>
            <a:endParaRPr lang="en-US" sz="2700" dirty="0"/>
          </a:p>
        </p:txBody>
      </p:sp>
      <p:sp>
        <p:nvSpPr>
          <p:cNvPr id="4" name="Text 2"/>
          <p:cNvSpPr/>
          <p:nvPr/>
        </p:nvSpPr>
        <p:spPr>
          <a:xfrm>
            <a:off x="10668000" y="190500"/>
            <a:ext cx="952500" cy="876300"/>
          </a:xfrm>
          <a:prstGeom prst="rect">
            <a:avLst/>
          </a:prstGeom>
          <a:noFill/>
          <a:ln/>
        </p:spPr>
        <p:txBody>
          <a:bodyPr wrap="square" lIns="0" tIns="0" rIns="0" bIns="0" rtlCol="0" anchor="ctr"/>
          <a:lstStyle/>
          <a:p>
            <a:pPr algn="r" indent="0" marL="0">
              <a:buNone/>
            </a:pPr>
            <a:r>
              <a:rPr lang="en-US" sz="5100" b="1" dirty="0">
                <a:solidFill>
                  <a:srgbClr val="23232F"/>
                </a:solidFill>
                <a:latin typeface="Courier New" pitchFamily="34" charset="0"/>
                <a:ea typeface="Courier New" pitchFamily="34" charset="-122"/>
                <a:cs typeface="Courier New" pitchFamily="34" charset="-120"/>
              </a:rPr>
              <a:t>5</a:t>
            </a:r>
            <a:endParaRPr lang="en-US" sz="5100" dirty="0"/>
          </a:p>
        </p:txBody>
      </p:sp>
      <p:sp>
        <p:nvSpPr>
          <p:cNvPr id="5" name="Text 3"/>
          <p:cNvSpPr/>
          <p:nvPr/>
        </p:nvSpPr>
        <p:spPr>
          <a:xfrm>
            <a:off x="742950" y="1295400"/>
            <a:ext cx="4762500" cy="228600"/>
          </a:xfrm>
          <a:prstGeom prst="rect">
            <a:avLst/>
          </a:prstGeom>
          <a:noFill/>
          <a:ln/>
        </p:spPr>
        <p:txBody>
          <a:bodyPr wrap="square" lIns="0" tIns="0" rIns="0" bIns="0" rtlCol="0" anchor="ctr"/>
          <a:lstStyle/>
          <a:p>
            <a:pPr indent="0" marL="0">
              <a:buNone/>
            </a:pPr>
            <a:r>
              <a:rPr lang="en-US" sz="1150" b="1" dirty="0">
                <a:solidFill>
                  <a:srgbClr val="E8A832"/>
                </a:solidFill>
                <a:latin typeface="Courier New" pitchFamily="34" charset="0"/>
                <a:ea typeface="Courier New" pitchFamily="34" charset="-122"/>
                <a:cs typeface="Courier New" pitchFamily="34" charset="-120"/>
              </a:rPr>
              <a:t>LAUNCH GRANULARITY</a:t>
            </a:r>
            <a:endParaRPr lang="en-US" sz="1150" dirty="0"/>
          </a:p>
        </p:txBody>
      </p:sp>
      <p:sp>
        <p:nvSpPr>
          <p:cNvPr id="6" name="Text 4"/>
          <p:cNvSpPr/>
          <p:nvPr/>
        </p:nvSpPr>
        <p:spPr>
          <a:xfrm>
            <a:off x="762000" y="1600200"/>
            <a:ext cx="2857500" cy="209550"/>
          </a:xfrm>
          <a:prstGeom prst="rect">
            <a:avLst/>
          </a:prstGeom>
          <a:noFill/>
          <a:ln/>
        </p:spPr>
        <p:txBody>
          <a:bodyPr wrap="square" lIns="0" tIns="0" rIns="0" bIns="0" rtlCol="0" anchor="ctr"/>
          <a:lstStyle/>
          <a:p>
            <a:pPr indent="0" marL="0">
              <a:buNone/>
            </a:pPr>
            <a:r>
              <a:rPr lang="en-US" sz="1150" dirty="0">
                <a:solidFill>
                  <a:srgbClr val="858596"/>
                </a:solidFill>
                <a:latin typeface="Courier New" pitchFamily="34" charset="0"/>
                <a:ea typeface="Courier New" pitchFamily="34" charset="-122"/>
                <a:cs typeface="Courier New" pitchFamily="34" charset="-120"/>
              </a:rPr>
              <a:t>1000 tiny launches</a:t>
            </a:r>
            <a:endParaRPr lang="en-US" sz="1150" dirty="0"/>
          </a:p>
        </p:txBody>
      </p:sp>
      <p:sp>
        <p:nvSpPr>
          <p:cNvPr id="7" name="Shape 5"/>
          <p:cNvSpPr/>
          <p:nvPr/>
        </p:nvSpPr>
        <p:spPr>
          <a:xfrm>
            <a:off x="762000" y="1905000"/>
            <a:ext cx="133350" cy="133350"/>
          </a:xfrm>
          <a:prstGeom prst="roundRect">
            <a:avLst>
              <a:gd name="adj" fmla="val 68571"/>
            </a:avLst>
          </a:prstGeom>
          <a:solidFill>
            <a:srgbClr val="F27878"/>
          </a:solidFill>
          <a:ln w="12700">
            <a:solidFill>
              <a:srgbClr val="F27878"/>
            </a:solidFill>
            <a:prstDash val="solid"/>
          </a:ln>
        </p:spPr>
      </p:sp>
      <p:sp>
        <p:nvSpPr>
          <p:cNvPr id="8" name="Shape 6"/>
          <p:cNvSpPr/>
          <p:nvPr/>
        </p:nvSpPr>
        <p:spPr>
          <a:xfrm>
            <a:off x="952500" y="1905000"/>
            <a:ext cx="133350" cy="133350"/>
          </a:xfrm>
          <a:prstGeom prst="roundRect">
            <a:avLst>
              <a:gd name="adj" fmla="val 68571"/>
            </a:avLst>
          </a:prstGeom>
          <a:solidFill>
            <a:srgbClr val="F27878"/>
          </a:solidFill>
          <a:ln w="12700">
            <a:solidFill>
              <a:srgbClr val="F27878"/>
            </a:solidFill>
            <a:prstDash val="solid"/>
          </a:ln>
        </p:spPr>
      </p:sp>
      <p:sp>
        <p:nvSpPr>
          <p:cNvPr id="9" name="Shape 7"/>
          <p:cNvSpPr/>
          <p:nvPr/>
        </p:nvSpPr>
        <p:spPr>
          <a:xfrm>
            <a:off x="1143000" y="1905000"/>
            <a:ext cx="133350" cy="133350"/>
          </a:xfrm>
          <a:prstGeom prst="roundRect">
            <a:avLst>
              <a:gd name="adj" fmla="val 68571"/>
            </a:avLst>
          </a:prstGeom>
          <a:solidFill>
            <a:srgbClr val="F27878"/>
          </a:solidFill>
          <a:ln w="12700">
            <a:solidFill>
              <a:srgbClr val="F27878"/>
            </a:solidFill>
            <a:prstDash val="solid"/>
          </a:ln>
        </p:spPr>
      </p:sp>
      <p:sp>
        <p:nvSpPr>
          <p:cNvPr id="10" name="Shape 8"/>
          <p:cNvSpPr/>
          <p:nvPr/>
        </p:nvSpPr>
        <p:spPr>
          <a:xfrm>
            <a:off x="1333500" y="1905000"/>
            <a:ext cx="133350" cy="133350"/>
          </a:xfrm>
          <a:prstGeom prst="roundRect">
            <a:avLst>
              <a:gd name="adj" fmla="val 68571"/>
            </a:avLst>
          </a:prstGeom>
          <a:solidFill>
            <a:srgbClr val="F27878"/>
          </a:solidFill>
          <a:ln w="12700">
            <a:solidFill>
              <a:srgbClr val="F27878"/>
            </a:solidFill>
            <a:prstDash val="solid"/>
          </a:ln>
        </p:spPr>
      </p:sp>
      <p:sp>
        <p:nvSpPr>
          <p:cNvPr id="11" name="Shape 9"/>
          <p:cNvSpPr/>
          <p:nvPr/>
        </p:nvSpPr>
        <p:spPr>
          <a:xfrm>
            <a:off x="1524000" y="1905000"/>
            <a:ext cx="133350" cy="133350"/>
          </a:xfrm>
          <a:prstGeom prst="roundRect">
            <a:avLst>
              <a:gd name="adj" fmla="val 68571"/>
            </a:avLst>
          </a:prstGeom>
          <a:solidFill>
            <a:srgbClr val="F27878"/>
          </a:solidFill>
          <a:ln w="12700">
            <a:solidFill>
              <a:srgbClr val="F27878"/>
            </a:solidFill>
            <a:prstDash val="solid"/>
          </a:ln>
        </p:spPr>
      </p:sp>
      <p:sp>
        <p:nvSpPr>
          <p:cNvPr id="12" name="Shape 10"/>
          <p:cNvSpPr/>
          <p:nvPr/>
        </p:nvSpPr>
        <p:spPr>
          <a:xfrm>
            <a:off x="1714500" y="1905000"/>
            <a:ext cx="133350" cy="133350"/>
          </a:xfrm>
          <a:prstGeom prst="roundRect">
            <a:avLst>
              <a:gd name="adj" fmla="val 68571"/>
            </a:avLst>
          </a:prstGeom>
          <a:solidFill>
            <a:srgbClr val="F27878"/>
          </a:solidFill>
          <a:ln w="12700">
            <a:solidFill>
              <a:srgbClr val="F27878"/>
            </a:solidFill>
            <a:prstDash val="solid"/>
          </a:ln>
        </p:spPr>
      </p:sp>
      <p:sp>
        <p:nvSpPr>
          <p:cNvPr id="13" name="Shape 11"/>
          <p:cNvSpPr/>
          <p:nvPr/>
        </p:nvSpPr>
        <p:spPr>
          <a:xfrm>
            <a:off x="1905000" y="1905000"/>
            <a:ext cx="133350" cy="133350"/>
          </a:xfrm>
          <a:prstGeom prst="roundRect">
            <a:avLst>
              <a:gd name="adj" fmla="val 68571"/>
            </a:avLst>
          </a:prstGeom>
          <a:solidFill>
            <a:srgbClr val="F27878"/>
          </a:solidFill>
          <a:ln w="12700">
            <a:solidFill>
              <a:srgbClr val="F27878"/>
            </a:solidFill>
            <a:prstDash val="solid"/>
          </a:ln>
        </p:spPr>
      </p:sp>
      <p:sp>
        <p:nvSpPr>
          <p:cNvPr id="14" name="Shape 12"/>
          <p:cNvSpPr/>
          <p:nvPr/>
        </p:nvSpPr>
        <p:spPr>
          <a:xfrm>
            <a:off x="2095500" y="1905000"/>
            <a:ext cx="133350" cy="133350"/>
          </a:xfrm>
          <a:prstGeom prst="roundRect">
            <a:avLst>
              <a:gd name="adj" fmla="val 68571"/>
            </a:avLst>
          </a:prstGeom>
          <a:solidFill>
            <a:srgbClr val="F27878"/>
          </a:solidFill>
          <a:ln w="12700">
            <a:solidFill>
              <a:srgbClr val="F27878"/>
            </a:solidFill>
            <a:prstDash val="solid"/>
          </a:ln>
        </p:spPr>
      </p:sp>
      <p:sp>
        <p:nvSpPr>
          <p:cNvPr id="15" name="Shape 13"/>
          <p:cNvSpPr/>
          <p:nvPr/>
        </p:nvSpPr>
        <p:spPr>
          <a:xfrm>
            <a:off x="2286000" y="1905000"/>
            <a:ext cx="133350" cy="133350"/>
          </a:xfrm>
          <a:prstGeom prst="roundRect">
            <a:avLst>
              <a:gd name="adj" fmla="val 68571"/>
            </a:avLst>
          </a:prstGeom>
          <a:solidFill>
            <a:srgbClr val="F27878"/>
          </a:solidFill>
          <a:ln w="12700">
            <a:solidFill>
              <a:srgbClr val="F27878"/>
            </a:solidFill>
            <a:prstDash val="solid"/>
          </a:ln>
        </p:spPr>
      </p:sp>
      <p:sp>
        <p:nvSpPr>
          <p:cNvPr id="16" name="Shape 14"/>
          <p:cNvSpPr/>
          <p:nvPr/>
        </p:nvSpPr>
        <p:spPr>
          <a:xfrm>
            <a:off x="2476500" y="1905000"/>
            <a:ext cx="133350" cy="133350"/>
          </a:xfrm>
          <a:prstGeom prst="roundRect">
            <a:avLst>
              <a:gd name="adj" fmla="val 68571"/>
            </a:avLst>
          </a:prstGeom>
          <a:solidFill>
            <a:srgbClr val="F27878"/>
          </a:solidFill>
          <a:ln w="12700">
            <a:solidFill>
              <a:srgbClr val="F27878"/>
            </a:solidFill>
            <a:prstDash val="solid"/>
          </a:ln>
        </p:spPr>
      </p:sp>
      <p:sp>
        <p:nvSpPr>
          <p:cNvPr id="17" name="Shape 15"/>
          <p:cNvSpPr/>
          <p:nvPr/>
        </p:nvSpPr>
        <p:spPr>
          <a:xfrm>
            <a:off x="2667000" y="1905000"/>
            <a:ext cx="133350" cy="133350"/>
          </a:xfrm>
          <a:prstGeom prst="roundRect">
            <a:avLst>
              <a:gd name="adj" fmla="val 68571"/>
            </a:avLst>
          </a:prstGeom>
          <a:solidFill>
            <a:srgbClr val="F27878"/>
          </a:solidFill>
          <a:ln w="12700">
            <a:solidFill>
              <a:srgbClr val="F27878"/>
            </a:solidFill>
            <a:prstDash val="solid"/>
          </a:ln>
        </p:spPr>
      </p:sp>
      <p:sp>
        <p:nvSpPr>
          <p:cNvPr id="18" name="Shape 16"/>
          <p:cNvSpPr/>
          <p:nvPr/>
        </p:nvSpPr>
        <p:spPr>
          <a:xfrm>
            <a:off x="2857500" y="1905000"/>
            <a:ext cx="133350" cy="133350"/>
          </a:xfrm>
          <a:prstGeom prst="roundRect">
            <a:avLst>
              <a:gd name="adj" fmla="val 68571"/>
            </a:avLst>
          </a:prstGeom>
          <a:solidFill>
            <a:srgbClr val="F27878"/>
          </a:solidFill>
          <a:ln w="12700">
            <a:solidFill>
              <a:srgbClr val="F27878"/>
            </a:solidFill>
            <a:prstDash val="solid"/>
          </a:ln>
        </p:spPr>
      </p:sp>
      <p:sp>
        <p:nvSpPr>
          <p:cNvPr id="19" name="Shape 17"/>
          <p:cNvSpPr/>
          <p:nvPr/>
        </p:nvSpPr>
        <p:spPr>
          <a:xfrm>
            <a:off x="3048000" y="1905000"/>
            <a:ext cx="133350" cy="133350"/>
          </a:xfrm>
          <a:prstGeom prst="roundRect">
            <a:avLst>
              <a:gd name="adj" fmla="val 68571"/>
            </a:avLst>
          </a:prstGeom>
          <a:solidFill>
            <a:srgbClr val="F27878"/>
          </a:solidFill>
          <a:ln w="12700">
            <a:solidFill>
              <a:srgbClr val="F27878"/>
            </a:solidFill>
            <a:prstDash val="solid"/>
          </a:ln>
        </p:spPr>
      </p:sp>
      <p:sp>
        <p:nvSpPr>
          <p:cNvPr id="20" name="Shape 18"/>
          <p:cNvSpPr/>
          <p:nvPr/>
        </p:nvSpPr>
        <p:spPr>
          <a:xfrm>
            <a:off x="3238500" y="1905000"/>
            <a:ext cx="133350" cy="133350"/>
          </a:xfrm>
          <a:prstGeom prst="roundRect">
            <a:avLst>
              <a:gd name="adj" fmla="val 68571"/>
            </a:avLst>
          </a:prstGeom>
          <a:solidFill>
            <a:srgbClr val="F27878"/>
          </a:solidFill>
          <a:ln w="12700">
            <a:solidFill>
              <a:srgbClr val="F27878"/>
            </a:solidFill>
            <a:prstDash val="solid"/>
          </a:ln>
        </p:spPr>
      </p:sp>
      <p:sp>
        <p:nvSpPr>
          <p:cNvPr id="21" name="Shape 19"/>
          <p:cNvSpPr/>
          <p:nvPr/>
        </p:nvSpPr>
        <p:spPr>
          <a:xfrm>
            <a:off x="3543300" y="1847850"/>
            <a:ext cx="571500" cy="247650"/>
          </a:xfrm>
          <a:prstGeom prst="rightArrow">
            <a:avLst/>
          </a:prstGeom>
          <a:solidFill>
            <a:srgbClr val="858596"/>
          </a:solidFill>
          <a:ln w="12700">
            <a:solidFill>
              <a:srgbClr val="858596"/>
            </a:solidFill>
            <a:prstDash val="solid"/>
          </a:ln>
        </p:spPr>
      </p:sp>
      <p:sp>
        <p:nvSpPr>
          <p:cNvPr id="22" name="Text 20"/>
          <p:cNvSpPr/>
          <p:nvPr/>
        </p:nvSpPr>
        <p:spPr>
          <a:xfrm>
            <a:off x="4267200" y="1733550"/>
            <a:ext cx="1619250" cy="571500"/>
          </a:xfrm>
          <a:prstGeom prst="roundRect">
            <a:avLst>
              <a:gd name="adj" fmla="val 8000"/>
            </a:avLst>
          </a:prstGeom>
          <a:solidFill>
            <a:srgbClr val="153A34"/>
          </a:solidFill>
          <a:ln w="12700">
            <a:solidFill>
              <a:srgbClr val="3CE8B2"/>
            </a:solidFill>
          </a:ln>
        </p:spPr>
        <p:txBody>
          <a:bodyPr wrap="square" lIns="0" tIns="0" rIns="0" bIns="0" rtlCol="0" anchor="ctr"/>
          <a:lstStyle/>
          <a:p>
            <a:pPr algn="ctr" indent="0" marL="0">
              <a:buNone/>
            </a:pPr>
            <a:r>
              <a:rPr lang="en-US" sz="1500" b="1" dirty="0">
                <a:solidFill>
                  <a:srgbClr val="3CE8B2"/>
                </a:solidFill>
                <a:latin typeface="Courier New" pitchFamily="34" charset="0"/>
                <a:ea typeface="Courier New" pitchFamily="34" charset="-122"/>
                <a:cs typeface="Courier New" pitchFamily="34" charset="-120"/>
              </a:rPr>
              <a:t>BATCH</a:t>
            </a:r>
            <a:endParaRPr lang="en-US" sz="1500" dirty="0"/>
          </a:p>
          <a:p>
            <a:pPr algn="ctr" indent="0" marL="0">
              <a:buNone/>
            </a:pPr>
            <a:r>
              <a:rPr lang="en-US" sz="1500" b="1" dirty="0">
                <a:solidFill>
                  <a:srgbClr val="3CE8B2"/>
                </a:solidFill>
                <a:latin typeface="Courier New" pitchFamily="34" charset="0"/>
                <a:ea typeface="Courier New" pitchFamily="34" charset="-122"/>
                <a:cs typeface="Courier New" pitchFamily="34" charset="-120"/>
              </a:rPr>
              <a:t>+ FUSE</a:t>
            </a:r>
            <a:endParaRPr lang="en-US" sz="1500" dirty="0"/>
          </a:p>
        </p:txBody>
      </p:sp>
      <p:sp>
        <p:nvSpPr>
          <p:cNvPr id="23" name="Text 21"/>
          <p:cNvSpPr/>
          <p:nvPr/>
        </p:nvSpPr>
        <p:spPr>
          <a:xfrm>
            <a:off x="762000" y="2857500"/>
            <a:ext cx="5143500" cy="28575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Do more per launch.</a:t>
            </a:r>
            <a:endParaRPr lang="en-US" sz="1500" dirty="0"/>
          </a:p>
        </p:txBody>
      </p:sp>
      <p:sp>
        <p:nvSpPr>
          <p:cNvPr id="24" name="Shape 22"/>
          <p:cNvSpPr/>
          <p:nvPr/>
        </p:nvSpPr>
        <p:spPr>
          <a:xfrm>
            <a:off x="6172200" y="1409700"/>
            <a:ext cx="0" cy="1905000"/>
          </a:xfrm>
          <a:prstGeom prst="line">
            <a:avLst/>
          </a:prstGeom>
          <a:noFill/>
          <a:ln w="12700">
            <a:solidFill>
              <a:srgbClr val="2A2A38"/>
            </a:solidFill>
            <a:prstDash val="solid"/>
          </a:ln>
        </p:spPr>
      </p:sp>
      <p:sp>
        <p:nvSpPr>
          <p:cNvPr id="25" name="Text 23"/>
          <p:cNvSpPr/>
          <p:nvPr/>
        </p:nvSpPr>
        <p:spPr>
          <a:xfrm>
            <a:off x="6438900" y="1295400"/>
            <a:ext cx="4762500" cy="228600"/>
          </a:xfrm>
          <a:prstGeom prst="rect">
            <a:avLst/>
          </a:prstGeom>
          <a:noFill/>
          <a:ln/>
        </p:spPr>
        <p:txBody>
          <a:bodyPr wrap="square" lIns="0" tIns="0" rIns="0" bIns="0" rtlCol="0" anchor="ctr"/>
          <a:lstStyle/>
          <a:p>
            <a:pPr indent="0" marL="0">
              <a:buNone/>
            </a:pPr>
            <a:r>
              <a:rPr lang="en-US" sz="1150" b="1" dirty="0">
                <a:solidFill>
                  <a:srgbClr val="E8A832"/>
                </a:solidFill>
                <a:latin typeface="Courier New" pitchFamily="34" charset="0"/>
                <a:ea typeface="Courier New" pitchFamily="34" charset="-122"/>
                <a:cs typeface="Courier New" pitchFamily="34" charset="-120"/>
              </a:rPr>
              <a:t>PRECISION CHANGES THE BILL</a:t>
            </a:r>
            <a:endParaRPr lang="en-US" sz="1150" dirty="0"/>
          </a:p>
        </p:txBody>
      </p:sp>
      <p:sp>
        <p:nvSpPr>
          <p:cNvPr id="26" name="Text 24"/>
          <p:cNvSpPr/>
          <p:nvPr/>
        </p:nvSpPr>
        <p:spPr>
          <a:xfrm>
            <a:off x="6438900" y="1638300"/>
            <a:ext cx="609600" cy="266700"/>
          </a:xfrm>
          <a:prstGeom prst="rect">
            <a:avLst/>
          </a:prstGeom>
          <a:noFill/>
          <a:ln/>
        </p:spPr>
        <p:txBody>
          <a:bodyPr wrap="square" lIns="0" tIns="0" rIns="0" bIns="0" rtlCol="0" anchor="ctr"/>
          <a:lstStyle/>
          <a:p>
            <a:pPr indent="0" marL="0">
              <a:buNone/>
            </a:pPr>
            <a:r>
              <a:rPr lang="en-US" sz="1250" b="1" dirty="0">
                <a:solidFill>
                  <a:srgbClr val="63A4FF"/>
                </a:solidFill>
                <a:latin typeface="Courier New" pitchFamily="34" charset="0"/>
                <a:ea typeface="Courier New" pitchFamily="34" charset="-122"/>
                <a:cs typeface="Courier New" pitchFamily="34" charset="-120"/>
              </a:rPr>
              <a:t>FP64</a:t>
            </a:r>
            <a:endParaRPr lang="en-US" sz="1250" dirty="0"/>
          </a:p>
        </p:txBody>
      </p:sp>
      <p:sp>
        <p:nvSpPr>
          <p:cNvPr id="27" name="Shape 25"/>
          <p:cNvSpPr/>
          <p:nvPr/>
        </p:nvSpPr>
        <p:spPr>
          <a:xfrm>
            <a:off x="7124700" y="1638300"/>
            <a:ext cx="4191000" cy="266700"/>
          </a:xfrm>
          <a:prstGeom prst="roundRect">
            <a:avLst>
              <a:gd name="adj" fmla="val 27429"/>
            </a:avLst>
          </a:prstGeom>
          <a:solidFill>
            <a:srgbClr val="63A4FF"/>
          </a:solidFill>
          <a:ln w="12700">
            <a:solidFill>
              <a:srgbClr val="63A4FF"/>
            </a:solidFill>
            <a:prstDash val="solid"/>
          </a:ln>
        </p:spPr>
      </p:sp>
      <p:sp>
        <p:nvSpPr>
          <p:cNvPr id="28" name="Text 26"/>
          <p:cNvSpPr/>
          <p:nvPr/>
        </p:nvSpPr>
        <p:spPr>
          <a:xfrm>
            <a:off x="7219950" y="1638300"/>
            <a:ext cx="4000500" cy="266700"/>
          </a:xfrm>
          <a:prstGeom prst="rect">
            <a:avLst/>
          </a:prstGeom>
          <a:noFill/>
          <a:ln/>
        </p:spPr>
        <p:txBody>
          <a:bodyPr wrap="square" lIns="0" tIns="0" rIns="0" bIns="0" rtlCol="0" anchor="ctr"/>
          <a:lstStyle/>
          <a:p>
            <a:pPr indent="0" marL="0">
              <a:buNone/>
            </a:pPr>
            <a:r>
              <a:rPr lang="en-US" sz="1050" b="1" dirty="0">
                <a:solidFill>
                  <a:srgbClr val="0B0B10"/>
                </a:solidFill>
                <a:latin typeface="Courier New" pitchFamily="34" charset="0"/>
                <a:ea typeface="Courier New" pitchFamily="34" charset="-122"/>
                <a:cs typeface="Courier New" pitchFamily="34" charset="-120"/>
              </a:rPr>
              <a:t>8 bytes</a:t>
            </a:r>
            <a:endParaRPr lang="en-US" sz="1050" dirty="0"/>
          </a:p>
        </p:txBody>
      </p:sp>
      <p:sp>
        <p:nvSpPr>
          <p:cNvPr id="29" name="Text 27"/>
          <p:cNvSpPr/>
          <p:nvPr/>
        </p:nvSpPr>
        <p:spPr>
          <a:xfrm>
            <a:off x="6438900" y="2038350"/>
            <a:ext cx="609600" cy="266700"/>
          </a:xfrm>
          <a:prstGeom prst="rect">
            <a:avLst/>
          </a:prstGeom>
          <a:noFill/>
          <a:ln/>
        </p:spPr>
        <p:txBody>
          <a:bodyPr wrap="square" lIns="0" tIns="0" rIns="0" bIns="0" rtlCol="0" anchor="ctr"/>
          <a:lstStyle/>
          <a:p>
            <a:pPr indent="0" marL="0">
              <a:buNone/>
            </a:pPr>
            <a:r>
              <a:rPr lang="en-US" sz="1250" b="1" dirty="0">
                <a:solidFill>
                  <a:srgbClr val="6E84B5"/>
                </a:solidFill>
                <a:latin typeface="Courier New" pitchFamily="34" charset="0"/>
                <a:ea typeface="Courier New" pitchFamily="34" charset="-122"/>
                <a:cs typeface="Courier New" pitchFamily="34" charset="-120"/>
              </a:rPr>
              <a:t>FP32</a:t>
            </a:r>
            <a:endParaRPr lang="en-US" sz="1250" dirty="0"/>
          </a:p>
        </p:txBody>
      </p:sp>
      <p:sp>
        <p:nvSpPr>
          <p:cNvPr id="30" name="Shape 28"/>
          <p:cNvSpPr/>
          <p:nvPr/>
        </p:nvSpPr>
        <p:spPr>
          <a:xfrm>
            <a:off x="7124700" y="2038350"/>
            <a:ext cx="2095500" cy="266700"/>
          </a:xfrm>
          <a:prstGeom prst="roundRect">
            <a:avLst>
              <a:gd name="adj" fmla="val 27429"/>
            </a:avLst>
          </a:prstGeom>
          <a:solidFill>
            <a:srgbClr val="6E84B5"/>
          </a:solidFill>
          <a:ln w="12700">
            <a:solidFill>
              <a:srgbClr val="6E84B5"/>
            </a:solidFill>
            <a:prstDash val="solid"/>
          </a:ln>
        </p:spPr>
      </p:sp>
      <p:sp>
        <p:nvSpPr>
          <p:cNvPr id="31" name="Text 29"/>
          <p:cNvSpPr/>
          <p:nvPr/>
        </p:nvSpPr>
        <p:spPr>
          <a:xfrm>
            <a:off x="7219950" y="2038350"/>
            <a:ext cx="1905000" cy="266700"/>
          </a:xfrm>
          <a:prstGeom prst="rect">
            <a:avLst/>
          </a:prstGeom>
          <a:noFill/>
          <a:ln/>
        </p:spPr>
        <p:txBody>
          <a:bodyPr wrap="square" lIns="0" tIns="0" rIns="0" bIns="0" rtlCol="0" anchor="ctr"/>
          <a:lstStyle/>
          <a:p>
            <a:pPr indent="0" marL="0">
              <a:buNone/>
            </a:pPr>
            <a:r>
              <a:rPr lang="en-US" sz="1050" b="1" dirty="0">
                <a:solidFill>
                  <a:srgbClr val="0B0B10"/>
                </a:solidFill>
                <a:latin typeface="Courier New" pitchFamily="34" charset="0"/>
                <a:ea typeface="Courier New" pitchFamily="34" charset="-122"/>
                <a:cs typeface="Courier New" pitchFamily="34" charset="-120"/>
              </a:rPr>
              <a:t>4 bytes</a:t>
            </a:r>
            <a:endParaRPr lang="en-US" sz="1050" dirty="0"/>
          </a:p>
        </p:txBody>
      </p:sp>
      <p:sp>
        <p:nvSpPr>
          <p:cNvPr id="32" name="Text 30"/>
          <p:cNvSpPr/>
          <p:nvPr/>
        </p:nvSpPr>
        <p:spPr>
          <a:xfrm>
            <a:off x="6438900" y="2438400"/>
            <a:ext cx="609600" cy="26670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FP16</a:t>
            </a:r>
            <a:endParaRPr lang="en-US" sz="1250" dirty="0"/>
          </a:p>
        </p:txBody>
      </p:sp>
      <p:sp>
        <p:nvSpPr>
          <p:cNvPr id="33" name="Shape 31"/>
          <p:cNvSpPr/>
          <p:nvPr/>
        </p:nvSpPr>
        <p:spPr>
          <a:xfrm>
            <a:off x="7124700" y="2438400"/>
            <a:ext cx="1047750" cy="266700"/>
          </a:xfrm>
          <a:prstGeom prst="roundRect">
            <a:avLst>
              <a:gd name="adj" fmla="val 27429"/>
            </a:avLst>
          </a:prstGeom>
          <a:solidFill>
            <a:srgbClr val="3CE8B2"/>
          </a:solidFill>
          <a:ln w="12700">
            <a:solidFill>
              <a:srgbClr val="3CE8B2"/>
            </a:solidFill>
            <a:prstDash val="solid"/>
          </a:ln>
        </p:spPr>
      </p:sp>
      <p:sp>
        <p:nvSpPr>
          <p:cNvPr id="34" name="Text 32"/>
          <p:cNvSpPr/>
          <p:nvPr/>
        </p:nvSpPr>
        <p:spPr>
          <a:xfrm>
            <a:off x="7219950" y="2438400"/>
            <a:ext cx="857250" cy="266700"/>
          </a:xfrm>
          <a:prstGeom prst="rect">
            <a:avLst/>
          </a:prstGeom>
          <a:noFill/>
          <a:ln/>
        </p:spPr>
        <p:txBody>
          <a:bodyPr wrap="square" lIns="0" tIns="0" rIns="0" bIns="0" rtlCol="0" anchor="ctr"/>
          <a:lstStyle/>
          <a:p>
            <a:pPr indent="0" marL="0">
              <a:buNone/>
            </a:pPr>
            <a:r>
              <a:rPr lang="en-US" sz="1050" b="1" dirty="0">
                <a:solidFill>
                  <a:srgbClr val="0B0B10"/>
                </a:solidFill>
                <a:latin typeface="Courier New" pitchFamily="34" charset="0"/>
                <a:ea typeface="Courier New" pitchFamily="34" charset="-122"/>
                <a:cs typeface="Courier New" pitchFamily="34" charset="-120"/>
              </a:rPr>
              <a:t>2 bytes</a:t>
            </a:r>
            <a:endParaRPr lang="en-US" sz="1050" dirty="0"/>
          </a:p>
        </p:txBody>
      </p:sp>
      <p:sp>
        <p:nvSpPr>
          <p:cNvPr id="35" name="Text 33"/>
          <p:cNvSpPr/>
          <p:nvPr/>
        </p:nvSpPr>
        <p:spPr>
          <a:xfrm>
            <a:off x="6438900" y="2838450"/>
            <a:ext cx="609600" cy="266700"/>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INT8</a:t>
            </a:r>
            <a:endParaRPr lang="en-US" sz="1250" dirty="0"/>
          </a:p>
        </p:txBody>
      </p:sp>
      <p:sp>
        <p:nvSpPr>
          <p:cNvPr id="36" name="Shape 34"/>
          <p:cNvSpPr/>
          <p:nvPr/>
        </p:nvSpPr>
        <p:spPr>
          <a:xfrm>
            <a:off x="7124700" y="2838450"/>
            <a:ext cx="523875" cy="266700"/>
          </a:xfrm>
          <a:prstGeom prst="roundRect">
            <a:avLst>
              <a:gd name="adj" fmla="val 27429"/>
            </a:avLst>
          </a:prstGeom>
          <a:solidFill>
            <a:srgbClr val="E8A832"/>
          </a:solidFill>
          <a:ln w="12700">
            <a:solidFill>
              <a:srgbClr val="E8A832"/>
            </a:solidFill>
            <a:prstDash val="solid"/>
          </a:ln>
        </p:spPr>
      </p:sp>
      <p:sp>
        <p:nvSpPr>
          <p:cNvPr id="37" name="Text 35"/>
          <p:cNvSpPr/>
          <p:nvPr/>
        </p:nvSpPr>
        <p:spPr>
          <a:xfrm>
            <a:off x="7743825" y="2838450"/>
            <a:ext cx="952500" cy="266700"/>
          </a:xfrm>
          <a:prstGeom prst="rect">
            <a:avLst/>
          </a:prstGeom>
          <a:noFill/>
          <a:ln/>
        </p:spPr>
        <p:txBody>
          <a:bodyPr wrap="square" lIns="0" tIns="0" rIns="0" bIns="0" rtlCol="0" anchor="ctr"/>
          <a:lstStyle/>
          <a:p>
            <a:pPr indent="0" marL="0">
              <a:buNone/>
            </a:pPr>
            <a:r>
              <a:rPr lang="en-US" sz="1050" b="1" dirty="0">
                <a:solidFill>
                  <a:srgbClr val="E8A832"/>
                </a:solidFill>
                <a:latin typeface="Courier New" pitchFamily="34" charset="0"/>
                <a:ea typeface="Courier New" pitchFamily="34" charset="-122"/>
                <a:cs typeface="Courier New" pitchFamily="34" charset="-120"/>
              </a:rPr>
              <a:t>1 byte</a:t>
            </a:r>
            <a:endParaRPr lang="en-US" sz="1050" dirty="0"/>
          </a:p>
        </p:txBody>
      </p:sp>
      <p:sp>
        <p:nvSpPr>
          <p:cNvPr id="38" name="Shape 36"/>
          <p:cNvSpPr/>
          <p:nvPr/>
        </p:nvSpPr>
        <p:spPr>
          <a:xfrm>
            <a:off x="552450" y="3619500"/>
            <a:ext cx="5467350" cy="1905000"/>
          </a:xfrm>
          <a:prstGeom prst="roundRect">
            <a:avLst>
              <a:gd name="adj" fmla="val 2400"/>
            </a:avLst>
          </a:prstGeom>
          <a:solidFill>
            <a:srgbClr val="101018"/>
          </a:solidFill>
          <a:ln w="12700">
            <a:solidFill>
              <a:srgbClr val="2A2A38"/>
            </a:solidFill>
            <a:prstDash val="solid"/>
          </a:ln>
        </p:spPr>
      </p:sp>
      <p:sp>
        <p:nvSpPr>
          <p:cNvPr id="39" name="Text 37"/>
          <p:cNvSpPr/>
          <p:nvPr/>
        </p:nvSpPr>
        <p:spPr>
          <a:xfrm>
            <a:off x="781050" y="3752850"/>
            <a:ext cx="5010150" cy="209550"/>
          </a:xfrm>
          <a:prstGeom prst="rect">
            <a:avLst/>
          </a:prstGeom>
          <a:noFill/>
          <a:ln/>
        </p:spPr>
        <p:txBody>
          <a:bodyPr wrap="square" lIns="0" tIns="0" rIns="0" bIns="0" rtlCol="0" anchor="ctr"/>
          <a:lstStyle/>
          <a:p>
            <a:pPr indent="0" marL="0">
              <a:buNone/>
            </a:pPr>
            <a:r>
              <a:rPr lang="en-US" sz="1100" b="1" dirty="0">
                <a:solidFill>
                  <a:srgbClr val="858596"/>
                </a:solidFill>
                <a:latin typeface="Courier New" pitchFamily="34" charset="0"/>
                <a:ea typeface="Courier New" pitchFamily="34" charset="-122"/>
                <a:cs typeface="Courier New" pitchFamily="34" charset="-120"/>
              </a:rPr>
              <a:t>THE HISTORY THAT EXPLAINS IT</a:t>
            </a:r>
            <a:endParaRPr lang="en-US" sz="1100" dirty="0"/>
          </a:p>
        </p:txBody>
      </p:sp>
      <p:sp>
        <p:nvSpPr>
          <p:cNvPr id="40" name="Text 38"/>
          <p:cNvSpPr/>
          <p:nvPr/>
        </p:nvSpPr>
        <p:spPr>
          <a:xfrm>
            <a:off x="781050" y="4038600"/>
            <a:ext cx="5010150" cy="1352550"/>
          </a:xfrm>
          <a:prstGeom prst="rect">
            <a:avLst/>
          </a:prstGeom>
          <a:noFill/>
          <a:ln/>
        </p:spPr>
        <p:txBody>
          <a:bodyPr wrap="square" lIns="0" tIns="0" rIns="0" bIns="0" rtlCol="0" anchor="t"/>
          <a:lstStyle/>
          <a:p>
            <a:pPr marL="165100" indent="-165100">
              <a:lnSpc>
                <a:spcPct val="92000"/>
              </a:lnSpc>
              <a:spcAft>
                <a:spcPts val="500"/>
              </a:spcAft>
              <a:buSzPct val="100000"/>
              <a:buChar char="•"/>
            </a:pPr>
            <a:r>
              <a:rPr lang="en-US" sz="1200" dirty="0">
                <a:solidFill>
                  <a:srgbClr val="D8D8DE"/>
                </a:solidFill>
                <a:latin typeface="Calibri" pitchFamily="34" charset="0"/>
                <a:ea typeface="Calibri" pitchFamily="34" charset="-122"/>
                <a:cs typeface="Calibri" pitchFamily="34" charset="-120"/>
              </a:rPr>
              <a:t>Every launch costs microseconds of host round-trip — invisible once, ruinous a million times.</a:t>
            </a:r>
            <a:endParaRPr lang="en-US" sz="1200" dirty="0"/>
          </a:p>
          <a:p>
            <a:pPr marL="165100" indent="-165100">
              <a:lnSpc>
                <a:spcPct val="92000"/>
              </a:lnSpc>
              <a:spcAft>
                <a:spcPts val="500"/>
              </a:spcAft>
              <a:buSzPct val="100000"/>
              <a:buChar char="•"/>
            </a:pPr>
            <a:r>
              <a:rPr lang="en-US" sz="1200" dirty="0">
                <a:solidFill>
                  <a:srgbClr val="D8D8DE"/>
                </a:solidFill>
                <a:latin typeface="Calibri" pitchFamily="34" charset="0"/>
                <a:ea typeface="Calibri" pitchFamily="34" charset="-122"/>
                <a:cs typeface="Calibri" pitchFamily="34" charset="-120"/>
              </a:rPr>
              <a:t>The fixes are structural: batch the work, fuse the kernels, capture and replay the graph (CUDA Graphs).</a:t>
            </a:r>
            <a:endParaRPr lang="en-US" sz="1200" dirty="0"/>
          </a:p>
          <a:p>
            <a:pPr marL="165100" indent="-165100">
              <a:lnSpc>
                <a:spcPct val="92000"/>
              </a:lnSpc>
              <a:spcAft>
                <a:spcPts val="500"/>
              </a:spcAft>
              <a:buSzPct val="100000"/>
              <a:buChar char="•"/>
            </a:pPr>
            <a:r>
              <a:rPr lang="en-US" sz="1200" dirty="0">
                <a:solidFill>
                  <a:srgbClr val="D8D8DE"/>
                </a:solidFill>
                <a:latin typeface="Calibri" pitchFamily="34" charset="0"/>
                <a:ea typeface="Calibri" pitchFamily="34" charset="-122"/>
                <a:cs typeface="Calibri" pitchFamily="34" charset="-120"/>
              </a:rPr>
              <a:t>Tensor cores opened fast low-precision paths — FP16, INT8, INT4 — precision became a priced spectrum.</a:t>
            </a:r>
            <a:endParaRPr lang="en-US" sz="1200" dirty="0"/>
          </a:p>
        </p:txBody>
      </p:sp>
      <p:sp>
        <p:nvSpPr>
          <p:cNvPr id="41" name="Shape 39"/>
          <p:cNvSpPr/>
          <p:nvPr/>
        </p:nvSpPr>
        <p:spPr>
          <a:xfrm>
            <a:off x="6172200" y="3619500"/>
            <a:ext cx="5467350" cy="1905000"/>
          </a:xfrm>
          <a:prstGeom prst="roundRect">
            <a:avLst>
              <a:gd name="adj" fmla="val 2400"/>
            </a:avLst>
          </a:prstGeom>
          <a:solidFill>
            <a:srgbClr val="14141D"/>
          </a:solidFill>
          <a:ln w="12700">
            <a:solidFill>
              <a:srgbClr val="2A2A38"/>
            </a:solidFill>
            <a:prstDash val="solid"/>
          </a:ln>
        </p:spPr>
      </p:sp>
      <p:sp>
        <p:nvSpPr>
          <p:cNvPr id="42" name="Text 40"/>
          <p:cNvSpPr/>
          <p:nvPr/>
        </p:nvSpPr>
        <p:spPr>
          <a:xfrm>
            <a:off x="6400800" y="3752850"/>
            <a:ext cx="5010150" cy="209550"/>
          </a:xfrm>
          <a:prstGeom prst="rect">
            <a:avLst/>
          </a:prstGeom>
          <a:noFill/>
          <a:ln/>
        </p:spPr>
        <p:txBody>
          <a:bodyPr wrap="square" lIns="0" tIns="0" rIns="0" bIns="0" rtlCol="0" anchor="ctr"/>
          <a:lstStyle/>
          <a:p>
            <a:pPr indent="0" marL="0">
              <a:buNone/>
            </a:pPr>
            <a:r>
              <a:rPr lang="en-US" sz="1100" b="1" dirty="0">
                <a:solidFill>
                  <a:srgbClr val="E8A832"/>
                </a:solidFill>
                <a:latin typeface="Courier New" pitchFamily="34" charset="0"/>
                <a:ea typeface="Courier New" pitchFamily="34" charset="-122"/>
                <a:cs typeface="Courier New" pitchFamily="34" charset="-120"/>
              </a:rPr>
              <a:t>THE PRACTICE IT DEMANDS</a:t>
            </a:r>
            <a:endParaRPr lang="en-US" sz="1100" dirty="0"/>
          </a:p>
        </p:txBody>
      </p:sp>
      <p:sp>
        <p:nvSpPr>
          <p:cNvPr id="43" name="Text 41"/>
          <p:cNvSpPr/>
          <p:nvPr/>
        </p:nvSpPr>
        <p:spPr>
          <a:xfrm>
            <a:off x="6400800" y="4038600"/>
            <a:ext cx="5010150" cy="1352550"/>
          </a:xfrm>
          <a:prstGeom prst="rect">
            <a:avLst/>
          </a:prstGeom>
          <a:noFill/>
          <a:ln/>
        </p:spPr>
        <p:txBody>
          <a:bodyPr wrap="square" lIns="0" tIns="0" rIns="0" bIns="0" rtlCol="0" anchor="t"/>
          <a:lstStyle/>
          <a:p>
            <a:pPr marL="165100" indent="-165100">
              <a:lnSpc>
                <a:spcPct val="92000"/>
              </a:lnSpc>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Halve the width and the same traffic carries twice the values — precision is a data-movement dial first.</a:t>
            </a:r>
            <a:endParaRPr lang="en-US" sz="1200" dirty="0"/>
          </a:p>
          <a:p>
            <a:pPr marL="165100" indent="-165100">
              <a:lnSpc>
                <a:spcPct val="92000"/>
              </a:lnSpc>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Do not read the format list as a universal ranking. The device and the workload decide.</a:t>
            </a:r>
            <a:endParaRPr lang="en-US" sz="1200" dirty="0"/>
          </a:p>
          <a:p>
            <a:pPr marL="165100" indent="-165100">
              <a:lnSpc>
                <a:spcPct val="92000"/>
              </a:lnSpc>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Batch and fuse before you tune anything else; launch count is usually the cheaper win.</a:t>
            </a:r>
            <a:endParaRPr lang="en-US" sz="1200" dirty="0"/>
          </a:p>
        </p:txBody>
      </p:sp>
      <p:sp>
        <p:nvSpPr>
          <p:cNvPr id="44" name="Text 42"/>
          <p:cNvSpPr/>
          <p:nvPr/>
        </p:nvSpPr>
        <p:spPr>
          <a:xfrm>
            <a:off x="552450" y="5676900"/>
            <a:ext cx="11087100" cy="533400"/>
          </a:xfrm>
          <a:prstGeom prst="roundRect">
            <a:avLst>
              <a:gd name="adj" fmla="val 8571"/>
            </a:avLst>
          </a:prstGeom>
          <a:solidFill>
            <a:srgbClr val="211A0D"/>
          </a:solidFill>
          <a:ln w="12700">
            <a:solidFill>
              <a:srgbClr val="E8A832"/>
            </a:solidFill>
          </a:ln>
        </p:spPr>
        <p:txBody>
          <a:bodyPr wrap="square" lIns="0" tIns="0" rIns="0" bIns="0" rtlCol="0" anchor="ctr"/>
          <a:lstStyle/>
          <a:p>
            <a:pPr algn="ctr" indent="0" marL="0">
              <a:buNone/>
            </a:pPr>
            <a:r>
              <a:rPr lang="en-US" sz="1500" b="1" dirty="0">
                <a:solidFill>
                  <a:srgbClr val="E8A832"/>
                </a:solidFill>
                <a:latin typeface="Calibri" pitchFamily="34" charset="0"/>
                <a:ea typeface="Calibri" pitchFamily="34" charset="-122"/>
                <a:cs typeface="Calibri" pitchFamily="34" charset="-120"/>
              </a:rPr>
              <a:t>Choose precision like you choose an algorithm: deliberately, and check what the actual card provides.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52450" y="228600"/>
            <a:ext cx="8572500" cy="26670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9  ·  WHY THIS MATTERS FOR YOU</a:t>
            </a:r>
            <a:endParaRPr lang="en-US" sz="1200" dirty="0"/>
          </a:p>
        </p:txBody>
      </p:sp>
      <p:sp>
        <p:nvSpPr>
          <p:cNvPr id="3" name="Text 1"/>
          <p:cNvSpPr/>
          <p:nvPr/>
        </p:nvSpPr>
        <p:spPr>
          <a:xfrm>
            <a:off x="552450" y="523875"/>
            <a:ext cx="10287000" cy="590550"/>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Lesson 5, continued — the card class decides</a:t>
            </a:r>
            <a:endParaRPr lang="en-US" sz="2700" dirty="0"/>
          </a:p>
        </p:txBody>
      </p:sp>
      <p:sp>
        <p:nvSpPr>
          <p:cNvPr id="4" name="Text 2"/>
          <p:cNvSpPr/>
          <p:nvPr/>
        </p:nvSpPr>
        <p:spPr>
          <a:xfrm>
            <a:off x="10668000" y="190500"/>
            <a:ext cx="952500" cy="876300"/>
          </a:xfrm>
          <a:prstGeom prst="rect">
            <a:avLst/>
          </a:prstGeom>
          <a:noFill/>
          <a:ln/>
        </p:spPr>
        <p:txBody>
          <a:bodyPr wrap="square" lIns="0" tIns="0" rIns="0" bIns="0" rtlCol="0" anchor="ctr"/>
          <a:lstStyle/>
          <a:p>
            <a:pPr algn="r" indent="0" marL="0">
              <a:buNone/>
            </a:pPr>
            <a:r>
              <a:rPr lang="en-US" sz="5100" b="1" dirty="0">
                <a:solidFill>
                  <a:srgbClr val="23232F"/>
                </a:solidFill>
                <a:latin typeface="Courier New" pitchFamily="34" charset="0"/>
                <a:ea typeface="Courier New" pitchFamily="34" charset="-122"/>
                <a:cs typeface="Courier New" pitchFamily="34" charset="-120"/>
              </a:rPr>
              <a:t>5</a:t>
            </a:r>
            <a:endParaRPr lang="en-US" sz="5100" dirty="0"/>
          </a:p>
        </p:txBody>
      </p:sp>
      <p:sp>
        <p:nvSpPr>
          <p:cNvPr id="5" name="Text 3"/>
          <p:cNvSpPr/>
          <p:nvPr/>
        </p:nvSpPr>
        <p:spPr>
          <a:xfrm>
            <a:off x="742950" y="1295400"/>
            <a:ext cx="5334000" cy="228600"/>
          </a:xfrm>
          <a:prstGeom prst="rect">
            <a:avLst/>
          </a:prstGeom>
          <a:noFill/>
          <a:ln/>
        </p:spPr>
        <p:txBody>
          <a:bodyPr wrap="square" lIns="0" tIns="0" rIns="0" bIns="0" rtlCol="0" anchor="ctr"/>
          <a:lstStyle/>
          <a:p>
            <a:pPr indent="0" marL="0">
              <a:buNone/>
            </a:pPr>
            <a:r>
              <a:rPr lang="en-US" sz="1150" b="1" dirty="0">
                <a:solidFill>
                  <a:srgbClr val="E8A832"/>
                </a:solidFill>
                <a:latin typeface="Courier New" pitchFamily="34" charset="0"/>
                <a:ea typeface="Courier New" pitchFamily="34" charset="-122"/>
                <a:cs typeface="Courier New" pitchFamily="34" charset="-120"/>
              </a:rPr>
              <a:t>FP64 THROUGHPUT, AS A FRACTION OF FP32</a:t>
            </a:r>
            <a:endParaRPr lang="en-US" sz="1150" dirty="0"/>
          </a:p>
        </p:txBody>
      </p:sp>
      <p:sp>
        <p:nvSpPr>
          <p:cNvPr id="6" name="Text 4"/>
          <p:cNvSpPr/>
          <p:nvPr/>
        </p:nvSpPr>
        <p:spPr>
          <a:xfrm>
            <a:off x="742950" y="1657350"/>
            <a:ext cx="1428750" cy="247650"/>
          </a:xfrm>
          <a:prstGeom prst="rect">
            <a:avLst/>
          </a:prstGeom>
          <a:noFill/>
          <a:ln/>
        </p:spPr>
        <p:txBody>
          <a:bodyPr wrap="square" lIns="0" tIns="0" rIns="0" bIns="0" rtlCol="0" anchor="ctr"/>
          <a:lstStyle/>
          <a:p>
            <a:pPr indent="0" marL="0">
              <a:buNone/>
            </a:pPr>
            <a:r>
              <a:rPr lang="en-US" sz="1150" b="1" dirty="0">
                <a:solidFill>
                  <a:srgbClr val="63A4FF"/>
                </a:solidFill>
                <a:latin typeface="Courier New" pitchFamily="34" charset="0"/>
                <a:ea typeface="Courier New" pitchFamily="34" charset="-122"/>
                <a:cs typeface="Courier New" pitchFamily="34" charset="-120"/>
              </a:rPr>
              <a:t>DATACENTER</a:t>
            </a:r>
            <a:endParaRPr lang="en-US" sz="1150" dirty="0"/>
          </a:p>
        </p:txBody>
      </p:sp>
      <p:sp>
        <p:nvSpPr>
          <p:cNvPr id="7" name="Shape 5"/>
          <p:cNvSpPr/>
          <p:nvPr/>
        </p:nvSpPr>
        <p:spPr>
          <a:xfrm>
            <a:off x="2247900" y="1657350"/>
            <a:ext cx="2857500" cy="247650"/>
          </a:xfrm>
          <a:prstGeom prst="roundRect">
            <a:avLst>
              <a:gd name="adj" fmla="val 29538"/>
            </a:avLst>
          </a:prstGeom>
          <a:solidFill>
            <a:srgbClr val="63A4FF"/>
          </a:solidFill>
          <a:ln w="12700">
            <a:solidFill>
              <a:srgbClr val="63A4FF"/>
            </a:solidFill>
            <a:prstDash val="solid"/>
          </a:ln>
        </p:spPr>
      </p:sp>
      <p:sp>
        <p:nvSpPr>
          <p:cNvPr id="8" name="Text 6"/>
          <p:cNvSpPr/>
          <p:nvPr/>
        </p:nvSpPr>
        <p:spPr>
          <a:xfrm>
            <a:off x="5219700" y="1657350"/>
            <a:ext cx="857250" cy="247650"/>
          </a:xfrm>
          <a:prstGeom prst="rect">
            <a:avLst/>
          </a:prstGeom>
          <a:noFill/>
          <a:ln/>
        </p:spPr>
        <p:txBody>
          <a:bodyPr wrap="square" lIns="0" tIns="0" rIns="0" bIns="0" rtlCol="0" anchor="ctr"/>
          <a:lstStyle/>
          <a:p>
            <a:pPr indent="0" marL="0">
              <a:buNone/>
            </a:pPr>
            <a:r>
              <a:rPr lang="en-US" sz="1150" b="1" dirty="0">
                <a:solidFill>
                  <a:srgbClr val="63A4FF"/>
                </a:solidFill>
                <a:latin typeface="Courier New" pitchFamily="34" charset="0"/>
                <a:ea typeface="Courier New" pitchFamily="34" charset="-122"/>
                <a:cs typeface="Courier New" pitchFamily="34" charset="-120"/>
              </a:rPr>
              <a:t>≈ 1:2</a:t>
            </a:r>
            <a:endParaRPr lang="en-US" sz="1150" dirty="0"/>
          </a:p>
        </p:txBody>
      </p:sp>
      <p:sp>
        <p:nvSpPr>
          <p:cNvPr id="9" name="Text 7"/>
          <p:cNvSpPr/>
          <p:nvPr/>
        </p:nvSpPr>
        <p:spPr>
          <a:xfrm>
            <a:off x="742950" y="2076450"/>
            <a:ext cx="1428750" cy="247650"/>
          </a:xfrm>
          <a:prstGeom prst="rect">
            <a:avLst/>
          </a:prstGeom>
          <a:noFill/>
          <a:ln/>
        </p:spPr>
        <p:txBody>
          <a:bodyPr wrap="square" lIns="0" tIns="0" rIns="0" bIns="0" rtlCol="0" anchor="ctr"/>
          <a:lstStyle/>
          <a:p>
            <a:pPr indent="0" marL="0">
              <a:buNone/>
            </a:pPr>
            <a:r>
              <a:rPr lang="en-US" sz="1150" b="1" dirty="0">
                <a:solidFill>
                  <a:srgbClr val="6E84B5"/>
                </a:solidFill>
                <a:latin typeface="Courier New" pitchFamily="34" charset="0"/>
                <a:ea typeface="Courier New" pitchFamily="34" charset="-122"/>
                <a:cs typeface="Courier New" pitchFamily="34" charset="-120"/>
              </a:rPr>
              <a:t>CONSUMER</a:t>
            </a:r>
            <a:endParaRPr lang="en-US" sz="1150" dirty="0"/>
          </a:p>
        </p:txBody>
      </p:sp>
      <p:sp>
        <p:nvSpPr>
          <p:cNvPr id="10" name="Shape 8"/>
          <p:cNvSpPr/>
          <p:nvPr/>
        </p:nvSpPr>
        <p:spPr>
          <a:xfrm>
            <a:off x="2247900" y="2076450"/>
            <a:ext cx="714375" cy="247650"/>
          </a:xfrm>
          <a:prstGeom prst="roundRect">
            <a:avLst>
              <a:gd name="adj" fmla="val 29538"/>
            </a:avLst>
          </a:prstGeom>
          <a:solidFill>
            <a:srgbClr val="6E84B5"/>
          </a:solidFill>
          <a:ln w="12700">
            <a:solidFill>
              <a:srgbClr val="6E84B5"/>
            </a:solidFill>
            <a:prstDash val="solid"/>
          </a:ln>
        </p:spPr>
      </p:sp>
      <p:sp>
        <p:nvSpPr>
          <p:cNvPr id="11" name="Text 9"/>
          <p:cNvSpPr/>
          <p:nvPr/>
        </p:nvSpPr>
        <p:spPr>
          <a:xfrm>
            <a:off x="3076575" y="2076450"/>
            <a:ext cx="857250" cy="247650"/>
          </a:xfrm>
          <a:prstGeom prst="rect">
            <a:avLst/>
          </a:prstGeom>
          <a:noFill/>
          <a:ln/>
        </p:spPr>
        <p:txBody>
          <a:bodyPr wrap="square" lIns="0" tIns="0" rIns="0" bIns="0" rtlCol="0" anchor="ctr"/>
          <a:lstStyle/>
          <a:p>
            <a:pPr indent="0" marL="0">
              <a:buNone/>
            </a:pPr>
            <a:r>
              <a:rPr lang="en-US" sz="1150" b="1" dirty="0">
                <a:solidFill>
                  <a:srgbClr val="6E84B5"/>
                </a:solidFill>
                <a:latin typeface="Courier New" pitchFamily="34" charset="0"/>
                <a:ea typeface="Courier New" pitchFamily="34" charset="-122"/>
                <a:cs typeface="Courier New" pitchFamily="34" charset="-120"/>
              </a:rPr>
              <a:t>1:8</a:t>
            </a:r>
            <a:endParaRPr lang="en-US" sz="1150" dirty="0"/>
          </a:p>
        </p:txBody>
      </p:sp>
      <p:sp>
        <p:nvSpPr>
          <p:cNvPr id="12" name="Text 10"/>
          <p:cNvSpPr/>
          <p:nvPr/>
        </p:nvSpPr>
        <p:spPr>
          <a:xfrm>
            <a:off x="3667125" y="2076450"/>
            <a:ext cx="2857500" cy="247650"/>
          </a:xfrm>
          <a:prstGeom prst="rect">
            <a:avLst/>
          </a:prstGeom>
          <a:noFill/>
          <a:ln/>
        </p:spPr>
        <p:txBody>
          <a:bodyPr wrap="square" lIns="0" tIns="0" rIns="0" bIns="0" rtlCol="0" anchor="ctr"/>
          <a:lstStyle/>
          <a:p>
            <a:pPr indent="0" marL="0">
              <a:buNone/>
            </a:pPr>
            <a:r>
              <a:rPr lang="en-US" sz="1100" dirty="0">
                <a:solidFill>
                  <a:srgbClr val="858596"/>
                </a:solidFill>
                <a:latin typeface="Calibri" pitchFamily="34" charset="0"/>
                <a:ea typeface="Calibri" pitchFamily="34" charset="-122"/>
                <a:cs typeface="Calibri" pitchFamily="34" charset="-120"/>
              </a:rPr>
              <a:t>earlier generations</a:t>
            </a:r>
            <a:endParaRPr lang="en-US" sz="1100" dirty="0"/>
          </a:p>
        </p:txBody>
      </p:sp>
      <p:sp>
        <p:nvSpPr>
          <p:cNvPr id="13" name="Shape 11"/>
          <p:cNvSpPr/>
          <p:nvPr/>
        </p:nvSpPr>
        <p:spPr>
          <a:xfrm>
            <a:off x="2247900" y="2495550"/>
            <a:ext cx="180975" cy="247650"/>
          </a:xfrm>
          <a:prstGeom prst="roundRect">
            <a:avLst>
              <a:gd name="adj" fmla="val 40421"/>
            </a:avLst>
          </a:prstGeom>
          <a:solidFill>
            <a:srgbClr val="6E84B5"/>
          </a:solidFill>
          <a:ln w="12700">
            <a:solidFill>
              <a:srgbClr val="6E84B5"/>
            </a:solidFill>
            <a:prstDash val="solid"/>
          </a:ln>
        </p:spPr>
      </p:sp>
      <p:sp>
        <p:nvSpPr>
          <p:cNvPr id="14" name="Text 12"/>
          <p:cNvSpPr/>
          <p:nvPr/>
        </p:nvSpPr>
        <p:spPr>
          <a:xfrm>
            <a:off x="2543175" y="2495550"/>
            <a:ext cx="857250" cy="247650"/>
          </a:xfrm>
          <a:prstGeom prst="rect">
            <a:avLst/>
          </a:prstGeom>
          <a:noFill/>
          <a:ln/>
        </p:spPr>
        <p:txBody>
          <a:bodyPr wrap="square" lIns="0" tIns="0" rIns="0" bIns="0" rtlCol="0" anchor="ctr"/>
          <a:lstStyle/>
          <a:p>
            <a:pPr indent="0" marL="0">
              <a:buNone/>
            </a:pPr>
            <a:r>
              <a:rPr lang="en-US" sz="1150" b="1" dirty="0">
                <a:solidFill>
                  <a:srgbClr val="6E84B5"/>
                </a:solidFill>
                <a:latin typeface="Courier New" pitchFamily="34" charset="0"/>
                <a:ea typeface="Courier New" pitchFamily="34" charset="-122"/>
                <a:cs typeface="Courier New" pitchFamily="34" charset="-120"/>
              </a:rPr>
              <a:t>1:32</a:t>
            </a:r>
            <a:endParaRPr lang="en-US" sz="1150" dirty="0"/>
          </a:p>
        </p:txBody>
      </p:sp>
      <p:sp>
        <p:nvSpPr>
          <p:cNvPr id="15" name="Shape 13"/>
          <p:cNvSpPr/>
          <p:nvPr/>
        </p:nvSpPr>
        <p:spPr>
          <a:xfrm>
            <a:off x="2247900" y="2914650"/>
            <a:ext cx="95250" cy="247650"/>
          </a:xfrm>
          <a:prstGeom prst="roundRect">
            <a:avLst>
              <a:gd name="adj" fmla="val 76800"/>
            </a:avLst>
          </a:prstGeom>
          <a:solidFill>
            <a:srgbClr val="F27878"/>
          </a:solidFill>
          <a:ln w="12700">
            <a:solidFill>
              <a:srgbClr val="F27878"/>
            </a:solidFill>
            <a:prstDash val="solid"/>
          </a:ln>
        </p:spPr>
      </p:sp>
      <p:sp>
        <p:nvSpPr>
          <p:cNvPr id="16" name="Text 14"/>
          <p:cNvSpPr/>
          <p:nvPr/>
        </p:nvSpPr>
        <p:spPr>
          <a:xfrm>
            <a:off x="2457450" y="2914650"/>
            <a:ext cx="857250" cy="247650"/>
          </a:xfrm>
          <a:prstGeom prst="rect">
            <a:avLst/>
          </a:prstGeom>
          <a:noFill/>
          <a:ln/>
        </p:spPr>
        <p:txBody>
          <a:bodyPr wrap="square" lIns="0" tIns="0" rIns="0" bIns="0" rtlCol="0" anchor="ctr"/>
          <a:lstStyle/>
          <a:p>
            <a:pPr indent="0" marL="0">
              <a:buNone/>
            </a:pPr>
            <a:r>
              <a:rPr lang="en-US" sz="1150" b="1" dirty="0">
                <a:solidFill>
                  <a:srgbClr val="F27878"/>
                </a:solidFill>
                <a:latin typeface="Courier New" pitchFamily="34" charset="0"/>
                <a:ea typeface="Courier New" pitchFamily="34" charset="-122"/>
                <a:cs typeface="Courier New" pitchFamily="34" charset="-120"/>
              </a:rPr>
              <a:t>1:64</a:t>
            </a:r>
            <a:endParaRPr lang="en-US" sz="1150" dirty="0"/>
          </a:p>
        </p:txBody>
      </p:sp>
      <p:sp>
        <p:nvSpPr>
          <p:cNvPr id="17" name="Text 15"/>
          <p:cNvSpPr/>
          <p:nvPr/>
        </p:nvSpPr>
        <p:spPr>
          <a:xfrm>
            <a:off x="3048000" y="2914650"/>
            <a:ext cx="2857500" cy="247650"/>
          </a:xfrm>
          <a:prstGeom prst="rect">
            <a:avLst/>
          </a:prstGeom>
          <a:noFill/>
          <a:ln/>
        </p:spPr>
        <p:txBody>
          <a:bodyPr wrap="square" lIns="0" tIns="0" rIns="0" bIns="0" rtlCol="0" anchor="ctr"/>
          <a:lstStyle/>
          <a:p>
            <a:pPr indent="0" marL="0">
              <a:buNone/>
            </a:pPr>
            <a:r>
              <a:rPr lang="en-US" sz="1100" dirty="0">
                <a:solidFill>
                  <a:srgbClr val="858596"/>
                </a:solidFill>
                <a:latin typeface="Calibri" pitchFamily="34" charset="0"/>
                <a:ea typeface="Calibri" pitchFamily="34" charset="-122"/>
                <a:cs typeface="Calibri" pitchFamily="34" charset="-120"/>
              </a:rPr>
              <a:t>same generation, different market</a:t>
            </a:r>
            <a:endParaRPr lang="en-US" sz="1100" dirty="0"/>
          </a:p>
        </p:txBody>
      </p:sp>
      <p:sp>
        <p:nvSpPr>
          <p:cNvPr id="18" name="Shape 16"/>
          <p:cNvSpPr/>
          <p:nvPr/>
        </p:nvSpPr>
        <p:spPr>
          <a:xfrm>
            <a:off x="6286500" y="1409700"/>
            <a:ext cx="0" cy="1905000"/>
          </a:xfrm>
          <a:prstGeom prst="line">
            <a:avLst/>
          </a:prstGeom>
          <a:noFill/>
          <a:ln w="12700">
            <a:solidFill>
              <a:srgbClr val="2A2A38"/>
            </a:solidFill>
            <a:prstDash val="solid"/>
          </a:ln>
        </p:spPr>
      </p:sp>
      <p:sp>
        <p:nvSpPr>
          <p:cNvPr id="19" name="Text 17"/>
          <p:cNvSpPr/>
          <p:nvPr/>
        </p:nvSpPr>
        <p:spPr>
          <a:xfrm>
            <a:off x="6667500" y="1295400"/>
            <a:ext cx="4762500" cy="228600"/>
          </a:xfrm>
          <a:prstGeom prst="rect">
            <a:avLst/>
          </a:prstGeom>
          <a:noFill/>
          <a:ln/>
        </p:spPr>
        <p:txBody>
          <a:bodyPr wrap="square" lIns="0" tIns="0" rIns="0" bIns="0" rtlCol="0" anchor="ctr"/>
          <a:lstStyle/>
          <a:p>
            <a:pPr indent="0" marL="0">
              <a:buNone/>
            </a:pPr>
            <a:r>
              <a:rPr lang="en-US" sz="1150" b="1" dirty="0">
                <a:solidFill>
                  <a:srgbClr val="3CE8B2"/>
                </a:solidFill>
                <a:latin typeface="Courier New" pitchFamily="34" charset="0"/>
                <a:ea typeface="Courier New" pitchFamily="34" charset="-122"/>
                <a:cs typeface="Courier New" pitchFamily="34" charset="-120"/>
              </a:rPr>
              <a:t>16-BIT IS A MEMORY STORY</a:t>
            </a:r>
            <a:endParaRPr lang="en-US" sz="1150" dirty="0"/>
          </a:p>
        </p:txBody>
      </p:sp>
      <p:sp>
        <p:nvSpPr>
          <p:cNvPr id="20" name="Text 18"/>
          <p:cNvSpPr/>
          <p:nvPr/>
        </p:nvSpPr>
        <p:spPr>
          <a:xfrm>
            <a:off x="6667500" y="1714500"/>
            <a:ext cx="571500" cy="228600"/>
          </a:xfrm>
          <a:prstGeom prst="rect">
            <a:avLst/>
          </a:prstGeom>
          <a:noFill/>
          <a:ln/>
        </p:spPr>
        <p:txBody>
          <a:bodyPr wrap="square" lIns="0" tIns="0" rIns="0" bIns="0" rtlCol="0" anchor="ctr"/>
          <a:lstStyle/>
          <a:p>
            <a:pPr indent="0" marL="0">
              <a:buNone/>
            </a:pPr>
            <a:r>
              <a:rPr lang="en-US" sz="1150" b="1" dirty="0">
                <a:solidFill>
                  <a:srgbClr val="6E84B5"/>
                </a:solidFill>
                <a:latin typeface="Courier New" pitchFamily="34" charset="0"/>
                <a:ea typeface="Courier New" pitchFamily="34" charset="-122"/>
                <a:cs typeface="Courier New" pitchFamily="34" charset="-120"/>
              </a:rPr>
              <a:t>FP32</a:t>
            </a:r>
            <a:endParaRPr lang="en-US" sz="1150" dirty="0"/>
          </a:p>
        </p:txBody>
      </p:sp>
      <p:sp>
        <p:nvSpPr>
          <p:cNvPr id="21" name="Shape 19"/>
          <p:cNvSpPr/>
          <p:nvPr/>
        </p:nvSpPr>
        <p:spPr>
          <a:xfrm>
            <a:off x="6667500" y="1981200"/>
            <a:ext cx="704850" cy="323850"/>
          </a:xfrm>
          <a:prstGeom prst="roundRect">
            <a:avLst>
              <a:gd name="adj" fmla="val 22588"/>
            </a:avLst>
          </a:prstGeom>
          <a:solidFill>
            <a:srgbClr val="6E84B5"/>
          </a:solidFill>
          <a:ln w="12700">
            <a:solidFill>
              <a:srgbClr val="6E84B5"/>
            </a:solidFill>
            <a:prstDash val="solid"/>
          </a:ln>
        </p:spPr>
      </p:sp>
      <p:sp>
        <p:nvSpPr>
          <p:cNvPr id="22" name="Shape 20"/>
          <p:cNvSpPr/>
          <p:nvPr/>
        </p:nvSpPr>
        <p:spPr>
          <a:xfrm>
            <a:off x="7429500" y="1981200"/>
            <a:ext cx="704850" cy="323850"/>
          </a:xfrm>
          <a:prstGeom prst="roundRect">
            <a:avLst>
              <a:gd name="adj" fmla="val 22588"/>
            </a:avLst>
          </a:prstGeom>
          <a:solidFill>
            <a:srgbClr val="6E84B5"/>
          </a:solidFill>
          <a:ln w="12700">
            <a:solidFill>
              <a:srgbClr val="6E84B5"/>
            </a:solidFill>
            <a:prstDash val="solid"/>
          </a:ln>
        </p:spPr>
      </p:sp>
      <p:sp>
        <p:nvSpPr>
          <p:cNvPr id="23" name="Shape 21"/>
          <p:cNvSpPr/>
          <p:nvPr/>
        </p:nvSpPr>
        <p:spPr>
          <a:xfrm>
            <a:off x="8191500" y="1981200"/>
            <a:ext cx="704850" cy="323850"/>
          </a:xfrm>
          <a:prstGeom prst="roundRect">
            <a:avLst>
              <a:gd name="adj" fmla="val 22588"/>
            </a:avLst>
          </a:prstGeom>
          <a:solidFill>
            <a:srgbClr val="6E84B5"/>
          </a:solidFill>
          <a:ln w="12700">
            <a:solidFill>
              <a:srgbClr val="6E84B5"/>
            </a:solidFill>
            <a:prstDash val="solid"/>
          </a:ln>
        </p:spPr>
      </p:sp>
      <p:sp>
        <p:nvSpPr>
          <p:cNvPr id="24" name="Shape 22"/>
          <p:cNvSpPr/>
          <p:nvPr/>
        </p:nvSpPr>
        <p:spPr>
          <a:xfrm>
            <a:off x="8953500" y="1981200"/>
            <a:ext cx="704850" cy="323850"/>
          </a:xfrm>
          <a:prstGeom prst="roundRect">
            <a:avLst>
              <a:gd name="adj" fmla="val 22588"/>
            </a:avLst>
          </a:prstGeom>
          <a:solidFill>
            <a:srgbClr val="6E84B5"/>
          </a:solidFill>
          <a:ln w="12700">
            <a:solidFill>
              <a:srgbClr val="6E84B5"/>
            </a:solidFill>
            <a:prstDash val="solid"/>
          </a:ln>
        </p:spPr>
      </p:sp>
      <p:sp>
        <p:nvSpPr>
          <p:cNvPr id="25" name="Shape 23"/>
          <p:cNvSpPr/>
          <p:nvPr/>
        </p:nvSpPr>
        <p:spPr>
          <a:xfrm>
            <a:off x="9715500" y="1981200"/>
            <a:ext cx="704850" cy="323850"/>
          </a:xfrm>
          <a:prstGeom prst="roundRect">
            <a:avLst>
              <a:gd name="adj" fmla="val 22588"/>
            </a:avLst>
          </a:prstGeom>
          <a:solidFill>
            <a:srgbClr val="6E84B5"/>
          </a:solidFill>
          <a:ln w="12700">
            <a:solidFill>
              <a:srgbClr val="6E84B5"/>
            </a:solidFill>
            <a:prstDash val="solid"/>
          </a:ln>
        </p:spPr>
      </p:sp>
      <p:sp>
        <p:nvSpPr>
          <p:cNvPr id="26" name="Shape 24"/>
          <p:cNvSpPr/>
          <p:nvPr/>
        </p:nvSpPr>
        <p:spPr>
          <a:xfrm>
            <a:off x="10477500" y="1981200"/>
            <a:ext cx="704850" cy="323850"/>
          </a:xfrm>
          <a:prstGeom prst="roundRect">
            <a:avLst>
              <a:gd name="adj" fmla="val 22588"/>
            </a:avLst>
          </a:prstGeom>
          <a:solidFill>
            <a:srgbClr val="6E84B5"/>
          </a:solidFill>
          <a:ln w="12700">
            <a:solidFill>
              <a:srgbClr val="6E84B5"/>
            </a:solidFill>
            <a:prstDash val="solid"/>
          </a:ln>
        </p:spPr>
      </p:sp>
      <p:sp>
        <p:nvSpPr>
          <p:cNvPr id="27" name="Text 25"/>
          <p:cNvSpPr/>
          <p:nvPr/>
        </p:nvSpPr>
        <p:spPr>
          <a:xfrm>
            <a:off x="6667500" y="2400300"/>
            <a:ext cx="571500" cy="228600"/>
          </a:xfrm>
          <a:prstGeom prst="rect">
            <a:avLst/>
          </a:prstGeom>
          <a:noFill/>
          <a:ln/>
        </p:spPr>
        <p:txBody>
          <a:bodyPr wrap="square" lIns="0" tIns="0" rIns="0" bIns="0" rtlCol="0" anchor="ctr"/>
          <a:lstStyle/>
          <a:p>
            <a:pPr indent="0" marL="0">
              <a:buNone/>
            </a:pPr>
            <a:r>
              <a:rPr lang="en-US" sz="1150" b="1" dirty="0">
                <a:solidFill>
                  <a:srgbClr val="3CE8B2"/>
                </a:solidFill>
                <a:latin typeface="Courier New" pitchFamily="34" charset="0"/>
                <a:ea typeface="Courier New" pitchFamily="34" charset="-122"/>
                <a:cs typeface="Courier New" pitchFamily="34" charset="-120"/>
              </a:rPr>
              <a:t>FP16</a:t>
            </a:r>
            <a:endParaRPr lang="en-US" sz="1150" dirty="0"/>
          </a:p>
        </p:txBody>
      </p:sp>
      <p:sp>
        <p:nvSpPr>
          <p:cNvPr id="28" name="Shape 26"/>
          <p:cNvSpPr/>
          <p:nvPr/>
        </p:nvSpPr>
        <p:spPr>
          <a:xfrm>
            <a:off x="6667500" y="2667000"/>
            <a:ext cx="323850" cy="323850"/>
          </a:xfrm>
          <a:prstGeom prst="roundRect">
            <a:avLst>
              <a:gd name="adj" fmla="val 22588"/>
            </a:avLst>
          </a:prstGeom>
          <a:solidFill>
            <a:srgbClr val="3CE8B2"/>
          </a:solidFill>
          <a:ln w="12700">
            <a:solidFill>
              <a:srgbClr val="3CE8B2"/>
            </a:solidFill>
            <a:prstDash val="solid"/>
          </a:ln>
        </p:spPr>
      </p:sp>
      <p:sp>
        <p:nvSpPr>
          <p:cNvPr id="29" name="Shape 27"/>
          <p:cNvSpPr/>
          <p:nvPr/>
        </p:nvSpPr>
        <p:spPr>
          <a:xfrm>
            <a:off x="7048500" y="2667000"/>
            <a:ext cx="323850" cy="323850"/>
          </a:xfrm>
          <a:prstGeom prst="roundRect">
            <a:avLst>
              <a:gd name="adj" fmla="val 22588"/>
            </a:avLst>
          </a:prstGeom>
          <a:solidFill>
            <a:srgbClr val="3CE8B2"/>
          </a:solidFill>
          <a:ln w="12700">
            <a:solidFill>
              <a:srgbClr val="3CE8B2"/>
            </a:solidFill>
            <a:prstDash val="solid"/>
          </a:ln>
        </p:spPr>
      </p:sp>
      <p:sp>
        <p:nvSpPr>
          <p:cNvPr id="30" name="Shape 28"/>
          <p:cNvSpPr/>
          <p:nvPr/>
        </p:nvSpPr>
        <p:spPr>
          <a:xfrm>
            <a:off x="7429500" y="2667000"/>
            <a:ext cx="323850" cy="323850"/>
          </a:xfrm>
          <a:prstGeom prst="roundRect">
            <a:avLst>
              <a:gd name="adj" fmla="val 22588"/>
            </a:avLst>
          </a:prstGeom>
          <a:solidFill>
            <a:srgbClr val="3CE8B2"/>
          </a:solidFill>
          <a:ln w="12700">
            <a:solidFill>
              <a:srgbClr val="3CE8B2"/>
            </a:solidFill>
            <a:prstDash val="solid"/>
          </a:ln>
        </p:spPr>
      </p:sp>
      <p:sp>
        <p:nvSpPr>
          <p:cNvPr id="31" name="Shape 29"/>
          <p:cNvSpPr/>
          <p:nvPr/>
        </p:nvSpPr>
        <p:spPr>
          <a:xfrm>
            <a:off x="7810500" y="2667000"/>
            <a:ext cx="323850" cy="323850"/>
          </a:xfrm>
          <a:prstGeom prst="roundRect">
            <a:avLst>
              <a:gd name="adj" fmla="val 22588"/>
            </a:avLst>
          </a:prstGeom>
          <a:solidFill>
            <a:srgbClr val="3CE8B2"/>
          </a:solidFill>
          <a:ln w="12700">
            <a:solidFill>
              <a:srgbClr val="3CE8B2"/>
            </a:solidFill>
            <a:prstDash val="solid"/>
          </a:ln>
        </p:spPr>
      </p:sp>
      <p:sp>
        <p:nvSpPr>
          <p:cNvPr id="32" name="Shape 30"/>
          <p:cNvSpPr/>
          <p:nvPr/>
        </p:nvSpPr>
        <p:spPr>
          <a:xfrm>
            <a:off x="8191500" y="2667000"/>
            <a:ext cx="323850" cy="323850"/>
          </a:xfrm>
          <a:prstGeom prst="roundRect">
            <a:avLst>
              <a:gd name="adj" fmla="val 22588"/>
            </a:avLst>
          </a:prstGeom>
          <a:solidFill>
            <a:srgbClr val="3CE8B2"/>
          </a:solidFill>
          <a:ln w="12700">
            <a:solidFill>
              <a:srgbClr val="3CE8B2"/>
            </a:solidFill>
            <a:prstDash val="solid"/>
          </a:ln>
        </p:spPr>
      </p:sp>
      <p:sp>
        <p:nvSpPr>
          <p:cNvPr id="33" name="Shape 31"/>
          <p:cNvSpPr/>
          <p:nvPr/>
        </p:nvSpPr>
        <p:spPr>
          <a:xfrm>
            <a:off x="8572500" y="2667000"/>
            <a:ext cx="323850" cy="323850"/>
          </a:xfrm>
          <a:prstGeom prst="roundRect">
            <a:avLst>
              <a:gd name="adj" fmla="val 22588"/>
            </a:avLst>
          </a:prstGeom>
          <a:solidFill>
            <a:srgbClr val="3CE8B2"/>
          </a:solidFill>
          <a:ln w="12700">
            <a:solidFill>
              <a:srgbClr val="3CE8B2"/>
            </a:solidFill>
            <a:prstDash val="solid"/>
          </a:ln>
        </p:spPr>
      </p:sp>
      <p:sp>
        <p:nvSpPr>
          <p:cNvPr id="34" name="Shape 32"/>
          <p:cNvSpPr/>
          <p:nvPr/>
        </p:nvSpPr>
        <p:spPr>
          <a:xfrm>
            <a:off x="8953500" y="2667000"/>
            <a:ext cx="323850" cy="323850"/>
          </a:xfrm>
          <a:prstGeom prst="roundRect">
            <a:avLst>
              <a:gd name="adj" fmla="val 22588"/>
            </a:avLst>
          </a:prstGeom>
          <a:solidFill>
            <a:srgbClr val="3CE8B2"/>
          </a:solidFill>
          <a:ln w="12700">
            <a:solidFill>
              <a:srgbClr val="3CE8B2"/>
            </a:solidFill>
            <a:prstDash val="solid"/>
          </a:ln>
        </p:spPr>
      </p:sp>
      <p:sp>
        <p:nvSpPr>
          <p:cNvPr id="35" name="Shape 33"/>
          <p:cNvSpPr/>
          <p:nvPr/>
        </p:nvSpPr>
        <p:spPr>
          <a:xfrm>
            <a:off x="9334500" y="2667000"/>
            <a:ext cx="323850" cy="323850"/>
          </a:xfrm>
          <a:prstGeom prst="roundRect">
            <a:avLst>
              <a:gd name="adj" fmla="val 22588"/>
            </a:avLst>
          </a:prstGeom>
          <a:solidFill>
            <a:srgbClr val="3CE8B2"/>
          </a:solidFill>
          <a:ln w="12700">
            <a:solidFill>
              <a:srgbClr val="3CE8B2"/>
            </a:solidFill>
            <a:prstDash val="solid"/>
          </a:ln>
        </p:spPr>
      </p:sp>
      <p:sp>
        <p:nvSpPr>
          <p:cNvPr id="36" name="Shape 34"/>
          <p:cNvSpPr/>
          <p:nvPr/>
        </p:nvSpPr>
        <p:spPr>
          <a:xfrm>
            <a:off x="9715500" y="2667000"/>
            <a:ext cx="323850" cy="323850"/>
          </a:xfrm>
          <a:prstGeom prst="roundRect">
            <a:avLst>
              <a:gd name="adj" fmla="val 22588"/>
            </a:avLst>
          </a:prstGeom>
          <a:solidFill>
            <a:srgbClr val="3CE8B2"/>
          </a:solidFill>
          <a:ln w="12700">
            <a:solidFill>
              <a:srgbClr val="3CE8B2"/>
            </a:solidFill>
            <a:prstDash val="solid"/>
          </a:ln>
        </p:spPr>
      </p:sp>
      <p:sp>
        <p:nvSpPr>
          <p:cNvPr id="37" name="Shape 35"/>
          <p:cNvSpPr/>
          <p:nvPr/>
        </p:nvSpPr>
        <p:spPr>
          <a:xfrm>
            <a:off x="10096500" y="2667000"/>
            <a:ext cx="323850" cy="323850"/>
          </a:xfrm>
          <a:prstGeom prst="roundRect">
            <a:avLst>
              <a:gd name="adj" fmla="val 22588"/>
            </a:avLst>
          </a:prstGeom>
          <a:solidFill>
            <a:srgbClr val="3CE8B2"/>
          </a:solidFill>
          <a:ln w="12700">
            <a:solidFill>
              <a:srgbClr val="3CE8B2"/>
            </a:solidFill>
            <a:prstDash val="solid"/>
          </a:ln>
        </p:spPr>
      </p:sp>
      <p:sp>
        <p:nvSpPr>
          <p:cNvPr id="38" name="Shape 36"/>
          <p:cNvSpPr/>
          <p:nvPr/>
        </p:nvSpPr>
        <p:spPr>
          <a:xfrm>
            <a:off x="10477500" y="2667000"/>
            <a:ext cx="323850" cy="323850"/>
          </a:xfrm>
          <a:prstGeom prst="roundRect">
            <a:avLst>
              <a:gd name="adj" fmla="val 22588"/>
            </a:avLst>
          </a:prstGeom>
          <a:solidFill>
            <a:srgbClr val="3CE8B2"/>
          </a:solidFill>
          <a:ln w="12700">
            <a:solidFill>
              <a:srgbClr val="3CE8B2"/>
            </a:solidFill>
            <a:prstDash val="solid"/>
          </a:ln>
        </p:spPr>
      </p:sp>
      <p:sp>
        <p:nvSpPr>
          <p:cNvPr id="39" name="Shape 37"/>
          <p:cNvSpPr/>
          <p:nvPr/>
        </p:nvSpPr>
        <p:spPr>
          <a:xfrm>
            <a:off x="10858500" y="2667000"/>
            <a:ext cx="323850" cy="323850"/>
          </a:xfrm>
          <a:prstGeom prst="roundRect">
            <a:avLst>
              <a:gd name="adj" fmla="val 22588"/>
            </a:avLst>
          </a:prstGeom>
          <a:solidFill>
            <a:srgbClr val="3CE8B2"/>
          </a:solidFill>
          <a:ln w="12700">
            <a:solidFill>
              <a:srgbClr val="3CE8B2"/>
            </a:solidFill>
            <a:prstDash val="solid"/>
          </a:ln>
        </p:spPr>
      </p:sp>
      <p:sp>
        <p:nvSpPr>
          <p:cNvPr id="40" name="Text 38"/>
          <p:cNvSpPr/>
          <p:nvPr/>
        </p:nvSpPr>
        <p:spPr>
          <a:xfrm>
            <a:off x="6667500" y="3105150"/>
            <a:ext cx="4572000" cy="247650"/>
          </a:xfrm>
          <a:prstGeom prst="rect">
            <a:avLst/>
          </a:prstGeom>
          <a:noFill/>
          <a:ln/>
        </p:spPr>
        <p:txBody>
          <a:bodyPr wrap="square" lIns="0" tIns="0" rIns="0" bIns="0" rtlCol="0" anchor="ctr"/>
          <a:lstStyle/>
          <a:p>
            <a:pPr indent="0" marL="0">
              <a:buNone/>
            </a:pPr>
            <a:r>
              <a:rPr lang="en-US" sz="1250" dirty="0">
                <a:solidFill>
                  <a:srgbClr val="3CE8B2"/>
                </a:solidFill>
                <a:latin typeface="Calibri" pitchFamily="34" charset="0"/>
                <a:ea typeface="Calibri" pitchFamily="34" charset="-122"/>
                <a:cs typeface="Calibri" pitchFamily="34" charset="-120"/>
              </a:rPr>
              <a:t>one fetch, the same bytes — twice the values</a:t>
            </a:r>
            <a:endParaRPr lang="en-US" sz="1250" dirty="0"/>
          </a:p>
        </p:txBody>
      </p:sp>
      <p:sp>
        <p:nvSpPr>
          <p:cNvPr id="41" name="Shape 39"/>
          <p:cNvSpPr/>
          <p:nvPr/>
        </p:nvSpPr>
        <p:spPr>
          <a:xfrm>
            <a:off x="552450" y="3619500"/>
            <a:ext cx="5467350" cy="1905000"/>
          </a:xfrm>
          <a:prstGeom prst="roundRect">
            <a:avLst>
              <a:gd name="adj" fmla="val 2400"/>
            </a:avLst>
          </a:prstGeom>
          <a:solidFill>
            <a:srgbClr val="101018"/>
          </a:solidFill>
          <a:ln w="12700">
            <a:solidFill>
              <a:srgbClr val="2A2A38"/>
            </a:solidFill>
            <a:prstDash val="solid"/>
          </a:ln>
        </p:spPr>
      </p:sp>
      <p:sp>
        <p:nvSpPr>
          <p:cNvPr id="42" name="Text 40"/>
          <p:cNvSpPr/>
          <p:nvPr/>
        </p:nvSpPr>
        <p:spPr>
          <a:xfrm>
            <a:off x="781050" y="3752850"/>
            <a:ext cx="5010150" cy="209550"/>
          </a:xfrm>
          <a:prstGeom prst="rect">
            <a:avLst/>
          </a:prstGeom>
          <a:noFill/>
          <a:ln/>
        </p:spPr>
        <p:txBody>
          <a:bodyPr wrap="square" lIns="0" tIns="0" rIns="0" bIns="0" rtlCol="0" anchor="ctr"/>
          <a:lstStyle/>
          <a:p>
            <a:pPr indent="0" marL="0">
              <a:buNone/>
            </a:pPr>
            <a:r>
              <a:rPr lang="en-US" sz="1100" b="1" dirty="0">
                <a:solidFill>
                  <a:srgbClr val="858596"/>
                </a:solidFill>
                <a:latin typeface="Courier New" pitchFamily="34" charset="0"/>
                <a:ea typeface="Courier New" pitchFamily="34" charset="-122"/>
                <a:cs typeface="Courier New" pitchFamily="34" charset="-120"/>
              </a:rPr>
              <a:t>THE HISTORY THAT EXPLAINS IT</a:t>
            </a:r>
            <a:endParaRPr lang="en-US" sz="1100" dirty="0"/>
          </a:p>
        </p:txBody>
      </p:sp>
      <p:sp>
        <p:nvSpPr>
          <p:cNvPr id="43" name="Text 41"/>
          <p:cNvSpPr/>
          <p:nvPr/>
        </p:nvSpPr>
        <p:spPr>
          <a:xfrm>
            <a:off x="781050" y="4038600"/>
            <a:ext cx="5010150" cy="1200150"/>
          </a:xfrm>
          <a:prstGeom prst="rect">
            <a:avLst/>
          </a:prstGeom>
          <a:noFill/>
          <a:ln/>
        </p:spPr>
        <p:txBody>
          <a:bodyPr wrap="square" lIns="0" tIns="0" rIns="0" bIns="0" rtlCol="0" anchor="t"/>
          <a:lstStyle/>
          <a:p>
            <a:pPr marL="165100" indent="-165100">
              <a:lnSpc>
                <a:spcPct val="92000"/>
              </a:lnSpc>
              <a:spcAft>
                <a:spcPts val="500"/>
              </a:spcAft>
              <a:buSzPct val="100000"/>
              <a:buChar char="•"/>
            </a:pPr>
            <a:r>
              <a:rPr lang="en-US" sz="1200" dirty="0">
                <a:solidFill>
                  <a:srgbClr val="D8D8DE"/>
                </a:solidFill>
                <a:latin typeface="Calibri" pitchFamily="34" charset="0"/>
                <a:ea typeface="Calibri" pitchFamily="34" charset="-122"/>
                <a:cs typeface="Calibri" pitchFamily="34" charset="-120"/>
              </a:rPr>
              <a:t>FP64 on consumer cards was segmented deliberately — 1:8, then 1:24, 1:32, 1:64 of the FP32 rate.</a:t>
            </a:r>
            <a:endParaRPr lang="en-US" sz="1200" dirty="0"/>
          </a:p>
          <a:p>
            <a:pPr marL="165100" indent="-165100">
              <a:lnSpc>
                <a:spcPct val="92000"/>
              </a:lnSpc>
              <a:spcAft>
                <a:spcPts val="500"/>
              </a:spcAft>
              <a:buSzPct val="100000"/>
              <a:buChar char="•"/>
            </a:pPr>
            <a:r>
              <a:rPr lang="en-US" sz="1200" dirty="0">
                <a:solidFill>
                  <a:srgbClr val="D8D8DE"/>
                </a:solidFill>
                <a:latin typeface="Calibri" pitchFamily="34" charset="0"/>
                <a:ea typeface="Calibri" pitchFamily="34" charset="-122"/>
                <a:cs typeface="Calibri" pitchFamily="34" charset="-120"/>
              </a:rPr>
              <a:t>A business decision, not physics (Section 6). Datacenter parts kept FP64 near half the FP32 rate.</a:t>
            </a:r>
            <a:endParaRPr lang="en-US" sz="1200" dirty="0"/>
          </a:p>
          <a:p>
            <a:pPr marL="165100" indent="-165100">
              <a:lnSpc>
                <a:spcPct val="92000"/>
              </a:lnSpc>
              <a:spcAft>
                <a:spcPts val="500"/>
              </a:spcAft>
              <a:buSzPct val="100000"/>
              <a:buChar char="•"/>
            </a:pPr>
            <a:r>
              <a:rPr lang="en-US" sz="1200" dirty="0">
                <a:solidFill>
                  <a:srgbClr val="D8D8DE"/>
                </a:solidFill>
                <a:latin typeface="Calibri" pitchFamily="34" charset="0"/>
                <a:ea typeface="Calibri" pitchFamily="34" charset="-122"/>
                <a:cs typeface="Calibri" pitchFamily="34" charset="-120"/>
              </a:rPr>
              <a:t>The memory side moved the other way: narrower formats to carry more values per fetch.</a:t>
            </a:r>
            <a:endParaRPr lang="en-US" sz="1200" dirty="0"/>
          </a:p>
        </p:txBody>
      </p:sp>
      <p:sp>
        <p:nvSpPr>
          <p:cNvPr id="44" name="Text 42"/>
          <p:cNvSpPr/>
          <p:nvPr/>
        </p:nvSpPr>
        <p:spPr>
          <a:xfrm>
            <a:off x="781050" y="5257800"/>
            <a:ext cx="5010150" cy="190500"/>
          </a:xfrm>
          <a:prstGeom prst="rect">
            <a:avLst/>
          </a:prstGeom>
          <a:noFill/>
          <a:ln/>
        </p:spPr>
        <p:txBody>
          <a:bodyPr wrap="square" lIns="0" tIns="0" rIns="0" bIns="0" rtlCol="0" anchor="ctr"/>
          <a:lstStyle/>
          <a:p>
            <a:pPr indent="0" marL="0">
              <a:buNone/>
            </a:pPr>
            <a:r>
              <a:rPr lang="en-US" sz="1050" b="1" dirty="0">
                <a:solidFill>
                  <a:srgbClr val="6E6E82"/>
                </a:solidFill>
                <a:latin typeface="Calibri" pitchFamily="34" charset="0"/>
                <a:ea typeface="Calibri" pitchFamily="34" charset="-122"/>
                <a:cs typeface="Calibri" pitchFamily="34" charset="-120"/>
              </a:rPr>
              <a:t>→  §6 · THE FP64 MARKET SEGMENT</a:t>
            </a:r>
            <a:endParaRPr lang="en-US" sz="1050" dirty="0"/>
          </a:p>
        </p:txBody>
      </p:sp>
      <p:sp>
        <p:nvSpPr>
          <p:cNvPr id="45" name="Shape 43"/>
          <p:cNvSpPr/>
          <p:nvPr/>
        </p:nvSpPr>
        <p:spPr>
          <a:xfrm>
            <a:off x="6172200" y="3619500"/>
            <a:ext cx="5467350" cy="1905000"/>
          </a:xfrm>
          <a:prstGeom prst="roundRect">
            <a:avLst>
              <a:gd name="adj" fmla="val 2400"/>
            </a:avLst>
          </a:prstGeom>
          <a:solidFill>
            <a:srgbClr val="14141D"/>
          </a:solidFill>
          <a:ln w="12700">
            <a:solidFill>
              <a:srgbClr val="2A2A38"/>
            </a:solidFill>
            <a:prstDash val="solid"/>
          </a:ln>
        </p:spPr>
      </p:sp>
      <p:sp>
        <p:nvSpPr>
          <p:cNvPr id="46" name="Text 44"/>
          <p:cNvSpPr/>
          <p:nvPr/>
        </p:nvSpPr>
        <p:spPr>
          <a:xfrm>
            <a:off x="6400800" y="3752850"/>
            <a:ext cx="5010150" cy="209550"/>
          </a:xfrm>
          <a:prstGeom prst="rect">
            <a:avLst/>
          </a:prstGeom>
          <a:noFill/>
          <a:ln/>
        </p:spPr>
        <p:txBody>
          <a:bodyPr wrap="square" lIns="0" tIns="0" rIns="0" bIns="0" rtlCol="0" anchor="ctr"/>
          <a:lstStyle/>
          <a:p>
            <a:pPr indent="0" marL="0">
              <a:buNone/>
            </a:pPr>
            <a:r>
              <a:rPr lang="en-US" sz="1100" b="1" dirty="0">
                <a:solidFill>
                  <a:srgbClr val="E8A832"/>
                </a:solidFill>
                <a:latin typeface="Courier New" pitchFamily="34" charset="0"/>
                <a:ea typeface="Courier New" pitchFamily="34" charset="-122"/>
                <a:cs typeface="Courier New" pitchFamily="34" charset="-120"/>
              </a:rPr>
              <a:t>THE PRACTICE IT DEMANDS</a:t>
            </a:r>
            <a:endParaRPr lang="en-US" sz="1100" dirty="0"/>
          </a:p>
        </p:txBody>
      </p:sp>
      <p:sp>
        <p:nvSpPr>
          <p:cNvPr id="47" name="Text 45"/>
          <p:cNvSpPr/>
          <p:nvPr/>
        </p:nvSpPr>
        <p:spPr>
          <a:xfrm>
            <a:off x="6400800" y="4038600"/>
            <a:ext cx="5010150" cy="1352550"/>
          </a:xfrm>
          <a:prstGeom prst="rect">
            <a:avLst/>
          </a:prstGeom>
          <a:noFill/>
          <a:ln/>
        </p:spPr>
        <p:txBody>
          <a:bodyPr wrap="square" lIns="0" tIns="0" rIns="0" bIns="0" rtlCol="0" anchor="t"/>
          <a:lstStyle/>
          <a:p>
            <a:pPr marL="165100" indent="-165100">
              <a:lnSpc>
                <a:spcPct val="92000"/>
              </a:lnSpc>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If FP64 carries your work — structural dynamics, covariance solves, ill-conditioning — the card class is the first decision.</a:t>
            </a:r>
            <a:endParaRPr lang="en-US" sz="1200" dirty="0"/>
          </a:p>
          <a:p>
            <a:pPr marL="165100" indent="-165100">
              <a:lnSpc>
                <a:spcPct val="92000"/>
              </a:lnSpc>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Memory-bound? Cut bytes first, then recover accuracy where appropriate by iterative refinement.</a:t>
            </a:r>
            <a:endParaRPr lang="en-US" sz="1200" dirty="0"/>
          </a:p>
          <a:p>
            <a:pPr marL="165100" indent="-165100">
              <a:lnSpc>
                <a:spcPct val="92000"/>
              </a:lnSpc>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Check the actual ratio on the actual part. One line of the spec sheet decides the design.</a:t>
            </a:r>
            <a:endParaRPr lang="en-US" sz="1200" dirty="0"/>
          </a:p>
        </p:txBody>
      </p:sp>
      <p:sp>
        <p:nvSpPr>
          <p:cNvPr id="48" name="Text 46"/>
          <p:cNvSpPr/>
          <p:nvPr/>
        </p:nvSpPr>
        <p:spPr>
          <a:xfrm>
            <a:off x="552450" y="5676900"/>
            <a:ext cx="11087100" cy="533400"/>
          </a:xfrm>
          <a:prstGeom prst="roundRect">
            <a:avLst>
              <a:gd name="adj" fmla="val 8571"/>
            </a:avLst>
          </a:prstGeom>
          <a:solidFill>
            <a:srgbClr val="211A0D"/>
          </a:solidFill>
          <a:ln w="12700">
            <a:solidFill>
              <a:srgbClr val="E8A832"/>
            </a:solidFill>
          </a:ln>
        </p:spPr>
        <p:txBody>
          <a:bodyPr wrap="square" lIns="0" tIns="0" rIns="0" bIns="0" rtlCol="0" anchor="ctr"/>
          <a:lstStyle/>
          <a:p>
            <a:pPr algn="ctr" indent="0" marL="0">
              <a:buNone/>
            </a:pPr>
            <a:r>
              <a:rPr lang="en-US" sz="1500" b="1" dirty="0">
                <a:solidFill>
                  <a:srgbClr val="E8A832"/>
                </a:solidFill>
                <a:latin typeface="Calibri" pitchFamily="34" charset="0"/>
                <a:ea typeface="Calibri" pitchFamily="34" charset="-122"/>
                <a:cs typeface="Calibri" pitchFamily="34" charset="-120"/>
              </a:rPr>
              <a:t>Precision is priced twice — once in silicon, once in bytes. Read both price lists before you design.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52450" y="228600"/>
            <a:ext cx="8572500" cy="26670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9  ·  WHY THIS MATTERS FOR YOU</a:t>
            </a:r>
            <a:endParaRPr lang="en-US" sz="1200" dirty="0"/>
          </a:p>
        </p:txBody>
      </p:sp>
      <p:sp>
        <p:nvSpPr>
          <p:cNvPr id="3" name="Text 1"/>
          <p:cNvSpPr/>
          <p:nvPr/>
        </p:nvSpPr>
        <p:spPr>
          <a:xfrm>
            <a:off x="552450" y="523875"/>
            <a:ext cx="10287000" cy="590550"/>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Read the machine before you port</a:t>
            </a:r>
            <a:endParaRPr lang="en-US" sz="2700" dirty="0"/>
          </a:p>
        </p:txBody>
      </p:sp>
      <p:sp>
        <p:nvSpPr>
          <p:cNvPr id="4" name="Text 2"/>
          <p:cNvSpPr/>
          <p:nvPr/>
        </p:nvSpPr>
        <p:spPr>
          <a:xfrm>
            <a:off x="10668000" y="190500"/>
            <a:ext cx="952500" cy="876300"/>
          </a:xfrm>
          <a:prstGeom prst="rect">
            <a:avLst/>
          </a:prstGeom>
          <a:noFill/>
          <a:ln/>
        </p:spPr>
        <p:txBody>
          <a:bodyPr wrap="square" lIns="0" tIns="0" rIns="0" bIns="0" rtlCol="0" anchor="ctr"/>
          <a:lstStyle/>
          <a:p>
            <a:pPr algn="r" indent="0" marL="0">
              <a:buNone/>
            </a:pPr>
            <a:r>
              <a:rPr lang="en-US" sz="5100" b="1" dirty="0">
                <a:solidFill>
                  <a:srgbClr val="23232F"/>
                </a:solidFill>
                <a:latin typeface="Courier New" pitchFamily="34" charset="0"/>
                <a:ea typeface="Courier New" pitchFamily="34" charset="-122"/>
                <a:cs typeface="Courier New" pitchFamily="34" charset="-120"/>
              </a:rPr>
              <a:t>6</a:t>
            </a:r>
            <a:endParaRPr lang="en-US" sz="5100" dirty="0"/>
          </a:p>
        </p:txBody>
      </p:sp>
      <p:sp>
        <p:nvSpPr>
          <p:cNvPr id="5" name="Text 3"/>
          <p:cNvSpPr/>
          <p:nvPr/>
        </p:nvSpPr>
        <p:spPr>
          <a:xfrm>
            <a:off x="4000500" y="1257300"/>
            <a:ext cx="4191000" cy="533400"/>
          </a:xfrm>
          <a:prstGeom prst="roundRect">
            <a:avLst>
              <a:gd name="adj" fmla="val 10286"/>
            </a:avLst>
          </a:prstGeom>
          <a:solidFill>
            <a:srgbClr val="211A0D"/>
          </a:solidFill>
          <a:ln w="12700">
            <a:solidFill>
              <a:srgbClr val="E8A832"/>
            </a:solidFill>
          </a:ln>
        </p:spPr>
        <p:txBody>
          <a:bodyPr wrap="square" lIns="0" tIns="0" rIns="0" bIns="0" rtlCol="0" anchor="ctr"/>
          <a:lstStyle/>
          <a:p>
            <a:pPr algn="ctr" indent="0" marL="0">
              <a:buNone/>
            </a:pPr>
            <a:r>
              <a:rPr lang="en-US" sz="1450" b="1" dirty="0">
                <a:solidFill>
                  <a:srgbClr val="E8A832"/>
                </a:solidFill>
                <a:latin typeface="Courier New" pitchFamily="34" charset="0"/>
                <a:ea typeface="Courier New" pitchFamily="34" charset="-122"/>
                <a:cs typeface="Courier New" pitchFamily="34" charset="-120"/>
              </a:rPr>
              <a:t>WHERE IS THE KERNEL ON THE ROOFLINE?</a:t>
            </a:r>
            <a:endParaRPr lang="en-US" sz="1450" dirty="0"/>
          </a:p>
        </p:txBody>
      </p:sp>
      <p:sp>
        <p:nvSpPr>
          <p:cNvPr id="6" name="Text 4"/>
          <p:cNvSpPr/>
          <p:nvPr/>
        </p:nvSpPr>
        <p:spPr>
          <a:xfrm>
            <a:off x="904875" y="2076450"/>
            <a:ext cx="2952750" cy="22860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MEMORY-BOUND</a:t>
            </a:r>
            <a:endParaRPr lang="en-US" sz="1250" dirty="0"/>
          </a:p>
        </p:txBody>
      </p:sp>
      <p:sp>
        <p:nvSpPr>
          <p:cNvPr id="7" name="Shape 5"/>
          <p:cNvSpPr/>
          <p:nvPr/>
        </p:nvSpPr>
        <p:spPr>
          <a:xfrm>
            <a:off x="762000" y="2362200"/>
            <a:ext cx="3048000" cy="1352550"/>
          </a:xfrm>
          <a:prstGeom prst="roundRect">
            <a:avLst>
              <a:gd name="adj" fmla="val 3380"/>
            </a:avLst>
          </a:prstGeom>
          <a:solidFill>
            <a:srgbClr val="10231F"/>
          </a:solidFill>
          <a:ln w="12700">
            <a:solidFill>
              <a:srgbClr val="3CE8B2"/>
            </a:solidFill>
            <a:prstDash val="solid"/>
          </a:ln>
        </p:spPr>
      </p:sp>
      <p:sp>
        <p:nvSpPr>
          <p:cNvPr id="8" name="Text 6"/>
          <p:cNvSpPr/>
          <p:nvPr/>
        </p:nvSpPr>
        <p:spPr>
          <a:xfrm>
            <a:off x="1028700" y="2533650"/>
            <a:ext cx="2514600" cy="323850"/>
          </a:xfrm>
          <a:prstGeom prst="rect">
            <a:avLst/>
          </a:prstGeom>
          <a:noFill/>
          <a:ln/>
        </p:spPr>
        <p:txBody>
          <a:bodyPr wrap="square" lIns="0" tIns="0" rIns="0" bIns="0" rtlCol="0" anchor="ctr"/>
          <a:lstStyle/>
          <a:p>
            <a:pPr indent="0" marL="0">
              <a:buNone/>
            </a:pPr>
            <a:r>
              <a:rPr lang="en-US" sz="1800" b="1" dirty="0">
                <a:solidFill>
                  <a:srgbClr val="3CE8B2"/>
                </a:solidFill>
                <a:latin typeface="Courier New" pitchFamily="34" charset="0"/>
                <a:ea typeface="Courier New" pitchFamily="34" charset="-122"/>
                <a:cs typeface="Courier New" pitchFamily="34" charset="-120"/>
              </a:rPr>
              <a:t>CUT BYTES</a:t>
            </a:r>
            <a:endParaRPr lang="en-US" sz="1800" dirty="0"/>
          </a:p>
        </p:txBody>
      </p:sp>
      <p:sp>
        <p:nvSpPr>
          <p:cNvPr id="9" name="Text 7"/>
          <p:cNvSpPr/>
          <p:nvPr/>
        </p:nvSpPr>
        <p:spPr>
          <a:xfrm>
            <a:off x="1028700" y="2914650"/>
            <a:ext cx="2514600" cy="704850"/>
          </a:xfrm>
          <a:prstGeom prst="rect">
            <a:avLst/>
          </a:prstGeom>
          <a:noFill/>
          <a:ln/>
        </p:spPr>
        <p:txBody>
          <a:bodyPr wrap="square" lIns="0" tIns="0" rIns="0" bIns="0" rtlCol="0" anchor="ctr"/>
          <a:lstStyle/>
          <a:p>
            <a:pPr indent="0" marL="0">
              <a:lnSpc>
                <a:spcPct val="105000"/>
              </a:lnSpc>
              <a:buNone/>
            </a:pPr>
            <a:r>
              <a:rPr lang="en-US" sz="1350" dirty="0">
                <a:solidFill>
                  <a:srgbClr val="FFFFFF"/>
                </a:solidFill>
                <a:latin typeface="Calibri" pitchFamily="34" charset="0"/>
                <a:ea typeface="Calibri" pitchFamily="34" charset="-122"/>
                <a:cs typeface="Calibri" pitchFamily="34" charset="-120"/>
              </a:rPr>
              <a:t>lower precision</a:t>
            </a:r>
            <a:endParaRPr lang="en-US" sz="1350" dirty="0"/>
          </a:p>
          <a:p>
            <a:pPr indent="0" marL="0">
              <a:lnSpc>
                <a:spcPct val="105000"/>
              </a:lnSpc>
              <a:buNone/>
            </a:pPr>
            <a:r>
              <a:rPr lang="en-US" sz="1350" dirty="0">
                <a:solidFill>
                  <a:srgbClr val="FFFFFF"/>
                </a:solidFill>
                <a:latin typeface="Calibri" pitchFamily="34" charset="0"/>
                <a:ea typeface="Calibri" pitchFamily="34" charset="-122"/>
                <a:cs typeface="Calibri" pitchFamily="34" charset="-120"/>
              </a:rPr>
              <a:t>keep data resident</a:t>
            </a:r>
            <a:endParaRPr lang="en-US" sz="1350" dirty="0"/>
          </a:p>
          <a:p>
            <a:pPr indent="0" marL="0">
              <a:lnSpc>
                <a:spcPct val="105000"/>
              </a:lnSpc>
              <a:buNone/>
            </a:pPr>
            <a:r>
              <a:rPr lang="en-US" sz="1350" dirty="0">
                <a:solidFill>
                  <a:srgbClr val="FFFFFF"/>
                </a:solidFill>
                <a:latin typeface="Calibri" pitchFamily="34" charset="0"/>
                <a:ea typeface="Calibri" pitchFamily="34" charset="-122"/>
                <a:cs typeface="Calibri" pitchFamily="34" charset="-120"/>
              </a:rPr>
              <a:t>fuse nearby work</a:t>
            </a:r>
            <a:endParaRPr lang="en-US" sz="1350" dirty="0"/>
          </a:p>
        </p:txBody>
      </p:sp>
      <p:sp>
        <p:nvSpPr>
          <p:cNvPr id="10" name="Text 8"/>
          <p:cNvSpPr/>
          <p:nvPr/>
        </p:nvSpPr>
        <p:spPr>
          <a:xfrm>
            <a:off x="8524875" y="2076450"/>
            <a:ext cx="2952750" cy="228600"/>
          </a:xfrm>
          <a:prstGeom prst="rect">
            <a:avLst/>
          </a:prstGeom>
          <a:noFill/>
          <a:ln/>
        </p:spPr>
        <p:txBody>
          <a:bodyPr wrap="square" lIns="0" tIns="0" rIns="0" bIns="0" rtlCol="0" anchor="ctr"/>
          <a:lstStyle/>
          <a:p>
            <a:pPr indent="0" marL="0">
              <a:buNone/>
            </a:pPr>
            <a:r>
              <a:rPr lang="en-US" sz="1250" b="1" dirty="0">
                <a:solidFill>
                  <a:srgbClr val="63A4FF"/>
                </a:solidFill>
                <a:latin typeface="Courier New" pitchFamily="34" charset="0"/>
                <a:ea typeface="Courier New" pitchFamily="34" charset="-122"/>
                <a:cs typeface="Courier New" pitchFamily="34" charset="-120"/>
              </a:rPr>
              <a:t>COMPUTE-BOUND</a:t>
            </a:r>
            <a:endParaRPr lang="en-US" sz="1250" dirty="0"/>
          </a:p>
        </p:txBody>
      </p:sp>
      <p:sp>
        <p:nvSpPr>
          <p:cNvPr id="11" name="Shape 9"/>
          <p:cNvSpPr/>
          <p:nvPr/>
        </p:nvSpPr>
        <p:spPr>
          <a:xfrm>
            <a:off x="8382000" y="2362200"/>
            <a:ext cx="3048000" cy="1352550"/>
          </a:xfrm>
          <a:prstGeom prst="roundRect">
            <a:avLst>
              <a:gd name="adj" fmla="val 3380"/>
            </a:avLst>
          </a:prstGeom>
          <a:solidFill>
            <a:srgbClr val="111821"/>
          </a:solidFill>
          <a:ln w="12700">
            <a:solidFill>
              <a:srgbClr val="63A4FF"/>
            </a:solidFill>
            <a:prstDash val="solid"/>
          </a:ln>
        </p:spPr>
      </p:sp>
      <p:sp>
        <p:nvSpPr>
          <p:cNvPr id="12" name="Text 10"/>
          <p:cNvSpPr/>
          <p:nvPr/>
        </p:nvSpPr>
        <p:spPr>
          <a:xfrm>
            <a:off x="8648700" y="2533650"/>
            <a:ext cx="2514600" cy="323850"/>
          </a:xfrm>
          <a:prstGeom prst="rect">
            <a:avLst/>
          </a:prstGeom>
          <a:noFill/>
          <a:ln/>
        </p:spPr>
        <p:txBody>
          <a:bodyPr wrap="square" lIns="0" tIns="0" rIns="0" bIns="0" rtlCol="0" anchor="ctr"/>
          <a:lstStyle/>
          <a:p>
            <a:pPr indent="0" marL="0">
              <a:buNone/>
            </a:pPr>
            <a:r>
              <a:rPr lang="en-US" sz="1800" b="1" dirty="0">
                <a:solidFill>
                  <a:srgbClr val="63A4FF"/>
                </a:solidFill>
                <a:latin typeface="Courier New" pitchFamily="34" charset="0"/>
                <a:ea typeface="Courier New" pitchFamily="34" charset="-122"/>
                <a:cs typeface="Courier New" pitchFamily="34" charset="-120"/>
              </a:rPr>
              <a:t>MATCH THE MATH</a:t>
            </a:r>
            <a:endParaRPr lang="en-US" sz="1800" dirty="0"/>
          </a:p>
        </p:txBody>
      </p:sp>
      <p:sp>
        <p:nvSpPr>
          <p:cNvPr id="13" name="Text 11"/>
          <p:cNvSpPr/>
          <p:nvPr/>
        </p:nvSpPr>
        <p:spPr>
          <a:xfrm>
            <a:off x="8648700" y="2914650"/>
            <a:ext cx="2514600" cy="704850"/>
          </a:xfrm>
          <a:prstGeom prst="rect">
            <a:avLst/>
          </a:prstGeom>
          <a:noFill/>
          <a:ln/>
        </p:spPr>
        <p:txBody>
          <a:bodyPr wrap="square" lIns="0" tIns="0" rIns="0" bIns="0" rtlCol="0" anchor="ctr"/>
          <a:lstStyle/>
          <a:p>
            <a:pPr indent="0" marL="0">
              <a:lnSpc>
                <a:spcPct val="105000"/>
              </a:lnSpc>
              <a:buNone/>
            </a:pPr>
            <a:r>
              <a:rPr lang="en-US" sz="1350" dirty="0">
                <a:solidFill>
                  <a:srgbClr val="FFFFFF"/>
                </a:solidFill>
                <a:latin typeface="Calibri" pitchFamily="34" charset="0"/>
                <a:ea typeface="Calibri" pitchFamily="34" charset="-122"/>
                <a:cs typeface="Calibri" pitchFamily="34" charset="-120"/>
              </a:rPr>
              <a:t>library operation</a:t>
            </a:r>
            <a:endParaRPr lang="en-US" sz="1350" dirty="0"/>
          </a:p>
          <a:p>
            <a:pPr indent="0" marL="0">
              <a:lnSpc>
                <a:spcPct val="105000"/>
              </a:lnSpc>
              <a:buNone/>
            </a:pPr>
            <a:r>
              <a:rPr lang="en-US" sz="1350" dirty="0">
                <a:solidFill>
                  <a:srgbClr val="FFFFFF"/>
                </a:solidFill>
                <a:latin typeface="Calibri" pitchFamily="34" charset="0"/>
                <a:ea typeface="Calibri" pitchFamily="34" charset="-122"/>
                <a:cs typeface="Calibri" pitchFamily="34" charset="-120"/>
              </a:rPr>
              <a:t>hardware fast path</a:t>
            </a:r>
            <a:endParaRPr lang="en-US" sz="1350" dirty="0"/>
          </a:p>
          <a:p>
            <a:pPr indent="0" marL="0">
              <a:lnSpc>
                <a:spcPct val="105000"/>
              </a:lnSpc>
              <a:buNone/>
            </a:pPr>
            <a:r>
              <a:rPr lang="en-US" sz="1350" dirty="0">
                <a:solidFill>
                  <a:srgbClr val="FFFFFF"/>
                </a:solidFill>
                <a:latin typeface="Calibri" pitchFamily="34" charset="0"/>
                <a:ea typeface="Calibri" pitchFamily="34" charset="-122"/>
                <a:cs typeface="Calibri" pitchFamily="34" charset="-120"/>
              </a:rPr>
              <a:t>format support</a:t>
            </a:r>
            <a:endParaRPr lang="en-US" sz="1350" dirty="0"/>
          </a:p>
        </p:txBody>
      </p:sp>
      <p:sp>
        <p:nvSpPr>
          <p:cNvPr id="14" name="Shape 12"/>
          <p:cNvSpPr/>
          <p:nvPr/>
        </p:nvSpPr>
        <p:spPr>
          <a:xfrm>
            <a:off x="4095750" y="2362200"/>
            <a:ext cx="4000500" cy="1352550"/>
          </a:xfrm>
          <a:prstGeom prst="roundRect">
            <a:avLst>
              <a:gd name="adj" fmla="val 3380"/>
            </a:avLst>
          </a:prstGeom>
          <a:solidFill>
            <a:srgbClr val="14141D"/>
          </a:solidFill>
          <a:ln w="12700">
            <a:solidFill>
              <a:srgbClr val="2A2A38"/>
            </a:solidFill>
            <a:prstDash val="solid"/>
          </a:ln>
        </p:spPr>
      </p:sp>
      <p:sp>
        <p:nvSpPr>
          <p:cNvPr id="15" name="Text 13"/>
          <p:cNvSpPr/>
          <p:nvPr/>
        </p:nvSpPr>
        <p:spPr>
          <a:xfrm>
            <a:off x="4286250" y="2552700"/>
            <a:ext cx="3619500" cy="590550"/>
          </a:xfrm>
          <a:prstGeom prst="rect">
            <a:avLst/>
          </a:prstGeom>
          <a:noFill/>
          <a:ln/>
        </p:spPr>
        <p:txBody>
          <a:bodyPr wrap="square" lIns="0" tIns="0" rIns="0" bIns="0" rtlCol="0" anchor="ctr"/>
          <a:lstStyle/>
          <a:p>
            <a:pPr algn="ctr" indent="0" marL="0">
              <a:lnSpc>
                <a:spcPct val="105000"/>
              </a:lnSpc>
              <a:buNone/>
            </a:pPr>
            <a:r>
              <a:rPr lang="en-US" sz="1800" b="1" dirty="0">
                <a:solidFill>
                  <a:srgbClr val="FFFFFF"/>
                </a:solidFill>
                <a:latin typeface="Courier New" pitchFamily="34" charset="0"/>
                <a:ea typeface="Courier New" pitchFamily="34" charset="-122"/>
                <a:cs typeface="Courier New" pitchFamily="34" charset="-120"/>
              </a:rPr>
              <a:t>THE HISTORY GIVES</a:t>
            </a:r>
            <a:endParaRPr lang="en-US" sz="1800" dirty="0"/>
          </a:p>
          <a:p>
            <a:pPr algn="ctr" indent="0" marL="0">
              <a:lnSpc>
                <a:spcPct val="105000"/>
              </a:lnSpc>
              <a:buNone/>
            </a:pPr>
            <a:r>
              <a:rPr lang="en-US" sz="1800" b="1" dirty="0">
                <a:solidFill>
                  <a:srgbClr val="FFFFFF"/>
                </a:solidFill>
                <a:latin typeface="Courier New" pitchFamily="34" charset="0"/>
                <a:ea typeface="Courier New" pitchFamily="34" charset="-122"/>
                <a:cs typeface="Courier New" pitchFamily="34" charset="-120"/>
              </a:rPr>
              <a:t>YOU THE QUESTIONS</a:t>
            </a:r>
            <a:endParaRPr lang="en-US" sz="1800" dirty="0"/>
          </a:p>
        </p:txBody>
      </p:sp>
      <p:sp>
        <p:nvSpPr>
          <p:cNvPr id="16" name="Text 14"/>
          <p:cNvSpPr/>
          <p:nvPr/>
        </p:nvSpPr>
        <p:spPr>
          <a:xfrm>
            <a:off x="4191000" y="3238500"/>
            <a:ext cx="3810000" cy="323850"/>
          </a:xfrm>
          <a:prstGeom prst="rect">
            <a:avLst/>
          </a:prstGeom>
          <a:noFill/>
          <a:ln/>
        </p:spPr>
        <p:txBody>
          <a:bodyPr wrap="square" lIns="0" tIns="0" rIns="0" bIns="0" rtlCol="0" anchor="ctr"/>
          <a:lstStyle/>
          <a:p>
            <a:pPr algn="ctr" indent="0" marL="0">
              <a:buNone/>
            </a:pPr>
            <a:r>
              <a:rPr lang="en-US" sz="1150" dirty="0">
                <a:solidFill>
                  <a:srgbClr val="858596"/>
                </a:solidFill>
                <a:latin typeface="Calibri" pitchFamily="34" charset="0"/>
                <a:ea typeface="Calibri" pitchFamily="34" charset="-122"/>
                <a:cs typeface="Calibri" pitchFamily="34" charset="-120"/>
              </a:rPr>
              <a:t>parallelism · movement · launches · specialization · precision</a:t>
            </a:r>
            <a:endParaRPr lang="en-US" sz="1150" dirty="0"/>
          </a:p>
        </p:txBody>
      </p:sp>
      <p:sp>
        <p:nvSpPr>
          <p:cNvPr id="17" name="Text 15"/>
          <p:cNvSpPr/>
          <p:nvPr/>
        </p:nvSpPr>
        <p:spPr>
          <a:xfrm>
            <a:off x="904875" y="4000500"/>
            <a:ext cx="2952750" cy="22860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FP64-DOMINATED?</a:t>
            </a:r>
            <a:endParaRPr lang="en-US" sz="1250" dirty="0"/>
          </a:p>
        </p:txBody>
      </p:sp>
      <p:sp>
        <p:nvSpPr>
          <p:cNvPr id="18" name="Shape 16"/>
          <p:cNvSpPr/>
          <p:nvPr/>
        </p:nvSpPr>
        <p:spPr>
          <a:xfrm>
            <a:off x="762000" y="4286250"/>
            <a:ext cx="3048000" cy="1123950"/>
          </a:xfrm>
          <a:prstGeom prst="roundRect">
            <a:avLst>
              <a:gd name="adj" fmla="val 4068"/>
            </a:avLst>
          </a:prstGeom>
          <a:solidFill>
            <a:srgbClr val="14141D"/>
          </a:solidFill>
          <a:ln w="12700">
            <a:solidFill>
              <a:srgbClr val="3CE8B2"/>
            </a:solidFill>
            <a:prstDash val="solid"/>
          </a:ln>
        </p:spPr>
      </p:sp>
      <p:sp>
        <p:nvSpPr>
          <p:cNvPr id="19" name="Text 17"/>
          <p:cNvSpPr/>
          <p:nvPr/>
        </p:nvSpPr>
        <p:spPr>
          <a:xfrm>
            <a:off x="1028700" y="4438650"/>
            <a:ext cx="2514600" cy="81915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Calibri" pitchFamily="34" charset="0"/>
                <a:ea typeface="Calibri" pitchFamily="34" charset="-122"/>
                <a:cs typeface="Calibri" pitchFamily="34" charset="-120"/>
              </a:rPr>
              <a:t>Check the ratio.</a:t>
            </a:r>
            <a:endParaRPr lang="en-US" sz="1400" dirty="0"/>
          </a:p>
          <a:p>
            <a:pPr indent="0" marL="0">
              <a:lnSpc>
                <a:spcPct val="110000"/>
              </a:lnSpc>
              <a:buNone/>
            </a:pPr>
            <a:r>
              <a:rPr lang="en-US" sz="1400" b="1" dirty="0">
                <a:solidFill>
                  <a:srgbClr val="FFFFFF"/>
                </a:solidFill>
                <a:latin typeface="Calibri" pitchFamily="34" charset="0"/>
                <a:ea typeface="Calibri" pitchFamily="34" charset="-122"/>
                <a:cs typeface="Calibri" pitchFamily="34" charset="-120"/>
              </a:rPr>
              <a:t>Choose the product class.</a:t>
            </a:r>
            <a:endParaRPr lang="en-US" sz="1400" dirty="0"/>
          </a:p>
        </p:txBody>
      </p:sp>
      <p:sp>
        <p:nvSpPr>
          <p:cNvPr id="20" name="Text 18"/>
          <p:cNvSpPr/>
          <p:nvPr/>
        </p:nvSpPr>
        <p:spPr>
          <a:xfrm>
            <a:off x="8524875" y="4000500"/>
            <a:ext cx="2952750" cy="228600"/>
          </a:xfrm>
          <a:prstGeom prst="rect">
            <a:avLst/>
          </a:prstGeom>
          <a:noFill/>
          <a:ln/>
        </p:spPr>
        <p:txBody>
          <a:bodyPr wrap="square" lIns="0" tIns="0" rIns="0" bIns="0" rtlCol="0" anchor="ctr"/>
          <a:lstStyle/>
          <a:p>
            <a:pPr indent="0" marL="0">
              <a:buNone/>
            </a:pPr>
            <a:r>
              <a:rPr lang="en-US" sz="1250" b="1" dirty="0">
                <a:solidFill>
                  <a:srgbClr val="63A4FF"/>
                </a:solidFill>
                <a:latin typeface="Courier New" pitchFamily="34" charset="0"/>
                <a:ea typeface="Courier New" pitchFamily="34" charset="-122"/>
                <a:cs typeface="Courier New" pitchFamily="34" charset="-120"/>
              </a:rPr>
              <a:t>COMMON OPERATION?</a:t>
            </a:r>
            <a:endParaRPr lang="en-US" sz="1250" dirty="0"/>
          </a:p>
        </p:txBody>
      </p:sp>
      <p:sp>
        <p:nvSpPr>
          <p:cNvPr id="21" name="Shape 19"/>
          <p:cNvSpPr/>
          <p:nvPr/>
        </p:nvSpPr>
        <p:spPr>
          <a:xfrm>
            <a:off x="8382000" y="4286250"/>
            <a:ext cx="3048000" cy="1123950"/>
          </a:xfrm>
          <a:prstGeom prst="roundRect">
            <a:avLst>
              <a:gd name="adj" fmla="val 4068"/>
            </a:avLst>
          </a:prstGeom>
          <a:solidFill>
            <a:srgbClr val="14141D"/>
          </a:solidFill>
          <a:ln w="12700">
            <a:solidFill>
              <a:srgbClr val="63A4FF"/>
            </a:solidFill>
            <a:prstDash val="solid"/>
          </a:ln>
        </p:spPr>
      </p:sp>
      <p:sp>
        <p:nvSpPr>
          <p:cNvPr id="22" name="Text 20"/>
          <p:cNvSpPr/>
          <p:nvPr/>
        </p:nvSpPr>
        <p:spPr>
          <a:xfrm>
            <a:off x="8648700" y="4438650"/>
            <a:ext cx="2514600" cy="81915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Calibri" pitchFamily="34" charset="0"/>
                <a:ea typeface="Calibri" pitchFamily="34" charset="-122"/>
                <a:cs typeface="Calibri" pitchFamily="34" charset="-120"/>
              </a:rPr>
              <a:t>Call the library first.</a:t>
            </a:r>
            <a:endParaRPr lang="en-US" sz="1400" dirty="0"/>
          </a:p>
          <a:p>
            <a:pPr indent="0" marL="0">
              <a:lnSpc>
                <a:spcPct val="110000"/>
              </a:lnSpc>
              <a:buNone/>
            </a:pPr>
            <a:r>
              <a:rPr lang="en-US" sz="1400" b="1" dirty="0">
                <a:solidFill>
                  <a:srgbClr val="FFFFFF"/>
                </a:solidFill>
                <a:latin typeface="Calibri" pitchFamily="34" charset="0"/>
                <a:ea typeface="Calibri" pitchFamily="34" charset="-122"/>
                <a:cs typeface="Calibri" pitchFamily="34" charset="-120"/>
              </a:rPr>
              <a:t>Write custom glue second.</a:t>
            </a:r>
            <a:endParaRPr lang="en-US" sz="1400" dirty="0"/>
          </a:p>
        </p:txBody>
      </p:sp>
      <p:sp>
        <p:nvSpPr>
          <p:cNvPr id="23" name="Shape 21"/>
          <p:cNvSpPr/>
          <p:nvPr/>
        </p:nvSpPr>
        <p:spPr>
          <a:xfrm>
            <a:off x="4095750" y="4286250"/>
            <a:ext cx="4000500" cy="1123950"/>
          </a:xfrm>
          <a:prstGeom prst="roundRect">
            <a:avLst>
              <a:gd name="adj" fmla="val 4068"/>
            </a:avLst>
          </a:prstGeom>
          <a:solidFill>
            <a:srgbClr val="211A0D"/>
          </a:solidFill>
          <a:ln w="12700">
            <a:solidFill>
              <a:srgbClr val="E8A832"/>
            </a:solidFill>
            <a:prstDash val="solid"/>
          </a:ln>
        </p:spPr>
      </p:sp>
      <p:sp>
        <p:nvSpPr>
          <p:cNvPr id="24" name="Text 22"/>
          <p:cNvSpPr/>
          <p:nvPr/>
        </p:nvSpPr>
        <p:spPr>
          <a:xfrm>
            <a:off x="4286250" y="4438650"/>
            <a:ext cx="3619500" cy="819150"/>
          </a:xfrm>
          <a:prstGeom prst="rect">
            <a:avLst/>
          </a:prstGeom>
          <a:noFill/>
          <a:ln/>
        </p:spPr>
        <p:txBody>
          <a:bodyPr wrap="square" lIns="0" tIns="0" rIns="0" bIns="0" rtlCol="0" anchor="ctr"/>
          <a:lstStyle/>
          <a:p>
            <a:pPr algn="ctr" indent="0" marL="0">
              <a:lnSpc>
                <a:spcPct val="110000"/>
              </a:lnSpc>
              <a:buNone/>
            </a:pPr>
            <a:r>
              <a:rPr lang="en-US" sz="1700" b="1" dirty="0">
                <a:solidFill>
                  <a:srgbClr val="E8A832"/>
                </a:solidFill>
                <a:latin typeface="Courier New" pitchFamily="34" charset="0"/>
                <a:ea typeface="Courier New" pitchFamily="34" charset="-122"/>
                <a:cs typeface="Courier New" pitchFamily="34" charset="-120"/>
              </a:rPr>
              <a:t>MEASURE</a:t>
            </a:r>
            <a:endParaRPr lang="en-US" sz="1700" dirty="0"/>
          </a:p>
          <a:p>
            <a:pPr algn="ctr" indent="0" marL="0">
              <a:lnSpc>
                <a:spcPct val="110000"/>
              </a:lnSpc>
              <a:buNone/>
            </a:pPr>
            <a:r>
              <a:rPr lang="en-US" sz="1700" b="1" dirty="0">
                <a:solidFill>
                  <a:srgbClr val="E8A832"/>
                </a:solidFill>
                <a:latin typeface="Courier New" pitchFamily="34" charset="0"/>
                <a:ea typeface="Courier New" pitchFamily="34" charset="-122"/>
                <a:cs typeface="Courier New" pitchFamily="34" charset="-120"/>
              </a:rPr>
              <a:t>BEFORE YOU MOVE</a:t>
            </a:r>
            <a:endParaRPr lang="en-US" sz="1700" dirty="0"/>
          </a:p>
        </p:txBody>
      </p:sp>
      <p:sp>
        <p:nvSpPr>
          <p:cNvPr id="25" name="Shape 23"/>
          <p:cNvSpPr/>
          <p:nvPr/>
        </p:nvSpPr>
        <p:spPr>
          <a:xfrm>
            <a:off x="3838575" y="2943225"/>
            <a:ext cx="228600" cy="190500"/>
          </a:xfrm>
          <a:prstGeom prst="rightArrow">
            <a:avLst/>
          </a:prstGeom>
          <a:solidFill>
            <a:srgbClr val="3CE8B2"/>
          </a:solidFill>
          <a:ln w="12700">
            <a:solidFill>
              <a:srgbClr val="3CE8B2"/>
            </a:solidFill>
            <a:prstDash val="solid"/>
          </a:ln>
        </p:spPr>
      </p:sp>
      <p:sp>
        <p:nvSpPr>
          <p:cNvPr id="26" name="Shape 24"/>
          <p:cNvSpPr/>
          <p:nvPr/>
        </p:nvSpPr>
        <p:spPr>
          <a:xfrm>
            <a:off x="8124825" y="2943225"/>
            <a:ext cx="228600" cy="190500"/>
          </a:xfrm>
          <a:prstGeom prst="rightArrow">
            <a:avLst/>
          </a:prstGeom>
          <a:solidFill>
            <a:srgbClr val="63A4FF"/>
          </a:solidFill>
          <a:ln w="12700">
            <a:solidFill>
              <a:srgbClr val="63A4FF"/>
            </a:solidFill>
            <a:prstDash val="solid"/>
          </a:ln>
        </p:spPr>
      </p:sp>
      <p:sp>
        <p:nvSpPr>
          <p:cNvPr id="27" name="Shape 25"/>
          <p:cNvSpPr/>
          <p:nvPr/>
        </p:nvSpPr>
        <p:spPr>
          <a:xfrm>
            <a:off x="3838575" y="4752975"/>
            <a:ext cx="228600" cy="190500"/>
          </a:xfrm>
          <a:prstGeom prst="rightArrow">
            <a:avLst/>
          </a:prstGeom>
          <a:solidFill>
            <a:srgbClr val="3CE8B2"/>
          </a:solidFill>
          <a:ln w="12700">
            <a:solidFill>
              <a:srgbClr val="3CE8B2"/>
            </a:solidFill>
            <a:prstDash val="solid"/>
          </a:ln>
        </p:spPr>
      </p:sp>
      <p:sp>
        <p:nvSpPr>
          <p:cNvPr id="28" name="Shape 26"/>
          <p:cNvSpPr/>
          <p:nvPr/>
        </p:nvSpPr>
        <p:spPr>
          <a:xfrm>
            <a:off x="8124825" y="4752975"/>
            <a:ext cx="228600" cy="190500"/>
          </a:xfrm>
          <a:prstGeom prst="rightArrow">
            <a:avLst/>
          </a:prstGeom>
          <a:solidFill>
            <a:srgbClr val="63A4FF"/>
          </a:solidFill>
          <a:ln w="12700">
            <a:solidFill>
              <a:srgbClr val="63A4FF"/>
            </a:solidFill>
            <a:prstDash val="solid"/>
          </a:ln>
        </p:spPr>
      </p:sp>
      <p:sp>
        <p:nvSpPr>
          <p:cNvPr id="29" name="Text 27"/>
          <p:cNvSpPr/>
          <p:nvPr/>
        </p:nvSpPr>
        <p:spPr>
          <a:xfrm>
            <a:off x="552450" y="5676900"/>
            <a:ext cx="11087100" cy="533400"/>
          </a:xfrm>
          <a:prstGeom prst="roundRect">
            <a:avLst>
              <a:gd name="adj" fmla="val 8571"/>
            </a:avLst>
          </a:prstGeom>
          <a:solidFill>
            <a:srgbClr val="211A0D"/>
          </a:solidFill>
          <a:ln w="12700">
            <a:solidFill>
              <a:srgbClr val="E8A832"/>
            </a:solidFill>
          </a:ln>
        </p:spPr>
        <p:txBody>
          <a:bodyPr wrap="square" lIns="0" tIns="0" rIns="0" bIns="0" rtlCol="0" anchor="ctr"/>
          <a:lstStyle/>
          <a:p>
            <a:pPr algn="ctr" indent="0" marL="0">
              <a:buNone/>
            </a:pPr>
            <a:r>
              <a:rPr lang="en-US" sz="1500" b="1" dirty="0">
                <a:solidFill>
                  <a:srgbClr val="E8A832"/>
                </a:solidFill>
                <a:latin typeface="Calibri" pitchFamily="34" charset="0"/>
                <a:ea typeface="Calibri" pitchFamily="34" charset="-122"/>
                <a:cs typeface="Calibri" pitchFamily="34" charset="-120"/>
              </a:rPr>
              <a:t>The history stops here. The porting conversation starts with better questions.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Section 9 - Why This Matters For You</dc:title>
  <dc:subject>PptxGenJS Presentation</dc:subject>
  <dc:creator>GPU Computing History</dc:creator>
  <cp:lastModifiedBy>GPU Computing History</cp:lastModifiedBy>
  <cp:revision>1</cp:revision>
  <dcterms:created xsi:type="dcterms:W3CDTF">2026-07-23T06:00:20Z</dcterms:created>
  <dcterms:modified xsi:type="dcterms:W3CDTF">2026-07-23T06:00:20Z</dcterms:modified>
</cp:coreProperties>
</file>