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every seminar so far presented a rabbit hole. Tonight the main scroll catches up with them - Sections 8 and 9 are where the holes converge. The three rows are the whole arc in one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slide - the audience has seen all of this in pieces. The point is the shape: one motion. Every prior seminar sits somewhere on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card (FEEDABLE) is the rabbit-hole contribution - the main text gives two conditions, the tensor-core note adds the third. It pays off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 N chip is the document's own note button - this is the Section 8 note added this week. If anyone wants the precision story or the tiling detail, open the note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demystifying slide: a tensor core is not exotic - it is exactly this arithmetic, hardwired. Walk one line aloud (d11 takes A's row 1 against B's column 1, plus the accumulator). Point at the reuse: a11 appears in two equations - at n=4 each value appears four times, which is the n-squared-data / n-cubed-work argument made visible. In half precision the products are computed narrow; the + before c is done wide - that is the precision bargain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slide between the written-out 2x2 and the real workload. Walk it: to build the upper-right block of D you sweep row 1 of A against column 2 of B - the same row-against-column rule as scalars, one level up. Each block product is ONE tensor-core step (the previous slide, sixteen boards at once); the running sum is carried by the +C accumulator port between passes - emphasize that the accumulator input exists in the hardware precisely so tiles can chain. Count check: 4 result blocks x 2 passes = 8 MMA steps x 64 MACs = 512 = 8 cubed. At half precision the products are narrow and T rides wide - the precision bargain protects exactly this running 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question the tiling slide raises. Three layers: the library kernel is the strategist (this is the real content of Lesson 3 - you are not buying multiplications, you are buying a data-movement schedule that took experts months); the SM schedulers are the executors (warp-wide MMA, latency hiding by interleaving); the tensor core is deliberately dumb. Right cards: the schedule IS a residency design (Lesson 4), and the frame-level version is the same pattern. The closing line is the heterogeneous machine in one sentence - it also sets up the DLSS and heterogeneous slides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natural misconception that blocks are physically taken apart and glued back. Two recompositions, neither a step: the K-direction partials chain in the register file via the +C accumulator port (T never touches memory; one store when final), and the spatial layout reassembles by store addresses into the one flat D array (blocking is a view, not a copy - the mdspan concept). The cost argument makes it forced: n-squared stores are free against n-cubed work only if written once. Good Q&amp;A comeback: 'the questioner who asks this is one index-arithmetic sentence away from understanding the whole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Completes the matmul arc by crossing the bus. The break-even arithmetic behind the illustrative claim: transfer 3n^2 x 4 bytes at ~50 GB/s vs 2n^3 flops at ~50 TFLOP/s -&gt; equal near n ~ 6000; below that a one-shot round trip is transfer-dominated (numbers are order-of-magnitude, hardware-dependent - say so if pressed; the companion Roofline lab is where they measure it themselves). The three cards are a decision tree the audience can reuse: chain / reduce / overlap. cuBLAS's device-pointer API is the cultural artifact: the library's signature teaches residency.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Wrong turns matter: the NV1 is the document's canonical wrong turn, and it comes back twice - as the triangle's victory here, and as the patch's vindication in the tessellation stage (From Weierstrass to the GPU note). Key contrast to say aloud: tensor cores serve the workload that arrived from outside (AI); RT cores serve graphics itself - the machine that went general for compute simultaneously re-froze its own original job. Bonus synergy if asked: the two frozen units cooperate in practice - ray-traced frames are denoised/upscaled by neural nets running on the tensor cores (DLSS), so graphics now consumes the AI silicon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vocabulary slide - deliberately placed before the patch's-revenge timeline, which assumes the word. The seminar moment: 'you have known this concept for months; the right half of the very first animation IS tessellation - today it gets its name.' The three-stage split is the same division of labor as the whole machine: programmable stages decide (how finely, what shape), the frozen stage executes (where to sample, pure combinatorics). Adaptive detail in your cvQuad animation (triN chosen by curvature tolerance) maps to the hull shader's level-of-detail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hardware half of the 'one rabbit hole, end to end' slide - the math lineage ran Weierstrass to PostScript; this runs SGI to D3D11. All dates per the document's VERIFIED CLAIM #14 (SGI evaluate-then-tessellate vs NV1 rasterize-the-patch is the load-bearing distinction; TruForm Aug 2001 first consumer HW tessellation; Loop-Blinn SIGGRAPH 2005; hull/tessellator/domain standard ~2009-10, Microsoft's own SimpleBezier11 sample calls BernsteinBasis(u)). The kicker to say aloud: the wrong turn was a timing error, not a concept error - and the vindicated concept re-entered the pipeline as a FIXED-FUNCTION stage, which is the pendulum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cooperation slide. DLSS = Deep Learning Super Sampling, running on the tensor cores (established since the Turing whitepaper; specific DLSS version details are deliberately not on the slide - the mechanism is the point). Walk the flow top to bottom: cast few - hit exactly - shade honestly - reconstruct the rest. The right cards carry the two arguments: the economics (rays cost linearly, inference is a fixed budget) and the mutual dependency. This slide sets up the heterogeneous machine slide that follows: the units are not just side by side, they are a supply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Section 8 lands. From here, pivot: 'so what does a machine shaped by THIS history demand from your code?' -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seminar's thesis: the rabbit holes were never digressions. The deepest note predicted what the hardware did - the industry poured the undercarriage claim into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claim in its correct genre first - a Church-Turing-style thesis, judged by whether counterexamples survive. The four evidence cards are supports the audience may not have noticed: quadrature IS applying a linear functional; MATLAB's roots() literally builds a companion matrix and calls eig; the FFT is a change of basis; and network architecture itself obeys the claim (all interaction in the matrices, nonlinearity pointwise where it is embarrassingly parallel). Even our escape from linearity is built out of linearity.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concessions make the thesis stronger, not weaker - it has now been stress-tested. If a logician raises SAT, congratulate them: they have found the one kingdom where the writ of linearity does not run, and it happens to be theirs (resolution proofs are real certificates with no superposition anywhere). The claim as written is about EQUATIONS - continuous mathematics - where no counterexample survives the proofs-vs-FLOPs refinement. The reflexivity card is the seminar's most philosophical beat: the thesis has a feedback loop with the silicon (QUDA bending its multigrid toward tensor cores is the live example); it is partly a fact about us and our instruments, not only about mathematics - Descartes reduced geometry to algebra because algebra was what his tools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slide. One curiosity thread, followed honestly, crossed four department boundaries and ended at the hardware. No course crosses these lines - that is the argument for the method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slides all follow: history left, practice right. This one is the foundation - everything else assumes the audience accepts throughput-over-latency as baked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matrixAddition rabbit hole (floats packed into RGBA texels) is the visceral proof that the model predates the API. Open it if anyone doubts the 'disguise'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cudaLuck callback: the libraries were the runway. AlexNet was the plane. Deliberate skill was recognizing the landing within months - cuDNN 2014, DGX, the pivot.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the Roofline Simulator companion - the measurement discipline lives there. The HPC-objection framing gives the skeptics their due (expertResistance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small-print lessons on one slide. The 1:8-to-1:64 sequence is verified in the document's claims ledger (#21); the EULA moment (2017, legal limit replacing technical) is worth telling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additions: (1) FP64 is not gone from GPUs - datacenter silicon runs it at 1:2; only the consumer segment is capped (ratios per the document's verified claim #21) - so 'check the spec line' is a real design step, not paranoia. (2) The deep reason low precision wins on most kernels is bandwidth, not FLOPs: bytes halve, effective bandwidth doubles, and that pays even on hardware with no tensor cores at all. The QUDA example (8-bit block floats inside double outer solves, verified this session from the QUDA project page) shows iterative refinement making aggressive precision safe in production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meta-lessons. If the room takes one thing: the pendulum is a mechanism, and the three conditions are a checklist you can run on your own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web-verified 2026-07-16: P2300 adopted June 2024; C++26 feature-complete June 2025; publication expected late 2026; stdexec (github.com/nvidia/stdexec) is the reference implementation. Code is illustrative stdexec style, not a verbatim compile. std::linalg = P1673, built on mdspan; its reference implementation comes out of the Kokkos world - same lineage as the radar companion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deep idea: making work a VALUE. A sender is an object describing a computation - you can store it, compose it, hand it to a different scheduler - which is exactly what CUDA Graphs did for kernel launches, abstracted away from any vendor. The receiver channels give what raw threads never had: errors and cancellation as typed paths, so async code composes without leaks. Code is illustrative stdexec style (continues_on is the adopted name for hopping between resources). Facts verified 2026-07-16.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satisfying connection: scaled/transposed/conjugated being VIEWS is the same idea as the recomposition slide - linear algebra structure lives in index arithmetic, not in data movement, and the standard API now teaches that. BLAS's raw-pointer-plus-leading-dimension interface was the de facto standard for 45 years; this is its ISO successor. P1673's reference implementation lineage runs through Kokkos (Sandia), the same ecosystem as the radar pipeline's KokkosKernels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move: SIMD and SIMT are the same idea with custody reversed - std::simd hands you the pack, SIMT hides it in the warp scheduler. NEON/SVE in the width list quietly sets up the ARM slide two ahead. Lesson 2's 'are the iterations strangers to each other?' is the portable question at all three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division of labor going forward: ISO owns orchestration + vocabulary, vendors own kernels, portability layers sit between. The 'what to do now' card is the actionable takeaway for the engineers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Grace/NVLink-C2C ~900 GB/s cache-coherent and Apple unified memory are established facts (pre-2026 knowledge); MI300A is the x86 counterexample that keeps the claim honest - the enabler is custom integration, which ARM's business model normalized. Presenter beat: this is the industry attacking Lesson 4 in hardware, exactly as C++26 attacks the orchestration seam in software - the pain points of the CUDA era are being engineered away one by one, which is itself evidence the lessons were the right ones. Also note NVQLink two slides ahead: the QPU link is this same movement extended to the next device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web-verified 2026-07-16: NVQLink 400 Gb/s / &lt;4 microseconds / 40 PF FP4; 17 QPU builders + 5 control-system providers; supercomputing-center adoption Nov 2025; cudaq-realtime public at GTC 2026; qLDPC real-time decode with Quantinuum Helios. Sources: nvidia.com/nvqlink, NVIDIA newsroom, HPCwire Jan 2026, Quantum Computing Report, Quantinuum blog. Kernel snippet is standard CUDA-Q style (illustrative). The 2^n amplitudes line is the exponential wall - why simulation alone is not enough and real QPUs are wanted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user's framing made precise: quantum computation increases compute speed exponentially, but transfer (state preparation in, measurement out) does not speed up - so the advantage exists only where compute growth pays for the I/O. HHL = Harrow-Hassidim-Lloyd 2009; the caveats are the standard ones articulated in Aaronson's 'Read the Fine Print' (Nature Physics, 2015) - sparse, well-conditioned, cheap state prep, summary readout. Callback: this is the copy-back slide's decision tree at quantum scale, and one more piece of evidence for the linear-algebra thesis - even the quantum flagship is a linear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closer. The checklist card is the payoff of the whole seminar: the document's freeze conditions, run live on the newest hardware question, predict why the QPU is link-attached rather than on-die. Honest caution to say aloud: this is partly ecosystem positioning - today's QPUs are early-error-correction devices, and 'quantum-accelerated supercomputing' is a frame NVIDIA benefits from regardless of quantum's timeline. That is the expertResistance lesson pointed at the enthusiasts for once: test their claims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640080" y="1051560"/>
            <a:ext cx="10881360" cy="320040"/>
          </a:xfrm>
          <a:prstGeom prst="rect">
            <a:avLst/>
          </a:prstGeom>
          <a:noFill/>
          <a:ln/>
        </p:spPr>
        <p:txBody>
          <a:bodyPr wrap="square" lIns="0" tIns="0" rIns="0" bIns="0" rtlCol="0" anchor="ctr"/>
          <a:lstStyle/>
          <a:p>
            <a:pPr indent="0" marL="0">
              <a:buNone/>
            </a:pPr>
            <a:r>
              <a:rPr lang="en-US" sz="1400" b="1" dirty="0">
                <a:solidFill>
                  <a:srgbClr val="E8A832"/>
                </a:solidFill>
                <a:latin typeface="Courier New" pitchFamily="34" charset="0"/>
                <a:ea typeface="Courier New" pitchFamily="34" charset="-122"/>
                <a:cs typeface="Courier New" pitchFamily="34" charset="-120"/>
              </a:rPr>
              <a:t>HOW WE GOT HERE – A HISTORY OF GPU COMPUTING</a:t>
            </a:r>
            <a:endParaRPr lang="en-US" sz="1400" dirty="0"/>
          </a:p>
        </p:txBody>
      </p:sp>
      <p:sp>
        <p:nvSpPr>
          <p:cNvPr id="3" name="Text 1"/>
          <p:cNvSpPr/>
          <p:nvPr/>
        </p:nvSpPr>
        <p:spPr>
          <a:xfrm>
            <a:off x="640080" y="1463040"/>
            <a:ext cx="10881360" cy="914400"/>
          </a:xfrm>
          <a:prstGeom prst="rect">
            <a:avLst/>
          </a:prstGeom>
          <a:noFill/>
          <a:ln/>
        </p:spPr>
        <p:txBody>
          <a:bodyPr wrap="square" lIns="0" tIns="0" rIns="0" bIns="0" rtlCol="0" anchor="ctr"/>
          <a:lstStyle/>
          <a:p>
            <a:pPr indent="0" marL="0">
              <a:buNone/>
            </a:pPr>
            <a:r>
              <a:rPr lang="en-US" sz="4400" b="1" dirty="0">
                <a:solidFill>
                  <a:srgbClr val="FFFFFF"/>
                </a:solidFill>
                <a:latin typeface="Courier New" pitchFamily="34" charset="0"/>
                <a:ea typeface="Courier New" pitchFamily="34" charset="-122"/>
                <a:cs typeface="Courier New" pitchFamily="34" charset="-120"/>
              </a:rPr>
              <a:t>Why this matters for you</a:t>
            </a:r>
            <a:endParaRPr lang="en-US" sz="4400" dirty="0"/>
          </a:p>
        </p:txBody>
      </p:sp>
      <p:sp>
        <p:nvSpPr>
          <p:cNvPr id="4" name="Text 2"/>
          <p:cNvSpPr/>
          <p:nvPr/>
        </p:nvSpPr>
        <p:spPr>
          <a:xfrm>
            <a:off x="640080" y="2487168"/>
            <a:ext cx="10881360" cy="411480"/>
          </a:xfrm>
          <a:prstGeom prst="rect">
            <a:avLst/>
          </a:prstGeom>
          <a:noFill/>
          <a:ln/>
        </p:spPr>
        <p:txBody>
          <a:bodyPr wrap="square" lIns="0" tIns="0" rIns="0" bIns="0" rtlCol="0" anchor="ctr"/>
          <a:lstStyle/>
          <a:p>
            <a:pPr indent="0" marL="0">
              <a:buNone/>
            </a:pPr>
            <a:r>
              <a:rPr lang="en-US" sz="1900" dirty="0">
                <a:solidFill>
                  <a:srgbClr val="DDDDDD"/>
                </a:solidFill>
                <a:latin typeface="Calibri" pitchFamily="34" charset="0"/>
                <a:ea typeface="Calibri" pitchFamily="34" charset="-122"/>
                <a:cs typeface="Calibri" pitchFamily="34" charset="-120"/>
              </a:rPr>
              <a:t>Sections 8–9 — the pendulum, and the practice it explains</a:t>
            </a:r>
            <a:endParaRPr lang="en-US" sz="1900" dirty="0"/>
          </a:p>
        </p:txBody>
      </p:sp>
      <p:sp>
        <p:nvSpPr>
          <p:cNvPr id="5" name="Shape 3"/>
          <p:cNvSpPr/>
          <p:nvPr/>
        </p:nvSpPr>
        <p:spPr>
          <a:xfrm>
            <a:off x="640080" y="3246120"/>
            <a:ext cx="10881360" cy="804672"/>
          </a:xfrm>
          <a:prstGeom prst="roundRect">
            <a:avLst>
              <a:gd name="adj" fmla="val 6250"/>
            </a:avLst>
          </a:prstGeom>
          <a:solidFill>
            <a:srgbClr val="14141D"/>
          </a:solidFill>
          <a:ln w="12700">
            <a:solidFill>
              <a:srgbClr val="2A2A38"/>
            </a:solidFill>
            <a:prstDash val="solid"/>
          </a:ln>
        </p:spPr>
      </p:sp>
      <p:sp>
        <p:nvSpPr>
          <p:cNvPr id="6" name="Text 4"/>
          <p:cNvSpPr/>
          <p:nvPr/>
        </p:nvSpPr>
        <p:spPr>
          <a:xfrm>
            <a:off x="914400" y="3364992"/>
            <a:ext cx="1737360" cy="274320"/>
          </a:xfrm>
          <a:prstGeom prst="rect">
            <a:avLst/>
          </a:prstGeom>
          <a:noFill/>
          <a:ln/>
        </p:spPr>
        <p:txBody>
          <a:bodyPr wrap="square" lIns="0" tIns="0" rIns="0" bIns="0" rtlCol="0" anchor="ctr"/>
          <a:lstStyle/>
          <a:p>
            <a:pPr indent="0" marL="0">
              <a:buNone/>
            </a:pPr>
            <a:r>
              <a:rPr lang="en-US" sz="1400" b="1" dirty="0">
                <a:solidFill>
                  <a:srgbClr val="3CE8B2"/>
                </a:solidFill>
                <a:latin typeface="Courier New" pitchFamily="34" charset="0"/>
                <a:ea typeface="Courier New" pitchFamily="34" charset="-122"/>
                <a:cs typeface="Courier New" pitchFamily="34" charset="-120"/>
              </a:rPr>
              <a:t>1982–1999</a:t>
            </a:r>
            <a:endParaRPr lang="en-US" sz="1400" dirty="0"/>
          </a:p>
        </p:txBody>
      </p:sp>
      <p:sp>
        <p:nvSpPr>
          <p:cNvPr id="7" name="Text 5"/>
          <p:cNvSpPr/>
          <p:nvPr/>
        </p:nvSpPr>
        <p:spPr>
          <a:xfrm>
            <a:off x="2743200" y="3337560"/>
            <a:ext cx="329184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Fixed function</a:t>
            </a:r>
            <a:endParaRPr lang="en-US" sz="1600" dirty="0"/>
          </a:p>
        </p:txBody>
      </p:sp>
      <p:sp>
        <p:nvSpPr>
          <p:cNvPr id="8" name="Text 6"/>
          <p:cNvSpPr/>
          <p:nvPr/>
        </p:nvSpPr>
        <p:spPr>
          <a:xfrm>
            <a:off x="2743200" y="3648456"/>
            <a:ext cx="4937760" cy="292608"/>
          </a:xfrm>
          <a:prstGeom prst="rect">
            <a:avLst/>
          </a:prstGeom>
          <a:noFill/>
          <a:ln/>
        </p:spPr>
        <p:txBody>
          <a:bodyPr wrap="square" lIns="0" tIns="0" rIns="0" bIns="0" rtlCol="0" anchor="ctr"/>
          <a:lstStyle/>
          <a:p>
            <a:pPr indent="0" marL="0">
              <a:buNone/>
            </a:pPr>
            <a:r>
              <a:rPr lang="en-US" sz="1250" dirty="0">
                <a:solidFill>
                  <a:srgbClr val="CCCCCC"/>
                </a:solidFill>
                <a:latin typeface="Calibri" pitchFamily="34" charset="0"/>
                <a:ea typeface="Calibri" pitchFamily="34" charset="-122"/>
                <a:cs typeface="Calibri" pitchFamily="34" charset="-120"/>
              </a:rPr>
              <a:t>SGI’s pipeline · GeForce 256 freezes T&amp;L and coins “GPU”</a:t>
            </a:r>
            <a:endParaRPr lang="en-US" sz="1250" dirty="0"/>
          </a:p>
        </p:txBody>
      </p:sp>
      <p:sp>
        <p:nvSpPr>
          <p:cNvPr id="9" name="Text 7"/>
          <p:cNvSpPr/>
          <p:nvPr/>
        </p:nvSpPr>
        <p:spPr>
          <a:xfrm>
            <a:off x="7955280" y="3355848"/>
            <a:ext cx="3291840" cy="201168"/>
          </a:xfrm>
          <a:prstGeom prst="rect">
            <a:avLst/>
          </a:prstGeom>
          <a:noFill/>
          <a:ln/>
        </p:spPr>
        <p:txBody>
          <a:bodyPr wrap="square" lIns="0" tIns="0" rIns="0" bIns="0" rtlCol="0" anchor="ctr"/>
          <a:lstStyle/>
          <a:p>
            <a:pPr indent="0" marL="0">
              <a:buNone/>
            </a:pPr>
            <a:r>
              <a:rPr lang="en-US" sz="850" b="1" dirty="0">
                <a:solidFill>
                  <a:srgbClr val="CCCCCC"/>
                </a:solidFill>
                <a:latin typeface="Courier New" pitchFamily="34" charset="0"/>
                <a:ea typeface="Courier New" pitchFamily="34" charset="-122"/>
                <a:cs typeface="Courier New" pitchFamily="34" charset="-120"/>
              </a:rPr>
              <a:t>COMPUTATIONAL STYLE</a:t>
            </a:r>
            <a:endParaRPr lang="en-US" sz="850" dirty="0"/>
          </a:p>
        </p:txBody>
      </p:sp>
      <p:sp>
        <p:nvSpPr>
          <p:cNvPr id="10" name="Text 8"/>
          <p:cNvSpPr/>
          <p:nvPr/>
        </p:nvSpPr>
        <p:spPr>
          <a:xfrm>
            <a:off x="7955280" y="3547872"/>
            <a:ext cx="3291840" cy="256032"/>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CONFIGURE THE PIPELINE</a:t>
            </a:r>
            <a:endParaRPr lang="en-US" sz="1250" dirty="0"/>
          </a:p>
        </p:txBody>
      </p:sp>
      <p:sp>
        <p:nvSpPr>
          <p:cNvPr id="11" name="Text 9"/>
          <p:cNvSpPr/>
          <p:nvPr/>
        </p:nvSpPr>
        <p:spPr>
          <a:xfrm>
            <a:off x="7955280" y="3794760"/>
            <a:ext cx="3291840" cy="219456"/>
          </a:xfrm>
          <a:prstGeom prst="rect">
            <a:avLst/>
          </a:prstGeom>
          <a:noFill/>
          <a:ln/>
        </p:spPr>
        <p:txBody>
          <a:bodyPr wrap="square" lIns="0" tIns="0" rIns="0" bIns="0" rtlCol="0" anchor="ctr"/>
          <a:lstStyle/>
          <a:p>
            <a:pPr indent="0" marL="0">
              <a:buNone/>
            </a:pPr>
            <a:r>
              <a:rPr lang="en-US" sz="1000" i="1" dirty="0">
                <a:solidFill>
                  <a:srgbClr val="CCCCCC"/>
                </a:solidFill>
                <a:latin typeface="Calibri" pitchFamily="34" charset="0"/>
                <a:ea typeface="Calibri" pitchFamily="34" charset="-122"/>
                <a:cs typeface="Calibri" pitchFamily="34" charset="-120"/>
              </a:rPr>
              <a:t>state settings, no programs</a:t>
            </a:r>
            <a:endParaRPr lang="en-US" sz="1000" dirty="0"/>
          </a:p>
        </p:txBody>
      </p:sp>
      <p:sp>
        <p:nvSpPr>
          <p:cNvPr id="12" name="Shape 10"/>
          <p:cNvSpPr/>
          <p:nvPr/>
        </p:nvSpPr>
        <p:spPr>
          <a:xfrm>
            <a:off x="640080" y="4178808"/>
            <a:ext cx="10881360" cy="804672"/>
          </a:xfrm>
          <a:prstGeom prst="roundRect">
            <a:avLst>
              <a:gd name="adj" fmla="val 6250"/>
            </a:avLst>
          </a:prstGeom>
          <a:solidFill>
            <a:srgbClr val="14141D"/>
          </a:solidFill>
          <a:ln w="12700">
            <a:solidFill>
              <a:srgbClr val="2A2A38"/>
            </a:solidFill>
            <a:prstDash val="solid"/>
          </a:ln>
        </p:spPr>
      </p:sp>
      <p:sp>
        <p:nvSpPr>
          <p:cNvPr id="13" name="Text 11"/>
          <p:cNvSpPr/>
          <p:nvPr/>
        </p:nvSpPr>
        <p:spPr>
          <a:xfrm>
            <a:off x="914400" y="4297680"/>
            <a:ext cx="1737360" cy="274320"/>
          </a:xfrm>
          <a:prstGeom prst="rect">
            <a:avLst/>
          </a:prstGeom>
          <a:noFill/>
          <a:ln/>
        </p:spPr>
        <p:txBody>
          <a:bodyPr wrap="square" lIns="0" tIns="0" rIns="0" bIns="0" rtlCol="0" anchor="ctr"/>
          <a:lstStyle/>
          <a:p>
            <a:pPr indent="0" marL="0">
              <a:buNone/>
            </a:pPr>
            <a:r>
              <a:rPr lang="en-US" sz="1400" b="1" dirty="0">
                <a:solidFill>
                  <a:srgbClr val="6AA6FF"/>
                </a:solidFill>
                <a:latin typeface="Courier New" pitchFamily="34" charset="0"/>
                <a:ea typeface="Courier New" pitchFamily="34" charset="-122"/>
                <a:cs typeface="Courier New" pitchFamily="34" charset="-120"/>
              </a:rPr>
              <a:t>2001–2016</a:t>
            </a:r>
            <a:endParaRPr lang="en-US" sz="1400" dirty="0"/>
          </a:p>
        </p:txBody>
      </p:sp>
      <p:sp>
        <p:nvSpPr>
          <p:cNvPr id="14" name="Text 12"/>
          <p:cNvSpPr/>
          <p:nvPr/>
        </p:nvSpPr>
        <p:spPr>
          <a:xfrm>
            <a:off x="2743200" y="4270248"/>
            <a:ext cx="329184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great opening</a:t>
            </a:r>
            <a:endParaRPr lang="en-US" sz="1600" dirty="0"/>
          </a:p>
        </p:txBody>
      </p:sp>
      <p:sp>
        <p:nvSpPr>
          <p:cNvPr id="15" name="Text 13"/>
          <p:cNvSpPr/>
          <p:nvPr/>
        </p:nvSpPr>
        <p:spPr>
          <a:xfrm>
            <a:off x="2743200" y="4581144"/>
            <a:ext cx="4937760" cy="292608"/>
          </a:xfrm>
          <a:prstGeom prst="rect">
            <a:avLst/>
          </a:prstGeom>
          <a:noFill/>
          <a:ln/>
        </p:spPr>
        <p:txBody>
          <a:bodyPr wrap="square" lIns="0" tIns="0" rIns="0" bIns="0" rtlCol="0" anchor="ctr"/>
          <a:lstStyle/>
          <a:p>
            <a:pPr indent="0" marL="0">
              <a:buNone/>
            </a:pPr>
            <a:r>
              <a:rPr lang="en-US" sz="1250" dirty="0">
                <a:solidFill>
                  <a:srgbClr val="CCCCCC"/>
                </a:solidFill>
                <a:latin typeface="Calibri" pitchFamily="34" charset="0"/>
                <a:ea typeface="Calibri" pitchFamily="34" charset="-122"/>
                <a:cs typeface="Calibri" pitchFamily="34" charset="-120"/>
              </a:rPr>
              <a:t>Shaders → Brook → CUDA — the machine becomes general</a:t>
            </a:r>
            <a:endParaRPr lang="en-US" sz="1250" dirty="0"/>
          </a:p>
        </p:txBody>
      </p:sp>
      <p:sp>
        <p:nvSpPr>
          <p:cNvPr id="16" name="Text 14"/>
          <p:cNvSpPr/>
          <p:nvPr/>
        </p:nvSpPr>
        <p:spPr>
          <a:xfrm>
            <a:off x="7955280" y="4288536"/>
            <a:ext cx="3291840" cy="201168"/>
          </a:xfrm>
          <a:prstGeom prst="rect">
            <a:avLst/>
          </a:prstGeom>
          <a:noFill/>
          <a:ln/>
        </p:spPr>
        <p:txBody>
          <a:bodyPr wrap="square" lIns="0" tIns="0" rIns="0" bIns="0" rtlCol="0" anchor="ctr"/>
          <a:lstStyle/>
          <a:p>
            <a:pPr indent="0" marL="0">
              <a:buNone/>
            </a:pPr>
            <a:r>
              <a:rPr lang="en-US" sz="850" b="1" dirty="0">
                <a:solidFill>
                  <a:srgbClr val="CCCCCC"/>
                </a:solidFill>
                <a:latin typeface="Courier New" pitchFamily="34" charset="0"/>
                <a:ea typeface="Courier New" pitchFamily="34" charset="-122"/>
                <a:cs typeface="Courier New" pitchFamily="34" charset="-120"/>
              </a:rPr>
              <a:t>COMPUTATIONAL STYLE</a:t>
            </a:r>
            <a:endParaRPr lang="en-US" sz="850" dirty="0"/>
          </a:p>
        </p:txBody>
      </p:sp>
      <p:sp>
        <p:nvSpPr>
          <p:cNvPr id="17" name="Text 15"/>
          <p:cNvSpPr/>
          <p:nvPr/>
        </p:nvSpPr>
        <p:spPr>
          <a:xfrm>
            <a:off x="7955280" y="4480560"/>
            <a:ext cx="3291840" cy="256032"/>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WRITE THE KERNEL</a:t>
            </a:r>
            <a:endParaRPr lang="en-US" sz="1250" dirty="0"/>
          </a:p>
        </p:txBody>
      </p:sp>
      <p:sp>
        <p:nvSpPr>
          <p:cNvPr id="18" name="Text 16"/>
          <p:cNvSpPr/>
          <p:nvPr/>
        </p:nvSpPr>
        <p:spPr>
          <a:xfrm>
            <a:off x="7955280" y="4727448"/>
            <a:ext cx="3291840" cy="219456"/>
          </a:xfrm>
          <a:prstGeom prst="rect">
            <a:avLst/>
          </a:prstGeom>
          <a:noFill/>
          <a:ln/>
        </p:spPr>
        <p:txBody>
          <a:bodyPr wrap="square" lIns="0" tIns="0" rIns="0" bIns="0" rtlCol="0" anchor="ctr"/>
          <a:lstStyle/>
          <a:p>
            <a:pPr indent="0" marL="0">
              <a:buNone/>
            </a:pPr>
            <a:r>
              <a:rPr lang="en-US" sz="1000" i="1" dirty="0">
                <a:solidFill>
                  <a:srgbClr val="CCCCCC"/>
                </a:solidFill>
                <a:latin typeface="Calibri" pitchFamily="34" charset="0"/>
                <a:ea typeface="Calibri" pitchFamily="34" charset="-122"/>
                <a:cs typeface="Calibri" pitchFamily="34" charset="-120"/>
              </a:rPr>
              <a:t>one function, many independent elements</a:t>
            </a:r>
            <a:endParaRPr lang="en-US" sz="1000" dirty="0"/>
          </a:p>
        </p:txBody>
      </p:sp>
      <p:sp>
        <p:nvSpPr>
          <p:cNvPr id="19" name="Shape 17"/>
          <p:cNvSpPr/>
          <p:nvPr/>
        </p:nvSpPr>
        <p:spPr>
          <a:xfrm>
            <a:off x="640080" y="5111496"/>
            <a:ext cx="10881360" cy="804672"/>
          </a:xfrm>
          <a:prstGeom prst="roundRect">
            <a:avLst>
              <a:gd name="adj" fmla="val 6250"/>
            </a:avLst>
          </a:prstGeom>
          <a:solidFill>
            <a:srgbClr val="14141D"/>
          </a:solidFill>
          <a:ln w="12700">
            <a:solidFill>
              <a:srgbClr val="2A2A38"/>
            </a:solidFill>
            <a:prstDash val="solid"/>
          </a:ln>
        </p:spPr>
      </p:sp>
      <p:sp>
        <p:nvSpPr>
          <p:cNvPr id="20" name="Text 18"/>
          <p:cNvSpPr/>
          <p:nvPr/>
        </p:nvSpPr>
        <p:spPr>
          <a:xfrm>
            <a:off x="914400" y="5230368"/>
            <a:ext cx="1737360" cy="274320"/>
          </a:xfrm>
          <a:prstGeom prst="rect">
            <a:avLst/>
          </a:prstGeom>
          <a:noFill/>
          <a:ln/>
        </p:spPr>
        <p:txBody>
          <a:bodyPr wrap="square" lIns="0" tIns="0" rIns="0" bIns="0" rtlCol="0" anchor="ctr"/>
          <a:lstStyle/>
          <a:p>
            <a:pPr indent="0" marL="0">
              <a:buNone/>
            </a:pPr>
            <a:r>
              <a:rPr lang="en-US" sz="1400" b="1" dirty="0">
                <a:solidFill>
                  <a:srgbClr val="E8A832"/>
                </a:solidFill>
                <a:latin typeface="Courier New" pitchFamily="34" charset="0"/>
                <a:ea typeface="Courier New" pitchFamily="34" charset="-122"/>
                <a:cs typeface="Courier New" pitchFamily="34" charset="-120"/>
              </a:rPr>
              <a:t>2017–now</a:t>
            </a:r>
            <a:endParaRPr lang="en-US" sz="1400" dirty="0"/>
          </a:p>
        </p:txBody>
      </p:sp>
      <p:sp>
        <p:nvSpPr>
          <p:cNvPr id="21" name="Text 19"/>
          <p:cNvSpPr/>
          <p:nvPr/>
        </p:nvSpPr>
        <p:spPr>
          <a:xfrm>
            <a:off x="2743200" y="5202936"/>
            <a:ext cx="329184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pendulum returns</a:t>
            </a:r>
            <a:endParaRPr lang="en-US" sz="1600" dirty="0"/>
          </a:p>
        </p:txBody>
      </p:sp>
      <p:sp>
        <p:nvSpPr>
          <p:cNvPr id="22" name="Text 20"/>
          <p:cNvSpPr/>
          <p:nvPr/>
        </p:nvSpPr>
        <p:spPr>
          <a:xfrm>
            <a:off x="2743200" y="5513832"/>
            <a:ext cx="4937760" cy="292608"/>
          </a:xfrm>
          <a:prstGeom prst="rect">
            <a:avLst/>
          </a:prstGeom>
          <a:noFill/>
          <a:ln/>
        </p:spPr>
        <p:txBody>
          <a:bodyPr wrap="square" lIns="0" tIns="0" rIns="0" bIns="0" rtlCol="0" anchor="ctr"/>
          <a:lstStyle/>
          <a:p>
            <a:pPr indent="0" marL="0">
              <a:buNone/>
            </a:pPr>
            <a:r>
              <a:rPr lang="en-US" sz="1250" dirty="0">
                <a:solidFill>
                  <a:srgbClr val="CCCCCC"/>
                </a:solidFill>
                <a:latin typeface="Calibri" pitchFamily="34" charset="0"/>
                <a:ea typeface="Calibri" pitchFamily="34" charset="-122"/>
                <a:cs typeface="Calibri" pitchFamily="34" charset="-120"/>
              </a:rPr>
              <a:t>Tensor cores · RT cores · the heterogeneous machine</a:t>
            </a:r>
            <a:endParaRPr lang="en-US" sz="1250" dirty="0"/>
          </a:p>
        </p:txBody>
      </p:sp>
      <p:sp>
        <p:nvSpPr>
          <p:cNvPr id="23" name="Text 21"/>
          <p:cNvSpPr/>
          <p:nvPr/>
        </p:nvSpPr>
        <p:spPr>
          <a:xfrm>
            <a:off x="7955280" y="5221224"/>
            <a:ext cx="3291840" cy="201168"/>
          </a:xfrm>
          <a:prstGeom prst="rect">
            <a:avLst/>
          </a:prstGeom>
          <a:noFill/>
          <a:ln/>
        </p:spPr>
        <p:txBody>
          <a:bodyPr wrap="square" lIns="0" tIns="0" rIns="0" bIns="0" rtlCol="0" anchor="ctr"/>
          <a:lstStyle/>
          <a:p>
            <a:pPr indent="0" marL="0">
              <a:buNone/>
            </a:pPr>
            <a:r>
              <a:rPr lang="en-US" sz="850" b="1" dirty="0">
                <a:solidFill>
                  <a:srgbClr val="CCCCCC"/>
                </a:solidFill>
                <a:latin typeface="Courier New" pitchFamily="34" charset="0"/>
                <a:ea typeface="Courier New" pitchFamily="34" charset="-122"/>
                <a:cs typeface="Courier New" pitchFamily="34" charset="-120"/>
              </a:rPr>
              <a:t>COMPUTATIONAL STYLE</a:t>
            </a:r>
            <a:endParaRPr lang="en-US" sz="850" dirty="0"/>
          </a:p>
        </p:txBody>
      </p:sp>
      <p:sp>
        <p:nvSpPr>
          <p:cNvPr id="24" name="Text 22"/>
          <p:cNvSpPr/>
          <p:nvPr/>
        </p:nvSpPr>
        <p:spPr>
          <a:xfrm>
            <a:off x="7955280" y="5413248"/>
            <a:ext cx="3291840" cy="256032"/>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ORCHESTRATE THE UNITS</a:t>
            </a:r>
            <a:endParaRPr lang="en-US" sz="1250" dirty="0"/>
          </a:p>
        </p:txBody>
      </p:sp>
      <p:sp>
        <p:nvSpPr>
          <p:cNvPr id="25" name="Text 23"/>
          <p:cNvSpPr/>
          <p:nvPr/>
        </p:nvSpPr>
        <p:spPr>
          <a:xfrm>
            <a:off x="7955280" y="5660136"/>
            <a:ext cx="3291840" cy="219456"/>
          </a:xfrm>
          <a:prstGeom prst="rect">
            <a:avLst/>
          </a:prstGeom>
          <a:noFill/>
          <a:ln/>
        </p:spPr>
        <p:txBody>
          <a:bodyPr wrap="square" lIns="0" tIns="0" rIns="0" bIns="0" rtlCol="0" anchor="ctr"/>
          <a:lstStyle/>
          <a:p>
            <a:pPr indent="0" marL="0">
              <a:buNone/>
            </a:pPr>
            <a:r>
              <a:rPr lang="en-US" sz="1000" i="1" dirty="0">
                <a:solidFill>
                  <a:srgbClr val="CCCCCC"/>
                </a:solidFill>
                <a:latin typeface="Calibri" pitchFamily="34" charset="0"/>
                <a:ea typeface="Calibri" pitchFamily="34" charset="-122"/>
                <a:cs typeface="Calibri" pitchFamily="34" charset="-120"/>
              </a:rPr>
              <a:t>kernels + libraries feeding frozen silicon</a:t>
            </a:r>
            <a:endParaRPr lang="en-US" sz="1000" dirty="0"/>
          </a:p>
        </p:txBody>
      </p:sp>
      <p:sp>
        <p:nvSpPr>
          <p:cNvPr id="26" name="Text 24"/>
          <p:cNvSpPr/>
          <p:nvPr/>
        </p:nvSpPr>
        <p:spPr>
          <a:xfrm>
            <a:off x="640080" y="6217920"/>
            <a:ext cx="10881360" cy="320040"/>
          </a:xfrm>
          <a:prstGeom prst="rect">
            <a:avLst/>
          </a:prstGeom>
          <a:noFill/>
          <a:ln/>
        </p:spPr>
        <p:txBody>
          <a:bodyPr wrap="square" lIns="0" tIns="0" rIns="0" bIns="0" rtlCol="0" anchor="ctr"/>
          <a:lstStyle/>
          <a:p>
            <a:pPr indent="0" marL="0">
              <a:buNone/>
            </a:pPr>
            <a:r>
              <a:rPr lang="en-US" sz="1300" i="1" dirty="0">
                <a:solidFill>
                  <a:srgbClr val="CCCCCC"/>
                </a:solidFill>
                <a:latin typeface="Calibri" pitchFamily="34" charset="0"/>
                <a:ea typeface="Calibri" pitchFamily="34" charset="-122"/>
                <a:cs typeface="Calibri" pitchFamily="34" charset="-120"/>
              </a:rPr>
              <a:t>Closing seminar · the last two sections, and every rabbit hole they were secretly about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whole history is one motion</a:t>
            </a:r>
            <a:endParaRPr lang="en-US" sz="2700" dirty="0"/>
          </a:p>
        </p:txBody>
      </p:sp>
      <p:sp>
        <p:nvSpPr>
          <p:cNvPr id="4" name="Shape 2"/>
          <p:cNvSpPr/>
          <p:nvPr/>
        </p:nvSpPr>
        <p:spPr>
          <a:xfrm>
            <a:off x="822960" y="2880360"/>
            <a:ext cx="10515600" cy="0"/>
          </a:xfrm>
          <a:prstGeom prst="line">
            <a:avLst/>
          </a:prstGeom>
          <a:noFill/>
          <a:ln w="25400">
            <a:solidFill>
              <a:srgbClr val="2A2A38"/>
            </a:solidFill>
            <a:prstDash val="solid"/>
          </a:ln>
        </p:spPr>
      </p:sp>
      <p:sp>
        <p:nvSpPr>
          <p:cNvPr id="5" name="Shape 3"/>
          <p:cNvSpPr/>
          <p:nvPr/>
        </p:nvSpPr>
        <p:spPr>
          <a:xfrm>
            <a:off x="1225296" y="2779776"/>
            <a:ext cx="201168" cy="201168"/>
          </a:xfrm>
          <a:prstGeom prst="ellipse">
            <a:avLst/>
          </a:prstGeom>
          <a:solidFill>
            <a:srgbClr val="3CE8B2"/>
          </a:solidFill>
          <a:ln w="25400">
            <a:solidFill>
              <a:srgbClr val="0B0B10"/>
            </a:solidFill>
            <a:prstDash val="solid"/>
          </a:ln>
        </p:spPr>
      </p:sp>
      <p:sp>
        <p:nvSpPr>
          <p:cNvPr id="6" name="Text 4"/>
          <p:cNvSpPr/>
          <p:nvPr/>
        </p:nvSpPr>
        <p:spPr>
          <a:xfrm>
            <a:off x="274320" y="1307592"/>
            <a:ext cx="2103120" cy="256032"/>
          </a:xfrm>
          <a:prstGeom prst="rect">
            <a:avLst/>
          </a:prstGeom>
          <a:noFill/>
          <a:ln/>
        </p:spPr>
        <p:txBody>
          <a:bodyPr wrap="square" lIns="0" tIns="0" rIns="0" bIns="0" rtlCol="0" anchor="ctr"/>
          <a:lstStyle/>
          <a:p>
            <a:pPr algn="ctr" indent="0" marL="0">
              <a:buNone/>
            </a:pPr>
            <a:r>
              <a:rPr lang="en-US" sz="1300" b="1" dirty="0">
                <a:solidFill>
                  <a:srgbClr val="3CE8B2"/>
                </a:solidFill>
                <a:latin typeface="Courier New" pitchFamily="34" charset="0"/>
                <a:ea typeface="Courier New" pitchFamily="34" charset="-122"/>
                <a:cs typeface="Courier New" pitchFamily="34" charset="-120"/>
              </a:rPr>
              <a:t>1983–99</a:t>
            </a:r>
            <a:endParaRPr lang="en-US" sz="1300" dirty="0"/>
          </a:p>
        </p:txBody>
      </p:sp>
      <p:sp>
        <p:nvSpPr>
          <p:cNvPr id="7" name="Text 5"/>
          <p:cNvSpPr/>
          <p:nvPr/>
        </p:nvSpPr>
        <p:spPr>
          <a:xfrm>
            <a:off x="274320" y="1563624"/>
            <a:ext cx="2103120"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Fixed function</a:t>
            </a:r>
            <a:endParaRPr lang="en-US" sz="1350" dirty="0"/>
          </a:p>
        </p:txBody>
      </p:sp>
      <p:sp>
        <p:nvSpPr>
          <p:cNvPr id="8" name="Text 6"/>
          <p:cNvSpPr/>
          <p:nvPr/>
        </p:nvSpPr>
        <p:spPr>
          <a:xfrm>
            <a:off x="137160" y="1837944"/>
            <a:ext cx="2377440" cy="685800"/>
          </a:xfrm>
          <a:prstGeom prst="rect">
            <a:avLst/>
          </a:prstGeom>
          <a:noFill/>
          <a:ln/>
        </p:spPr>
        <p:txBody>
          <a:bodyPr wrap="square" lIns="0" tIns="0" rIns="0" bIns="0" rtlCol="0" anchor="ctr"/>
          <a:lstStyle/>
          <a:p>
            <a:pPr algn="ctr" indent="0" marL="0">
              <a:buNone/>
            </a:pPr>
            <a:r>
              <a:rPr lang="en-US" sz="1050" dirty="0">
                <a:solidFill>
                  <a:srgbClr val="CCCCCC"/>
                </a:solidFill>
                <a:latin typeface="Calibri" pitchFamily="34" charset="0"/>
                <a:ea typeface="Calibri" pitchFamily="34" charset="-122"/>
                <a:cs typeface="Calibri" pitchFamily="34" charset="-120"/>
              </a:rPr>
              <a:t>SGI’s pipeline;</a:t>
            </a:r>
            <a:endParaRPr lang="en-US" sz="1050" dirty="0"/>
          </a:p>
          <a:p>
            <a:pPr algn="ctr" indent="0" marL="0">
              <a:buNone/>
            </a:pPr>
            <a:r>
              <a:rPr lang="en-US" sz="1050" dirty="0">
                <a:solidFill>
                  <a:srgbClr val="CCCCCC"/>
                </a:solidFill>
                <a:latin typeface="Calibri" pitchFamily="34" charset="0"/>
                <a:ea typeface="Calibri" pitchFamily="34" charset="-122"/>
                <a:cs typeface="Calibri" pitchFamily="34" charset="-120"/>
              </a:rPr>
              <a:t>GeForce 256 freezes T&amp;L (1999)</a:t>
            </a:r>
            <a:endParaRPr lang="en-US" sz="1050" dirty="0"/>
          </a:p>
        </p:txBody>
      </p:sp>
      <p:sp>
        <p:nvSpPr>
          <p:cNvPr id="9" name="Shape 7"/>
          <p:cNvSpPr/>
          <p:nvPr/>
        </p:nvSpPr>
        <p:spPr>
          <a:xfrm>
            <a:off x="3602736" y="2779776"/>
            <a:ext cx="201168" cy="201168"/>
          </a:xfrm>
          <a:prstGeom prst="ellipse">
            <a:avLst/>
          </a:prstGeom>
          <a:solidFill>
            <a:srgbClr val="6AA6FF"/>
          </a:solidFill>
          <a:ln w="25400">
            <a:solidFill>
              <a:srgbClr val="0B0B10"/>
            </a:solidFill>
            <a:prstDash val="solid"/>
          </a:ln>
        </p:spPr>
      </p:sp>
      <p:sp>
        <p:nvSpPr>
          <p:cNvPr id="10" name="Text 8"/>
          <p:cNvSpPr/>
          <p:nvPr/>
        </p:nvSpPr>
        <p:spPr>
          <a:xfrm>
            <a:off x="2651760" y="3172968"/>
            <a:ext cx="2103120" cy="256032"/>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2000–01</a:t>
            </a:r>
            <a:endParaRPr lang="en-US" sz="1300" dirty="0"/>
          </a:p>
        </p:txBody>
      </p:sp>
      <p:sp>
        <p:nvSpPr>
          <p:cNvPr id="11" name="Text 9"/>
          <p:cNvSpPr/>
          <p:nvPr/>
        </p:nvSpPr>
        <p:spPr>
          <a:xfrm>
            <a:off x="2651760" y="3429000"/>
            <a:ext cx="2103120"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Programmable</a:t>
            </a:r>
            <a:endParaRPr lang="en-US" sz="1350" dirty="0"/>
          </a:p>
        </p:txBody>
      </p:sp>
      <p:sp>
        <p:nvSpPr>
          <p:cNvPr id="12" name="Text 10"/>
          <p:cNvSpPr/>
          <p:nvPr/>
        </p:nvSpPr>
        <p:spPr>
          <a:xfrm>
            <a:off x="2514600" y="3703320"/>
            <a:ext cx="2377440" cy="685800"/>
          </a:xfrm>
          <a:prstGeom prst="rect">
            <a:avLst/>
          </a:prstGeom>
          <a:noFill/>
          <a:ln/>
        </p:spPr>
        <p:txBody>
          <a:bodyPr wrap="square" lIns="0" tIns="0" rIns="0" bIns="0" rtlCol="0" anchor="ctr"/>
          <a:lstStyle/>
          <a:p>
            <a:pPr algn="ctr" indent="0" marL="0">
              <a:buNone/>
            </a:pPr>
            <a:r>
              <a:rPr lang="en-US" sz="1050" dirty="0">
                <a:solidFill>
                  <a:srgbClr val="CCCCCC"/>
                </a:solidFill>
                <a:latin typeface="Calibri" pitchFamily="34" charset="0"/>
                <a:ea typeface="Calibri" pitchFamily="34" charset="-122"/>
                <a:cs typeface="Calibri" pitchFamily="34" charset="-120"/>
              </a:rPr>
              <a:t>DirectX 8 shaders;</a:t>
            </a:r>
            <a:endParaRPr lang="en-US" sz="1050" dirty="0"/>
          </a:p>
          <a:p>
            <a:pPr algn="ctr" indent="0" marL="0">
              <a:buNone/>
            </a:pPr>
            <a:r>
              <a:rPr lang="en-US" sz="1050" dirty="0">
                <a:solidFill>
                  <a:srgbClr val="CCCCCC"/>
                </a:solidFill>
                <a:latin typeface="Calibri" pitchFamily="34" charset="0"/>
                <a:ea typeface="Calibri" pitchFamily="34" charset="-122"/>
                <a:cs typeface="Calibri" pitchFamily="34" charset="-120"/>
              </a:rPr>
              <a:t>GeForce 3 opens the pipeline</a:t>
            </a:r>
            <a:endParaRPr lang="en-US" sz="1050" dirty="0"/>
          </a:p>
        </p:txBody>
      </p:sp>
      <p:sp>
        <p:nvSpPr>
          <p:cNvPr id="13" name="Shape 11"/>
          <p:cNvSpPr/>
          <p:nvPr/>
        </p:nvSpPr>
        <p:spPr>
          <a:xfrm>
            <a:off x="5980176" y="2779776"/>
            <a:ext cx="201168" cy="201168"/>
          </a:xfrm>
          <a:prstGeom prst="ellipse">
            <a:avLst/>
          </a:prstGeom>
          <a:solidFill>
            <a:srgbClr val="6AA6FF"/>
          </a:solidFill>
          <a:ln w="25400">
            <a:solidFill>
              <a:srgbClr val="0B0B10"/>
            </a:solidFill>
            <a:prstDash val="solid"/>
          </a:ln>
        </p:spPr>
      </p:sp>
      <p:sp>
        <p:nvSpPr>
          <p:cNvPr id="14" name="Text 12"/>
          <p:cNvSpPr/>
          <p:nvPr/>
        </p:nvSpPr>
        <p:spPr>
          <a:xfrm>
            <a:off x="5029200" y="1307592"/>
            <a:ext cx="2103120" cy="256032"/>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2006</a:t>
            </a:r>
            <a:endParaRPr lang="en-US" sz="1300" dirty="0"/>
          </a:p>
        </p:txBody>
      </p:sp>
      <p:sp>
        <p:nvSpPr>
          <p:cNvPr id="15" name="Text 13"/>
          <p:cNvSpPr/>
          <p:nvPr/>
        </p:nvSpPr>
        <p:spPr>
          <a:xfrm>
            <a:off x="5029200" y="1563624"/>
            <a:ext cx="2103120"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Fully general</a:t>
            </a:r>
            <a:endParaRPr lang="en-US" sz="1350" dirty="0"/>
          </a:p>
        </p:txBody>
      </p:sp>
      <p:sp>
        <p:nvSpPr>
          <p:cNvPr id="16" name="Text 14"/>
          <p:cNvSpPr/>
          <p:nvPr/>
        </p:nvSpPr>
        <p:spPr>
          <a:xfrm>
            <a:off x="4892040" y="1837944"/>
            <a:ext cx="2377440" cy="685800"/>
          </a:xfrm>
          <a:prstGeom prst="rect">
            <a:avLst/>
          </a:prstGeom>
          <a:noFill/>
          <a:ln/>
        </p:spPr>
        <p:txBody>
          <a:bodyPr wrap="square" lIns="0" tIns="0" rIns="0" bIns="0" rtlCol="0" anchor="ctr"/>
          <a:lstStyle/>
          <a:p>
            <a:pPr algn="ctr" indent="0" marL="0">
              <a:buNone/>
            </a:pPr>
            <a:r>
              <a:rPr lang="en-US" sz="1050" dirty="0">
                <a:solidFill>
                  <a:srgbClr val="CCCCCC"/>
                </a:solidFill>
                <a:latin typeface="Calibri" pitchFamily="34" charset="0"/>
                <a:ea typeface="Calibri" pitchFamily="34" charset="-122"/>
                <a:cs typeface="Calibri" pitchFamily="34" charset="-120"/>
              </a:rPr>
              <a:t>CUDA on G80 — 128 unified</a:t>
            </a:r>
            <a:endParaRPr lang="en-US" sz="1050" dirty="0"/>
          </a:p>
          <a:p>
            <a:pPr algn="ctr" indent="0" marL="0">
              <a:buNone/>
            </a:pPr>
            <a:r>
              <a:rPr lang="en-US" sz="1050" dirty="0">
                <a:solidFill>
                  <a:srgbClr val="CCCCCC"/>
                </a:solidFill>
                <a:latin typeface="Calibri" pitchFamily="34" charset="0"/>
                <a:ea typeface="Calibri" pitchFamily="34" charset="-122"/>
                <a:cs typeface="Calibri" pitchFamily="34" charset="-120"/>
              </a:rPr>
              <a:t>cores, one pool</a:t>
            </a:r>
            <a:endParaRPr lang="en-US" sz="1050" dirty="0"/>
          </a:p>
        </p:txBody>
      </p:sp>
      <p:sp>
        <p:nvSpPr>
          <p:cNvPr id="17" name="Shape 15"/>
          <p:cNvSpPr/>
          <p:nvPr/>
        </p:nvSpPr>
        <p:spPr>
          <a:xfrm>
            <a:off x="8357616" y="2779776"/>
            <a:ext cx="201168" cy="201168"/>
          </a:xfrm>
          <a:prstGeom prst="ellipse">
            <a:avLst/>
          </a:prstGeom>
          <a:solidFill>
            <a:srgbClr val="E8A832"/>
          </a:solidFill>
          <a:ln w="25400">
            <a:solidFill>
              <a:srgbClr val="0B0B10"/>
            </a:solidFill>
            <a:prstDash val="solid"/>
          </a:ln>
        </p:spPr>
      </p:sp>
      <p:sp>
        <p:nvSpPr>
          <p:cNvPr id="18" name="Text 16"/>
          <p:cNvSpPr/>
          <p:nvPr/>
        </p:nvSpPr>
        <p:spPr>
          <a:xfrm>
            <a:off x="7406640" y="3172968"/>
            <a:ext cx="2103120" cy="256032"/>
          </a:xfrm>
          <a:prstGeom prst="rect">
            <a:avLst/>
          </a:prstGeom>
          <a:noFill/>
          <a:ln/>
        </p:spPr>
        <p:txBody>
          <a:bodyPr wrap="square" lIns="0" tIns="0" rIns="0" bIns="0" rtlCol="0" anchor="ctr"/>
          <a:lstStyle/>
          <a:p>
            <a:pPr algn="ctr" indent="0" marL="0">
              <a:buNone/>
            </a:pPr>
            <a:r>
              <a:rPr lang="en-US" sz="1300" b="1" dirty="0">
                <a:solidFill>
                  <a:srgbClr val="E8A832"/>
                </a:solidFill>
                <a:latin typeface="Courier New" pitchFamily="34" charset="0"/>
                <a:ea typeface="Courier New" pitchFamily="34" charset="-122"/>
                <a:cs typeface="Courier New" pitchFamily="34" charset="-120"/>
              </a:rPr>
              <a:t>2017–18</a:t>
            </a:r>
            <a:endParaRPr lang="en-US" sz="1300" dirty="0"/>
          </a:p>
        </p:txBody>
      </p:sp>
      <p:sp>
        <p:nvSpPr>
          <p:cNvPr id="19" name="Text 17"/>
          <p:cNvSpPr/>
          <p:nvPr/>
        </p:nvSpPr>
        <p:spPr>
          <a:xfrm>
            <a:off x="7406640" y="3429000"/>
            <a:ext cx="2103120"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Fixed returns</a:t>
            </a:r>
            <a:endParaRPr lang="en-US" sz="1350" dirty="0"/>
          </a:p>
        </p:txBody>
      </p:sp>
      <p:sp>
        <p:nvSpPr>
          <p:cNvPr id="20" name="Text 18"/>
          <p:cNvSpPr/>
          <p:nvPr/>
        </p:nvSpPr>
        <p:spPr>
          <a:xfrm>
            <a:off x="7269480" y="3703320"/>
            <a:ext cx="2377440" cy="685800"/>
          </a:xfrm>
          <a:prstGeom prst="rect">
            <a:avLst/>
          </a:prstGeom>
          <a:noFill/>
          <a:ln/>
        </p:spPr>
        <p:txBody>
          <a:bodyPr wrap="square" lIns="0" tIns="0" rIns="0" bIns="0" rtlCol="0" anchor="ctr"/>
          <a:lstStyle/>
          <a:p>
            <a:pPr algn="ctr" indent="0" marL="0">
              <a:buNone/>
            </a:pPr>
            <a:r>
              <a:rPr lang="en-US" sz="1050" dirty="0">
                <a:solidFill>
                  <a:srgbClr val="CCCCCC"/>
                </a:solidFill>
                <a:latin typeface="Calibri" pitchFamily="34" charset="0"/>
                <a:ea typeface="Calibri" pitchFamily="34" charset="-122"/>
                <a:cs typeface="Calibri" pitchFamily="34" charset="-120"/>
              </a:rPr>
              <a:t>Tensor cores (Volta);</a:t>
            </a:r>
            <a:endParaRPr lang="en-US" sz="1050" dirty="0"/>
          </a:p>
          <a:p>
            <a:pPr algn="ctr" indent="0" marL="0">
              <a:buNone/>
            </a:pPr>
            <a:r>
              <a:rPr lang="en-US" sz="1050" dirty="0">
                <a:solidFill>
                  <a:srgbClr val="CCCCCC"/>
                </a:solidFill>
                <a:latin typeface="Calibri" pitchFamily="34" charset="0"/>
                <a:ea typeface="Calibri" pitchFamily="34" charset="-122"/>
                <a:cs typeface="Calibri" pitchFamily="34" charset="-120"/>
              </a:rPr>
              <a:t>RT cores (Turing)</a:t>
            </a:r>
            <a:endParaRPr lang="en-US" sz="1050" dirty="0"/>
          </a:p>
        </p:txBody>
      </p:sp>
      <p:sp>
        <p:nvSpPr>
          <p:cNvPr id="21" name="Shape 19"/>
          <p:cNvSpPr/>
          <p:nvPr/>
        </p:nvSpPr>
        <p:spPr>
          <a:xfrm>
            <a:off x="10735056" y="2779776"/>
            <a:ext cx="201168" cy="201168"/>
          </a:xfrm>
          <a:prstGeom prst="ellipse">
            <a:avLst/>
          </a:prstGeom>
          <a:solidFill>
            <a:srgbClr val="FFFFFF"/>
          </a:solidFill>
          <a:ln w="25400">
            <a:solidFill>
              <a:srgbClr val="0B0B10"/>
            </a:solidFill>
            <a:prstDash val="solid"/>
          </a:ln>
        </p:spPr>
      </p:sp>
      <p:sp>
        <p:nvSpPr>
          <p:cNvPr id="22" name="Text 20"/>
          <p:cNvSpPr/>
          <p:nvPr/>
        </p:nvSpPr>
        <p:spPr>
          <a:xfrm>
            <a:off x="9784080" y="1307592"/>
            <a:ext cx="210312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Today</a:t>
            </a:r>
            <a:endParaRPr lang="en-US" sz="1300" dirty="0"/>
          </a:p>
        </p:txBody>
      </p:sp>
      <p:sp>
        <p:nvSpPr>
          <p:cNvPr id="23" name="Text 21"/>
          <p:cNvSpPr/>
          <p:nvPr/>
        </p:nvSpPr>
        <p:spPr>
          <a:xfrm>
            <a:off x="9784080" y="1563624"/>
            <a:ext cx="2103120"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The mixture</a:t>
            </a:r>
            <a:endParaRPr lang="en-US" sz="1350" dirty="0"/>
          </a:p>
        </p:txBody>
      </p:sp>
      <p:sp>
        <p:nvSpPr>
          <p:cNvPr id="24" name="Text 22"/>
          <p:cNvSpPr/>
          <p:nvPr/>
        </p:nvSpPr>
        <p:spPr>
          <a:xfrm>
            <a:off x="9646920" y="1837944"/>
            <a:ext cx="2377440" cy="685800"/>
          </a:xfrm>
          <a:prstGeom prst="rect">
            <a:avLst/>
          </a:prstGeom>
          <a:noFill/>
          <a:ln/>
        </p:spPr>
        <p:txBody>
          <a:bodyPr wrap="square" lIns="0" tIns="0" rIns="0" bIns="0" rtlCol="0" anchor="ctr"/>
          <a:lstStyle/>
          <a:p>
            <a:pPr algn="ctr" indent="0" marL="0">
              <a:buNone/>
            </a:pPr>
            <a:r>
              <a:rPr lang="en-US" sz="1050" dirty="0">
                <a:solidFill>
                  <a:srgbClr val="CCCCCC"/>
                </a:solidFill>
                <a:latin typeface="Calibri" pitchFamily="34" charset="0"/>
                <a:ea typeface="Calibri" pitchFamily="34" charset="-122"/>
                <a:cs typeface="Calibri" pitchFamily="34" charset="-120"/>
              </a:rPr>
              <a:t>General + tensor + RT,</a:t>
            </a:r>
            <a:endParaRPr lang="en-US" sz="1050" dirty="0"/>
          </a:p>
          <a:p>
            <a:pPr algn="ctr" indent="0" marL="0">
              <a:buNone/>
            </a:pPr>
            <a:r>
              <a:rPr lang="en-US" sz="1050" dirty="0">
                <a:solidFill>
                  <a:srgbClr val="CCCCCC"/>
                </a:solidFill>
                <a:latin typeface="Calibri" pitchFamily="34" charset="0"/>
                <a:ea typeface="Calibri" pitchFamily="34" charset="-122"/>
                <a:cs typeface="Calibri" pitchFamily="34" charset="-120"/>
              </a:rPr>
              <a:t>side by side in each core</a:t>
            </a:r>
            <a:endParaRPr lang="en-US" sz="1050" dirty="0"/>
          </a:p>
        </p:txBody>
      </p:sp>
      <p:sp>
        <p:nvSpPr>
          <p:cNvPr id="25" name="Shape 23"/>
          <p:cNvSpPr/>
          <p:nvPr/>
        </p:nvSpPr>
        <p:spPr>
          <a:xfrm>
            <a:off x="640080" y="5120640"/>
            <a:ext cx="10881360" cy="1234440"/>
          </a:xfrm>
          <a:prstGeom prst="roundRect">
            <a:avLst>
              <a:gd name="adj" fmla="val 4074"/>
            </a:avLst>
          </a:prstGeom>
          <a:solidFill>
            <a:srgbClr val="14141D"/>
          </a:solidFill>
          <a:ln w="12700">
            <a:solidFill>
              <a:srgbClr val="2A2A38"/>
            </a:solidFill>
            <a:prstDash val="solid"/>
          </a:ln>
        </p:spPr>
      </p:sp>
      <p:sp>
        <p:nvSpPr>
          <p:cNvPr id="26" name="Text 24"/>
          <p:cNvSpPr/>
          <p:nvPr/>
        </p:nvSpPr>
        <p:spPr>
          <a:xfrm>
            <a:off x="914400" y="5321808"/>
            <a:ext cx="10332720" cy="868680"/>
          </a:xfrm>
          <a:prstGeom prst="rect">
            <a:avLst/>
          </a:prstGeom>
          <a:noFill/>
          <a:ln/>
        </p:spPr>
        <p:txBody>
          <a:bodyPr wrap="square" lIns="0" tIns="0" rIns="0" bIns="0" rtlCol="0" anchor="ctr"/>
          <a:lstStyle/>
          <a:p>
            <a:pPr indent="0" marL="0">
              <a:lnSpc>
                <a:spcPct val="112000"/>
              </a:lnSpc>
              <a:buNone/>
            </a:pPr>
            <a:r>
              <a:rPr lang="en-US" sz="1450" b="1" dirty="0">
                <a:solidFill>
                  <a:srgbClr val="E8A832"/>
                </a:solidFill>
                <a:latin typeface="Calibri" pitchFamily="34" charset="0"/>
                <a:ea typeface="Calibri" pitchFamily="34" charset="-122"/>
                <a:cs typeface="Calibri" pitchFamily="34" charset="-120"/>
              </a:rPr>
              <a:t>One mechanism, repeating.  </a:t>
            </a:r>
            <a:pPr indent="0" marL="0">
              <a:lnSpc>
                <a:spcPct val="112000"/>
              </a:lnSpc>
              <a:buNone/>
            </a:pPr>
            <a:r>
              <a:rPr lang="en-US" sz="1450" dirty="0">
                <a:solidFill>
                  <a:srgbClr val="DDDDDD"/>
                </a:solidFill>
                <a:latin typeface="Calibri" pitchFamily="34" charset="0"/>
                <a:ea typeface="Calibri" pitchFamily="34" charset="-122"/>
                <a:cs typeface="Calibri" pitchFamily="34" charset="-120"/>
              </a:rPr>
              <a:t>When an operation becomes dominant and stable, it gets frozen into silicon; when workloads shift, generality returns.  Fixed-function and general-purpose are not stages the field passes through — they are the two ends of a pendulum, and the swing is driven by economics.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When it pays to freeze an operation</a:t>
            </a:r>
            <a:endParaRPr lang="en-US" sz="2700" dirty="0"/>
          </a:p>
        </p:txBody>
      </p:sp>
      <p:sp>
        <p:nvSpPr>
          <p:cNvPr id="4" name="Shape 2"/>
          <p:cNvSpPr/>
          <p:nvPr/>
        </p:nvSpPr>
        <p:spPr>
          <a:xfrm>
            <a:off x="640080" y="1554480"/>
            <a:ext cx="10881360" cy="1417320"/>
          </a:xfrm>
          <a:prstGeom prst="roundRect">
            <a:avLst>
              <a:gd name="adj" fmla="val 3548"/>
            </a:avLst>
          </a:prstGeom>
          <a:solidFill>
            <a:srgbClr val="14141D"/>
          </a:solidFill>
          <a:ln w="12700">
            <a:solidFill>
              <a:srgbClr val="2A2A38"/>
            </a:solidFill>
            <a:prstDash val="solid"/>
          </a:ln>
        </p:spPr>
      </p:sp>
      <p:sp>
        <p:nvSpPr>
          <p:cNvPr id="5" name="Text 3"/>
          <p:cNvSpPr/>
          <p:nvPr/>
        </p:nvSpPr>
        <p:spPr>
          <a:xfrm>
            <a:off x="914400" y="1755648"/>
            <a:ext cx="10332720" cy="1051560"/>
          </a:xfrm>
          <a:prstGeom prst="rect">
            <a:avLst/>
          </a:prstGeom>
          <a:noFill/>
          <a:ln/>
        </p:spPr>
        <p:txBody>
          <a:bodyPr wrap="square" lIns="0" tIns="0" rIns="0" bIns="0" rtlCol="0" anchor="ctr"/>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Generality is never free.  </a:t>
            </a:r>
            <a:pPr indent="0" marL="0">
              <a:lnSpc>
                <a:spcPct val="112000"/>
              </a:lnSpc>
              <a:buNone/>
            </a:pPr>
            <a:r>
              <a:rPr lang="en-US" sz="1500" dirty="0">
                <a:solidFill>
                  <a:srgbClr val="DDDDDD"/>
                </a:solidFill>
                <a:latin typeface="Calibri" pitchFamily="34" charset="0"/>
                <a:ea typeface="Calibri" pitchFamily="34" charset="-122"/>
                <a:cs typeface="Calibri" pitchFamily="34" charset="-120"/>
              </a:rPr>
              <a:t>A programmable core spends transistors and energy on flexibility — fetching and decoding instructions, scheduling, deciding what to do next.  When a single operation comes to dominate the workload, all of that apparatus of choice is overhead spent doing the same thing over and over.</a:t>
            </a:r>
            <a:endParaRPr lang="en-US" sz="1500" dirty="0"/>
          </a:p>
        </p:txBody>
      </p:sp>
      <p:sp>
        <p:nvSpPr>
          <p:cNvPr id="6" name="Shape 4"/>
          <p:cNvSpPr/>
          <p:nvPr/>
        </p:nvSpPr>
        <p:spPr>
          <a:xfrm>
            <a:off x="640080" y="3246120"/>
            <a:ext cx="3474720" cy="1828800"/>
          </a:xfrm>
          <a:prstGeom prst="roundRect">
            <a:avLst>
              <a:gd name="adj" fmla="val 2750"/>
            </a:avLst>
          </a:prstGeom>
          <a:solidFill>
            <a:srgbClr val="191924"/>
          </a:solidFill>
          <a:ln w="12700">
            <a:solidFill>
              <a:srgbClr val="2A2A38"/>
            </a:solidFill>
            <a:prstDash val="solid"/>
          </a:ln>
        </p:spPr>
      </p:sp>
      <p:sp>
        <p:nvSpPr>
          <p:cNvPr id="7" name="Text 5"/>
          <p:cNvSpPr/>
          <p:nvPr/>
        </p:nvSpPr>
        <p:spPr>
          <a:xfrm>
            <a:off x="896112" y="3456432"/>
            <a:ext cx="3017520" cy="292608"/>
          </a:xfrm>
          <a:prstGeom prst="rect">
            <a:avLst/>
          </a:prstGeom>
          <a:noFill/>
          <a:ln/>
        </p:spPr>
        <p:txBody>
          <a:bodyPr wrap="square" lIns="0" tIns="0" rIns="0" bIns="0" rtlCol="0" anchor="ctr"/>
          <a:lstStyle/>
          <a:p>
            <a:pPr indent="0" marL="0">
              <a:buNone/>
            </a:pPr>
            <a:r>
              <a:rPr lang="en-US" sz="1500" b="1" dirty="0">
                <a:solidFill>
                  <a:srgbClr val="3CE8B2"/>
                </a:solidFill>
                <a:latin typeface="Courier New" pitchFamily="34" charset="0"/>
                <a:ea typeface="Courier New" pitchFamily="34" charset="-122"/>
                <a:cs typeface="Courier New" pitchFamily="34" charset="-120"/>
              </a:rPr>
              <a:t>DOMINANT</a:t>
            </a:r>
            <a:endParaRPr lang="en-US" sz="1500" dirty="0"/>
          </a:p>
        </p:txBody>
      </p:sp>
      <p:sp>
        <p:nvSpPr>
          <p:cNvPr id="8" name="Text 6"/>
          <p:cNvSpPr/>
          <p:nvPr/>
        </p:nvSpPr>
        <p:spPr>
          <a:xfrm>
            <a:off x="896112" y="3803904"/>
            <a:ext cx="2999232" cy="1143000"/>
          </a:xfrm>
          <a:prstGeom prst="rect">
            <a:avLst/>
          </a:prstGeom>
          <a:noFill/>
          <a:ln/>
        </p:spPr>
        <p:txBody>
          <a:bodyPr wrap="square" lIns="0" tIns="0" rIns="0" bIns="0" rtlCol="0" anchor="ctr"/>
          <a:lstStyle/>
          <a:p>
            <a:pPr indent="0" marL="0">
              <a:lnSpc>
                <a:spcPct val="110000"/>
              </a:lnSpc>
              <a:buNone/>
            </a:pPr>
            <a:r>
              <a:rPr lang="en-US" sz="1250" dirty="0">
                <a:solidFill>
                  <a:srgbClr val="DDDDDD"/>
                </a:solidFill>
                <a:latin typeface="Calibri" pitchFamily="34" charset="0"/>
                <a:ea typeface="Calibri" pitchFamily="34" charset="-122"/>
                <a:cs typeface="Calibri" pitchFamily="34" charset="-120"/>
              </a:rPr>
              <a:t>The operation owns the workload — most cycles, most energy, most of what the machine is bought to do.</a:t>
            </a:r>
            <a:endParaRPr lang="en-US" sz="1250" dirty="0"/>
          </a:p>
        </p:txBody>
      </p:sp>
      <p:sp>
        <p:nvSpPr>
          <p:cNvPr id="9" name="Shape 7"/>
          <p:cNvSpPr/>
          <p:nvPr/>
        </p:nvSpPr>
        <p:spPr>
          <a:xfrm>
            <a:off x="4343400" y="3246120"/>
            <a:ext cx="3474720" cy="1828800"/>
          </a:xfrm>
          <a:prstGeom prst="roundRect">
            <a:avLst>
              <a:gd name="adj" fmla="val 2750"/>
            </a:avLst>
          </a:prstGeom>
          <a:solidFill>
            <a:srgbClr val="191924"/>
          </a:solidFill>
          <a:ln w="12700">
            <a:solidFill>
              <a:srgbClr val="2A2A38"/>
            </a:solidFill>
            <a:prstDash val="solid"/>
          </a:ln>
        </p:spPr>
      </p:sp>
      <p:sp>
        <p:nvSpPr>
          <p:cNvPr id="10" name="Text 8"/>
          <p:cNvSpPr/>
          <p:nvPr/>
        </p:nvSpPr>
        <p:spPr>
          <a:xfrm>
            <a:off x="4599432" y="3456432"/>
            <a:ext cx="3017520" cy="292608"/>
          </a:xfrm>
          <a:prstGeom prst="rect">
            <a:avLst/>
          </a:prstGeom>
          <a:noFill/>
          <a:ln/>
        </p:spPr>
        <p:txBody>
          <a:bodyPr wrap="square" lIns="0" tIns="0" rIns="0" bIns="0" rtlCol="0" anchor="ctr"/>
          <a:lstStyle/>
          <a:p>
            <a:pPr indent="0" marL="0">
              <a:buNone/>
            </a:pPr>
            <a:r>
              <a:rPr lang="en-US" sz="1500" b="1" dirty="0">
                <a:solidFill>
                  <a:srgbClr val="3CE8B2"/>
                </a:solidFill>
                <a:latin typeface="Courier New" pitchFamily="34" charset="0"/>
                <a:ea typeface="Courier New" pitchFamily="34" charset="-122"/>
                <a:cs typeface="Courier New" pitchFamily="34" charset="-120"/>
              </a:rPr>
              <a:t>STABLE</a:t>
            </a:r>
            <a:endParaRPr lang="en-US" sz="1500" dirty="0"/>
          </a:p>
        </p:txBody>
      </p:sp>
      <p:sp>
        <p:nvSpPr>
          <p:cNvPr id="11" name="Text 9"/>
          <p:cNvSpPr/>
          <p:nvPr/>
        </p:nvSpPr>
        <p:spPr>
          <a:xfrm>
            <a:off x="4599432" y="3803904"/>
            <a:ext cx="2999232" cy="1143000"/>
          </a:xfrm>
          <a:prstGeom prst="rect">
            <a:avLst/>
          </a:prstGeom>
          <a:noFill/>
          <a:ln/>
        </p:spPr>
        <p:txBody>
          <a:bodyPr wrap="square" lIns="0" tIns="0" rIns="0" bIns="0" rtlCol="0" anchor="ctr"/>
          <a:lstStyle/>
          <a:p>
            <a:pPr indent="0" marL="0">
              <a:lnSpc>
                <a:spcPct val="110000"/>
              </a:lnSpc>
              <a:buNone/>
            </a:pPr>
            <a:r>
              <a:rPr lang="en-US" sz="1250" dirty="0">
                <a:solidFill>
                  <a:srgbClr val="DDDDDD"/>
                </a:solidFill>
                <a:latin typeface="Calibri" pitchFamily="34" charset="0"/>
                <a:ea typeface="Calibri" pitchFamily="34" charset="-122"/>
                <a:cs typeface="Calibri" pitchFamily="34" charset="-120"/>
              </a:rPr>
              <a:t>It will not change underneath the silicon.  A frozen circuit cannot be patched; freeze too early and the workload walks away from it.</a:t>
            </a:r>
            <a:endParaRPr lang="en-US" sz="1250" dirty="0"/>
          </a:p>
        </p:txBody>
      </p:sp>
      <p:sp>
        <p:nvSpPr>
          <p:cNvPr id="12" name="Shape 10"/>
          <p:cNvSpPr/>
          <p:nvPr/>
        </p:nvSpPr>
        <p:spPr>
          <a:xfrm>
            <a:off x="8046720" y="3246120"/>
            <a:ext cx="3474720" cy="1828800"/>
          </a:xfrm>
          <a:prstGeom prst="roundRect">
            <a:avLst>
              <a:gd name="adj" fmla="val 2750"/>
            </a:avLst>
          </a:prstGeom>
          <a:solidFill>
            <a:srgbClr val="191924"/>
          </a:solidFill>
          <a:ln w="12700">
            <a:solidFill>
              <a:srgbClr val="2A2A38"/>
            </a:solidFill>
            <a:prstDash val="solid"/>
          </a:ln>
        </p:spPr>
      </p:sp>
      <p:sp>
        <p:nvSpPr>
          <p:cNvPr id="13" name="Text 11"/>
          <p:cNvSpPr/>
          <p:nvPr/>
        </p:nvSpPr>
        <p:spPr>
          <a:xfrm>
            <a:off x="8302752" y="3456432"/>
            <a:ext cx="3017520" cy="292608"/>
          </a:xfrm>
          <a:prstGeom prst="rect">
            <a:avLst/>
          </a:prstGeom>
          <a:noFill/>
          <a:ln/>
        </p:spPr>
        <p:txBody>
          <a:bodyPr wrap="square" lIns="0" tIns="0" rIns="0" bIns="0" rtlCol="0" anchor="ctr"/>
          <a:lstStyle/>
          <a:p>
            <a:pPr indent="0" marL="0">
              <a:buNone/>
            </a:pPr>
            <a:r>
              <a:rPr lang="en-US" sz="1500" b="1" dirty="0">
                <a:solidFill>
                  <a:srgbClr val="E8A832"/>
                </a:solidFill>
                <a:latin typeface="Courier New" pitchFamily="34" charset="0"/>
                <a:ea typeface="Courier New" pitchFamily="34" charset="-122"/>
                <a:cs typeface="Courier New" pitchFamily="34" charset="-120"/>
              </a:rPr>
              <a:t>FEEDABLE</a:t>
            </a:r>
            <a:endParaRPr lang="en-US" sz="1500" dirty="0"/>
          </a:p>
        </p:txBody>
      </p:sp>
      <p:sp>
        <p:nvSpPr>
          <p:cNvPr id="14" name="Text 12"/>
          <p:cNvSpPr/>
          <p:nvPr/>
        </p:nvSpPr>
        <p:spPr>
          <a:xfrm>
            <a:off x="8302752" y="3803904"/>
            <a:ext cx="2999232" cy="1143000"/>
          </a:xfrm>
          <a:prstGeom prst="rect">
            <a:avLst/>
          </a:prstGeom>
          <a:noFill/>
          <a:ln/>
        </p:spPr>
        <p:txBody>
          <a:bodyPr wrap="square" lIns="0" tIns="0" rIns="0" bIns="0" rtlCol="0" anchor="ctr"/>
          <a:lstStyle/>
          <a:p>
            <a:pPr indent="0" marL="0">
              <a:lnSpc>
                <a:spcPct val="110000"/>
              </a:lnSpc>
              <a:buNone/>
            </a:pPr>
            <a:r>
              <a:rPr lang="en-US" sz="1250" dirty="0">
                <a:solidFill>
                  <a:srgbClr val="DDDDDD"/>
                </a:solidFill>
                <a:latin typeface="Calibri" pitchFamily="34" charset="0"/>
                <a:ea typeface="Calibri" pitchFamily="34" charset="-122"/>
                <a:cs typeface="Calibri" pitchFamily="34" charset="-120"/>
              </a:rPr>
              <a:t>The memory system can keep the circuit busy.  Most operations starve at the memory’s pace — the rabbit holes explain the one that does not.</a:t>
            </a:r>
            <a:endParaRPr lang="en-US" sz="1250" dirty="0"/>
          </a:p>
        </p:txBody>
      </p:sp>
      <p:sp>
        <p:nvSpPr>
          <p:cNvPr id="15" name="Text 13"/>
          <p:cNvSpPr/>
          <p:nvPr/>
        </p:nvSpPr>
        <p:spPr>
          <a:xfrm>
            <a:off x="640080" y="5486400"/>
            <a:ext cx="10881360" cy="731520"/>
          </a:xfrm>
          <a:prstGeom prst="rect">
            <a:avLst/>
          </a:prstGeom>
          <a:noFill/>
          <a:ln/>
        </p:spPr>
        <p:txBody>
          <a:bodyPr wrap="square" lIns="0" tIns="0" rIns="0" bIns="0" rtlCol="0" anchor="ctr"/>
          <a:lstStyle/>
          <a:p>
            <a:pPr indent="0" marL="0">
              <a:lnSpc>
                <a:spcPct val="115000"/>
              </a:lnSpc>
              <a:buNone/>
            </a:pPr>
            <a:r>
              <a:rPr lang="en-US" sz="1500" b="1" dirty="0">
                <a:solidFill>
                  <a:srgbClr val="3CE8B2"/>
                </a:solidFill>
                <a:latin typeface="Calibri" pitchFamily="34" charset="0"/>
                <a:ea typeface="Calibri" pitchFamily="34" charset="-122"/>
                <a:cs typeface="Calibri" pitchFamily="34" charset="-120"/>
              </a:rPr>
              <a:t>1999:</a:t>
            </a:r>
            <a:pPr indent="0" marL="0">
              <a:lnSpc>
                <a:spcPct val="115000"/>
              </a:lnSpc>
              <a:buNone/>
            </a:pPr>
            <a:r>
              <a:rPr lang="en-US" sz="1500" dirty="0">
                <a:solidFill>
                  <a:srgbClr val="DDDDDD"/>
                </a:solidFill>
                <a:latin typeface="Calibri" pitchFamily="34" charset="0"/>
                <a:ea typeface="Calibri" pitchFamily="34" charset="-122"/>
                <a:cs typeface="Calibri" pitchFamily="34" charset="-120"/>
              </a:rPr>
              <a:t>  the GeForce 256 froze transform &amp; lighting and the word “GPU” was coined.  </a:t>
            </a:r>
            <a:pPr indent="0" marL="0">
              <a:lnSpc>
                <a:spcPct val="115000"/>
              </a:lnSpc>
              <a:buNone/>
            </a:pPr>
            <a:r>
              <a:rPr lang="en-US" sz="1500" b="1" dirty="0">
                <a:solidFill>
                  <a:srgbClr val="E8A832"/>
                </a:solidFill>
                <a:latin typeface="Calibri" pitchFamily="34" charset="0"/>
                <a:ea typeface="Calibri" pitchFamily="34" charset="-122"/>
                <a:cs typeface="Calibri" pitchFamily="34" charset="-120"/>
              </a:rPr>
              <a:t>2017:</a:t>
            </a:r>
            <a:pPr indent="0" marL="0">
              <a:lnSpc>
                <a:spcPct val="115000"/>
              </a:lnSpc>
              <a:buNone/>
            </a:pPr>
            <a:r>
              <a:rPr lang="en-US" sz="1500" dirty="0">
                <a:solidFill>
                  <a:srgbClr val="DDDDDD"/>
                </a:solidFill>
                <a:latin typeface="Calibri" pitchFamily="34" charset="0"/>
                <a:ea typeface="Calibri" pitchFamily="34" charset="-122"/>
                <a:cs typeface="Calibri" pitchFamily="34" charset="-120"/>
              </a:rPr>
              <a:t>  the same logic, applied to a new operation.  The principle never changed — only the operation worth freezing did.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T&amp;L bargain again — tensor cores, 2017</a:t>
            </a:r>
            <a:endParaRPr lang="en-US" sz="2700" dirty="0"/>
          </a:p>
        </p:txBody>
      </p:sp>
      <p:sp>
        <p:nvSpPr>
          <p:cNvPr id="4" name="Shape 2"/>
          <p:cNvSpPr/>
          <p:nvPr/>
        </p:nvSpPr>
        <p:spPr>
          <a:xfrm>
            <a:off x="640080" y="1554480"/>
            <a:ext cx="5394960" cy="3794760"/>
          </a:xfrm>
          <a:prstGeom prst="roundRect">
            <a:avLst>
              <a:gd name="adj" fmla="val 1325"/>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WHAT VOLTA FROZE</a:t>
            </a:r>
            <a:endParaRPr lang="en-US" sz="1250" dirty="0"/>
          </a:p>
        </p:txBody>
      </p:sp>
      <p:sp>
        <p:nvSpPr>
          <p:cNvPr id="6" name="Text 4"/>
          <p:cNvSpPr/>
          <p:nvPr/>
        </p:nvSpPr>
        <p:spPr>
          <a:xfrm>
            <a:off x="914400" y="2103120"/>
            <a:ext cx="4846320" cy="384048"/>
          </a:xfrm>
          <a:prstGeom prst="rect">
            <a:avLst/>
          </a:prstGeom>
          <a:noFill/>
          <a:ln/>
        </p:spPr>
        <p:txBody>
          <a:bodyPr wrap="square" lIns="0" tIns="0" rIns="0" bIns="0" rtlCol="0" anchor="ctr"/>
          <a:lstStyle/>
          <a:p>
            <a:pPr indent="0" marL="0">
              <a:buNone/>
            </a:pPr>
            <a:r>
              <a:rPr lang="en-US" sz="1900" b="1" dirty="0">
                <a:solidFill>
                  <a:srgbClr val="FFFFFF"/>
                </a:solidFill>
                <a:latin typeface="Courier New" pitchFamily="34" charset="0"/>
                <a:ea typeface="Courier New" pitchFamily="34" charset="-122"/>
                <a:cs typeface="Courier New" pitchFamily="34" charset="-120"/>
              </a:rPr>
              <a:t>D = A·B + C  on 4×4 tiles</a:t>
            </a:r>
            <a:endParaRPr lang="en-US" sz="1900" dirty="0"/>
          </a:p>
        </p:txBody>
      </p:sp>
      <p:sp>
        <p:nvSpPr>
          <p:cNvPr id="7" name="Text 5"/>
          <p:cNvSpPr/>
          <p:nvPr/>
        </p:nvSpPr>
        <p:spPr>
          <a:xfrm>
            <a:off x="914400" y="2606040"/>
            <a:ext cx="4892040" cy="26517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64 multiply-accumulates as one hardware step — no instruction fetched, no scheduling decision per multiply.  The wiring is the algorithm.</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V100 (2017): 640 units beside the general cores — up to ~12× on the same arithmetic.</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Half-precision products, wider accumulation: rounding compounds over thousands of terms, so the sum is carried wide.</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Large matrices reach it by tiling — block matmul is still matmul; nothing is lost.</a:t>
            </a:r>
            <a:endParaRPr lang="en-US" sz="1250" dirty="0"/>
          </a:p>
        </p:txBody>
      </p:sp>
      <p:sp>
        <p:nvSpPr>
          <p:cNvPr id="8" name="Shape 6"/>
          <p:cNvSpPr/>
          <p:nvPr/>
        </p:nvSpPr>
        <p:spPr>
          <a:xfrm>
            <a:off x="6263640" y="1554480"/>
            <a:ext cx="5257800" cy="3794760"/>
          </a:xfrm>
          <a:prstGeom prst="roundRect">
            <a:avLst>
              <a:gd name="adj" fmla="val 1325"/>
            </a:avLst>
          </a:prstGeom>
          <a:solidFill>
            <a:srgbClr val="14141D"/>
          </a:solidFill>
          <a:ln w="12700">
            <a:solidFill>
              <a:srgbClr val="2A2A38"/>
            </a:solidFill>
            <a:prstDash val="solid"/>
          </a:ln>
        </p:spPr>
      </p:sp>
      <p:sp>
        <p:nvSpPr>
          <p:cNvPr id="9" name="Shape 7"/>
          <p:cNvSpPr/>
          <p:nvPr/>
        </p:nvSpPr>
        <p:spPr>
          <a:xfrm>
            <a:off x="6537960" y="1783080"/>
            <a:ext cx="274320" cy="274320"/>
          </a:xfrm>
          <a:prstGeom prst="roundRect">
            <a:avLst>
              <a:gd name="adj" fmla="val 16667"/>
            </a:avLst>
          </a:prstGeom>
          <a:solidFill>
            <a:srgbClr val="101B30"/>
          </a:solidFill>
          <a:ln w="15875">
            <a:solidFill>
              <a:srgbClr val="6AA6FF"/>
            </a:solidFill>
            <a:prstDash val="solid"/>
          </a:ln>
        </p:spPr>
      </p:sp>
      <p:sp>
        <p:nvSpPr>
          <p:cNvPr id="10" name="Text 8"/>
          <p:cNvSpPr/>
          <p:nvPr/>
        </p:nvSpPr>
        <p:spPr>
          <a:xfrm>
            <a:off x="6537960" y="1772107"/>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11" name="Text 9"/>
          <p:cNvSpPr/>
          <p:nvPr/>
        </p:nvSpPr>
        <p:spPr>
          <a:xfrm>
            <a:off x="6922008" y="1772107"/>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WHAT IS A TENSOR CORE? · §8 NOTE</a:t>
            </a:r>
            <a:endParaRPr lang="en-US" sz="1150" dirty="0"/>
          </a:p>
        </p:txBody>
      </p:sp>
      <p:sp>
        <p:nvSpPr>
          <p:cNvPr id="12" name="Text 10"/>
          <p:cNvSpPr/>
          <p:nvPr/>
        </p:nvSpPr>
        <p:spPr>
          <a:xfrm>
            <a:off x="6537960" y="2212848"/>
            <a:ext cx="475488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Why matmul is the one you can feed</a:t>
            </a:r>
            <a:endParaRPr lang="en-US" sz="1550" dirty="0"/>
          </a:p>
        </p:txBody>
      </p:sp>
      <p:sp>
        <p:nvSpPr>
          <p:cNvPr id="13" name="Text 11"/>
          <p:cNvSpPr/>
          <p:nvPr/>
        </p:nvSpPr>
        <p:spPr>
          <a:xfrm>
            <a:off x="6537960" y="2606040"/>
            <a:ext cx="4754880" cy="548640"/>
          </a:xfrm>
          <a:prstGeom prst="rect">
            <a:avLst/>
          </a:prstGeom>
          <a:noFill/>
          <a:ln/>
        </p:spPr>
        <p:txBody>
          <a:bodyPr wrap="square" lIns="0" tIns="0" rIns="0" bIns="0" rtlCol="0" anchor="ctr"/>
          <a:lstStyle/>
          <a:p>
            <a:pPr indent="0" marL="0">
              <a:buNone/>
            </a:pPr>
            <a:r>
              <a:rPr lang="en-US" sz="2700" b="1" dirty="0">
                <a:solidFill>
                  <a:srgbClr val="E8A832"/>
                </a:solidFill>
                <a:latin typeface="Courier New" pitchFamily="34" charset="0"/>
                <a:ea typeface="Courier New" pitchFamily="34" charset="-122"/>
                <a:cs typeface="Courier New" pitchFamily="34" charset="-120"/>
              </a:rPr>
              <a:t>n³ ops on n² data</a:t>
            </a:r>
            <a:endParaRPr lang="en-US" sz="2700" dirty="0"/>
          </a:p>
        </p:txBody>
      </p:sp>
      <p:sp>
        <p:nvSpPr>
          <p:cNvPr id="14" name="Text 12"/>
          <p:cNvSpPr/>
          <p:nvPr/>
        </p:nvSpPr>
        <p:spPr>
          <a:xfrm>
            <a:off x="6537960" y="3246120"/>
            <a:ext cx="4754880" cy="1920240"/>
          </a:xfrm>
          <a:prstGeom prst="rect">
            <a:avLst/>
          </a:prstGeom>
          <a:noFill/>
          <a:ln/>
        </p:spPr>
        <p:txBody>
          <a:bodyPr wrap="square" lIns="0" tIns="0" rIns="0" bIns="0" rtlCol="0" anchor="ctr"/>
          <a:lstStyle/>
          <a:p>
            <a:pPr indent="0" marL="0">
              <a:lnSpc>
                <a:spcPct val="112000"/>
              </a:lnSpc>
              <a:buNone/>
            </a:pPr>
            <a:r>
              <a:rPr lang="en-US" sz="1250" dirty="0">
                <a:solidFill>
                  <a:srgbClr val="DDDDDD"/>
                </a:solidFill>
                <a:latin typeface="Calibri" pitchFamily="34" charset="0"/>
                <a:ea typeface="Calibri" pitchFamily="34" charset="-122"/>
                <a:cs typeface="Calibri" pitchFamily="34" charset="-120"/>
              </a:rPr>
              <a:t>Every value fetched from memory is reused n times.  Moving data is the hidden cost of the whole platform (Lesson 4) — and the matrix multiply is the rare operation whose arithmetic grows faster than its appetite for data.  Freeze almost anything else and the circuit starves at the memory’s pace.  Freeze this, and the arithmetic outruns the traffic.</a:t>
            </a:r>
            <a:endParaRPr lang="en-US" sz="1250" dirty="0"/>
          </a:p>
        </p:txBody>
      </p:sp>
      <p:sp>
        <p:nvSpPr>
          <p:cNvPr id="15" name="Shape 13"/>
          <p:cNvSpPr/>
          <p:nvPr/>
        </p:nvSpPr>
        <p:spPr>
          <a:xfrm>
            <a:off x="640080" y="5577840"/>
            <a:ext cx="10881360" cy="777240"/>
          </a:xfrm>
          <a:prstGeom prst="roundRect">
            <a:avLst>
              <a:gd name="adj" fmla="val 6471"/>
            </a:avLst>
          </a:prstGeom>
          <a:solidFill>
            <a:srgbClr val="1A160C"/>
          </a:solidFill>
          <a:ln w="12700">
            <a:solidFill>
              <a:srgbClr val="2A2A38"/>
            </a:solidFill>
            <a:prstDash val="solid"/>
          </a:ln>
        </p:spPr>
      </p:sp>
      <p:sp>
        <p:nvSpPr>
          <p:cNvPr id="16" name="Text 14"/>
          <p:cNvSpPr/>
          <p:nvPr/>
        </p:nvSpPr>
        <p:spPr>
          <a:xfrm>
            <a:off x="914400" y="5742432"/>
            <a:ext cx="10332720" cy="457200"/>
          </a:xfrm>
          <a:prstGeom prst="rect">
            <a:avLst/>
          </a:prstGeom>
          <a:noFill/>
          <a:ln/>
        </p:spPr>
        <p:txBody>
          <a:bodyPr wrap="square" lIns="0" tIns="0" rIns="0" bIns="0" rtlCol="0" anchor="ctr"/>
          <a:lstStyle/>
          <a:p>
            <a:pPr indent="0" marL="0">
              <a:buNone/>
            </a:pPr>
            <a:r>
              <a:rPr lang="en-US" sz="1550" i="1" dirty="0">
                <a:solidFill>
                  <a:srgbClr val="E8A832"/>
                </a:solidFill>
                <a:latin typeface="Calibri" pitchFamily="34" charset="0"/>
                <a:ea typeface="Calibri" pitchFamily="34" charset="-122"/>
                <a:cs typeface="Calibri" pitchFamily="34" charset="-120"/>
              </a:rPr>
              <a:t>“It is the transform-and-lighting unit’s bargain again, with the matrix multiply in the place of geometry.”</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math, written out — one MMA tile (2×2 for space)</a:t>
            </a:r>
            <a:endParaRPr lang="en-US" sz="2700" dirty="0"/>
          </a:p>
        </p:txBody>
      </p:sp>
      <p:sp>
        <p:nvSpPr>
          <p:cNvPr id="4" name="Text 2"/>
          <p:cNvSpPr/>
          <p:nvPr/>
        </p:nvSpPr>
        <p:spPr>
          <a:xfrm>
            <a:off x="822960" y="1444752"/>
            <a:ext cx="1828800" cy="256032"/>
          </a:xfrm>
          <a:prstGeom prst="rect">
            <a:avLst/>
          </a:prstGeom>
          <a:noFill/>
          <a:ln/>
        </p:spPr>
        <p:txBody>
          <a:bodyPr wrap="square" lIns="0" tIns="0" rIns="0" bIns="0" rtlCol="0" anchor="ctr"/>
          <a:lstStyle/>
          <a:p>
            <a:pPr algn="ctr" indent="0" marL="0">
              <a:buNone/>
            </a:pPr>
            <a:r>
              <a:rPr lang="en-US" sz="1300" b="1" dirty="0">
                <a:solidFill>
                  <a:srgbClr val="E8A832"/>
                </a:solidFill>
                <a:latin typeface="Courier New" pitchFamily="34" charset="0"/>
                <a:ea typeface="Courier New" pitchFamily="34" charset="-122"/>
                <a:cs typeface="Courier New" pitchFamily="34" charset="-120"/>
              </a:rPr>
              <a:t>D</a:t>
            </a:r>
            <a:endParaRPr lang="en-US" sz="1300" dirty="0"/>
          </a:p>
        </p:txBody>
      </p:sp>
      <p:sp>
        <p:nvSpPr>
          <p:cNvPr id="5" name="Text 3"/>
          <p:cNvSpPr/>
          <p:nvPr/>
        </p:nvSpPr>
        <p:spPr>
          <a:xfrm>
            <a:off x="822960" y="1737360"/>
            <a:ext cx="182880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E8A832"/>
                </a:solidFill>
                <a:latin typeface="Courier New" pitchFamily="34" charset="0"/>
                <a:ea typeface="Courier New" pitchFamily="34" charset="-122"/>
                <a:cs typeface="Courier New" pitchFamily="34" charset="-120"/>
              </a:rPr>
              <a:t>[d11 d12]</a:t>
            </a:r>
            <a:endParaRPr lang="en-US" sz="1500" dirty="0"/>
          </a:p>
          <a:p>
            <a:pPr algn="ctr" indent="0" marL="0">
              <a:lnSpc>
                <a:spcPct val="110000"/>
              </a:lnSpc>
              <a:buNone/>
            </a:pPr>
            <a:r>
              <a:rPr lang="en-US" sz="1500" b="1" dirty="0">
                <a:solidFill>
                  <a:srgbClr val="E8A832"/>
                </a:solidFill>
                <a:latin typeface="Courier New" pitchFamily="34" charset="0"/>
                <a:ea typeface="Courier New" pitchFamily="34" charset="-122"/>
                <a:cs typeface="Courier New" pitchFamily="34" charset="-120"/>
              </a:rPr>
              <a:t>[d21 d22]</a:t>
            </a:r>
            <a:endParaRPr lang="en-US" sz="1500" dirty="0"/>
          </a:p>
        </p:txBody>
      </p:sp>
      <p:sp>
        <p:nvSpPr>
          <p:cNvPr id="6" name="Text 4"/>
          <p:cNvSpPr/>
          <p:nvPr/>
        </p:nvSpPr>
        <p:spPr>
          <a:xfrm>
            <a:off x="3063240" y="1444752"/>
            <a:ext cx="1828800" cy="256032"/>
          </a:xfrm>
          <a:prstGeom prst="rect">
            <a:avLst/>
          </a:prstGeom>
          <a:noFill/>
          <a:ln/>
        </p:spPr>
        <p:txBody>
          <a:bodyPr wrap="square" lIns="0" tIns="0" rIns="0" bIns="0" rtlCol="0" anchor="ctr"/>
          <a:lstStyle/>
          <a:p>
            <a:pPr algn="ctr" indent="0" marL="0">
              <a:buNone/>
            </a:pPr>
            <a:r>
              <a:rPr lang="en-US" sz="1300" b="1" dirty="0">
                <a:solidFill>
                  <a:srgbClr val="3CE8B2"/>
                </a:solidFill>
                <a:latin typeface="Courier New" pitchFamily="34" charset="0"/>
                <a:ea typeface="Courier New" pitchFamily="34" charset="-122"/>
                <a:cs typeface="Courier New" pitchFamily="34" charset="-120"/>
              </a:rPr>
              <a:t>A</a:t>
            </a:r>
            <a:endParaRPr lang="en-US" sz="1300" dirty="0"/>
          </a:p>
        </p:txBody>
      </p:sp>
      <p:sp>
        <p:nvSpPr>
          <p:cNvPr id="7" name="Text 5"/>
          <p:cNvSpPr/>
          <p:nvPr/>
        </p:nvSpPr>
        <p:spPr>
          <a:xfrm>
            <a:off x="3063240" y="1737360"/>
            <a:ext cx="182880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3CE8B2"/>
                </a:solidFill>
                <a:latin typeface="Courier New" pitchFamily="34" charset="0"/>
                <a:ea typeface="Courier New" pitchFamily="34" charset="-122"/>
                <a:cs typeface="Courier New" pitchFamily="34" charset="-120"/>
              </a:rPr>
              <a:t>[a11 a12]</a:t>
            </a:r>
            <a:endParaRPr lang="en-US" sz="1500" dirty="0"/>
          </a:p>
          <a:p>
            <a:pPr algn="ctr" indent="0" marL="0">
              <a:lnSpc>
                <a:spcPct val="110000"/>
              </a:lnSpc>
              <a:buNone/>
            </a:pPr>
            <a:r>
              <a:rPr lang="en-US" sz="1500" b="1" dirty="0">
                <a:solidFill>
                  <a:srgbClr val="3CE8B2"/>
                </a:solidFill>
                <a:latin typeface="Courier New" pitchFamily="34" charset="0"/>
                <a:ea typeface="Courier New" pitchFamily="34" charset="-122"/>
                <a:cs typeface="Courier New" pitchFamily="34" charset="-120"/>
              </a:rPr>
              <a:t>[a21 a22]</a:t>
            </a:r>
            <a:endParaRPr lang="en-US" sz="1500" dirty="0"/>
          </a:p>
        </p:txBody>
      </p:sp>
      <p:sp>
        <p:nvSpPr>
          <p:cNvPr id="8" name="Text 6"/>
          <p:cNvSpPr/>
          <p:nvPr/>
        </p:nvSpPr>
        <p:spPr>
          <a:xfrm>
            <a:off x="5303520" y="1444752"/>
            <a:ext cx="1828800" cy="256032"/>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B</a:t>
            </a:r>
            <a:endParaRPr lang="en-US" sz="1300" dirty="0"/>
          </a:p>
        </p:txBody>
      </p:sp>
      <p:sp>
        <p:nvSpPr>
          <p:cNvPr id="9" name="Text 7"/>
          <p:cNvSpPr/>
          <p:nvPr/>
        </p:nvSpPr>
        <p:spPr>
          <a:xfrm>
            <a:off x="5303520" y="1737360"/>
            <a:ext cx="182880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6AA6FF"/>
                </a:solidFill>
                <a:latin typeface="Courier New" pitchFamily="34" charset="0"/>
                <a:ea typeface="Courier New" pitchFamily="34" charset="-122"/>
                <a:cs typeface="Courier New" pitchFamily="34" charset="-120"/>
              </a:rPr>
              <a:t>[b11 b12]</a:t>
            </a:r>
            <a:endParaRPr lang="en-US" sz="1500" dirty="0"/>
          </a:p>
          <a:p>
            <a:pPr algn="ctr" indent="0" marL="0">
              <a:lnSpc>
                <a:spcPct val="110000"/>
              </a:lnSpc>
              <a:buNone/>
            </a:pPr>
            <a:r>
              <a:rPr lang="en-US" sz="1500" b="1" dirty="0">
                <a:solidFill>
                  <a:srgbClr val="6AA6FF"/>
                </a:solidFill>
                <a:latin typeface="Courier New" pitchFamily="34" charset="0"/>
                <a:ea typeface="Courier New" pitchFamily="34" charset="-122"/>
                <a:cs typeface="Courier New" pitchFamily="34" charset="-120"/>
              </a:rPr>
              <a:t>[b21 b22]</a:t>
            </a:r>
            <a:endParaRPr lang="en-US" sz="1500" dirty="0"/>
          </a:p>
        </p:txBody>
      </p:sp>
      <p:sp>
        <p:nvSpPr>
          <p:cNvPr id="10" name="Text 8"/>
          <p:cNvSpPr/>
          <p:nvPr/>
        </p:nvSpPr>
        <p:spPr>
          <a:xfrm>
            <a:off x="7543800" y="1444752"/>
            <a:ext cx="1828800" cy="256032"/>
          </a:xfrm>
          <a:prstGeom prst="rect">
            <a:avLst/>
          </a:prstGeom>
          <a:noFill/>
          <a:ln/>
        </p:spPr>
        <p:txBody>
          <a:bodyPr wrap="square" lIns="0" tIns="0" rIns="0" bIns="0" rtlCol="0" anchor="ctr"/>
          <a:lstStyle/>
          <a:p>
            <a:pPr algn="ctr" indent="0" marL="0">
              <a:buNone/>
            </a:pPr>
            <a:r>
              <a:rPr lang="en-US" sz="1300" b="1" dirty="0">
                <a:solidFill>
                  <a:srgbClr val="E8835C"/>
                </a:solidFill>
                <a:latin typeface="Courier New" pitchFamily="34" charset="0"/>
                <a:ea typeface="Courier New" pitchFamily="34" charset="-122"/>
                <a:cs typeface="Courier New" pitchFamily="34" charset="-120"/>
              </a:rPr>
              <a:t>C</a:t>
            </a:r>
            <a:endParaRPr lang="en-US" sz="1300" dirty="0"/>
          </a:p>
        </p:txBody>
      </p:sp>
      <p:sp>
        <p:nvSpPr>
          <p:cNvPr id="11" name="Text 9"/>
          <p:cNvSpPr/>
          <p:nvPr/>
        </p:nvSpPr>
        <p:spPr>
          <a:xfrm>
            <a:off x="7543800" y="1737360"/>
            <a:ext cx="182880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E8835C"/>
                </a:solidFill>
                <a:latin typeface="Courier New" pitchFamily="34" charset="0"/>
                <a:ea typeface="Courier New" pitchFamily="34" charset="-122"/>
                <a:cs typeface="Courier New" pitchFamily="34" charset="-120"/>
              </a:rPr>
              <a:t>[c11 c12]</a:t>
            </a:r>
            <a:endParaRPr lang="en-US" sz="1500" dirty="0"/>
          </a:p>
          <a:p>
            <a:pPr algn="ctr" indent="0" marL="0">
              <a:lnSpc>
                <a:spcPct val="110000"/>
              </a:lnSpc>
              <a:buNone/>
            </a:pPr>
            <a:r>
              <a:rPr lang="en-US" sz="1500" b="1" dirty="0">
                <a:solidFill>
                  <a:srgbClr val="E8835C"/>
                </a:solidFill>
                <a:latin typeface="Courier New" pitchFamily="34" charset="0"/>
                <a:ea typeface="Courier New" pitchFamily="34" charset="-122"/>
                <a:cs typeface="Courier New" pitchFamily="34" charset="-120"/>
              </a:rPr>
              <a:t>[c21 c22]</a:t>
            </a:r>
            <a:endParaRPr lang="en-US" sz="1500" dirty="0"/>
          </a:p>
        </p:txBody>
      </p:sp>
      <p:sp>
        <p:nvSpPr>
          <p:cNvPr id="12" name="Text 10"/>
          <p:cNvSpPr/>
          <p:nvPr/>
        </p:nvSpPr>
        <p:spPr>
          <a:xfrm>
            <a:off x="2724912" y="1874520"/>
            <a:ext cx="3200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a:t>
            </a:r>
            <a:endParaRPr lang="en-US" sz="2000" dirty="0"/>
          </a:p>
        </p:txBody>
      </p:sp>
      <p:sp>
        <p:nvSpPr>
          <p:cNvPr id="13" name="Text 11"/>
          <p:cNvSpPr/>
          <p:nvPr/>
        </p:nvSpPr>
        <p:spPr>
          <a:xfrm>
            <a:off x="4983480" y="1874520"/>
            <a:ext cx="3200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a:t>
            </a:r>
            <a:endParaRPr lang="en-US" sz="2000" dirty="0"/>
          </a:p>
        </p:txBody>
      </p:sp>
      <p:sp>
        <p:nvSpPr>
          <p:cNvPr id="14" name="Text 12"/>
          <p:cNvSpPr/>
          <p:nvPr/>
        </p:nvSpPr>
        <p:spPr>
          <a:xfrm>
            <a:off x="7223760" y="1874520"/>
            <a:ext cx="3200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a:t>
            </a:r>
            <a:endParaRPr lang="en-US" sz="2000" dirty="0"/>
          </a:p>
        </p:txBody>
      </p:sp>
      <p:sp>
        <p:nvSpPr>
          <p:cNvPr id="15" name="Shape 13"/>
          <p:cNvSpPr/>
          <p:nvPr/>
        </p:nvSpPr>
        <p:spPr>
          <a:xfrm>
            <a:off x="640080" y="2743200"/>
            <a:ext cx="6492240" cy="2743200"/>
          </a:xfrm>
          <a:prstGeom prst="roundRect">
            <a:avLst>
              <a:gd name="adj" fmla="val 1833"/>
            </a:avLst>
          </a:prstGeom>
          <a:solidFill>
            <a:srgbClr val="10151C"/>
          </a:solidFill>
          <a:ln w="12700">
            <a:solidFill>
              <a:srgbClr val="2A2A38"/>
            </a:solidFill>
            <a:prstDash val="solid"/>
          </a:ln>
        </p:spPr>
      </p:sp>
      <p:sp>
        <p:nvSpPr>
          <p:cNvPr id="16" name="Text 14"/>
          <p:cNvSpPr/>
          <p:nvPr/>
        </p:nvSpPr>
        <p:spPr>
          <a:xfrm>
            <a:off x="914400" y="2926080"/>
            <a:ext cx="5943600" cy="274320"/>
          </a:xfrm>
          <a:prstGeom prst="rect">
            <a:avLst/>
          </a:prstGeom>
          <a:noFill/>
          <a:ln/>
        </p:spPr>
        <p:txBody>
          <a:bodyPr wrap="square" lIns="0" tIns="0" rIns="0" bIns="0" rtlCol="0" anchor="ctr"/>
          <a:lstStyle/>
          <a:p>
            <a:pPr indent="0" marL="0">
              <a:buNone/>
            </a:pPr>
            <a:r>
              <a:rPr lang="en-US" sz="1250" b="1" dirty="0">
                <a:solidFill>
                  <a:srgbClr val="CCCCCC"/>
                </a:solidFill>
                <a:latin typeface="Courier New" pitchFamily="34" charset="0"/>
                <a:ea typeface="Courier New" pitchFamily="34" charset="-122"/>
                <a:cs typeface="Courier New" pitchFamily="34" charset="-120"/>
              </a:rPr>
              <a:t>ALL OF IT — NOTHING HIDDEN</a:t>
            </a:r>
            <a:endParaRPr lang="en-US" sz="1250" dirty="0"/>
          </a:p>
        </p:txBody>
      </p:sp>
      <p:sp>
        <p:nvSpPr>
          <p:cNvPr id="17" name="Text 15"/>
          <p:cNvSpPr/>
          <p:nvPr/>
        </p:nvSpPr>
        <p:spPr>
          <a:xfrm>
            <a:off x="1051560" y="3310128"/>
            <a:ext cx="5852160" cy="411480"/>
          </a:xfrm>
          <a:prstGeom prst="rect">
            <a:avLst/>
          </a:prstGeom>
          <a:noFill/>
          <a:ln/>
        </p:spPr>
        <p:txBody>
          <a:bodyPr wrap="square" lIns="0" tIns="0" rIns="0" bIns="0" rtlCol="0" anchor="ctr"/>
          <a:lstStyle/>
          <a:p>
            <a:pPr indent="0" marL="0">
              <a:buNone/>
            </a:pPr>
            <a:r>
              <a:rPr lang="en-US" sz="1600" b="1" dirty="0">
                <a:solidFill>
                  <a:srgbClr val="E8A832"/>
                </a:solidFill>
                <a:latin typeface="Courier New" pitchFamily="34" charset="0"/>
                <a:ea typeface="Courier New" pitchFamily="34" charset="-122"/>
                <a:cs typeface="Courier New" pitchFamily="34" charset="-120"/>
              </a:rPr>
              <a:t>d</a:t>
            </a:r>
            <a:pPr indent="0" marL="0">
              <a:buNone/>
            </a:pPr>
            <a:r>
              <a:rPr lang="en-US" sz="1600" b="1" baseline="-40000" dirty="0">
                <a:solidFill>
                  <a:srgbClr val="E8A832"/>
                </a:solidFill>
                <a:latin typeface="Courier New" pitchFamily="34" charset="0"/>
                <a:ea typeface="Courier New" pitchFamily="34" charset="-122"/>
                <a:cs typeface="Courier New" pitchFamily="34" charset="-120"/>
              </a:rPr>
              <a:t>11</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3CE8B2"/>
                </a:solidFill>
                <a:latin typeface="Courier New" pitchFamily="34" charset="0"/>
                <a:ea typeface="Courier New" pitchFamily="34" charset="-122"/>
                <a:cs typeface="Courier New" pitchFamily="34" charset="-120"/>
              </a:rPr>
              <a:t>a</a:t>
            </a:r>
            <a:pPr indent="0" marL="0">
              <a:buNone/>
            </a:pPr>
            <a:r>
              <a:rPr lang="en-US" sz="1600" b="1" baseline="-40000" dirty="0">
                <a:solidFill>
                  <a:srgbClr val="3CE8B2"/>
                </a:solidFill>
                <a:latin typeface="Courier New" pitchFamily="34" charset="0"/>
                <a:ea typeface="Courier New" pitchFamily="34" charset="-122"/>
                <a:cs typeface="Courier New" pitchFamily="34" charset="-120"/>
              </a:rPr>
              <a:t>11</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b="1" dirty="0">
                <a:solidFill>
                  <a:srgbClr val="6AA6FF"/>
                </a:solidFill>
                <a:latin typeface="Courier New" pitchFamily="34" charset="0"/>
                <a:ea typeface="Courier New" pitchFamily="34" charset="-122"/>
                <a:cs typeface="Courier New" pitchFamily="34" charset="-120"/>
              </a:rPr>
              <a:t>b</a:t>
            </a:r>
            <a:pPr indent="0" marL="0">
              <a:buNone/>
            </a:pPr>
            <a:r>
              <a:rPr lang="en-US" sz="1600" b="1" baseline="-40000" dirty="0">
                <a:solidFill>
                  <a:srgbClr val="6AA6FF"/>
                </a:solidFill>
                <a:latin typeface="Courier New" pitchFamily="34" charset="0"/>
                <a:ea typeface="Courier New" pitchFamily="34" charset="-122"/>
                <a:cs typeface="Courier New" pitchFamily="34" charset="-120"/>
              </a:rPr>
              <a:t>11</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3CE8B2"/>
                </a:solidFill>
                <a:latin typeface="Courier New" pitchFamily="34" charset="0"/>
                <a:ea typeface="Courier New" pitchFamily="34" charset="-122"/>
                <a:cs typeface="Courier New" pitchFamily="34" charset="-120"/>
              </a:rPr>
              <a:t>a</a:t>
            </a:r>
            <a:pPr indent="0" marL="0">
              <a:buNone/>
            </a:pPr>
            <a:r>
              <a:rPr lang="en-US" sz="1600" b="1" baseline="-40000" dirty="0">
                <a:solidFill>
                  <a:srgbClr val="3CE8B2"/>
                </a:solidFill>
                <a:latin typeface="Courier New" pitchFamily="34" charset="0"/>
                <a:ea typeface="Courier New" pitchFamily="34" charset="-122"/>
                <a:cs typeface="Courier New" pitchFamily="34" charset="-120"/>
              </a:rPr>
              <a:t>12</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b="1" dirty="0">
                <a:solidFill>
                  <a:srgbClr val="6AA6FF"/>
                </a:solidFill>
                <a:latin typeface="Courier New" pitchFamily="34" charset="0"/>
                <a:ea typeface="Courier New" pitchFamily="34" charset="-122"/>
                <a:cs typeface="Courier New" pitchFamily="34" charset="-120"/>
              </a:rPr>
              <a:t>b</a:t>
            </a:r>
            <a:pPr indent="0" marL="0">
              <a:buNone/>
            </a:pPr>
            <a:r>
              <a:rPr lang="en-US" sz="1600" b="1" baseline="-40000" dirty="0">
                <a:solidFill>
                  <a:srgbClr val="6AA6FF"/>
                </a:solidFill>
                <a:latin typeface="Courier New" pitchFamily="34" charset="0"/>
                <a:ea typeface="Courier New" pitchFamily="34" charset="-122"/>
                <a:cs typeface="Courier New" pitchFamily="34" charset="-120"/>
              </a:rPr>
              <a:t>21</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E8835C"/>
                </a:solidFill>
                <a:latin typeface="Courier New" pitchFamily="34" charset="0"/>
                <a:ea typeface="Courier New" pitchFamily="34" charset="-122"/>
                <a:cs typeface="Courier New" pitchFamily="34" charset="-120"/>
              </a:rPr>
              <a:t>c</a:t>
            </a:r>
            <a:pPr indent="0" marL="0">
              <a:buNone/>
            </a:pPr>
            <a:r>
              <a:rPr lang="en-US" sz="1600" b="1" baseline="-40000" dirty="0">
                <a:solidFill>
                  <a:srgbClr val="E8835C"/>
                </a:solidFill>
                <a:latin typeface="Courier New" pitchFamily="34" charset="0"/>
                <a:ea typeface="Courier New" pitchFamily="34" charset="-122"/>
                <a:cs typeface="Courier New" pitchFamily="34" charset="-120"/>
              </a:rPr>
              <a:t>11</a:t>
            </a:r>
            <a:endParaRPr lang="en-US" sz="1600" dirty="0"/>
          </a:p>
        </p:txBody>
      </p:sp>
      <p:sp>
        <p:nvSpPr>
          <p:cNvPr id="18" name="Text 16"/>
          <p:cNvSpPr/>
          <p:nvPr/>
        </p:nvSpPr>
        <p:spPr>
          <a:xfrm>
            <a:off x="1051560" y="3822192"/>
            <a:ext cx="5852160" cy="411480"/>
          </a:xfrm>
          <a:prstGeom prst="rect">
            <a:avLst/>
          </a:prstGeom>
          <a:noFill/>
          <a:ln/>
        </p:spPr>
        <p:txBody>
          <a:bodyPr wrap="square" lIns="0" tIns="0" rIns="0" bIns="0" rtlCol="0" anchor="ctr"/>
          <a:lstStyle/>
          <a:p>
            <a:pPr indent="0" marL="0">
              <a:buNone/>
            </a:pPr>
            <a:r>
              <a:rPr lang="en-US" sz="1600" b="1" dirty="0">
                <a:solidFill>
                  <a:srgbClr val="E8A832"/>
                </a:solidFill>
                <a:latin typeface="Courier New" pitchFamily="34" charset="0"/>
                <a:ea typeface="Courier New" pitchFamily="34" charset="-122"/>
                <a:cs typeface="Courier New" pitchFamily="34" charset="-120"/>
              </a:rPr>
              <a:t>d</a:t>
            </a:r>
            <a:pPr indent="0" marL="0">
              <a:buNone/>
            </a:pPr>
            <a:r>
              <a:rPr lang="en-US" sz="1600" b="1" baseline="-40000" dirty="0">
                <a:solidFill>
                  <a:srgbClr val="E8A832"/>
                </a:solidFill>
                <a:latin typeface="Courier New" pitchFamily="34" charset="0"/>
                <a:ea typeface="Courier New" pitchFamily="34" charset="-122"/>
                <a:cs typeface="Courier New" pitchFamily="34" charset="-120"/>
              </a:rPr>
              <a:t>12</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3CE8B2"/>
                </a:solidFill>
                <a:latin typeface="Courier New" pitchFamily="34" charset="0"/>
                <a:ea typeface="Courier New" pitchFamily="34" charset="-122"/>
                <a:cs typeface="Courier New" pitchFamily="34" charset="-120"/>
              </a:rPr>
              <a:t>a</a:t>
            </a:r>
            <a:pPr indent="0" marL="0">
              <a:buNone/>
            </a:pPr>
            <a:r>
              <a:rPr lang="en-US" sz="1600" b="1" baseline="-40000" dirty="0">
                <a:solidFill>
                  <a:srgbClr val="3CE8B2"/>
                </a:solidFill>
                <a:latin typeface="Courier New" pitchFamily="34" charset="0"/>
                <a:ea typeface="Courier New" pitchFamily="34" charset="-122"/>
                <a:cs typeface="Courier New" pitchFamily="34" charset="-120"/>
              </a:rPr>
              <a:t>11</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b="1" dirty="0">
                <a:solidFill>
                  <a:srgbClr val="6AA6FF"/>
                </a:solidFill>
                <a:latin typeface="Courier New" pitchFamily="34" charset="0"/>
                <a:ea typeface="Courier New" pitchFamily="34" charset="-122"/>
                <a:cs typeface="Courier New" pitchFamily="34" charset="-120"/>
              </a:rPr>
              <a:t>b</a:t>
            </a:r>
            <a:pPr indent="0" marL="0">
              <a:buNone/>
            </a:pPr>
            <a:r>
              <a:rPr lang="en-US" sz="1600" b="1" baseline="-40000" dirty="0">
                <a:solidFill>
                  <a:srgbClr val="6AA6FF"/>
                </a:solidFill>
                <a:latin typeface="Courier New" pitchFamily="34" charset="0"/>
                <a:ea typeface="Courier New" pitchFamily="34" charset="-122"/>
                <a:cs typeface="Courier New" pitchFamily="34" charset="-120"/>
              </a:rPr>
              <a:t>12</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3CE8B2"/>
                </a:solidFill>
                <a:latin typeface="Courier New" pitchFamily="34" charset="0"/>
                <a:ea typeface="Courier New" pitchFamily="34" charset="-122"/>
                <a:cs typeface="Courier New" pitchFamily="34" charset="-120"/>
              </a:rPr>
              <a:t>a</a:t>
            </a:r>
            <a:pPr indent="0" marL="0">
              <a:buNone/>
            </a:pPr>
            <a:r>
              <a:rPr lang="en-US" sz="1600" b="1" baseline="-40000" dirty="0">
                <a:solidFill>
                  <a:srgbClr val="3CE8B2"/>
                </a:solidFill>
                <a:latin typeface="Courier New" pitchFamily="34" charset="0"/>
                <a:ea typeface="Courier New" pitchFamily="34" charset="-122"/>
                <a:cs typeface="Courier New" pitchFamily="34" charset="-120"/>
              </a:rPr>
              <a:t>12</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b="1" dirty="0">
                <a:solidFill>
                  <a:srgbClr val="6AA6FF"/>
                </a:solidFill>
                <a:latin typeface="Courier New" pitchFamily="34" charset="0"/>
                <a:ea typeface="Courier New" pitchFamily="34" charset="-122"/>
                <a:cs typeface="Courier New" pitchFamily="34" charset="-120"/>
              </a:rPr>
              <a:t>b</a:t>
            </a:r>
            <a:pPr indent="0" marL="0">
              <a:buNone/>
            </a:pPr>
            <a:r>
              <a:rPr lang="en-US" sz="1600" b="1" baseline="-40000" dirty="0">
                <a:solidFill>
                  <a:srgbClr val="6AA6FF"/>
                </a:solidFill>
                <a:latin typeface="Courier New" pitchFamily="34" charset="0"/>
                <a:ea typeface="Courier New" pitchFamily="34" charset="-122"/>
                <a:cs typeface="Courier New" pitchFamily="34" charset="-120"/>
              </a:rPr>
              <a:t>22</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E8835C"/>
                </a:solidFill>
                <a:latin typeface="Courier New" pitchFamily="34" charset="0"/>
                <a:ea typeface="Courier New" pitchFamily="34" charset="-122"/>
                <a:cs typeface="Courier New" pitchFamily="34" charset="-120"/>
              </a:rPr>
              <a:t>c</a:t>
            </a:r>
            <a:pPr indent="0" marL="0">
              <a:buNone/>
            </a:pPr>
            <a:r>
              <a:rPr lang="en-US" sz="1600" b="1" baseline="-40000" dirty="0">
                <a:solidFill>
                  <a:srgbClr val="E8835C"/>
                </a:solidFill>
                <a:latin typeface="Courier New" pitchFamily="34" charset="0"/>
                <a:ea typeface="Courier New" pitchFamily="34" charset="-122"/>
                <a:cs typeface="Courier New" pitchFamily="34" charset="-120"/>
              </a:rPr>
              <a:t>12</a:t>
            </a:r>
            <a:endParaRPr lang="en-US" sz="1600" dirty="0"/>
          </a:p>
        </p:txBody>
      </p:sp>
      <p:sp>
        <p:nvSpPr>
          <p:cNvPr id="19" name="Text 17"/>
          <p:cNvSpPr/>
          <p:nvPr/>
        </p:nvSpPr>
        <p:spPr>
          <a:xfrm>
            <a:off x="1051560" y="4334256"/>
            <a:ext cx="5852160" cy="411480"/>
          </a:xfrm>
          <a:prstGeom prst="rect">
            <a:avLst/>
          </a:prstGeom>
          <a:noFill/>
          <a:ln/>
        </p:spPr>
        <p:txBody>
          <a:bodyPr wrap="square" lIns="0" tIns="0" rIns="0" bIns="0" rtlCol="0" anchor="ctr"/>
          <a:lstStyle/>
          <a:p>
            <a:pPr indent="0" marL="0">
              <a:buNone/>
            </a:pPr>
            <a:r>
              <a:rPr lang="en-US" sz="1600" b="1" dirty="0">
                <a:solidFill>
                  <a:srgbClr val="E8A832"/>
                </a:solidFill>
                <a:latin typeface="Courier New" pitchFamily="34" charset="0"/>
                <a:ea typeface="Courier New" pitchFamily="34" charset="-122"/>
                <a:cs typeface="Courier New" pitchFamily="34" charset="-120"/>
              </a:rPr>
              <a:t>d</a:t>
            </a:r>
            <a:pPr indent="0" marL="0">
              <a:buNone/>
            </a:pPr>
            <a:r>
              <a:rPr lang="en-US" sz="1600" b="1" baseline="-40000" dirty="0">
                <a:solidFill>
                  <a:srgbClr val="E8A832"/>
                </a:solidFill>
                <a:latin typeface="Courier New" pitchFamily="34" charset="0"/>
                <a:ea typeface="Courier New" pitchFamily="34" charset="-122"/>
                <a:cs typeface="Courier New" pitchFamily="34" charset="-120"/>
              </a:rPr>
              <a:t>21</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3CE8B2"/>
                </a:solidFill>
                <a:latin typeface="Courier New" pitchFamily="34" charset="0"/>
                <a:ea typeface="Courier New" pitchFamily="34" charset="-122"/>
                <a:cs typeface="Courier New" pitchFamily="34" charset="-120"/>
              </a:rPr>
              <a:t>a</a:t>
            </a:r>
            <a:pPr indent="0" marL="0">
              <a:buNone/>
            </a:pPr>
            <a:r>
              <a:rPr lang="en-US" sz="1600" b="1" baseline="-40000" dirty="0">
                <a:solidFill>
                  <a:srgbClr val="3CE8B2"/>
                </a:solidFill>
                <a:latin typeface="Courier New" pitchFamily="34" charset="0"/>
                <a:ea typeface="Courier New" pitchFamily="34" charset="-122"/>
                <a:cs typeface="Courier New" pitchFamily="34" charset="-120"/>
              </a:rPr>
              <a:t>21</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b="1" dirty="0">
                <a:solidFill>
                  <a:srgbClr val="6AA6FF"/>
                </a:solidFill>
                <a:latin typeface="Courier New" pitchFamily="34" charset="0"/>
                <a:ea typeface="Courier New" pitchFamily="34" charset="-122"/>
                <a:cs typeface="Courier New" pitchFamily="34" charset="-120"/>
              </a:rPr>
              <a:t>b</a:t>
            </a:r>
            <a:pPr indent="0" marL="0">
              <a:buNone/>
            </a:pPr>
            <a:r>
              <a:rPr lang="en-US" sz="1600" b="1" baseline="-40000" dirty="0">
                <a:solidFill>
                  <a:srgbClr val="6AA6FF"/>
                </a:solidFill>
                <a:latin typeface="Courier New" pitchFamily="34" charset="0"/>
                <a:ea typeface="Courier New" pitchFamily="34" charset="-122"/>
                <a:cs typeface="Courier New" pitchFamily="34" charset="-120"/>
              </a:rPr>
              <a:t>11</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3CE8B2"/>
                </a:solidFill>
                <a:latin typeface="Courier New" pitchFamily="34" charset="0"/>
                <a:ea typeface="Courier New" pitchFamily="34" charset="-122"/>
                <a:cs typeface="Courier New" pitchFamily="34" charset="-120"/>
              </a:rPr>
              <a:t>a</a:t>
            </a:r>
            <a:pPr indent="0" marL="0">
              <a:buNone/>
            </a:pPr>
            <a:r>
              <a:rPr lang="en-US" sz="1600" b="1" baseline="-40000" dirty="0">
                <a:solidFill>
                  <a:srgbClr val="3CE8B2"/>
                </a:solidFill>
                <a:latin typeface="Courier New" pitchFamily="34" charset="0"/>
                <a:ea typeface="Courier New" pitchFamily="34" charset="-122"/>
                <a:cs typeface="Courier New" pitchFamily="34" charset="-120"/>
              </a:rPr>
              <a:t>22</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b="1" dirty="0">
                <a:solidFill>
                  <a:srgbClr val="6AA6FF"/>
                </a:solidFill>
                <a:latin typeface="Courier New" pitchFamily="34" charset="0"/>
                <a:ea typeface="Courier New" pitchFamily="34" charset="-122"/>
                <a:cs typeface="Courier New" pitchFamily="34" charset="-120"/>
              </a:rPr>
              <a:t>b</a:t>
            </a:r>
            <a:pPr indent="0" marL="0">
              <a:buNone/>
            </a:pPr>
            <a:r>
              <a:rPr lang="en-US" sz="1600" b="1" baseline="-40000" dirty="0">
                <a:solidFill>
                  <a:srgbClr val="6AA6FF"/>
                </a:solidFill>
                <a:latin typeface="Courier New" pitchFamily="34" charset="0"/>
                <a:ea typeface="Courier New" pitchFamily="34" charset="-122"/>
                <a:cs typeface="Courier New" pitchFamily="34" charset="-120"/>
              </a:rPr>
              <a:t>21</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E8835C"/>
                </a:solidFill>
                <a:latin typeface="Courier New" pitchFamily="34" charset="0"/>
                <a:ea typeface="Courier New" pitchFamily="34" charset="-122"/>
                <a:cs typeface="Courier New" pitchFamily="34" charset="-120"/>
              </a:rPr>
              <a:t>c</a:t>
            </a:r>
            <a:pPr indent="0" marL="0">
              <a:buNone/>
            </a:pPr>
            <a:r>
              <a:rPr lang="en-US" sz="1600" b="1" baseline="-40000" dirty="0">
                <a:solidFill>
                  <a:srgbClr val="E8835C"/>
                </a:solidFill>
                <a:latin typeface="Courier New" pitchFamily="34" charset="0"/>
                <a:ea typeface="Courier New" pitchFamily="34" charset="-122"/>
                <a:cs typeface="Courier New" pitchFamily="34" charset="-120"/>
              </a:rPr>
              <a:t>21</a:t>
            </a:r>
            <a:endParaRPr lang="en-US" sz="1600" dirty="0"/>
          </a:p>
        </p:txBody>
      </p:sp>
      <p:sp>
        <p:nvSpPr>
          <p:cNvPr id="20" name="Text 18"/>
          <p:cNvSpPr/>
          <p:nvPr/>
        </p:nvSpPr>
        <p:spPr>
          <a:xfrm>
            <a:off x="1051560" y="4846320"/>
            <a:ext cx="5852160" cy="411480"/>
          </a:xfrm>
          <a:prstGeom prst="rect">
            <a:avLst/>
          </a:prstGeom>
          <a:noFill/>
          <a:ln/>
        </p:spPr>
        <p:txBody>
          <a:bodyPr wrap="square" lIns="0" tIns="0" rIns="0" bIns="0" rtlCol="0" anchor="ctr"/>
          <a:lstStyle/>
          <a:p>
            <a:pPr indent="0" marL="0">
              <a:buNone/>
            </a:pPr>
            <a:r>
              <a:rPr lang="en-US" sz="1600" b="1" dirty="0">
                <a:solidFill>
                  <a:srgbClr val="E8A832"/>
                </a:solidFill>
                <a:latin typeface="Courier New" pitchFamily="34" charset="0"/>
                <a:ea typeface="Courier New" pitchFamily="34" charset="-122"/>
                <a:cs typeface="Courier New" pitchFamily="34" charset="-120"/>
              </a:rPr>
              <a:t>d</a:t>
            </a:r>
            <a:pPr indent="0" marL="0">
              <a:buNone/>
            </a:pPr>
            <a:r>
              <a:rPr lang="en-US" sz="1600" b="1" baseline="-40000" dirty="0">
                <a:solidFill>
                  <a:srgbClr val="E8A832"/>
                </a:solidFill>
                <a:latin typeface="Courier New" pitchFamily="34" charset="0"/>
                <a:ea typeface="Courier New" pitchFamily="34" charset="-122"/>
                <a:cs typeface="Courier New" pitchFamily="34" charset="-120"/>
              </a:rPr>
              <a:t>22</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3CE8B2"/>
                </a:solidFill>
                <a:latin typeface="Courier New" pitchFamily="34" charset="0"/>
                <a:ea typeface="Courier New" pitchFamily="34" charset="-122"/>
                <a:cs typeface="Courier New" pitchFamily="34" charset="-120"/>
              </a:rPr>
              <a:t>a</a:t>
            </a:r>
            <a:pPr indent="0" marL="0">
              <a:buNone/>
            </a:pPr>
            <a:r>
              <a:rPr lang="en-US" sz="1600" b="1" baseline="-40000" dirty="0">
                <a:solidFill>
                  <a:srgbClr val="3CE8B2"/>
                </a:solidFill>
                <a:latin typeface="Courier New" pitchFamily="34" charset="0"/>
                <a:ea typeface="Courier New" pitchFamily="34" charset="-122"/>
                <a:cs typeface="Courier New" pitchFamily="34" charset="-120"/>
              </a:rPr>
              <a:t>21</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b="1" dirty="0">
                <a:solidFill>
                  <a:srgbClr val="6AA6FF"/>
                </a:solidFill>
                <a:latin typeface="Courier New" pitchFamily="34" charset="0"/>
                <a:ea typeface="Courier New" pitchFamily="34" charset="-122"/>
                <a:cs typeface="Courier New" pitchFamily="34" charset="-120"/>
              </a:rPr>
              <a:t>b</a:t>
            </a:r>
            <a:pPr indent="0" marL="0">
              <a:buNone/>
            </a:pPr>
            <a:r>
              <a:rPr lang="en-US" sz="1600" b="1" baseline="-40000" dirty="0">
                <a:solidFill>
                  <a:srgbClr val="6AA6FF"/>
                </a:solidFill>
                <a:latin typeface="Courier New" pitchFamily="34" charset="0"/>
                <a:ea typeface="Courier New" pitchFamily="34" charset="-122"/>
                <a:cs typeface="Courier New" pitchFamily="34" charset="-120"/>
              </a:rPr>
              <a:t>12</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3CE8B2"/>
                </a:solidFill>
                <a:latin typeface="Courier New" pitchFamily="34" charset="0"/>
                <a:ea typeface="Courier New" pitchFamily="34" charset="-122"/>
                <a:cs typeface="Courier New" pitchFamily="34" charset="-120"/>
              </a:rPr>
              <a:t>a</a:t>
            </a:r>
            <a:pPr indent="0" marL="0">
              <a:buNone/>
            </a:pPr>
            <a:r>
              <a:rPr lang="en-US" sz="1600" b="1" baseline="-40000" dirty="0">
                <a:solidFill>
                  <a:srgbClr val="3CE8B2"/>
                </a:solidFill>
                <a:latin typeface="Courier New" pitchFamily="34" charset="0"/>
                <a:ea typeface="Courier New" pitchFamily="34" charset="-122"/>
                <a:cs typeface="Courier New" pitchFamily="34" charset="-120"/>
              </a:rPr>
              <a:t>22</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b="1" dirty="0">
                <a:solidFill>
                  <a:srgbClr val="6AA6FF"/>
                </a:solidFill>
                <a:latin typeface="Courier New" pitchFamily="34" charset="0"/>
                <a:ea typeface="Courier New" pitchFamily="34" charset="-122"/>
                <a:cs typeface="Courier New" pitchFamily="34" charset="-120"/>
              </a:rPr>
              <a:t>b</a:t>
            </a:r>
            <a:pPr indent="0" marL="0">
              <a:buNone/>
            </a:pPr>
            <a:r>
              <a:rPr lang="en-US" sz="1600" b="1" baseline="-40000" dirty="0">
                <a:solidFill>
                  <a:srgbClr val="6AA6FF"/>
                </a:solidFill>
                <a:latin typeface="Courier New" pitchFamily="34" charset="0"/>
                <a:ea typeface="Courier New" pitchFamily="34" charset="-122"/>
                <a:cs typeface="Courier New" pitchFamily="34" charset="-120"/>
              </a:rPr>
              <a:t>22</a:t>
            </a:r>
            <a:pPr indent="0" marL="0">
              <a:buNone/>
            </a:pPr>
            <a:r>
              <a:rPr lang="en-US" sz="1600" b="1" dirty="0">
                <a:solidFill>
                  <a:srgbClr val="FFFFFF"/>
                </a:solidFill>
                <a:latin typeface="Courier New" pitchFamily="34" charset="0"/>
                <a:ea typeface="Courier New" pitchFamily="34" charset="-122"/>
                <a:cs typeface="Courier New" pitchFamily="34" charset="-120"/>
              </a:rPr>
              <a:t>  +  </a:t>
            </a:r>
            <a:pPr indent="0" marL="0">
              <a:buNone/>
            </a:pPr>
            <a:r>
              <a:rPr lang="en-US" sz="1600" b="1" dirty="0">
                <a:solidFill>
                  <a:srgbClr val="E8835C"/>
                </a:solidFill>
                <a:latin typeface="Courier New" pitchFamily="34" charset="0"/>
                <a:ea typeface="Courier New" pitchFamily="34" charset="-122"/>
                <a:cs typeface="Courier New" pitchFamily="34" charset="-120"/>
              </a:rPr>
              <a:t>c</a:t>
            </a:r>
            <a:pPr indent="0" marL="0">
              <a:buNone/>
            </a:pPr>
            <a:r>
              <a:rPr lang="en-US" sz="1600" b="1" baseline="-40000" dirty="0">
                <a:solidFill>
                  <a:srgbClr val="E8835C"/>
                </a:solidFill>
                <a:latin typeface="Courier New" pitchFamily="34" charset="0"/>
                <a:ea typeface="Courier New" pitchFamily="34" charset="-122"/>
                <a:cs typeface="Courier New" pitchFamily="34" charset="-120"/>
              </a:rPr>
              <a:t>22</a:t>
            </a:r>
            <a:endParaRPr lang="en-US" sz="1600" dirty="0"/>
          </a:p>
        </p:txBody>
      </p:sp>
      <p:sp>
        <p:nvSpPr>
          <p:cNvPr id="21" name="Shape 19"/>
          <p:cNvSpPr/>
          <p:nvPr/>
        </p:nvSpPr>
        <p:spPr>
          <a:xfrm>
            <a:off x="7360920" y="2743200"/>
            <a:ext cx="4160520" cy="1298448"/>
          </a:xfrm>
          <a:prstGeom prst="roundRect">
            <a:avLst>
              <a:gd name="adj" fmla="val 3873"/>
            </a:avLst>
          </a:prstGeom>
          <a:solidFill>
            <a:srgbClr val="14141D"/>
          </a:solidFill>
          <a:ln w="12700">
            <a:solidFill>
              <a:srgbClr val="2A2A38"/>
            </a:solidFill>
            <a:prstDash val="solid"/>
          </a:ln>
        </p:spPr>
      </p:sp>
      <p:sp>
        <p:nvSpPr>
          <p:cNvPr id="22" name="Text 20"/>
          <p:cNvSpPr/>
          <p:nvPr/>
        </p:nvSpPr>
        <p:spPr>
          <a:xfrm>
            <a:off x="7635240" y="2907792"/>
            <a:ext cx="365760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COUNT AT n = 2</a:t>
            </a:r>
            <a:endParaRPr lang="en-US" sz="1250" dirty="0"/>
          </a:p>
        </p:txBody>
      </p:sp>
      <p:sp>
        <p:nvSpPr>
          <p:cNvPr id="23" name="Text 21"/>
          <p:cNvSpPr/>
          <p:nvPr/>
        </p:nvSpPr>
        <p:spPr>
          <a:xfrm>
            <a:off x="7635240" y="3200400"/>
            <a:ext cx="3611880" cy="777240"/>
          </a:xfrm>
          <a:prstGeom prst="rect">
            <a:avLst/>
          </a:prstGeom>
          <a:noFill/>
          <a:ln/>
        </p:spPr>
        <p:txBody>
          <a:bodyPr wrap="square" lIns="0" tIns="0" rIns="0" bIns="0" rtlCol="0" anchor="ctr"/>
          <a:lstStyle/>
          <a:p>
            <a:pPr indent="0" marL="0">
              <a:lnSpc>
                <a:spcPct val="106000"/>
              </a:lnSpc>
              <a:buNone/>
            </a:pPr>
            <a:r>
              <a:rPr lang="en-US" sz="1050" dirty="0">
                <a:solidFill>
                  <a:srgbClr val="DDDDDD"/>
                </a:solidFill>
                <a:latin typeface="Calibri" pitchFamily="34" charset="0"/>
                <a:ea typeface="Calibri" pitchFamily="34" charset="-122"/>
                <a:cs typeface="Calibri" pitchFamily="34" charset="-120"/>
              </a:rPr>
              <a:t>8 multiply-accumulates, 16 arithmetic ops, from 12 inputs.  Every element of A and B appears twice — reused n times.  That reuse is the feedability.</a:t>
            </a:r>
            <a:endParaRPr lang="en-US" sz="1050" dirty="0"/>
          </a:p>
        </p:txBody>
      </p:sp>
      <p:sp>
        <p:nvSpPr>
          <p:cNvPr id="24" name="Shape 22"/>
          <p:cNvSpPr/>
          <p:nvPr/>
        </p:nvSpPr>
        <p:spPr>
          <a:xfrm>
            <a:off x="7360920" y="4187952"/>
            <a:ext cx="4160520" cy="1298448"/>
          </a:xfrm>
          <a:prstGeom prst="roundRect">
            <a:avLst>
              <a:gd name="adj" fmla="val 3873"/>
            </a:avLst>
          </a:prstGeom>
          <a:solidFill>
            <a:srgbClr val="14141D"/>
          </a:solidFill>
          <a:ln w="12700">
            <a:solidFill>
              <a:srgbClr val="2A2A38"/>
            </a:solidFill>
            <a:prstDash val="solid"/>
          </a:ln>
        </p:spPr>
      </p:sp>
      <p:sp>
        <p:nvSpPr>
          <p:cNvPr id="25" name="Text 23"/>
          <p:cNvSpPr/>
          <p:nvPr/>
        </p:nvSpPr>
        <p:spPr>
          <a:xfrm>
            <a:off x="7635240" y="4352544"/>
            <a:ext cx="365760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REAL UNIT: n = 4</a:t>
            </a:r>
            <a:endParaRPr lang="en-US" sz="1250" dirty="0"/>
          </a:p>
        </p:txBody>
      </p:sp>
      <p:sp>
        <p:nvSpPr>
          <p:cNvPr id="26" name="Text 24"/>
          <p:cNvSpPr/>
          <p:nvPr/>
        </p:nvSpPr>
        <p:spPr>
          <a:xfrm>
            <a:off x="7635240" y="4645152"/>
            <a:ext cx="3611880" cy="777240"/>
          </a:xfrm>
          <a:prstGeom prst="rect">
            <a:avLst/>
          </a:prstGeom>
          <a:noFill/>
          <a:ln/>
        </p:spPr>
        <p:txBody>
          <a:bodyPr wrap="square" lIns="0" tIns="0" rIns="0" bIns="0" rtlCol="0" anchor="ctr"/>
          <a:lstStyle/>
          <a:p>
            <a:pPr indent="0" marL="0">
              <a:lnSpc>
                <a:spcPct val="106000"/>
              </a:lnSpc>
              <a:buNone/>
            </a:pPr>
            <a:r>
              <a:rPr lang="en-US" sz="1050" dirty="0">
                <a:solidFill>
                  <a:srgbClr val="DDDDDD"/>
                </a:solidFill>
                <a:latin typeface="Calibri" pitchFamily="34" charset="0"/>
                <a:ea typeface="Calibri" pitchFamily="34" charset="-122"/>
                <a:cs typeface="Calibri" pitchFamily="34" charset="-120"/>
              </a:rPr>
              <a:t>64 multiply-accumulates — sixteen boards like this one, four terms per line instead of two.  A tensor core executes ALL of it as one indivisible step.</a:t>
            </a:r>
            <a:endParaRPr lang="en-US" sz="1050" dirty="0"/>
          </a:p>
        </p:txBody>
      </p:sp>
      <p:sp>
        <p:nvSpPr>
          <p:cNvPr id="27" name="Shape 25"/>
          <p:cNvSpPr/>
          <p:nvPr/>
        </p:nvSpPr>
        <p:spPr>
          <a:xfrm>
            <a:off x="640080" y="5715000"/>
            <a:ext cx="10881360" cy="685800"/>
          </a:xfrm>
          <a:prstGeom prst="roundRect">
            <a:avLst>
              <a:gd name="adj" fmla="val 7333"/>
            </a:avLst>
          </a:prstGeom>
          <a:solidFill>
            <a:srgbClr val="1A160C"/>
          </a:solidFill>
          <a:ln w="12700">
            <a:solidFill>
              <a:srgbClr val="2A2A38"/>
            </a:solidFill>
            <a:prstDash val="solid"/>
          </a:ln>
        </p:spPr>
      </p:sp>
      <p:sp>
        <p:nvSpPr>
          <p:cNvPr id="28" name="Text 26"/>
          <p:cNvSpPr/>
          <p:nvPr/>
        </p:nvSpPr>
        <p:spPr>
          <a:xfrm>
            <a:off x="914400" y="5861304"/>
            <a:ext cx="10332720" cy="411480"/>
          </a:xfrm>
          <a:prstGeom prst="rect">
            <a:avLst/>
          </a:prstGeom>
          <a:noFill/>
          <a:ln/>
        </p:spPr>
        <p:txBody>
          <a:bodyPr wrap="square" lIns="0" tIns="0" rIns="0" bIns="0" rtlCol="0" anchor="ctr"/>
          <a:lstStyle/>
          <a:p>
            <a:pPr indent="0" marL="0">
              <a:buNone/>
            </a:pPr>
            <a:r>
              <a:rPr lang="en-US" sz="1450" i="1" dirty="0">
                <a:solidFill>
                  <a:srgbClr val="E8A832"/>
                </a:solidFill>
                <a:latin typeface="Calibri" pitchFamily="34" charset="0"/>
                <a:ea typeface="Calibri" pitchFamily="34" charset="-122"/>
                <a:cs typeface="Calibri" pitchFamily="34" charset="-120"/>
              </a:rPr>
              <a:t>No loop, no instructions, no schedule — these equations ARE the circuit.  The wiring is the algorithm.</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Tiling — an 8×8 slides through the 4×4 unit</a:t>
            </a:r>
            <a:endParaRPr lang="en-US" sz="2700" dirty="0"/>
          </a:p>
        </p:txBody>
      </p:sp>
      <p:sp>
        <p:nvSpPr>
          <p:cNvPr id="4" name="Text 2"/>
          <p:cNvSpPr/>
          <p:nvPr/>
        </p:nvSpPr>
        <p:spPr>
          <a:xfrm>
            <a:off x="822960" y="1298448"/>
            <a:ext cx="1645920" cy="237744"/>
          </a:xfrm>
          <a:prstGeom prst="rect">
            <a:avLst/>
          </a:prstGeom>
          <a:noFill/>
          <a:ln/>
        </p:spPr>
        <p:txBody>
          <a:bodyPr wrap="square" lIns="0" tIns="0" rIns="0" bIns="0" rtlCol="0" anchor="ctr"/>
          <a:lstStyle/>
          <a:p>
            <a:pPr algn="ctr" indent="0" marL="0">
              <a:buNone/>
            </a:pPr>
            <a:r>
              <a:rPr lang="en-US" sz="1300" b="1" dirty="0">
                <a:solidFill>
                  <a:srgbClr val="E8A832"/>
                </a:solidFill>
                <a:latin typeface="Courier New" pitchFamily="34" charset="0"/>
                <a:ea typeface="Courier New" pitchFamily="34" charset="-122"/>
                <a:cs typeface="Courier New" pitchFamily="34" charset="-120"/>
              </a:rPr>
              <a:t>D</a:t>
            </a:r>
            <a:endParaRPr lang="en-US" sz="1300" dirty="0"/>
          </a:p>
        </p:txBody>
      </p:sp>
      <p:sp>
        <p:nvSpPr>
          <p:cNvPr id="5" name="Shape 3"/>
          <p:cNvSpPr/>
          <p:nvPr/>
        </p:nvSpPr>
        <p:spPr>
          <a:xfrm>
            <a:off x="822960" y="1572768"/>
            <a:ext cx="822960" cy="822960"/>
          </a:xfrm>
          <a:prstGeom prst="rect">
            <a:avLst/>
          </a:prstGeom>
          <a:solidFill>
            <a:srgbClr val="14141D"/>
          </a:solidFill>
          <a:ln w="12700">
            <a:solidFill>
              <a:srgbClr val="2A2A38"/>
            </a:solidFill>
            <a:prstDash val="solid"/>
          </a:ln>
        </p:spPr>
      </p:sp>
      <p:sp>
        <p:nvSpPr>
          <p:cNvPr id="6" name="Text 4"/>
          <p:cNvSpPr/>
          <p:nvPr/>
        </p:nvSpPr>
        <p:spPr>
          <a:xfrm>
            <a:off x="822960" y="181051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D11</a:t>
            </a:r>
            <a:endParaRPr lang="en-US" sz="1250" dirty="0"/>
          </a:p>
        </p:txBody>
      </p:sp>
      <p:sp>
        <p:nvSpPr>
          <p:cNvPr id="7" name="Shape 5"/>
          <p:cNvSpPr/>
          <p:nvPr/>
        </p:nvSpPr>
        <p:spPr>
          <a:xfrm>
            <a:off x="1645920" y="1572768"/>
            <a:ext cx="822960" cy="822960"/>
          </a:xfrm>
          <a:prstGeom prst="rect">
            <a:avLst/>
          </a:prstGeom>
          <a:solidFill>
            <a:srgbClr val="251C0B"/>
          </a:solidFill>
          <a:ln w="25400">
            <a:solidFill>
              <a:srgbClr val="E8A832"/>
            </a:solidFill>
            <a:prstDash val="solid"/>
          </a:ln>
        </p:spPr>
      </p:sp>
      <p:sp>
        <p:nvSpPr>
          <p:cNvPr id="8" name="Text 6"/>
          <p:cNvSpPr/>
          <p:nvPr/>
        </p:nvSpPr>
        <p:spPr>
          <a:xfrm>
            <a:off x="1645920" y="1810512"/>
            <a:ext cx="822960" cy="329184"/>
          </a:xfrm>
          <a:prstGeom prst="rect">
            <a:avLst/>
          </a:prstGeom>
          <a:noFill/>
          <a:ln/>
        </p:spPr>
        <p:txBody>
          <a:bodyPr wrap="square" lIns="0" tIns="0" rIns="0" bIns="0" rtlCol="0" anchor="ctr"/>
          <a:lstStyle/>
          <a:p>
            <a:pPr algn="ctr" indent="0" marL="0">
              <a:buNone/>
            </a:pPr>
            <a:r>
              <a:rPr lang="en-US" sz="1250" b="1" dirty="0">
                <a:solidFill>
                  <a:srgbClr val="E8A832"/>
                </a:solidFill>
                <a:latin typeface="Courier New" pitchFamily="34" charset="0"/>
                <a:ea typeface="Courier New" pitchFamily="34" charset="-122"/>
                <a:cs typeface="Courier New" pitchFamily="34" charset="-120"/>
              </a:rPr>
              <a:t>D12</a:t>
            </a:r>
            <a:endParaRPr lang="en-US" sz="1250" dirty="0"/>
          </a:p>
        </p:txBody>
      </p:sp>
      <p:sp>
        <p:nvSpPr>
          <p:cNvPr id="9" name="Shape 7"/>
          <p:cNvSpPr/>
          <p:nvPr/>
        </p:nvSpPr>
        <p:spPr>
          <a:xfrm>
            <a:off x="822960" y="2395728"/>
            <a:ext cx="822960" cy="822960"/>
          </a:xfrm>
          <a:prstGeom prst="rect">
            <a:avLst/>
          </a:prstGeom>
          <a:solidFill>
            <a:srgbClr val="14141D"/>
          </a:solidFill>
          <a:ln w="12700">
            <a:solidFill>
              <a:srgbClr val="2A2A38"/>
            </a:solidFill>
            <a:prstDash val="solid"/>
          </a:ln>
        </p:spPr>
      </p:sp>
      <p:sp>
        <p:nvSpPr>
          <p:cNvPr id="10" name="Text 8"/>
          <p:cNvSpPr/>
          <p:nvPr/>
        </p:nvSpPr>
        <p:spPr>
          <a:xfrm>
            <a:off x="822960" y="263347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D21</a:t>
            </a:r>
            <a:endParaRPr lang="en-US" sz="1250" dirty="0"/>
          </a:p>
        </p:txBody>
      </p:sp>
      <p:sp>
        <p:nvSpPr>
          <p:cNvPr id="11" name="Shape 9"/>
          <p:cNvSpPr/>
          <p:nvPr/>
        </p:nvSpPr>
        <p:spPr>
          <a:xfrm>
            <a:off x="1645920" y="2395728"/>
            <a:ext cx="822960" cy="822960"/>
          </a:xfrm>
          <a:prstGeom prst="rect">
            <a:avLst/>
          </a:prstGeom>
          <a:solidFill>
            <a:srgbClr val="14141D"/>
          </a:solidFill>
          <a:ln w="12700">
            <a:solidFill>
              <a:srgbClr val="2A2A38"/>
            </a:solidFill>
            <a:prstDash val="solid"/>
          </a:ln>
        </p:spPr>
      </p:sp>
      <p:sp>
        <p:nvSpPr>
          <p:cNvPr id="12" name="Text 10"/>
          <p:cNvSpPr/>
          <p:nvPr/>
        </p:nvSpPr>
        <p:spPr>
          <a:xfrm>
            <a:off x="1645920" y="263347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D22</a:t>
            </a:r>
            <a:endParaRPr lang="en-US" sz="1250" dirty="0"/>
          </a:p>
        </p:txBody>
      </p:sp>
      <p:sp>
        <p:nvSpPr>
          <p:cNvPr id="13" name="Text 11"/>
          <p:cNvSpPr/>
          <p:nvPr/>
        </p:nvSpPr>
        <p:spPr>
          <a:xfrm>
            <a:off x="685800" y="3255264"/>
            <a:ext cx="1920240" cy="201168"/>
          </a:xfrm>
          <a:prstGeom prst="rect">
            <a:avLst/>
          </a:prstGeom>
          <a:noFill/>
          <a:ln/>
        </p:spPr>
        <p:txBody>
          <a:bodyPr wrap="square" lIns="0" tIns="0" rIns="0" bIns="0" rtlCol="0" anchor="ctr"/>
          <a:lstStyle/>
          <a:p>
            <a:pPr algn="ctr" indent="0" marL="0">
              <a:buNone/>
            </a:pPr>
            <a:r>
              <a:rPr lang="en-US" sz="800" i="1" dirty="0">
                <a:solidFill>
                  <a:srgbClr val="CCCCCC"/>
                </a:solidFill>
                <a:latin typeface="Calibri" pitchFamily="34" charset="0"/>
                <a:ea typeface="Calibri" pitchFamily="34" charset="-122"/>
                <a:cs typeface="Calibri" pitchFamily="34" charset="-120"/>
              </a:rPr>
              <a:t>each block = one 4×4 tile</a:t>
            </a:r>
            <a:endParaRPr lang="en-US" sz="800" dirty="0"/>
          </a:p>
        </p:txBody>
      </p:sp>
      <p:sp>
        <p:nvSpPr>
          <p:cNvPr id="14" name="Text 12"/>
          <p:cNvSpPr/>
          <p:nvPr/>
        </p:nvSpPr>
        <p:spPr>
          <a:xfrm>
            <a:off x="3218688" y="1298448"/>
            <a:ext cx="1645920" cy="237744"/>
          </a:xfrm>
          <a:prstGeom prst="rect">
            <a:avLst/>
          </a:prstGeom>
          <a:noFill/>
          <a:ln/>
        </p:spPr>
        <p:txBody>
          <a:bodyPr wrap="square" lIns="0" tIns="0" rIns="0" bIns="0" rtlCol="0" anchor="ctr"/>
          <a:lstStyle/>
          <a:p>
            <a:pPr algn="ctr" indent="0" marL="0">
              <a:buNone/>
            </a:pPr>
            <a:r>
              <a:rPr lang="en-US" sz="1300" b="1" dirty="0">
                <a:solidFill>
                  <a:srgbClr val="3CE8B2"/>
                </a:solidFill>
                <a:latin typeface="Courier New" pitchFamily="34" charset="0"/>
                <a:ea typeface="Courier New" pitchFamily="34" charset="-122"/>
                <a:cs typeface="Courier New" pitchFamily="34" charset="-120"/>
              </a:rPr>
              <a:t>A</a:t>
            </a:r>
            <a:endParaRPr lang="en-US" sz="1300" dirty="0"/>
          </a:p>
        </p:txBody>
      </p:sp>
      <p:sp>
        <p:nvSpPr>
          <p:cNvPr id="15" name="Shape 13"/>
          <p:cNvSpPr/>
          <p:nvPr/>
        </p:nvSpPr>
        <p:spPr>
          <a:xfrm>
            <a:off x="3218688" y="1572768"/>
            <a:ext cx="822960" cy="822960"/>
          </a:xfrm>
          <a:prstGeom prst="rect">
            <a:avLst/>
          </a:prstGeom>
          <a:solidFill>
            <a:srgbClr val="0E211A"/>
          </a:solidFill>
          <a:ln w="25400">
            <a:solidFill>
              <a:srgbClr val="3CE8B2"/>
            </a:solidFill>
            <a:prstDash val="solid"/>
          </a:ln>
        </p:spPr>
      </p:sp>
      <p:sp>
        <p:nvSpPr>
          <p:cNvPr id="16" name="Text 14"/>
          <p:cNvSpPr/>
          <p:nvPr/>
        </p:nvSpPr>
        <p:spPr>
          <a:xfrm>
            <a:off x="3218688" y="1810512"/>
            <a:ext cx="822960" cy="329184"/>
          </a:xfrm>
          <a:prstGeom prst="rect">
            <a:avLst/>
          </a:prstGeom>
          <a:noFill/>
          <a:ln/>
        </p:spPr>
        <p:txBody>
          <a:bodyPr wrap="square" lIns="0" tIns="0" rIns="0" bIns="0" rtlCol="0" anchor="ctr"/>
          <a:lstStyle/>
          <a:p>
            <a:pPr algn="ctr" indent="0" marL="0">
              <a:buNone/>
            </a:pPr>
            <a:r>
              <a:rPr lang="en-US" sz="1250" b="1" dirty="0">
                <a:solidFill>
                  <a:srgbClr val="3CE8B2"/>
                </a:solidFill>
                <a:latin typeface="Courier New" pitchFamily="34" charset="0"/>
                <a:ea typeface="Courier New" pitchFamily="34" charset="-122"/>
                <a:cs typeface="Courier New" pitchFamily="34" charset="-120"/>
              </a:rPr>
              <a:t>A11</a:t>
            </a:r>
            <a:endParaRPr lang="en-US" sz="1250" dirty="0"/>
          </a:p>
        </p:txBody>
      </p:sp>
      <p:sp>
        <p:nvSpPr>
          <p:cNvPr id="17" name="Shape 15"/>
          <p:cNvSpPr/>
          <p:nvPr/>
        </p:nvSpPr>
        <p:spPr>
          <a:xfrm>
            <a:off x="4041648" y="1572768"/>
            <a:ext cx="822960" cy="822960"/>
          </a:xfrm>
          <a:prstGeom prst="rect">
            <a:avLst/>
          </a:prstGeom>
          <a:solidFill>
            <a:srgbClr val="0E211A"/>
          </a:solidFill>
          <a:ln w="25400">
            <a:solidFill>
              <a:srgbClr val="3CE8B2"/>
            </a:solidFill>
            <a:prstDash val="solid"/>
          </a:ln>
        </p:spPr>
      </p:sp>
      <p:sp>
        <p:nvSpPr>
          <p:cNvPr id="18" name="Text 16"/>
          <p:cNvSpPr/>
          <p:nvPr/>
        </p:nvSpPr>
        <p:spPr>
          <a:xfrm>
            <a:off x="4041648" y="1810512"/>
            <a:ext cx="822960" cy="329184"/>
          </a:xfrm>
          <a:prstGeom prst="rect">
            <a:avLst/>
          </a:prstGeom>
          <a:noFill/>
          <a:ln/>
        </p:spPr>
        <p:txBody>
          <a:bodyPr wrap="square" lIns="0" tIns="0" rIns="0" bIns="0" rtlCol="0" anchor="ctr"/>
          <a:lstStyle/>
          <a:p>
            <a:pPr algn="ctr" indent="0" marL="0">
              <a:buNone/>
            </a:pPr>
            <a:r>
              <a:rPr lang="en-US" sz="1250" b="1" dirty="0">
                <a:solidFill>
                  <a:srgbClr val="3CE8B2"/>
                </a:solidFill>
                <a:latin typeface="Courier New" pitchFamily="34" charset="0"/>
                <a:ea typeface="Courier New" pitchFamily="34" charset="-122"/>
                <a:cs typeface="Courier New" pitchFamily="34" charset="-120"/>
              </a:rPr>
              <a:t>A12</a:t>
            </a:r>
            <a:endParaRPr lang="en-US" sz="1250" dirty="0"/>
          </a:p>
        </p:txBody>
      </p:sp>
      <p:sp>
        <p:nvSpPr>
          <p:cNvPr id="19" name="Shape 17"/>
          <p:cNvSpPr/>
          <p:nvPr/>
        </p:nvSpPr>
        <p:spPr>
          <a:xfrm>
            <a:off x="3218688" y="2395728"/>
            <a:ext cx="822960" cy="822960"/>
          </a:xfrm>
          <a:prstGeom prst="rect">
            <a:avLst/>
          </a:prstGeom>
          <a:solidFill>
            <a:srgbClr val="14141D"/>
          </a:solidFill>
          <a:ln w="12700">
            <a:solidFill>
              <a:srgbClr val="2A2A38"/>
            </a:solidFill>
            <a:prstDash val="solid"/>
          </a:ln>
        </p:spPr>
      </p:sp>
      <p:sp>
        <p:nvSpPr>
          <p:cNvPr id="20" name="Text 18"/>
          <p:cNvSpPr/>
          <p:nvPr/>
        </p:nvSpPr>
        <p:spPr>
          <a:xfrm>
            <a:off x="3218688" y="263347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A21</a:t>
            </a:r>
            <a:endParaRPr lang="en-US" sz="1250" dirty="0"/>
          </a:p>
        </p:txBody>
      </p:sp>
      <p:sp>
        <p:nvSpPr>
          <p:cNvPr id="21" name="Shape 19"/>
          <p:cNvSpPr/>
          <p:nvPr/>
        </p:nvSpPr>
        <p:spPr>
          <a:xfrm>
            <a:off x="4041648" y="2395728"/>
            <a:ext cx="822960" cy="822960"/>
          </a:xfrm>
          <a:prstGeom prst="rect">
            <a:avLst/>
          </a:prstGeom>
          <a:solidFill>
            <a:srgbClr val="14141D"/>
          </a:solidFill>
          <a:ln w="12700">
            <a:solidFill>
              <a:srgbClr val="2A2A38"/>
            </a:solidFill>
            <a:prstDash val="solid"/>
          </a:ln>
        </p:spPr>
      </p:sp>
      <p:sp>
        <p:nvSpPr>
          <p:cNvPr id="22" name="Text 20"/>
          <p:cNvSpPr/>
          <p:nvPr/>
        </p:nvSpPr>
        <p:spPr>
          <a:xfrm>
            <a:off x="4041648" y="263347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A22</a:t>
            </a:r>
            <a:endParaRPr lang="en-US" sz="1250" dirty="0"/>
          </a:p>
        </p:txBody>
      </p:sp>
      <p:sp>
        <p:nvSpPr>
          <p:cNvPr id="23" name="Text 21"/>
          <p:cNvSpPr/>
          <p:nvPr/>
        </p:nvSpPr>
        <p:spPr>
          <a:xfrm>
            <a:off x="3081528" y="3255264"/>
            <a:ext cx="1920240" cy="201168"/>
          </a:xfrm>
          <a:prstGeom prst="rect">
            <a:avLst/>
          </a:prstGeom>
          <a:noFill/>
          <a:ln/>
        </p:spPr>
        <p:txBody>
          <a:bodyPr wrap="square" lIns="0" tIns="0" rIns="0" bIns="0" rtlCol="0" anchor="ctr"/>
          <a:lstStyle/>
          <a:p>
            <a:pPr algn="ctr" indent="0" marL="0">
              <a:buNone/>
            </a:pPr>
            <a:r>
              <a:rPr lang="en-US" sz="800" i="1" dirty="0">
                <a:solidFill>
                  <a:srgbClr val="CCCCCC"/>
                </a:solidFill>
                <a:latin typeface="Calibri" pitchFamily="34" charset="0"/>
                <a:ea typeface="Calibri" pitchFamily="34" charset="-122"/>
                <a:cs typeface="Calibri" pitchFamily="34" charset="-120"/>
              </a:rPr>
              <a:t>each block = one 4×4 tile</a:t>
            </a:r>
            <a:endParaRPr lang="en-US" sz="800" dirty="0"/>
          </a:p>
        </p:txBody>
      </p:sp>
      <p:sp>
        <p:nvSpPr>
          <p:cNvPr id="24" name="Text 22"/>
          <p:cNvSpPr/>
          <p:nvPr/>
        </p:nvSpPr>
        <p:spPr>
          <a:xfrm>
            <a:off x="5614416" y="1298448"/>
            <a:ext cx="1645920" cy="237744"/>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B</a:t>
            </a:r>
            <a:endParaRPr lang="en-US" sz="1300" dirty="0"/>
          </a:p>
        </p:txBody>
      </p:sp>
      <p:sp>
        <p:nvSpPr>
          <p:cNvPr id="25" name="Shape 23"/>
          <p:cNvSpPr/>
          <p:nvPr/>
        </p:nvSpPr>
        <p:spPr>
          <a:xfrm>
            <a:off x="5614416" y="1572768"/>
            <a:ext cx="822960" cy="822960"/>
          </a:xfrm>
          <a:prstGeom prst="rect">
            <a:avLst/>
          </a:prstGeom>
          <a:solidFill>
            <a:srgbClr val="14141D"/>
          </a:solidFill>
          <a:ln w="12700">
            <a:solidFill>
              <a:srgbClr val="2A2A38"/>
            </a:solidFill>
            <a:prstDash val="solid"/>
          </a:ln>
        </p:spPr>
      </p:sp>
      <p:sp>
        <p:nvSpPr>
          <p:cNvPr id="26" name="Text 24"/>
          <p:cNvSpPr/>
          <p:nvPr/>
        </p:nvSpPr>
        <p:spPr>
          <a:xfrm>
            <a:off x="5614416" y="181051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B11</a:t>
            </a:r>
            <a:endParaRPr lang="en-US" sz="1250" dirty="0"/>
          </a:p>
        </p:txBody>
      </p:sp>
      <p:sp>
        <p:nvSpPr>
          <p:cNvPr id="27" name="Shape 25"/>
          <p:cNvSpPr/>
          <p:nvPr/>
        </p:nvSpPr>
        <p:spPr>
          <a:xfrm>
            <a:off x="6437376" y="1572768"/>
            <a:ext cx="822960" cy="822960"/>
          </a:xfrm>
          <a:prstGeom prst="rect">
            <a:avLst/>
          </a:prstGeom>
          <a:solidFill>
            <a:srgbClr val="101B30"/>
          </a:solidFill>
          <a:ln w="25400">
            <a:solidFill>
              <a:srgbClr val="6AA6FF"/>
            </a:solidFill>
            <a:prstDash val="solid"/>
          </a:ln>
        </p:spPr>
      </p:sp>
      <p:sp>
        <p:nvSpPr>
          <p:cNvPr id="28" name="Text 26"/>
          <p:cNvSpPr/>
          <p:nvPr/>
        </p:nvSpPr>
        <p:spPr>
          <a:xfrm>
            <a:off x="6437376" y="1810512"/>
            <a:ext cx="822960" cy="329184"/>
          </a:xfrm>
          <a:prstGeom prst="rect">
            <a:avLst/>
          </a:prstGeom>
          <a:noFill/>
          <a:ln/>
        </p:spPr>
        <p:txBody>
          <a:bodyPr wrap="square" lIns="0" tIns="0" rIns="0" bIns="0" rtlCol="0" anchor="ctr"/>
          <a:lstStyle/>
          <a:p>
            <a:pPr algn="ctr" indent="0" marL="0">
              <a:buNone/>
            </a:pPr>
            <a:r>
              <a:rPr lang="en-US" sz="1250" b="1" dirty="0">
                <a:solidFill>
                  <a:srgbClr val="6AA6FF"/>
                </a:solidFill>
                <a:latin typeface="Courier New" pitchFamily="34" charset="0"/>
                <a:ea typeface="Courier New" pitchFamily="34" charset="-122"/>
                <a:cs typeface="Courier New" pitchFamily="34" charset="-120"/>
              </a:rPr>
              <a:t>B12</a:t>
            </a:r>
            <a:endParaRPr lang="en-US" sz="1250" dirty="0"/>
          </a:p>
        </p:txBody>
      </p:sp>
      <p:sp>
        <p:nvSpPr>
          <p:cNvPr id="29" name="Shape 27"/>
          <p:cNvSpPr/>
          <p:nvPr/>
        </p:nvSpPr>
        <p:spPr>
          <a:xfrm>
            <a:off x="5614416" y="2395728"/>
            <a:ext cx="822960" cy="822960"/>
          </a:xfrm>
          <a:prstGeom prst="rect">
            <a:avLst/>
          </a:prstGeom>
          <a:solidFill>
            <a:srgbClr val="14141D"/>
          </a:solidFill>
          <a:ln w="12700">
            <a:solidFill>
              <a:srgbClr val="2A2A38"/>
            </a:solidFill>
            <a:prstDash val="solid"/>
          </a:ln>
        </p:spPr>
      </p:sp>
      <p:sp>
        <p:nvSpPr>
          <p:cNvPr id="30" name="Text 28"/>
          <p:cNvSpPr/>
          <p:nvPr/>
        </p:nvSpPr>
        <p:spPr>
          <a:xfrm>
            <a:off x="5614416" y="263347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B21</a:t>
            </a:r>
            <a:endParaRPr lang="en-US" sz="1250" dirty="0"/>
          </a:p>
        </p:txBody>
      </p:sp>
      <p:sp>
        <p:nvSpPr>
          <p:cNvPr id="31" name="Shape 29"/>
          <p:cNvSpPr/>
          <p:nvPr/>
        </p:nvSpPr>
        <p:spPr>
          <a:xfrm>
            <a:off x="6437376" y="2395728"/>
            <a:ext cx="822960" cy="822960"/>
          </a:xfrm>
          <a:prstGeom prst="rect">
            <a:avLst/>
          </a:prstGeom>
          <a:solidFill>
            <a:srgbClr val="101B30"/>
          </a:solidFill>
          <a:ln w="25400">
            <a:solidFill>
              <a:srgbClr val="6AA6FF"/>
            </a:solidFill>
            <a:prstDash val="solid"/>
          </a:ln>
        </p:spPr>
      </p:sp>
      <p:sp>
        <p:nvSpPr>
          <p:cNvPr id="32" name="Text 30"/>
          <p:cNvSpPr/>
          <p:nvPr/>
        </p:nvSpPr>
        <p:spPr>
          <a:xfrm>
            <a:off x="6437376" y="2633472"/>
            <a:ext cx="822960" cy="329184"/>
          </a:xfrm>
          <a:prstGeom prst="rect">
            <a:avLst/>
          </a:prstGeom>
          <a:noFill/>
          <a:ln/>
        </p:spPr>
        <p:txBody>
          <a:bodyPr wrap="square" lIns="0" tIns="0" rIns="0" bIns="0" rtlCol="0" anchor="ctr"/>
          <a:lstStyle/>
          <a:p>
            <a:pPr algn="ctr" indent="0" marL="0">
              <a:buNone/>
            </a:pPr>
            <a:r>
              <a:rPr lang="en-US" sz="1250" b="1" dirty="0">
                <a:solidFill>
                  <a:srgbClr val="6AA6FF"/>
                </a:solidFill>
                <a:latin typeface="Courier New" pitchFamily="34" charset="0"/>
                <a:ea typeface="Courier New" pitchFamily="34" charset="-122"/>
                <a:cs typeface="Courier New" pitchFamily="34" charset="-120"/>
              </a:rPr>
              <a:t>B22</a:t>
            </a:r>
            <a:endParaRPr lang="en-US" sz="1250" dirty="0"/>
          </a:p>
        </p:txBody>
      </p:sp>
      <p:sp>
        <p:nvSpPr>
          <p:cNvPr id="33" name="Text 31"/>
          <p:cNvSpPr/>
          <p:nvPr/>
        </p:nvSpPr>
        <p:spPr>
          <a:xfrm>
            <a:off x="5477256" y="3255264"/>
            <a:ext cx="1920240" cy="201168"/>
          </a:xfrm>
          <a:prstGeom prst="rect">
            <a:avLst/>
          </a:prstGeom>
          <a:noFill/>
          <a:ln/>
        </p:spPr>
        <p:txBody>
          <a:bodyPr wrap="square" lIns="0" tIns="0" rIns="0" bIns="0" rtlCol="0" anchor="ctr"/>
          <a:lstStyle/>
          <a:p>
            <a:pPr algn="ctr" indent="0" marL="0">
              <a:buNone/>
            </a:pPr>
            <a:r>
              <a:rPr lang="en-US" sz="800" i="1" dirty="0">
                <a:solidFill>
                  <a:srgbClr val="CCCCCC"/>
                </a:solidFill>
                <a:latin typeface="Calibri" pitchFamily="34" charset="0"/>
                <a:ea typeface="Calibri" pitchFamily="34" charset="-122"/>
                <a:cs typeface="Calibri" pitchFamily="34" charset="-120"/>
              </a:rPr>
              <a:t>each block = one 4×4 tile</a:t>
            </a:r>
            <a:endParaRPr lang="en-US" sz="800" dirty="0"/>
          </a:p>
        </p:txBody>
      </p:sp>
      <p:sp>
        <p:nvSpPr>
          <p:cNvPr id="34" name="Text 32"/>
          <p:cNvSpPr/>
          <p:nvPr/>
        </p:nvSpPr>
        <p:spPr>
          <a:xfrm>
            <a:off x="8010144" y="1298448"/>
            <a:ext cx="1645920" cy="237744"/>
          </a:xfrm>
          <a:prstGeom prst="rect">
            <a:avLst/>
          </a:prstGeom>
          <a:noFill/>
          <a:ln/>
        </p:spPr>
        <p:txBody>
          <a:bodyPr wrap="square" lIns="0" tIns="0" rIns="0" bIns="0" rtlCol="0" anchor="ctr"/>
          <a:lstStyle/>
          <a:p>
            <a:pPr algn="ctr" indent="0" marL="0">
              <a:buNone/>
            </a:pPr>
            <a:r>
              <a:rPr lang="en-US" sz="1300" b="1" dirty="0">
                <a:solidFill>
                  <a:srgbClr val="E8835C"/>
                </a:solidFill>
                <a:latin typeface="Courier New" pitchFamily="34" charset="0"/>
                <a:ea typeface="Courier New" pitchFamily="34" charset="-122"/>
                <a:cs typeface="Courier New" pitchFamily="34" charset="-120"/>
              </a:rPr>
              <a:t>C</a:t>
            </a:r>
            <a:endParaRPr lang="en-US" sz="1300" dirty="0"/>
          </a:p>
        </p:txBody>
      </p:sp>
      <p:sp>
        <p:nvSpPr>
          <p:cNvPr id="35" name="Shape 33"/>
          <p:cNvSpPr/>
          <p:nvPr/>
        </p:nvSpPr>
        <p:spPr>
          <a:xfrm>
            <a:off x="8010144" y="1572768"/>
            <a:ext cx="822960" cy="822960"/>
          </a:xfrm>
          <a:prstGeom prst="rect">
            <a:avLst/>
          </a:prstGeom>
          <a:solidFill>
            <a:srgbClr val="14141D"/>
          </a:solidFill>
          <a:ln w="12700">
            <a:solidFill>
              <a:srgbClr val="2A2A38"/>
            </a:solidFill>
            <a:prstDash val="solid"/>
          </a:ln>
        </p:spPr>
      </p:sp>
      <p:sp>
        <p:nvSpPr>
          <p:cNvPr id="36" name="Text 34"/>
          <p:cNvSpPr/>
          <p:nvPr/>
        </p:nvSpPr>
        <p:spPr>
          <a:xfrm>
            <a:off x="8010144" y="181051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C11</a:t>
            </a:r>
            <a:endParaRPr lang="en-US" sz="1250" dirty="0"/>
          </a:p>
        </p:txBody>
      </p:sp>
      <p:sp>
        <p:nvSpPr>
          <p:cNvPr id="37" name="Shape 35"/>
          <p:cNvSpPr/>
          <p:nvPr/>
        </p:nvSpPr>
        <p:spPr>
          <a:xfrm>
            <a:off x="8833104" y="1572768"/>
            <a:ext cx="822960" cy="822960"/>
          </a:xfrm>
          <a:prstGeom prst="rect">
            <a:avLst/>
          </a:prstGeom>
          <a:solidFill>
            <a:srgbClr val="241410"/>
          </a:solidFill>
          <a:ln w="25400">
            <a:solidFill>
              <a:srgbClr val="E8835C"/>
            </a:solidFill>
            <a:prstDash val="solid"/>
          </a:ln>
        </p:spPr>
      </p:sp>
      <p:sp>
        <p:nvSpPr>
          <p:cNvPr id="38" name="Text 36"/>
          <p:cNvSpPr/>
          <p:nvPr/>
        </p:nvSpPr>
        <p:spPr>
          <a:xfrm>
            <a:off x="8833104" y="1810512"/>
            <a:ext cx="822960" cy="329184"/>
          </a:xfrm>
          <a:prstGeom prst="rect">
            <a:avLst/>
          </a:prstGeom>
          <a:noFill/>
          <a:ln/>
        </p:spPr>
        <p:txBody>
          <a:bodyPr wrap="square" lIns="0" tIns="0" rIns="0" bIns="0" rtlCol="0" anchor="ctr"/>
          <a:lstStyle/>
          <a:p>
            <a:pPr algn="ctr" indent="0" marL="0">
              <a:buNone/>
            </a:pPr>
            <a:r>
              <a:rPr lang="en-US" sz="1250" b="1" dirty="0">
                <a:solidFill>
                  <a:srgbClr val="E8835C"/>
                </a:solidFill>
                <a:latin typeface="Courier New" pitchFamily="34" charset="0"/>
                <a:ea typeface="Courier New" pitchFamily="34" charset="-122"/>
                <a:cs typeface="Courier New" pitchFamily="34" charset="-120"/>
              </a:rPr>
              <a:t>C12</a:t>
            </a:r>
            <a:endParaRPr lang="en-US" sz="1250" dirty="0"/>
          </a:p>
        </p:txBody>
      </p:sp>
      <p:sp>
        <p:nvSpPr>
          <p:cNvPr id="39" name="Shape 37"/>
          <p:cNvSpPr/>
          <p:nvPr/>
        </p:nvSpPr>
        <p:spPr>
          <a:xfrm>
            <a:off x="8010144" y="2395728"/>
            <a:ext cx="822960" cy="822960"/>
          </a:xfrm>
          <a:prstGeom prst="rect">
            <a:avLst/>
          </a:prstGeom>
          <a:solidFill>
            <a:srgbClr val="14141D"/>
          </a:solidFill>
          <a:ln w="12700">
            <a:solidFill>
              <a:srgbClr val="2A2A38"/>
            </a:solidFill>
            <a:prstDash val="solid"/>
          </a:ln>
        </p:spPr>
      </p:sp>
      <p:sp>
        <p:nvSpPr>
          <p:cNvPr id="40" name="Text 38"/>
          <p:cNvSpPr/>
          <p:nvPr/>
        </p:nvSpPr>
        <p:spPr>
          <a:xfrm>
            <a:off x="8010144" y="263347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C21</a:t>
            </a:r>
            <a:endParaRPr lang="en-US" sz="1250" dirty="0"/>
          </a:p>
        </p:txBody>
      </p:sp>
      <p:sp>
        <p:nvSpPr>
          <p:cNvPr id="41" name="Shape 39"/>
          <p:cNvSpPr/>
          <p:nvPr/>
        </p:nvSpPr>
        <p:spPr>
          <a:xfrm>
            <a:off x="8833104" y="2395728"/>
            <a:ext cx="822960" cy="822960"/>
          </a:xfrm>
          <a:prstGeom prst="rect">
            <a:avLst/>
          </a:prstGeom>
          <a:solidFill>
            <a:srgbClr val="14141D"/>
          </a:solidFill>
          <a:ln w="12700">
            <a:solidFill>
              <a:srgbClr val="2A2A38"/>
            </a:solidFill>
            <a:prstDash val="solid"/>
          </a:ln>
        </p:spPr>
      </p:sp>
      <p:sp>
        <p:nvSpPr>
          <p:cNvPr id="42" name="Text 40"/>
          <p:cNvSpPr/>
          <p:nvPr/>
        </p:nvSpPr>
        <p:spPr>
          <a:xfrm>
            <a:off x="8833104" y="2633472"/>
            <a:ext cx="822960" cy="329184"/>
          </a:xfrm>
          <a:prstGeom prst="rect">
            <a:avLst/>
          </a:prstGeom>
          <a:noFill/>
          <a:ln/>
        </p:spPr>
        <p:txBody>
          <a:bodyPr wrap="square" lIns="0" tIns="0" rIns="0" bIns="0" rtlCol="0" anchor="ctr"/>
          <a:lstStyle/>
          <a:p>
            <a:pPr algn="ctr" indent="0" marL="0">
              <a:buNone/>
            </a:pPr>
            <a:r>
              <a:rPr lang="en-US" sz="1250" dirty="0">
                <a:solidFill>
                  <a:srgbClr val="CCCCCC"/>
                </a:solidFill>
                <a:latin typeface="Courier New" pitchFamily="34" charset="0"/>
                <a:ea typeface="Courier New" pitchFamily="34" charset="-122"/>
                <a:cs typeface="Courier New" pitchFamily="34" charset="-120"/>
              </a:rPr>
              <a:t>C22</a:t>
            </a:r>
            <a:endParaRPr lang="en-US" sz="1250" dirty="0"/>
          </a:p>
        </p:txBody>
      </p:sp>
      <p:sp>
        <p:nvSpPr>
          <p:cNvPr id="43" name="Text 41"/>
          <p:cNvSpPr/>
          <p:nvPr/>
        </p:nvSpPr>
        <p:spPr>
          <a:xfrm>
            <a:off x="7872984" y="3255264"/>
            <a:ext cx="1920240" cy="201168"/>
          </a:xfrm>
          <a:prstGeom prst="rect">
            <a:avLst/>
          </a:prstGeom>
          <a:noFill/>
          <a:ln/>
        </p:spPr>
        <p:txBody>
          <a:bodyPr wrap="square" lIns="0" tIns="0" rIns="0" bIns="0" rtlCol="0" anchor="ctr"/>
          <a:lstStyle/>
          <a:p>
            <a:pPr algn="ctr" indent="0" marL="0">
              <a:buNone/>
            </a:pPr>
            <a:r>
              <a:rPr lang="en-US" sz="800" i="1" dirty="0">
                <a:solidFill>
                  <a:srgbClr val="CCCCCC"/>
                </a:solidFill>
                <a:latin typeface="Calibri" pitchFamily="34" charset="0"/>
                <a:ea typeface="Calibri" pitchFamily="34" charset="-122"/>
                <a:cs typeface="Calibri" pitchFamily="34" charset="-120"/>
              </a:rPr>
              <a:t>each block = one 4×4 tile</a:t>
            </a:r>
            <a:endParaRPr lang="en-US" sz="800" dirty="0"/>
          </a:p>
        </p:txBody>
      </p:sp>
      <p:sp>
        <p:nvSpPr>
          <p:cNvPr id="44" name="Text 42"/>
          <p:cNvSpPr/>
          <p:nvPr/>
        </p:nvSpPr>
        <p:spPr>
          <a:xfrm>
            <a:off x="2523744" y="2121408"/>
            <a:ext cx="292608"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45" name="Text 43"/>
          <p:cNvSpPr/>
          <p:nvPr/>
        </p:nvSpPr>
        <p:spPr>
          <a:xfrm>
            <a:off x="4919472" y="2121408"/>
            <a:ext cx="292608"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46" name="Text 44"/>
          <p:cNvSpPr/>
          <p:nvPr/>
        </p:nvSpPr>
        <p:spPr>
          <a:xfrm>
            <a:off x="7315200" y="2121408"/>
            <a:ext cx="292608"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47" name="Shape 45"/>
          <p:cNvSpPr/>
          <p:nvPr/>
        </p:nvSpPr>
        <p:spPr>
          <a:xfrm>
            <a:off x="9921240" y="1572768"/>
            <a:ext cx="1627632" cy="1645920"/>
          </a:xfrm>
          <a:prstGeom prst="roundRect">
            <a:avLst>
              <a:gd name="adj" fmla="val 3090"/>
            </a:avLst>
          </a:prstGeom>
          <a:solidFill>
            <a:srgbClr val="14141D"/>
          </a:solidFill>
          <a:ln w="12700">
            <a:solidFill>
              <a:srgbClr val="2A2A38"/>
            </a:solidFill>
            <a:prstDash val="solid"/>
          </a:ln>
        </p:spPr>
      </p:sp>
      <p:sp>
        <p:nvSpPr>
          <p:cNvPr id="48" name="Text 46"/>
          <p:cNvSpPr/>
          <p:nvPr/>
        </p:nvSpPr>
        <p:spPr>
          <a:xfrm>
            <a:off x="10040112" y="1700784"/>
            <a:ext cx="1417320" cy="219456"/>
          </a:xfrm>
          <a:prstGeom prst="rect">
            <a:avLst/>
          </a:prstGeom>
          <a:noFill/>
          <a:ln/>
        </p:spPr>
        <p:txBody>
          <a:bodyPr wrap="square" lIns="0" tIns="0" rIns="0" bIns="0" rtlCol="0" anchor="ctr"/>
          <a:lstStyle/>
          <a:p>
            <a:pPr indent="0" marL="0">
              <a:buNone/>
            </a:pPr>
            <a:r>
              <a:rPr lang="en-US" sz="950" b="1" dirty="0">
                <a:solidFill>
                  <a:srgbClr val="3CE8B2"/>
                </a:solidFill>
                <a:latin typeface="Courier New" pitchFamily="34" charset="0"/>
                <a:ea typeface="Courier New" pitchFamily="34" charset="-122"/>
                <a:cs typeface="Courier New" pitchFamily="34" charset="-120"/>
              </a:rPr>
              <a:t>THE COUNT</a:t>
            </a:r>
            <a:endParaRPr lang="en-US" sz="950" dirty="0"/>
          </a:p>
        </p:txBody>
      </p:sp>
      <p:sp>
        <p:nvSpPr>
          <p:cNvPr id="49" name="Text 47"/>
          <p:cNvSpPr/>
          <p:nvPr/>
        </p:nvSpPr>
        <p:spPr>
          <a:xfrm>
            <a:off x="10040112" y="1938528"/>
            <a:ext cx="1417320" cy="1234440"/>
          </a:xfrm>
          <a:prstGeom prst="rect">
            <a:avLst/>
          </a:prstGeom>
          <a:noFill/>
          <a:ln/>
        </p:spPr>
        <p:txBody>
          <a:bodyPr wrap="square" lIns="0" tIns="0" rIns="0" bIns="0" rtlCol="0" anchor="ctr"/>
          <a:lstStyle/>
          <a:p>
            <a:pPr indent="0" marL="0">
              <a:lnSpc>
                <a:spcPct val="115000"/>
              </a:lnSpc>
              <a:buNone/>
            </a:pPr>
            <a:r>
              <a:rPr lang="en-US" sz="1050" b="1" dirty="0">
                <a:solidFill>
                  <a:srgbClr val="DDDDDD"/>
                </a:solidFill>
                <a:latin typeface="Courier New" pitchFamily="34" charset="0"/>
                <a:ea typeface="Courier New" pitchFamily="34" charset="-122"/>
                <a:cs typeface="Courier New" pitchFamily="34" charset="-120"/>
              </a:rPr>
              <a:t>4 blocks</a:t>
            </a:r>
            <a:endParaRPr lang="en-US" sz="1050" dirty="0"/>
          </a:p>
          <a:p>
            <a:pPr indent="0" marL="0">
              <a:lnSpc>
                <a:spcPct val="115000"/>
              </a:lnSpc>
              <a:buNone/>
            </a:pPr>
            <a:r>
              <a:rPr lang="en-US" sz="1050" b="1" dirty="0">
                <a:solidFill>
                  <a:srgbClr val="DDDDDD"/>
                </a:solidFill>
                <a:latin typeface="Courier New" pitchFamily="34" charset="0"/>
                <a:ea typeface="Courier New" pitchFamily="34" charset="-122"/>
                <a:cs typeface="Courier New" pitchFamily="34" charset="-120"/>
              </a:rPr>
              <a:t>× 2 passes</a:t>
            </a:r>
            <a:endParaRPr lang="en-US" sz="1050" dirty="0"/>
          </a:p>
          <a:p>
            <a:pPr indent="0" marL="0">
              <a:lnSpc>
                <a:spcPct val="115000"/>
              </a:lnSpc>
              <a:buNone/>
            </a:pPr>
            <a:r>
              <a:rPr lang="en-US" sz="1050" b="1" dirty="0">
                <a:solidFill>
                  <a:srgbClr val="DDDDDD"/>
                </a:solidFill>
                <a:latin typeface="Courier New" pitchFamily="34" charset="0"/>
                <a:ea typeface="Courier New" pitchFamily="34" charset="-122"/>
                <a:cs typeface="Courier New" pitchFamily="34" charset="-120"/>
              </a:rPr>
              <a:t>= 8 MMA steps</a:t>
            </a:r>
            <a:endParaRPr lang="en-US" sz="1050" dirty="0"/>
          </a:p>
          <a:p>
            <a:pPr indent="0" marL="0">
              <a:lnSpc>
                <a:spcPct val="115000"/>
              </a:lnSpc>
              <a:buNone/>
            </a:pPr>
            <a:r>
              <a:rPr lang="en-US" sz="1050" b="1" dirty="0">
                <a:solidFill>
                  <a:srgbClr val="DDDDDD"/>
                </a:solidFill>
                <a:latin typeface="Courier New" pitchFamily="34" charset="0"/>
                <a:ea typeface="Courier New" pitchFamily="34" charset="-122"/>
                <a:cs typeface="Courier New" pitchFamily="34" charset="-120"/>
              </a:rPr>
              <a:t>= 512 MACs</a:t>
            </a:r>
            <a:endParaRPr lang="en-US" sz="1050" dirty="0"/>
          </a:p>
          <a:p>
            <a:pPr indent="0" marL="0">
              <a:lnSpc>
                <a:spcPct val="115000"/>
              </a:lnSpc>
              <a:buNone/>
            </a:pPr>
            <a:r>
              <a:rPr lang="en-US" sz="1050" b="1" dirty="0">
                <a:solidFill>
                  <a:srgbClr val="DDDDDD"/>
                </a:solidFill>
                <a:latin typeface="Courier New" pitchFamily="34" charset="0"/>
                <a:ea typeface="Courier New" pitchFamily="34" charset="-122"/>
                <a:cs typeface="Courier New" pitchFamily="34" charset="-120"/>
              </a:rPr>
              <a:t>= 8³ exactly</a:t>
            </a:r>
            <a:endParaRPr lang="en-US" sz="1050" dirty="0"/>
          </a:p>
        </p:txBody>
      </p:sp>
      <p:sp>
        <p:nvSpPr>
          <p:cNvPr id="50" name="Shape 48"/>
          <p:cNvSpPr/>
          <p:nvPr/>
        </p:nvSpPr>
        <p:spPr>
          <a:xfrm>
            <a:off x="640080" y="3611880"/>
            <a:ext cx="10881360" cy="868680"/>
          </a:xfrm>
          <a:prstGeom prst="roundRect">
            <a:avLst>
              <a:gd name="adj" fmla="val 5789"/>
            </a:avLst>
          </a:prstGeom>
          <a:solidFill>
            <a:srgbClr val="10151C"/>
          </a:solidFill>
          <a:ln w="12700">
            <a:solidFill>
              <a:srgbClr val="2A2A38"/>
            </a:solidFill>
            <a:prstDash val="solid"/>
          </a:ln>
        </p:spPr>
      </p:sp>
      <p:sp>
        <p:nvSpPr>
          <p:cNvPr id="51" name="Text 49"/>
          <p:cNvSpPr/>
          <p:nvPr/>
        </p:nvSpPr>
        <p:spPr>
          <a:xfrm>
            <a:off x="640080" y="3712464"/>
            <a:ext cx="10881360" cy="365760"/>
          </a:xfrm>
          <a:prstGeom prst="rect">
            <a:avLst/>
          </a:prstGeom>
          <a:noFill/>
          <a:ln/>
        </p:spPr>
        <p:txBody>
          <a:bodyPr wrap="square" lIns="0" tIns="0" rIns="0" bIns="0" rtlCol="0" anchor="ctr"/>
          <a:lstStyle/>
          <a:p>
            <a:pPr algn="ctr" indent="0" marL="0">
              <a:buNone/>
            </a:pPr>
            <a:r>
              <a:rPr lang="en-US" sz="1800" b="1" dirty="0">
                <a:solidFill>
                  <a:srgbClr val="E8A832"/>
                </a:solidFill>
                <a:latin typeface="Courier New" pitchFamily="34" charset="0"/>
                <a:ea typeface="Courier New" pitchFamily="34" charset="-122"/>
                <a:cs typeface="Courier New" pitchFamily="34" charset="-120"/>
              </a:rPr>
              <a:t>D</a:t>
            </a:r>
            <a:pPr algn="ctr" indent="0" marL="0">
              <a:buNone/>
            </a:pPr>
            <a:r>
              <a:rPr lang="en-US" sz="1800" b="1" baseline="-40000" dirty="0">
                <a:solidFill>
                  <a:srgbClr val="E8A832"/>
                </a:solidFill>
                <a:latin typeface="Courier New" pitchFamily="34" charset="0"/>
                <a:ea typeface="Courier New" pitchFamily="34" charset="-122"/>
                <a:cs typeface="Courier New" pitchFamily="34" charset="-120"/>
              </a:rPr>
              <a:t>12</a:t>
            </a:r>
            <a:pPr algn="ctr" indent="0" marL="0">
              <a:buNone/>
            </a:pPr>
            <a:r>
              <a:rPr lang="en-US" sz="1800" b="1" dirty="0">
                <a:solidFill>
                  <a:srgbClr val="FFFFFF"/>
                </a:solidFill>
                <a:latin typeface="Courier New" pitchFamily="34" charset="0"/>
                <a:ea typeface="Courier New" pitchFamily="34" charset="-122"/>
                <a:cs typeface="Courier New" pitchFamily="34" charset="-120"/>
              </a:rPr>
              <a:t>  =  </a:t>
            </a:r>
            <a:pPr algn="ctr" indent="0" marL="0">
              <a:buNone/>
            </a:pPr>
            <a:r>
              <a:rPr lang="en-US" sz="1800" b="1" dirty="0">
                <a:solidFill>
                  <a:srgbClr val="3CE8B2"/>
                </a:solidFill>
                <a:latin typeface="Courier New" pitchFamily="34" charset="0"/>
                <a:ea typeface="Courier New" pitchFamily="34" charset="-122"/>
                <a:cs typeface="Courier New" pitchFamily="34" charset="-120"/>
              </a:rPr>
              <a:t>A</a:t>
            </a:r>
            <a:pPr algn="ctr" indent="0" marL="0">
              <a:buNone/>
            </a:pPr>
            <a:r>
              <a:rPr lang="en-US" sz="1800" b="1" baseline="-40000" dirty="0">
                <a:solidFill>
                  <a:srgbClr val="3CE8B2"/>
                </a:solidFill>
                <a:latin typeface="Courier New" pitchFamily="34" charset="0"/>
                <a:ea typeface="Courier New" pitchFamily="34" charset="-122"/>
                <a:cs typeface="Courier New" pitchFamily="34" charset="-120"/>
              </a:rPr>
              <a:t>11</a:t>
            </a:r>
            <a:pPr algn="ctr" indent="0" marL="0">
              <a:buNone/>
            </a:pPr>
            <a:r>
              <a:rPr lang="en-US" sz="1800" b="1" dirty="0">
                <a:solidFill>
                  <a:srgbClr val="FFFFFF"/>
                </a:solidFill>
                <a:latin typeface="Courier New" pitchFamily="34" charset="0"/>
                <a:ea typeface="Courier New" pitchFamily="34" charset="-122"/>
                <a:cs typeface="Courier New" pitchFamily="34" charset="-120"/>
              </a:rPr>
              <a:t>·</a:t>
            </a:r>
            <a:pPr algn="ctr" indent="0" marL="0">
              <a:buNone/>
            </a:pPr>
            <a:r>
              <a:rPr lang="en-US" sz="1800" b="1" dirty="0">
                <a:solidFill>
                  <a:srgbClr val="6AA6FF"/>
                </a:solidFill>
                <a:latin typeface="Courier New" pitchFamily="34" charset="0"/>
                <a:ea typeface="Courier New" pitchFamily="34" charset="-122"/>
                <a:cs typeface="Courier New" pitchFamily="34" charset="-120"/>
              </a:rPr>
              <a:t>B</a:t>
            </a:r>
            <a:pPr algn="ctr" indent="0" marL="0">
              <a:buNone/>
            </a:pPr>
            <a:r>
              <a:rPr lang="en-US" sz="1800" b="1" baseline="-40000" dirty="0">
                <a:solidFill>
                  <a:srgbClr val="6AA6FF"/>
                </a:solidFill>
                <a:latin typeface="Courier New" pitchFamily="34" charset="0"/>
                <a:ea typeface="Courier New" pitchFamily="34" charset="-122"/>
                <a:cs typeface="Courier New" pitchFamily="34" charset="-120"/>
              </a:rPr>
              <a:t>12</a:t>
            </a:r>
            <a:pPr algn="ctr" indent="0" marL="0">
              <a:buNone/>
            </a:pPr>
            <a:r>
              <a:rPr lang="en-US" sz="1800" b="1" dirty="0">
                <a:solidFill>
                  <a:srgbClr val="FFFFFF"/>
                </a:solidFill>
                <a:latin typeface="Courier New" pitchFamily="34" charset="0"/>
                <a:ea typeface="Courier New" pitchFamily="34" charset="-122"/>
                <a:cs typeface="Courier New" pitchFamily="34" charset="-120"/>
              </a:rPr>
              <a:t>  +  </a:t>
            </a:r>
            <a:pPr algn="ctr" indent="0" marL="0">
              <a:buNone/>
            </a:pPr>
            <a:r>
              <a:rPr lang="en-US" sz="1800" b="1" dirty="0">
                <a:solidFill>
                  <a:srgbClr val="3CE8B2"/>
                </a:solidFill>
                <a:latin typeface="Courier New" pitchFamily="34" charset="0"/>
                <a:ea typeface="Courier New" pitchFamily="34" charset="-122"/>
                <a:cs typeface="Courier New" pitchFamily="34" charset="-120"/>
              </a:rPr>
              <a:t>A</a:t>
            </a:r>
            <a:pPr algn="ctr" indent="0" marL="0">
              <a:buNone/>
            </a:pPr>
            <a:r>
              <a:rPr lang="en-US" sz="1800" b="1" baseline="-40000" dirty="0">
                <a:solidFill>
                  <a:srgbClr val="3CE8B2"/>
                </a:solidFill>
                <a:latin typeface="Courier New" pitchFamily="34" charset="0"/>
                <a:ea typeface="Courier New" pitchFamily="34" charset="-122"/>
                <a:cs typeface="Courier New" pitchFamily="34" charset="-120"/>
              </a:rPr>
              <a:t>12</a:t>
            </a:r>
            <a:pPr algn="ctr" indent="0" marL="0">
              <a:buNone/>
            </a:pPr>
            <a:r>
              <a:rPr lang="en-US" sz="1800" b="1" dirty="0">
                <a:solidFill>
                  <a:srgbClr val="FFFFFF"/>
                </a:solidFill>
                <a:latin typeface="Courier New" pitchFamily="34" charset="0"/>
                <a:ea typeface="Courier New" pitchFamily="34" charset="-122"/>
                <a:cs typeface="Courier New" pitchFamily="34" charset="-120"/>
              </a:rPr>
              <a:t>·</a:t>
            </a:r>
            <a:pPr algn="ctr" indent="0" marL="0">
              <a:buNone/>
            </a:pPr>
            <a:r>
              <a:rPr lang="en-US" sz="1800" b="1" dirty="0">
                <a:solidFill>
                  <a:srgbClr val="6AA6FF"/>
                </a:solidFill>
                <a:latin typeface="Courier New" pitchFamily="34" charset="0"/>
                <a:ea typeface="Courier New" pitchFamily="34" charset="-122"/>
                <a:cs typeface="Courier New" pitchFamily="34" charset="-120"/>
              </a:rPr>
              <a:t>B</a:t>
            </a:r>
            <a:pPr algn="ctr" indent="0" marL="0">
              <a:buNone/>
            </a:pPr>
            <a:r>
              <a:rPr lang="en-US" sz="1800" b="1" baseline="-40000" dirty="0">
                <a:solidFill>
                  <a:srgbClr val="6AA6FF"/>
                </a:solidFill>
                <a:latin typeface="Courier New" pitchFamily="34" charset="0"/>
                <a:ea typeface="Courier New" pitchFamily="34" charset="-122"/>
                <a:cs typeface="Courier New" pitchFamily="34" charset="-120"/>
              </a:rPr>
              <a:t>22</a:t>
            </a:r>
            <a:pPr algn="ctr" indent="0" marL="0">
              <a:buNone/>
            </a:pPr>
            <a:r>
              <a:rPr lang="en-US" sz="1800" b="1" dirty="0">
                <a:solidFill>
                  <a:srgbClr val="FFFFFF"/>
                </a:solidFill>
                <a:latin typeface="Courier New" pitchFamily="34" charset="0"/>
                <a:ea typeface="Courier New" pitchFamily="34" charset="-122"/>
                <a:cs typeface="Courier New" pitchFamily="34" charset="-120"/>
              </a:rPr>
              <a:t>  +  </a:t>
            </a:r>
            <a:pPr algn="ctr" indent="0" marL="0">
              <a:buNone/>
            </a:pPr>
            <a:r>
              <a:rPr lang="en-US" sz="1800" b="1" dirty="0">
                <a:solidFill>
                  <a:srgbClr val="E8835C"/>
                </a:solidFill>
                <a:latin typeface="Courier New" pitchFamily="34" charset="0"/>
                <a:ea typeface="Courier New" pitchFamily="34" charset="-122"/>
                <a:cs typeface="Courier New" pitchFamily="34" charset="-120"/>
              </a:rPr>
              <a:t>C</a:t>
            </a:r>
            <a:pPr algn="ctr" indent="0" marL="0">
              <a:buNone/>
            </a:pPr>
            <a:r>
              <a:rPr lang="en-US" sz="1800" b="1" baseline="-40000" dirty="0">
                <a:solidFill>
                  <a:srgbClr val="E8835C"/>
                </a:solidFill>
                <a:latin typeface="Courier New" pitchFamily="34" charset="0"/>
                <a:ea typeface="Courier New" pitchFamily="34" charset="-122"/>
                <a:cs typeface="Courier New" pitchFamily="34" charset="-120"/>
              </a:rPr>
              <a:t>12</a:t>
            </a:r>
            <a:endParaRPr lang="en-US" sz="1800" dirty="0"/>
          </a:p>
        </p:txBody>
      </p:sp>
      <p:sp>
        <p:nvSpPr>
          <p:cNvPr id="52" name="Text 50"/>
          <p:cNvSpPr/>
          <p:nvPr/>
        </p:nvSpPr>
        <p:spPr>
          <a:xfrm>
            <a:off x="640080" y="4114800"/>
            <a:ext cx="10881360" cy="256032"/>
          </a:xfrm>
          <a:prstGeom prst="rect">
            <a:avLst/>
          </a:prstGeom>
          <a:noFill/>
          <a:ln/>
        </p:spPr>
        <p:txBody>
          <a:bodyPr wrap="square" lIns="0" tIns="0" rIns="0" bIns="0" rtlCol="0" anchor="ctr"/>
          <a:lstStyle/>
          <a:p>
            <a:pPr algn="ctr" indent="0" marL="0">
              <a:buNone/>
            </a:pPr>
            <a:r>
              <a:rPr lang="en-US" sz="1000" i="1" dirty="0">
                <a:solidFill>
                  <a:srgbClr val="CCCCCC"/>
                </a:solidFill>
                <a:latin typeface="Calibri" pitchFamily="34" charset="0"/>
                <a:ea typeface="Calibri" pitchFamily="34" charset="-122"/>
                <a:cs typeface="Calibri" pitchFamily="34" charset="-120"/>
              </a:rPr>
              <a:t>row 1 of A against column 2 of B — block algebra is ordinary matrix algebra, one level up (compare the d12 line on the previous slide)</a:t>
            </a:r>
            <a:endParaRPr lang="en-US" sz="1000" dirty="0"/>
          </a:p>
        </p:txBody>
      </p:sp>
      <p:sp>
        <p:nvSpPr>
          <p:cNvPr id="53" name="Shape 51"/>
          <p:cNvSpPr/>
          <p:nvPr/>
        </p:nvSpPr>
        <p:spPr>
          <a:xfrm>
            <a:off x="640080" y="4663440"/>
            <a:ext cx="5394960" cy="1234440"/>
          </a:xfrm>
          <a:prstGeom prst="roundRect">
            <a:avLst>
              <a:gd name="adj" fmla="val 4074"/>
            </a:avLst>
          </a:prstGeom>
          <a:solidFill>
            <a:srgbClr val="14141D"/>
          </a:solidFill>
          <a:ln w="12700">
            <a:solidFill>
              <a:srgbClr val="2A2A38"/>
            </a:solidFill>
            <a:prstDash val="solid"/>
          </a:ln>
        </p:spPr>
      </p:sp>
      <p:sp>
        <p:nvSpPr>
          <p:cNvPr id="54" name="Text 52"/>
          <p:cNvSpPr/>
          <p:nvPr/>
        </p:nvSpPr>
        <p:spPr>
          <a:xfrm>
            <a:off x="914400" y="4809744"/>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PASS 1 · ONE MMA STEP</a:t>
            </a:r>
            <a:endParaRPr lang="en-US" sz="1250" dirty="0"/>
          </a:p>
        </p:txBody>
      </p:sp>
      <p:sp>
        <p:nvSpPr>
          <p:cNvPr id="55" name="Text 53"/>
          <p:cNvSpPr/>
          <p:nvPr/>
        </p:nvSpPr>
        <p:spPr>
          <a:xfrm>
            <a:off x="914400" y="5102352"/>
            <a:ext cx="4846320" cy="274320"/>
          </a:xfrm>
          <a:prstGeom prst="rect">
            <a:avLst/>
          </a:prstGeom>
          <a:noFill/>
          <a:ln/>
        </p:spPr>
        <p:txBody>
          <a:bodyPr wrap="square" lIns="0" tIns="0" rIns="0" bIns="0" rtlCol="0" anchor="ctr"/>
          <a:lstStyle/>
          <a:p>
            <a:pPr indent="0" marL="0">
              <a:buNone/>
            </a:pPr>
            <a:r>
              <a:rPr lang="en-US" sz="1350" b="1" dirty="0">
                <a:solidFill>
                  <a:srgbClr val="FFFFFF"/>
                </a:solidFill>
                <a:latin typeface="Courier New" pitchFamily="34" charset="0"/>
                <a:ea typeface="Courier New" pitchFamily="34" charset="-122"/>
                <a:cs typeface="Courier New" pitchFamily="34" charset="-120"/>
              </a:rPr>
              <a:t>T  =  A11·B12  +  C12</a:t>
            </a:r>
            <a:endParaRPr lang="en-US" sz="1350" dirty="0"/>
          </a:p>
        </p:txBody>
      </p:sp>
      <p:sp>
        <p:nvSpPr>
          <p:cNvPr id="56" name="Text 54"/>
          <p:cNvSpPr/>
          <p:nvPr/>
        </p:nvSpPr>
        <p:spPr>
          <a:xfrm>
            <a:off x="914400" y="5394960"/>
            <a:ext cx="4892040" cy="457200"/>
          </a:xfrm>
          <a:prstGeom prst="rect">
            <a:avLst/>
          </a:prstGeom>
          <a:noFill/>
          <a:ln/>
        </p:spPr>
        <p:txBody>
          <a:bodyPr wrap="square" lIns="0" tIns="0" rIns="0" bIns="0" rtlCol="0" anchor="ctr"/>
          <a:lstStyle/>
          <a:p>
            <a:pPr indent="0" marL="0">
              <a:buNone/>
            </a:pPr>
            <a:r>
              <a:rPr lang="en-US" sz="1000" dirty="0">
                <a:solidFill>
                  <a:srgbClr val="DDDDDD"/>
                </a:solidFill>
                <a:latin typeface="Calibri" pitchFamily="34" charset="0"/>
                <a:ea typeface="Calibri" pitchFamily="34" charset="-122"/>
                <a:cs typeface="Calibri" pitchFamily="34" charset="-120"/>
              </a:rPr>
              <a:t>A full 4×4 tile product plus the accumulator tile — 64 MACs, one indivisible step.</a:t>
            </a:r>
            <a:endParaRPr lang="en-US" sz="1000" dirty="0"/>
          </a:p>
        </p:txBody>
      </p:sp>
      <p:sp>
        <p:nvSpPr>
          <p:cNvPr id="57" name="Shape 55"/>
          <p:cNvSpPr/>
          <p:nvPr/>
        </p:nvSpPr>
        <p:spPr>
          <a:xfrm>
            <a:off x="6263640" y="4663440"/>
            <a:ext cx="5257800" cy="1234440"/>
          </a:xfrm>
          <a:prstGeom prst="roundRect">
            <a:avLst>
              <a:gd name="adj" fmla="val 4074"/>
            </a:avLst>
          </a:prstGeom>
          <a:solidFill>
            <a:srgbClr val="14141D"/>
          </a:solidFill>
          <a:ln w="12700">
            <a:solidFill>
              <a:srgbClr val="2A2A38"/>
            </a:solidFill>
            <a:prstDash val="solid"/>
          </a:ln>
        </p:spPr>
      </p:sp>
      <p:sp>
        <p:nvSpPr>
          <p:cNvPr id="58" name="Text 56"/>
          <p:cNvSpPr/>
          <p:nvPr/>
        </p:nvSpPr>
        <p:spPr>
          <a:xfrm>
            <a:off x="6537960" y="4809744"/>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PASS 2 · THE ACCUMULATOR CARRIES</a:t>
            </a:r>
            <a:endParaRPr lang="en-US" sz="1250" dirty="0"/>
          </a:p>
        </p:txBody>
      </p:sp>
      <p:sp>
        <p:nvSpPr>
          <p:cNvPr id="59" name="Text 57"/>
          <p:cNvSpPr/>
          <p:nvPr/>
        </p:nvSpPr>
        <p:spPr>
          <a:xfrm>
            <a:off x="6537960" y="5102352"/>
            <a:ext cx="4754880" cy="274320"/>
          </a:xfrm>
          <a:prstGeom prst="rect">
            <a:avLst/>
          </a:prstGeom>
          <a:noFill/>
          <a:ln/>
        </p:spPr>
        <p:txBody>
          <a:bodyPr wrap="square" lIns="0" tIns="0" rIns="0" bIns="0" rtlCol="0" anchor="ctr"/>
          <a:lstStyle/>
          <a:p>
            <a:pPr indent="0" marL="0">
              <a:buNone/>
            </a:pPr>
            <a:r>
              <a:rPr lang="en-US" sz="1350" b="1" dirty="0">
                <a:solidFill>
                  <a:srgbClr val="FFFFFF"/>
                </a:solidFill>
                <a:latin typeface="Courier New" pitchFamily="34" charset="0"/>
                <a:ea typeface="Courier New" pitchFamily="34" charset="-122"/>
                <a:cs typeface="Courier New" pitchFamily="34" charset="-120"/>
              </a:rPr>
              <a:t>D12  =  A12·B22  +  T</a:t>
            </a:r>
            <a:endParaRPr lang="en-US" sz="1350" dirty="0"/>
          </a:p>
        </p:txBody>
      </p:sp>
      <p:sp>
        <p:nvSpPr>
          <p:cNvPr id="60" name="Text 58"/>
          <p:cNvSpPr/>
          <p:nvPr/>
        </p:nvSpPr>
        <p:spPr>
          <a:xfrm>
            <a:off x="6537960" y="5394960"/>
            <a:ext cx="4800600" cy="457200"/>
          </a:xfrm>
          <a:prstGeom prst="rect">
            <a:avLst/>
          </a:prstGeom>
          <a:noFill/>
          <a:ln/>
        </p:spPr>
        <p:txBody>
          <a:bodyPr wrap="square" lIns="0" tIns="0" rIns="0" bIns="0" rtlCol="0" anchor="ctr"/>
          <a:lstStyle/>
          <a:p>
            <a:pPr indent="0" marL="0">
              <a:buNone/>
            </a:pPr>
            <a:r>
              <a:rPr lang="en-US" sz="1000" dirty="0">
                <a:solidFill>
                  <a:srgbClr val="DDDDDD"/>
                </a:solidFill>
                <a:latin typeface="Calibri" pitchFamily="34" charset="0"/>
                <a:ea typeface="Calibri" pitchFamily="34" charset="-122"/>
                <a:cs typeface="Calibri" pitchFamily="34" charset="-120"/>
              </a:rPr>
              <a:t>The partial sum rides in through the +C port.  That input is not decoration — it is the plumbing that lets block algebra chain.</a:t>
            </a:r>
            <a:endParaRPr lang="en-US" sz="1000" dirty="0"/>
          </a:p>
        </p:txBody>
      </p:sp>
      <p:sp>
        <p:nvSpPr>
          <p:cNvPr id="61" name="Shape 59"/>
          <p:cNvSpPr/>
          <p:nvPr/>
        </p:nvSpPr>
        <p:spPr>
          <a:xfrm>
            <a:off x="640080" y="6053328"/>
            <a:ext cx="10881360" cy="566928"/>
          </a:xfrm>
          <a:prstGeom prst="roundRect">
            <a:avLst>
              <a:gd name="adj" fmla="val 8871"/>
            </a:avLst>
          </a:prstGeom>
          <a:solidFill>
            <a:srgbClr val="1A160C"/>
          </a:solidFill>
          <a:ln w="12700">
            <a:solidFill>
              <a:srgbClr val="2A2A38"/>
            </a:solidFill>
            <a:prstDash val="solid"/>
          </a:ln>
        </p:spPr>
      </p:sp>
      <p:sp>
        <p:nvSpPr>
          <p:cNvPr id="62" name="Text 60"/>
          <p:cNvSpPr/>
          <p:nvPr/>
        </p:nvSpPr>
        <p:spPr>
          <a:xfrm>
            <a:off x="914400" y="6144768"/>
            <a:ext cx="10332720" cy="402336"/>
          </a:xfrm>
          <a:prstGeom prst="rect">
            <a:avLst/>
          </a:prstGeom>
          <a:noFill/>
          <a:ln/>
        </p:spPr>
        <p:txBody>
          <a:bodyPr wrap="square" lIns="0" tIns="0" rIns="0" bIns="0" rtlCol="0" anchor="ctr"/>
          <a:lstStyle/>
          <a:p>
            <a:pPr indent="0" marL="0">
              <a:buNone/>
            </a:pPr>
            <a:r>
              <a:rPr lang="en-US" sz="1200" i="1" dirty="0">
                <a:solidFill>
                  <a:srgbClr val="E8A832"/>
                </a:solidFill>
                <a:latin typeface="Calibri" pitchFamily="34" charset="0"/>
                <a:ea typeface="Calibri" pitchFamily="34" charset="-122"/>
                <a:cs typeface="Calibri" pitchFamily="34" charset="-120"/>
              </a:rPr>
              <a:t>Every matrix in the world reaches the unit this way: an N×N multiply is (N/4)³ tile steps.  A transformer layer is this picture, thousands of tiles deep — the schedule changes; the arithmetic never does.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Who orchestrates the blocking?</a:t>
            </a:r>
            <a:endParaRPr lang="en-US" sz="2700" dirty="0"/>
          </a:p>
        </p:txBody>
      </p:sp>
      <p:sp>
        <p:nvSpPr>
          <p:cNvPr id="4" name="Shape 2"/>
          <p:cNvSpPr/>
          <p:nvPr/>
        </p:nvSpPr>
        <p:spPr>
          <a:xfrm>
            <a:off x="640080" y="1554480"/>
            <a:ext cx="6720840" cy="1207008"/>
          </a:xfrm>
          <a:prstGeom prst="roundRect">
            <a:avLst>
              <a:gd name="adj" fmla="val 4167"/>
            </a:avLst>
          </a:prstGeom>
          <a:solidFill>
            <a:srgbClr val="14141D"/>
          </a:solidFill>
          <a:ln w="12700">
            <a:solidFill>
              <a:srgbClr val="2A2A38"/>
            </a:solidFill>
            <a:prstDash val="solid"/>
          </a:ln>
        </p:spPr>
      </p:sp>
      <p:sp>
        <p:nvSpPr>
          <p:cNvPr id="5" name="Text 3"/>
          <p:cNvSpPr/>
          <p:nvPr/>
        </p:nvSpPr>
        <p:spPr>
          <a:xfrm>
            <a:off x="896112" y="1664208"/>
            <a:ext cx="3657600" cy="256032"/>
          </a:xfrm>
          <a:prstGeom prst="rect">
            <a:avLst/>
          </a:prstGeom>
          <a:noFill/>
          <a:ln/>
        </p:spPr>
        <p:txBody>
          <a:bodyPr wrap="square" lIns="0" tIns="0" rIns="0" bIns="0" rtlCol="0" anchor="ctr"/>
          <a:lstStyle/>
          <a:p>
            <a:pPr indent="0" marL="0">
              <a:buNone/>
            </a:pPr>
            <a:r>
              <a:rPr lang="en-US" sz="1300" b="1" dirty="0">
                <a:solidFill>
                  <a:srgbClr val="6AA6FF"/>
                </a:solidFill>
                <a:latin typeface="Courier New" pitchFamily="34" charset="0"/>
                <a:ea typeface="Courier New" pitchFamily="34" charset="-122"/>
                <a:cs typeface="Courier New" pitchFamily="34" charset="-120"/>
              </a:rPr>
              <a:t>THE LIBRARY KERNEL</a:t>
            </a:r>
            <a:endParaRPr lang="en-US" sz="1300" dirty="0"/>
          </a:p>
        </p:txBody>
      </p:sp>
      <p:sp>
        <p:nvSpPr>
          <p:cNvPr id="6" name="Text 4"/>
          <p:cNvSpPr/>
          <p:nvPr/>
        </p:nvSpPr>
        <p:spPr>
          <a:xfrm>
            <a:off x="896112" y="1920240"/>
            <a:ext cx="6309360" cy="201168"/>
          </a:xfrm>
          <a:prstGeom prst="rect">
            <a:avLst/>
          </a:prstGeom>
          <a:noFill/>
          <a:ln/>
        </p:spPr>
        <p:txBody>
          <a:bodyPr wrap="square" lIns="0" tIns="0" rIns="0" bIns="0" rtlCol="0" anchor="ctr"/>
          <a:lstStyle/>
          <a:p>
            <a:pPr indent="0" marL="0">
              <a:buNone/>
            </a:pPr>
            <a:r>
              <a:rPr lang="en-US" sz="900" i="1" dirty="0">
                <a:solidFill>
                  <a:srgbClr val="CCCCCC"/>
                </a:solidFill>
                <a:latin typeface="Calibri" pitchFamily="34" charset="0"/>
                <a:ea typeface="Calibri" pitchFamily="34" charset="-122"/>
                <a:cs typeface="Calibri" pitchFamily="34" charset="-120"/>
              </a:rPr>
              <a:t>software — written and autotuned per architecture by the vendor</a:t>
            </a:r>
            <a:endParaRPr lang="en-US" sz="900" dirty="0"/>
          </a:p>
        </p:txBody>
      </p:sp>
      <p:sp>
        <p:nvSpPr>
          <p:cNvPr id="7" name="Text 5"/>
          <p:cNvSpPr/>
          <p:nvPr/>
        </p:nvSpPr>
        <p:spPr>
          <a:xfrm>
            <a:off x="896112" y="2139696"/>
            <a:ext cx="6263640" cy="585216"/>
          </a:xfrm>
          <a:prstGeom prst="rect">
            <a:avLst/>
          </a:prstGeom>
          <a:noFill/>
          <a:ln/>
        </p:spPr>
        <p:txBody>
          <a:bodyPr wrap="square" lIns="0" tIns="0" rIns="0" bIns="0" rtlCol="0" anchor="ctr"/>
          <a:lstStyle/>
          <a:p>
            <a:pPr indent="0" marL="0">
              <a:lnSpc>
                <a:spcPct val="102000"/>
              </a:lnSpc>
              <a:buNone/>
            </a:pPr>
            <a:r>
              <a:rPr lang="en-US" sz="1000" dirty="0">
                <a:solidFill>
                  <a:srgbClr val="DDDDDD"/>
                </a:solidFill>
                <a:latin typeface="Calibri" pitchFamily="34" charset="0"/>
                <a:ea typeface="Calibri" pitchFamily="34" charset="-122"/>
                <a:cs typeface="Calibri" pitchFamily="34" charset="-120"/>
              </a:rPr>
              <a:t>cuBLAS / cuDNN kernels decide everything: which thread block owns which region of D, the tile sizes, the sweep order, and when tiles stage from main memory → shared memory → registers.  The choreography, not the arithmetic, is the hard part — it is what Lesson 3 buys.</a:t>
            </a:r>
            <a:endParaRPr lang="en-US" sz="1000" dirty="0"/>
          </a:p>
        </p:txBody>
      </p:sp>
      <p:sp>
        <p:nvSpPr>
          <p:cNvPr id="8" name="Text 6"/>
          <p:cNvSpPr/>
          <p:nvPr/>
        </p:nvSpPr>
        <p:spPr>
          <a:xfrm>
            <a:off x="1600200" y="2743200"/>
            <a:ext cx="274320" cy="219456"/>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9" name="Shape 7"/>
          <p:cNvSpPr/>
          <p:nvPr/>
        </p:nvSpPr>
        <p:spPr>
          <a:xfrm>
            <a:off x="640080" y="2962656"/>
            <a:ext cx="6720840" cy="1207008"/>
          </a:xfrm>
          <a:prstGeom prst="roundRect">
            <a:avLst>
              <a:gd name="adj" fmla="val 4167"/>
            </a:avLst>
          </a:prstGeom>
          <a:solidFill>
            <a:srgbClr val="14141D"/>
          </a:solidFill>
          <a:ln w="12700">
            <a:solidFill>
              <a:srgbClr val="2A2A38"/>
            </a:solidFill>
            <a:prstDash val="solid"/>
          </a:ln>
        </p:spPr>
      </p:sp>
      <p:sp>
        <p:nvSpPr>
          <p:cNvPr id="10" name="Text 8"/>
          <p:cNvSpPr/>
          <p:nvPr/>
        </p:nvSpPr>
        <p:spPr>
          <a:xfrm>
            <a:off x="896112" y="3072384"/>
            <a:ext cx="3657600" cy="256032"/>
          </a:xfrm>
          <a:prstGeom prst="rect">
            <a:avLst/>
          </a:prstGeom>
          <a:noFill/>
          <a:ln/>
        </p:spPr>
        <p:txBody>
          <a:bodyPr wrap="square" lIns="0" tIns="0" rIns="0" bIns="0" rtlCol="0" anchor="ctr"/>
          <a:lstStyle/>
          <a:p>
            <a:pPr indent="0" marL="0">
              <a:buNone/>
            </a:pPr>
            <a:r>
              <a:rPr lang="en-US" sz="1300" b="1" dirty="0">
                <a:solidFill>
                  <a:srgbClr val="3CE8B2"/>
                </a:solidFill>
                <a:latin typeface="Courier New" pitchFamily="34" charset="0"/>
                <a:ea typeface="Courier New" pitchFamily="34" charset="-122"/>
                <a:cs typeface="Courier New" pitchFamily="34" charset="-120"/>
              </a:rPr>
              <a:t>THE HARDWARE SCHEDULERS</a:t>
            </a:r>
            <a:endParaRPr lang="en-US" sz="1300" dirty="0"/>
          </a:p>
        </p:txBody>
      </p:sp>
      <p:sp>
        <p:nvSpPr>
          <p:cNvPr id="11" name="Text 9"/>
          <p:cNvSpPr/>
          <p:nvPr/>
        </p:nvSpPr>
        <p:spPr>
          <a:xfrm>
            <a:off x="896112" y="3328416"/>
            <a:ext cx="6309360" cy="201168"/>
          </a:xfrm>
          <a:prstGeom prst="rect">
            <a:avLst/>
          </a:prstGeom>
          <a:noFill/>
          <a:ln/>
        </p:spPr>
        <p:txBody>
          <a:bodyPr wrap="square" lIns="0" tIns="0" rIns="0" bIns="0" rtlCol="0" anchor="ctr"/>
          <a:lstStyle/>
          <a:p>
            <a:pPr indent="0" marL="0">
              <a:buNone/>
            </a:pPr>
            <a:r>
              <a:rPr lang="en-US" sz="900" i="1" dirty="0">
                <a:solidFill>
                  <a:srgbClr val="CCCCCC"/>
                </a:solidFill>
                <a:latin typeface="Calibri" pitchFamily="34" charset="0"/>
                <a:ea typeface="Calibri" pitchFamily="34" charset="-122"/>
                <a:cs typeface="Calibri" pitchFamily="34" charset="-120"/>
              </a:rPr>
              <a:t>silicon — the SM’s own machinery</a:t>
            </a:r>
            <a:endParaRPr lang="en-US" sz="900" dirty="0"/>
          </a:p>
        </p:txBody>
      </p:sp>
      <p:sp>
        <p:nvSpPr>
          <p:cNvPr id="12" name="Text 10"/>
          <p:cNvSpPr/>
          <p:nvPr/>
        </p:nvSpPr>
        <p:spPr>
          <a:xfrm>
            <a:off x="896112" y="3547872"/>
            <a:ext cx="6263640" cy="585216"/>
          </a:xfrm>
          <a:prstGeom prst="rect">
            <a:avLst/>
          </a:prstGeom>
          <a:noFill/>
          <a:ln/>
        </p:spPr>
        <p:txBody>
          <a:bodyPr wrap="square" lIns="0" tIns="0" rIns="0" bIns="0" rtlCol="0" anchor="ctr"/>
          <a:lstStyle/>
          <a:p>
            <a:pPr indent="0" marL="0">
              <a:lnSpc>
                <a:spcPct val="102000"/>
              </a:lnSpc>
              <a:buNone/>
            </a:pPr>
            <a:r>
              <a:rPr lang="en-US" sz="1000" dirty="0">
                <a:solidFill>
                  <a:srgbClr val="DDDDDD"/>
                </a:solidFill>
                <a:latin typeface="Calibri" pitchFamily="34" charset="0"/>
                <a:ea typeface="Calibri" pitchFamily="34" charset="-122"/>
                <a:cs typeface="Calibri" pitchFamily="34" charset="-120"/>
              </a:rPr>
              <a:t>The global scheduler sprays thread blocks across SMs; each SM’s warp schedulers interleave the streams — one warp waits on a tile from memory while another fires its MMA.  The MMA instruction is warp-wide: the tile’s operands live spread across the warp’s registers.</a:t>
            </a:r>
            <a:endParaRPr lang="en-US" sz="1000" dirty="0"/>
          </a:p>
        </p:txBody>
      </p:sp>
      <p:sp>
        <p:nvSpPr>
          <p:cNvPr id="13" name="Text 11"/>
          <p:cNvSpPr/>
          <p:nvPr/>
        </p:nvSpPr>
        <p:spPr>
          <a:xfrm>
            <a:off x="1600200" y="4151376"/>
            <a:ext cx="274320" cy="219456"/>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14" name="Shape 12"/>
          <p:cNvSpPr/>
          <p:nvPr/>
        </p:nvSpPr>
        <p:spPr>
          <a:xfrm>
            <a:off x="640080" y="4370832"/>
            <a:ext cx="6720840" cy="1207008"/>
          </a:xfrm>
          <a:prstGeom prst="roundRect">
            <a:avLst>
              <a:gd name="adj" fmla="val 4167"/>
            </a:avLst>
          </a:prstGeom>
          <a:solidFill>
            <a:srgbClr val="14141D"/>
          </a:solidFill>
          <a:ln w="12700">
            <a:solidFill>
              <a:srgbClr val="2A2A38"/>
            </a:solidFill>
            <a:prstDash val="solid"/>
          </a:ln>
        </p:spPr>
      </p:sp>
      <p:sp>
        <p:nvSpPr>
          <p:cNvPr id="15" name="Text 13"/>
          <p:cNvSpPr/>
          <p:nvPr/>
        </p:nvSpPr>
        <p:spPr>
          <a:xfrm>
            <a:off x="896112" y="4480560"/>
            <a:ext cx="3657600" cy="256032"/>
          </a:xfrm>
          <a:prstGeom prst="rect">
            <a:avLst/>
          </a:prstGeom>
          <a:noFill/>
          <a:ln/>
        </p:spPr>
        <p:txBody>
          <a:bodyPr wrap="square" lIns="0" tIns="0" rIns="0" bIns="0" rtlCol="0" anchor="ctr"/>
          <a:lstStyle/>
          <a:p>
            <a:pPr indent="0" marL="0">
              <a:buNone/>
            </a:pPr>
            <a:r>
              <a:rPr lang="en-US" sz="1300" b="1" dirty="0">
                <a:solidFill>
                  <a:srgbClr val="E8A832"/>
                </a:solidFill>
                <a:latin typeface="Courier New" pitchFamily="34" charset="0"/>
                <a:ea typeface="Courier New" pitchFamily="34" charset="-122"/>
                <a:cs typeface="Courier New" pitchFamily="34" charset="-120"/>
              </a:rPr>
              <a:t>THE TENSOR CORE</a:t>
            </a:r>
            <a:endParaRPr lang="en-US" sz="1300" dirty="0"/>
          </a:p>
        </p:txBody>
      </p:sp>
      <p:sp>
        <p:nvSpPr>
          <p:cNvPr id="16" name="Text 14"/>
          <p:cNvSpPr/>
          <p:nvPr/>
        </p:nvSpPr>
        <p:spPr>
          <a:xfrm>
            <a:off x="896112" y="4736592"/>
            <a:ext cx="6309360" cy="201168"/>
          </a:xfrm>
          <a:prstGeom prst="rect">
            <a:avLst/>
          </a:prstGeom>
          <a:noFill/>
          <a:ln/>
        </p:spPr>
        <p:txBody>
          <a:bodyPr wrap="square" lIns="0" tIns="0" rIns="0" bIns="0" rtlCol="0" anchor="ctr"/>
          <a:lstStyle/>
          <a:p>
            <a:pPr indent="0" marL="0">
              <a:buNone/>
            </a:pPr>
            <a:r>
              <a:rPr lang="en-US" sz="900" i="1" dirty="0">
                <a:solidFill>
                  <a:srgbClr val="CCCCCC"/>
                </a:solidFill>
                <a:latin typeface="Calibri" pitchFamily="34" charset="0"/>
                <a:ea typeface="Calibri" pitchFamily="34" charset="-122"/>
                <a:cs typeface="Calibri" pitchFamily="34" charset="-120"/>
              </a:rPr>
              <a:t>frozen — the bottom of the stack</a:t>
            </a:r>
            <a:endParaRPr lang="en-US" sz="900" dirty="0"/>
          </a:p>
        </p:txBody>
      </p:sp>
      <p:sp>
        <p:nvSpPr>
          <p:cNvPr id="17" name="Text 15"/>
          <p:cNvSpPr/>
          <p:nvPr/>
        </p:nvSpPr>
        <p:spPr>
          <a:xfrm>
            <a:off x="896112" y="4956048"/>
            <a:ext cx="6263640" cy="585216"/>
          </a:xfrm>
          <a:prstGeom prst="rect">
            <a:avLst/>
          </a:prstGeom>
          <a:noFill/>
          <a:ln/>
        </p:spPr>
        <p:txBody>
          <a:bodyPr wrap="square" lIns="0" tIns="0" rIns="0" bIns="0" rtlCol="0" anchor="ctr"/>
          <a:lstStyle/>
          <a:p>
            <a:pPr indent="0" marL="0">
              <a:lnSpc>
                <a:spcPct val="102000"/>
              </a:lnSpc>
              <a:buNone/>
            </a:pPr>
            <a:r>
              <a:rPr lang="en-US" sz="1000" dirty="0">
                <a:solidFill>
                  <a:srgbClr val="DDDDDD"/>
                </a:solidFill>
                <a:latin typeface="Calibri" pitchFamily="34" charset="0"/>
                <a:ea typeface="Calibri" pitchFamily="34" charset="-122"/>
                <a:cs typeface="Calibri" pitchFamily="34" charset="-120"/>
              </a:rPr>
              <a:t>Eats one tile operation when a warp hands it one.  That is all it does.  The unit is deliberately dumb; the intelligence lives in the schedule above it.</a:t>
            </a:r>
            <a:endParaRPr lang="en-US" sz="1000" dirty="0"/>
          </a:p>
        </p:txBody>
      </p:sp>
      <p:sp>
        <p:nvSpPr>
          <p:cNvPr id="18" name="Shape 16"/>
          <p:cNvSpPr/>
          <p:nvPr/>
        </p:nvSpPr>
        <p:spPr>
          <a:xfrm>
            <a:off x="7589520" y="1554480"/>
            <a:ext cx="3931920" cy="2468880"/>
          </a:xfrm>
          <a:prstGeom prst="roundRect">
            <a:avLst>
              <a:gd name="adj" fmla="val 2037"/>
            </a:avLst>
          </a:prstGeom>
          <a:solidFill>
            <a:srgbClr val="14141D"/>
          </a:solidFill>
          <a:ln w="12700">
            <a:solidFill>
              <a:srgbClr val="2A2A38"/>
            </a:solidFill>
            <a:prstDash val="solid"/>
          </a:ln>
        </p:spPr>
      </p:sp>
      <p:sp>
        <p:nvSpPr>
          <p:cNvPr id="19" name="Text 17"/>
          <p:cNvSpPr/>
          <p:nvPr/>
        </p:nvSpPr>
        <p:spPr>
          <a:xfrm>
            <a:off x="7863840" y="1719072"/>
            <a:ext cx="34747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WHAT THE SCHEDULE REALLY IS</a:t>
            </a:r>
            <a:endParaRPr lang="en-US" sz="1250" dirty="0"/>
          </a:p>
        </p:txBody>
      </p:sp>
      <p:sp>
        <p:nvSpPr>
          <p:cNvPr id="20" name="Text 18"/>
          <p:cNvSpPr/>
          <p:nvPr/>
        </p:nvSpPr>
        <p:spPr>
          <a:xfrm>
            <a:off x="7863840" y="2029968"/>
            <a:ext cx="3429000" cy="1874520"/>
          </a:xfrm>
          <a:prstGeom prst="rect">
            <a:avLst/>
          </a:prstGeom>
          <a:noFill/>
          <a:ln/>
        </p:spPr>
        <p:txBody>
          <a:bodyPr wrap="square" lIns="0" tIns="0" rIns="0" bIns="0" rtlCol="0" anchor="ctr"/>
          <a:lstStyle/>
          <a:p>
            <a:pPr indent="0" marL="0">
              <a:lnSpc>
                <a:spcPct val="110000"/>
              </a:lnSpc>
              <a:buNone/>
            </a:pPr>
            <a:r>
              <a:rPr lang="en-US" sz="1050" dirty="0">
                <a:solidFill>
                  <a:srgbClr val="DDDDDD"/>
                </a:solidFill>
                <a:latin typeface="Calibri" pitchFamily="34" charset="0"/>
                <a:ea typeface="Calibri" pitchFamily="34" charset="-122"/>
                <a:cs typeface="Calibri" pitchFamily="34" charset="-120"/>
              </a:rPr>
              <a:t>A data-residency design.  Each tile of A is loaded into fast shared memory once and reused against many tiles of B before eviction — the n³-on-n² reuse, made physical.  The orchestration exists to protect the feedability.  Lessons 3 and 4 are one lesson, seen from software and from hardware.</a:t>
            </a:r>
            <a:endParaRPr lang="en-US" sz="1050" dirty="0"/>
          </a:p>
        </p:txBody>
      </p:sp>
      <p:sp>
        <p:nvSpPr>
          <p:cNvPr id="21" name="Shape 19"/>
          <p:cNvSpPr/>
          <p:nvPr/>
        </p:nvSpPr>
        <p:spPr>
          <a:xfrm>
            <a:off x="7589520" y="4160520"/>
            <a:ext cx="3931920" cy="1417320"/>
          </a:xfrm>
          <a:prstGeom prst="roundRect">
            <a:avLst>
              <a:gd name="adj" fmla="val 3548"/>
            </a:avLst>
          </a:prstGeom>
          <a:solidFill>
            <a:srgbClr val="14141D"/>
          </a:solidFill>
          <a:ln w="12700">
            <a:solidFill>
              <a:srgbClr val="2A2A38"/>
            </a:solidFill>
            <a:prstDash val="solid"/>
          </a:ln>
        </p:spPr>
      </p:sp>
      <p:sp>
        <p:nvSpPr>
          <p:cNvPr id="22" name="Text 20"/>
          <p:cNvSpPr/>
          <p:nvPr/>
        </p:nvSpPr>
        <p:spPr>
          <a:xfrm>
            <a:off x="7863840" y="4325112"/>
            <a:ext cx="347472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ONE LEVEL UP: THE FRAME</a:t>
            </a:r>
            <a:endParaRPr lang="en-US" sz="1250" dirty="0"/>
          </a:p>
        </p:txBody>
      </p:sp>
      <p:sp>
        <p:nvSpPr>
          <p:cNvPr id="23" name="Text 21"/>
          <p:cNvSpPr/>
          <p:nvPr/>
        </p:nvSpPr>
        <p:spPr>
          <a:xfrm>
            <a:off x="7863840" y="4636008"/>
            <a:ext cx="3429000" cy="868680"/>
          </a:xfrm>
          <a:prstGeom prst="rect">
            <a:avLst/>
          </a:prstGeom>
          <a:noFill/>
          <a:ln/>
        </p:spPr>
        <p:txBody>
          <a:bodyPr wrap="square" lIns="0" tIns="0" rIns="0" bIns="0" rtlCol="0" anchor="ctr"/>
          <a:lstStyle/>
          <a:p>
            <a:pPr indent="0" marL="0">
              <a:lnSpc>
                <a:spcPct val="108000"/>
              </a:lnSpc>
              <a:buNone/>
            </a:pPr>
            <a:r>
              <a:rPr lang="en-US" sz="1050" dirty="0">
                <a:solidFill>
                  <a:srgbClr val="DDDDDD"/>
                </a:solidFill>
                <a:latin typeface="Calibri" pitchFamily="34" charset="0"/>
                <a:ea typeface="Calibri" pitchFamily="34" charset="-122"/>
                <a:cs typeface="Calibri" pitchFamily="34" charset="-120"/>
              </a:rPr>
              <a:t>Same answer at frame scale: the game and driver record the command stream — ray pass, shade pass, DLSS pass — and every intermediate stays resident on board.  Nothing crosses the bus between passes.</a:t>
            </a:r>
            <a:endParaRPr lang="en-US" sz="1050" dirty="0"/>
          </a:p>
        </p:txBody>
      </p:sp>
      <p:sp>
        <p:nvSpPr>
          <p:cNvPr id="24" name="Shape 22"/>
          <p:cNvSpPr/>
          <p:nvPr/>
        </p:nvSpPr>
        <p:spPr>
          <a:xfrm>
            <a:off x="640080" y="5760720"/>
            <a:ext cx="10881360" cy="658368"/>
          </a:xfrm>
          <a:prstGeom prst="roundRect">
            <a:avLst>
              <a:gd name="adj" fmla="val 7639"/>
            </a:avLst>
          </a:prstGeom>
          <a:solidFill>
            <a:srgbClr val="0F1A15"/>
          </a:solidFill>
          <a:ln w="12700">
            <a:solidFill>
              <a:srgbClr val="2A2A38"/>
            </a:solidFill>
            <a:prstDash val="solid"/>
          </a:ln>
        </p:spPr>
      </p:sp>
      <p:sp>
        <p:nvSpPr>
          <p:cNvPr id="25" name="Text 23"/>
          <p:cNvSpPr/>
          <p:nvPr/>
        </p:nvSpPr>
        <p:spPr>
          <a:xfrm>
            <a:off x="914400" y="5907024"/>
            <a:ext cx="10332720" cy="411480"/>
          </a:xfrm>
          <a:prstGeom prst="rect">
            <a:avLst/>
          </a:prstGeom>
          <a:noFill/>
          <a:ln/>
        </p:spPr>
        <p:txBody>
          <a:bodyPr wrap="square" lIns="0" tIns="0" rIns="0" bIns="0" rtlCol="0" anchor="ctr"/>
          <a:lstStyle/>
          <a:p>
            <a:pPr indent="0" marL="0">
              <a:buNone/>
            </a:pPr>
            <a:r>
              <a:rPr lang="en-US" sz="1450" i="1" dirty="0">
                <a:solidFill>
                  <a:srgbClr val="3CE8B2"/>
                </a:solidFill>
                <a:latin typeface="Calibri" pitchFamily="34" charset="0"/>
                <a:ea typeface="Calibri" pitchFamily="34" charset="-122"/>
                <a:cs typeface="Calibri" pitchFamily="34" charset="-120"/>
              </a:rPr>
              <a:t>At every scale, the same division of labor: general silicon does the deciding; frozen silicon does the doing.</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Where does D get put back together?</a:t>
            </a:r>
            <a:endParaRPr lang="en-US" sz="2700" dirty="0"/>
          </a:p>
        </p:txBody>
      </p:sp>
      <p:sp>
        <p:nvSpPr>
          <p:cNvPr id="4" name="Shape 2"/>
          <p:cNvSpPr/>
          <p:nvPr/>
        </p:nvSpPr>
        <p:spPr>
          <a:xfrm>
            <a:off x="640080" y="1554480"/>
            <a:ext cx="10881360" cy="914400"/>
          </a:xfrm>
          <a:prstGeom prst="roundRect">
            <a:avLst>
              <a:gd name="adj" fmla="val 5500"/>
            </a:avLst>
          </a:prstGeom>
          <a:solidFill>
            <a:srgbClr val="14141D"/>
          </a:solidFill>
          <a:ln w="12700">
            <a:solidFill>
              <a:srgbClr val="2A2A38"/>
            </a:solidFill>
            <a:prstDash val="solid"/>
          </a:ln>
        </p:spPr>
      </p:sp>
      <p:sp>
        <p:nvSpPr>
          <p:cNvPr id="5" name="Text 3"/>
          <p:cNvSpPr/>
          <p:nvPr/>
        </p:nvSpPr>
        <p:spPr>
          <a:xfrm>
            <a:off x="914400" y="1719072"/>
            <a:ext cx="10332720" cy="640080"/>
          </a:xfrm>
          <a:prstGeom prst="rect">
            <a:avLst/>
          </a:prstGeom>
          <a:noFill/>
          <a:ln/>
        </p:spPr>
        <p:txBody>
          <a:bodyPr wrap="square" lIns="0" tIns="0" rIns="0" bIns="0" rtlCol="0" anchor="ctr"/>
          <a:lstStyle/>
          <a:p>
            <a:pPr indent="0" marL="0">
              <a:lnSpc>
                <a:spcPct val="110000"/>
              </a:lnSpc>
              <a:buNone/>
            </a:pPr>
            <a:r>
              <a:rPr lang="en-US" sz="1350" b="1" dirty="0">
                <a:solidFill>
                  <a:srgbClr val="E8A832"/>
                </a:solidFill>
                <a:latin typeface="Calibri" pitchFamily="34" charset="0"/>
                <a:ea typeface="Calibri" pitchFamily="34" charset="-122"/>
                <a:cs typeface="Calibri" pitchFamily="34" charset="-120"/>
              </a:rPr>
              <a:t>Nowhere — and that is the design.  </a:t>
            </a:r>
            <a:pPr indent="0" marL="0">
              <a:lnSpc>
                <a:spcPct val="110000"/>
              </a:lnSpc>
              <a:buNone/>
            </a:pPr>
            <a:r>
              <a:rPr lang="en-US" sz="1350" dirty="0">
                <a:solidFill>
                  <a:srgbClr val="DDDDDD"/>
                </a:solidFill>
                <a:latin typeface="Calibri" pitchFamily="34" charset="0"/>
                <a:ea typeface="Calibri" pitchFamily="34" charset="-122"/>
                <a:cs typeface="Calibri" pitchFamily="34" charset="-120"/>
              </a:rPr>
              <a:t>Decomposition and recomposition are addressing, not operations.  The blocks are a coordinate system imposed on the matrix — never a transformation applied to it.  Nothing is split going in; nothing is glued coming out.</a:t>
            </a:r>
            <a:endParaRPr lang="en-US" sz="1350" dirty="0"/>
          </a:p>
        </p:txBody>
      </p:sp>
      <p:sp>
        <p:nvSpPr>
          <p:cNvPr id="6" name="Shape 4"/>
          <p:cNvSpPr/>
          <p:nvPr/>
        </p:nvSpPr>
        <p:spPr>
          <a:xfrm>
            <a:off x="640080" y="2697480"/>
            <a:ext cx="5394960" cy="1965960"/>
          </a:xfrm>
          <a:prstGeom prst="roundRect">
            <a:avLst>
              <a:gd name="adj" fmla="val 2558"/>
            </a:avLst>
          </a:prstGeom>
          <a:solidFill>
            <a:srgbClr val="14141D"/>
          </a:solidFill>
          <a:ln w="12700">
            <a:solidFill>
              <a:srgbClr val="2A2A38"/>
            </a:solidFill>
            <a:prstDash val="solid"/>
          </a:ln>
        </p:spPr>
      </p:sp>
      <p:sp>
        <p:nvSpPr>
          <p:cNvPr id="7" name="Text 5"/>
          <p:cNvSpPr/>
          <p:nvPr/>
        </p:nvSpPr>
        <p:spPr>
          <a:xfrm>
            <a:off x="914400" y="2862072"/>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K-DIRECTION: RECOMPOSED IN REGISTERS</a:t>
            </a:r>
            <a:endParaRPr lang="en-US" sz="1250" dirty="0"/>
          </a:p>
        </p:txBody>
      </p:sp>
      <p:sp>
        <p:nvSpPr>
          <p:cNvPr id="8" name="Text 6"/>
          <p:cNvSpPr/>
          <p:nvPr/>
        </p:nvSpPr>
        <p:spPr>
          <a:xfrm>
            <a:off x="914400" y="3200400"/>
            <a:ext cx="4892040" cy="777240"/>
          </a:xfrm>
          <a:prstGeom prst="rect">
            <a:avLst/>
          </a:prstGeom>
          <a:noFill/>
          <a:ln/>
        </p:spPr>
        <p:txBody>
          <a:bodyPr wrap="square" lIns="0" tIns="0" rIns="0" bIns="0" rtlCol="0" anchor="ctr"/>
          <a:lstStyle/>
          <a:p>
            <a:pPr indent="0" marL="0">
              <a:lnSpc>
                <a:spcPct val="125000"/>
              </a:lnSpc>
              <a:buNone/>
            </a:pPr>
            <a:r>
              <a:rPr lang="en-US" sz="1150" b="1" dirty="0">
                <a:solidFill>
                  <a:srgbClr val="FFFFFF"/>
                </a:solidFill>
                <a:latin typeface="Courier New" pitchFamily="34" charset="0"/>
                <a:ea typeface="Courier New" pitchFamily="34" charset="-122"/>
                <a:cs typeface="Courier New" pitchFamily="34" charset="-120"/>
              </a:rPr>
              <a:t>pass 1:  T   = A11·B12 + C12</a:t>
            </a:r>
            <a:endParaRPr lang="en-US" sz="1150" dirty="0"/>
          </a:p>
          <a:p>
            <a:pPr indent="0" marL="0">
              <a:lnSpc>
                <a:spcPct val="125000"/>
              </a:lnSpc>
              <a:buNone/>
            </a:pPr>
            <a:r>
              <a:rPr lang="en-US" sz="1150" b="1" dirty="0">
                <a:solidFill>
                  <a:srgbClr val="FFFFFF"/>
                </a:solidFill>
                <a:latin typeface="Courier New" pitchFamily="34" charset="0"/>
                <a:ea typeface="Courier New" pitchFamily="34" charset="-122"/>
                <a:cs typeface="Courier New" pitchFamily="34" charset="-120"/>
              </a:rPr>
              <a:t>pass 2:  D12 = A12·B22 + T</a:t>
            </a:r>
            <a:endParaRPr lang="en-US" sz="1150" dirty="0"/>
          </a:p>
          <a:p>
            <a:pPr indent="0" marL="0">
              <a:lnSpc>
                <a:spcPct val="125000"/>
              </a:lnSpc>
              <a:buNone/>
            </a:pPr>
            <a:r>
              <a:rPr lang="en-US" sz="1150" b="1" dirty="0">
                <a:solidFill>
                  <a:srgbClr val="FFFFFF"/>
                </a:solidFill>
                <a:latin typeface="Courier New" pitchFamily="34" charset="0"/>
                <a:ea typeface="Courier New" pitchFamily="34" charset="-122"/>
                <a:cs typeface="Courier New" pitchFamily="34" charset="-120"/>
              </a:rPr>
              <a:t>store:   D12 → global memory  (once)</a:t>
            </a:r>
            <a:endParaRPr lang="en-US" sz="1150" dirty="0"/>
          </a:p>
        </p:txBody>
      </p:sp>
      <p:sp>
        <p:nvSpPr>
          <p:cNvPr id="9" name="Text 7"/>
          <p:cNvSpPr/>
          <p:nvPr/>
        </p:nvSpPr>
        <p:spPr>
          <a:xfrm>
            <a:off x="914400" y="4041648"/>
            <a:ext cx="4892040" cy="548640"/>
          </a:xfrm>
          <a:prstGeom prst="rect">
            <a:avLst/>
          </a:prstGeom>
          <a:noFill/>
          <a:ln/>
        </p:spPr>
        <p:txBody>
          <a:bodyPr wrap="square" lIns="0" tIns="0" rIns="0" bIns="0" rtlCol="0" anchor="ctr"/>
          <a:lstStyle/>
          <a:p>
            <a:pPr indent="0" marL="0">
              <a:lnSpc>
                <a:spcPct val="104000"/>
              </a:lnSpc>
              <a:buNone/>
            </a:pPr>
            <a:r>
              <a:rPr lang="en-US" sz="1000" dirty="0">
                <a:solidFill>
                  <a:srgbClr val="DDDDDD"/>
                </a:solidFill>
                <a:latin typeface="Calibri" pitchFamily="34" charset="0"/>
                <a:ea typeface="Calibri" pitchFamily="34" charset="-122"/>
                <a:cs typeface="Calibri" pitchFamily="34" charset="-120"/>
              </a:rPr>
              <a:t>The accumulator tile stays resident in the warp’s registers across the whole sweep — the +C port chains passes inside the register file.  Nothing partial ever touches memory.</a:t>
            </a:r>
            <a:endParaRPr lang="en-US" sz="1000" dirty="0"/>
          </a:p>
        </p:txBody>
      </p:sp>
      <p:sp>
        <p:nvSpPr>
          <p:cNvPr id="10" name="Shape 8"/>
          <p:cNvSpPr/>
          <p:nvPr/>
        </p:nvSpPr>
        <p:spPr>
          <a:xfrm>
            <a:off x="6263640" y="2697480"/>
            <a:ext cx="5257800" cy="1965960"/>
          </a:xfrm>
          <a:prstGeom prst="roundRect">
            <a:avLst>
              <a:gd name="adj" fmla="val 2558"/>
            </a:avLst>
          </a:prstGeom>
          <a:solidFill>
            <a:srgbClr val="14141D"/>
          </a:solidFill>
          <a:ln w="12700">
            <a:solidFill>
              <a:srgbClr val="2A2A38"/>
            </a:solidFill>
            <a:prstDash val="solid"/>
          </a:ln>
        </p:spPr>
      </p:sp>
      <p:sp>
        <p:nvSpPr>
          <p:cNvPr id="11" name="Text 9"/>
          <p:cNvSpPr/>
          <p:nvPr/>
        </p:nvSpPr>
        <p:spPr>
          <a:xfrm>
            <a:off x="6537960" y="2862072"/>
            <a:ext cx="4754880" cy="274320"/>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THE SPATIAL LAYOUT: RECOMPOSED BY ADDRESSES</a:t>
            </a:r>
            <a:endParaRPr lang="en-US" sz="1250" dirty="0"/>
          </a:p>
        </p:txBody>
      </p:sp>
      <p:sp>
        <p:nvSpPr>
          <p:cNvPr id="12" name="Text 10"/>
          <p:cNvSpPr/>
          <p:nvPr/>
        </p:nvSpPr>
        <p:spPr>
          <a:xfrm>
            <a:off x="6537960" y="3200400"/>
            <a:ext cx="4754880" cy="1371600"/>
          </a:xfrm>
          <a:prstGeom prst="rect">
            <a:avLst/>
          </a:prstGeom>
          <a:noFill/>
          <a:ln/>
        </p:spPr>
        <p:txBody>
          <a:bodyPr wrap="square" lIns="0" tIns="0" rIns="0" bIns="0" rtlCol="0" anchor="ctr"/>
          <a:lstStyle/>
          <a:p>
            <a:pPr indent="0" marL="0">
              <a:lnSpc>
                <a:spcPct val="110000"/>
              </a:lnSpc>
              <a:buNone/>
            </a:pPr>
            <a:r>
              <a:rPr lang="en-US" sz="1050" dirty="0">
                <a:solidFill>
                  <a:srgbClr val="DDDDDD"/>
                </a:solidFill>
                <a:latin typeface="Calibri" pitchFamily="34" charset="0"/>
                <a:ea typeface="Calibri" pitchFamily="34" charset="-122"/>
                <a:cs typeface="Calibri" pitchFamily="34" charset="-120"/>
              </a:rPr>
              <a:t>D lives in global memory as one flat array, allocated once.  Thread block (i, j) owns rows 4i…, columns 4j… by coordinates, and stores its finished tile straight to those addresses.  Memory layout is the glue: no merge pass, no gather, nobody whose job is reassembly.  A blocked matrix is a VIEW over one array — mdspan’s word for it — never a copy.</a:t>
            </a:r>
            <a:endParaRPr lang="en-US" sz="1050" dirty="0"/>
          </a:p>
        </p:txBody>
      </p:sp>
      <p:sp>
        <p:nvSpPr>
          <p:cNvPr id="13" name="Shape 11"/>
          <p:cNvSpPr/>
          <p:nvPr/>
        </p:nvSpPr>
        <p:spPr>
          <a:xfrm>
            <a:off x="640080" y="4846320"/>
            <a:ext cx="10881360" cy="914400"/>
          </a:xfrm>
          <a:prstGeom prst="roundRect">
            <a:avLst>
              <a:gd name="adj" fmla="val 5500"/>
            </a:avLst>
          </a:prstGeom>
          <a:solidFill>
            <a:srgbClr val="14141D"/>
          </a:solidFill>
          <a:ln w="12700">
            <a:solidFill>
              <a:srgbClr val="2A2A38"/>
            </a:solidFill>
            <a:prstDash val="solid"/>
          </a:ln>
        </p:spPr>
      </p:sp>
      <p:sp>
        <p:nvSpPr>
          <p:cNvPr id="14" name="Text 12"/>
          <p:cNvSpPr/>
          <p:nvPr/>
        </p:nvSpPr>
        <p:spPr>
          <a:xfrm>
            <a:off x="914400" y="4992624"/>
            <a:ext cx="1005840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WHY THIS IS FORCED, NOT CLEVER</a:t>
            </a:r>
            <a:endParaRPr lang="en-US" sz="1250" dirty="0"/>
          </a:p>
        </p:txBody>
      </p:sp>
      <p:sp>
        <p:nvSpPr>
          <p:cNvPr id="15" name="Text 13"/>
          <p:cNvSpPr/>
          <p:nvPr/>
        </p:nvSpPr>
        <p:spPr>
          <a:xfrm>
            <a:off x="914400" y="5266944"/>
            <a:ext cx="10332720" cy="457200"/>
          </a:xfrm>
          <a:prstGeom prst="rect">
            <a:avLst/>
          </a:prstGeom>
          <a:noFill/>
          <a:ln/>
        </p:spPr>
        <p:txBody>
          <a:bodyPr wrap="square" lIns="0" tIns="0" rIns="0" bIns="0" rtlCol="0" anchor="ctr"/>
          <a:lstStyle/>
          <a:p>
            <a:pPr indent="0" marL="0">
              <a:lnSpc>
                <a:spcPct val="105000"/>
              </a:lnSpc>
              <a:buNone/>
            </a:pPr>
            <a:r>
              <a:rPr lang="en-US" sz="1150" dirty="0">
                <a:solidFill>
                  <a:srgbClr val="DDDDDD"/>
                </a:solidFill>
                <a:latin typeface="Calibri" pitchFamily="34" charset="0"/>
                <a:ea typeface="Calibri" pitchFamily="34" charset="-122"/>
                <a:cs typeface="Calibri" pitchFamily="34" charset="-120"/>
              </a:rPr>
              <a:t>Writing the output is n² stores against n³ arithmetic — asymptotically free, provided each element is written exactly once.  Materialize intermediate blocks and re-merge them, and you pay n³-scale memory traffic: precisely the cost the whole architecture exists to avoid.</a:t>
            </a:r>
            <a:endParaRPr lang="en-US" sz="1150" dirty="0"/>
          </a:p>
        </p:txBody>
      </p:sp>
      <p:sp>
        <p:nvSpPr>
          <p:cNvPr id="16" name="Shape 14"/>
          <p:cNvSpPr/>
          <p:nvPr/>
        </p:nvSpPr>
        <p:spPr>
          <a:xfrm>
            <a:off x="640080" y="5925312"/>
            <a:ext cx="10881360" cy="585216"/>
          </a:xfrm>
          <a:prstGeom prst="roundRect">
            <a:avLst>
              <a:gd name="adj" fmla="val 8594"/>
            </a:avLst>
          </a:prstGeom>
          <a:solidFill>
            <a:srgbClr val="0F1A15"/>
          </a:solidFill>
          <a:ln w="12700">
            <a:solidFill>
              <a:srgbClr val="2A2A38"/>
            </a:solidFill>
            <a:prstDash val="solid"/>
          </a:ln>
        </p:spPr>
      </p:sp>
      <p:sp>
        <p:nvSpPr>
          <p:cNvPr id="17" name="Text 15"/>
          <p:cNvSpPr/>
          <p:nvPr/>
        </p:nvSpPr>
        <p:spPr>
          <a:xfrm>
            <a:off x="914400" y="6016752"/>
            <a:ext cx="10332720" cy="420624"/>
          </a:xfrm>
          <a:prstGeom prst="rect">
            <a:avLst/>
          </a:prstGeom>
          <a:noFill/>
          <a:ln/>
        </p:spPr>
        <p:txBody>
          <a:bodyPr wrap="square" lIns="0" tIns="0" rIns="0" bIns="0" rtlCol="0" anchor="ctr"/>
          <a:lstStyle/>
          <a:p>
            <a:pPr indent="0" marL="0">
              <a:buNone/>
            </a:pPr>
            <a:r>
              <a:rPr lang="en-US" sz="1200" i="1" dirty="0">
                <a:solidFill>
                  <a:srgbClr val="3CE8B2"/>
                </a:solidFill>
                <a:latin typeface="Calibri" pitchFamily="34" charset="0"/>
                <a:ea typeface="Calibri" pitchFamily="34" charset="-122"/>
                <a:cs typeface="Calibri" pitchFamily="34" charset="-120"/>
              </a:rPr>
              <a:t>Split is index math on the way in; glue is index math on the way out — the data never learns it was blocked.  Lesson 4, stated negatively: the fast matmul only ever writes its result, never revisits 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What if you need the result back?</a:t>
            </a:r>
            <a:endParaRPr lang="en-US" sz="2700" dirty="0"/>
          </a:p>
        </p:txBody>
      </p:sp>
      <p:sp>
        <p:nvSpPr>
          <p:cNvPr id="4" name="Shape 2"/>
          <p:cNvSpPr/>
          <p:nvPr/>
        </p:nvSpPr>
        <p:spPr>
          <a:xfrm>
            <a:off x="640080" y="1554480"/>
            <a:ext cx="10881360" cy="1051560"/>
          </a:xfrm>
          <a:prstGeom prst="roundRect">
            <a:avLst>
              <a:gd name="adj" fmla="val 4783"/>
            </a:avLst>
          </a:prstGeom>
          <a:solidFill>
            <a:srgbClr val="14141D"/>
          </a:solidFill>
          <a:ln w="12700">
            <a:solidFill>
              <a:srgbClr val="2A2A38"/>
            </a:solidFill>
            <a:prstDash val="solid"/>
          </a:ln>
        </p:spPr>
      </p:sp>
      <p:sp>
        <p:nvSpPr>
          <p:cNvPr id="5" name="Text 3"/>
          <p:cNvSpPr/>
          <p:nvPr/>
        </p:nvSpPr>
        <p:spPr>
          <a:xfrm>
            <a:off x="914400" y="1700784"/>
            <a:ext cx="10332720" cy="777240"/>
          </a:xfrm>
          <a:prstGeom prst="rect">
            <a:avLst/>
          </a:prstGeom>
          <a:noFill/>
          <a:ln/>
        </p:spPr>
        <p:txBody>
          <a:bodyPr wrap="square" lIns="0" tIns="0" rIns="0" bIns="0" rtlCol="0" anchor="ctr"/>
          <a:lstStyle/>
          <a:p>
            <a:pPr indent="0" marL="0">
              <a:lnSpc>
                <a:spcPct val="108000"/>
              </a:lnSpc>
              <a:buNone/>
            </a:pPr>
            <a:r>
              <a:rPr lang="en-US" sz="1200" b="1" dirty="0">
                <a:solidFill>
                  <a:srgbClr val="FFFFFF"/>
                </a:solidFill>
                <a:latin typeface="Calibri" pitchFamily="34" charset="0"/>
                <a:ea typeface="Calibri" pitchFamily="34" charset="-122"/>
                <a:cs typeface="Calibri" pitchFamily="34" charset="-120"/>
              </a:rPr>
              <a:t>Then you pay the bus, and the accounting changes.  </a:t>
            </a:r>
            <a:pPr indent="0" marL="0">
              <a:lnSpc>
                <a:spcPct val="108000"/>
              </a:lnSpc>
              <a:buNone/>
            </a:pPr>
            <a:r>
              <a:rPr lang="en-US" sz="1200" dirty="0">
                <a:solidFill>
                  <a:srgbClr val="DDDDDD"/>
                </a:solidFill>
                <a:latin typeface="Calibri" pitchFamily="34" charset="0"/>
                <a:ea typeface="Calibri" pitchFamily="34" charset="-122"/>
                <a:cs typeface="Calibri" pitchFamily="34" charset="-120"/>
              </a:rPr>
              <a:t>The inputs cost 2n² values going over; D costs n² coming home — against the n³ arithmetic that earned it.  An isolated round-trip matmul does only ~n/3 operations per value moved: large matrices amortize the trip, small ones drown in it.  (Illustrative: at ~50 GB/s of bus and ~50 TFLOP/s of compute, the one-shot break-even sits at n in the thousands.)</a:t>
            </a:r>
            <a:endParaRPr lang="en-US" sz="1200" dirty="0"/>
          </a:p>
        </p:txBody>
      </p:sp>
      <p:sp>
        <p:nvSpPr>
          <p:cNvPr id="6" name="Shape 4"/>
          <p:cNvSpPr/>
          <p:nvPr/>
        </p:nvSpPr>
        <p:spPr>
          <a:xfrm>
            <a:off x="640080" y="2788920"/>
            <a:ext cx="3474720" cy="2286000"/>
          </a:xfrm>
          <a:prstGeom prst="roundRect">
            <a:avLst>
              <a:gd name="adj" fmla="val 2200"/>
            </a:avLst>
          </a:prstGeom>
          <a:solidFill>
            <a:srgbClr val="191924"/>
          </a:solidFill>
          <a:ln w="12700">
            <a:solidFill>
              <a:srgbClr val="2A2A38"/>
            </a:solidFill>
            <a:prstDash val="solid"/>
          </a:ln>
        </p:spPr>
      </p:sp>
      <p:sp>
        <p:nvSpPr>
          <p:cNvPr id="7" name="Text 5"/>
          <p:cNvSpPr/>
          <p:nvPr/>
        </p:nvSpPr>
        <p:spPr>
          <a:xfrm>
            <a:off x="896112" y="2971800"/>
            <a:ext cx="3017520" cy="457200"/>
          </a:xfrm>
          <a:prstGeom prst="rect">
            <a:avLst/>
          </a:prstGeom>
          <a:noFill/>
          <a:ln/>
        </p:spPr>
        <p:txBody>
          <a:bodyPr wrap="square" lIns="0" tIns="0" rIns="0" bIns="0" rtlCol="0" anchor="ctr"/>
          <a:lstStyle/>
          <a:p>
            <a:pPr indent="0" marL="0">
              <a:buNone/>
            </a:pPr>
            <a:r>
              <a:rPr lang="en-US" sz="1200" b="1" dirty="0">
                <a:solidFill>
                  <a:srgbClr val="3CE8B2"/>
                </a:solidFill>
                <a:latin typeface="Courier New" pitchFamily="34" charset="0"/>
                <a:ea typeface="Courier New" pitchFamily="34" charset="-122"/>
                <a:cs typeface="Courier New" pitchFamily="34" charset="-120"/>
              </a:rPr>
              <a:t>THE NEXT COMPUTE NEEDS D</a:t>
            </a:r>
            <a:endParaRPr lang="en-US" sz="1200" dirty="0"/>
          </a:p>
        </p:txBody>
      </p:sp>
      <p:sp>
        <p:nvSpPr>
          <p:cNvPr id="8" name="Text 6"/>
          <p:cNvSpPr/>
          <p:nvPr/>
        </p:nvSpPr>
        <p:spPr>
          <a:xfrm>
            <a:off x="896112" y="3429000"/>
            <a:ext cx="2999232" cy="1280160"/>
          </a:xfrm>
          <a:prstGeom prst="rect">
            <a:avLst/>
          </a:prstGeom>
          <a:noFill/>
          <a:ln/>
        </p:spPr>
        <p:txBody>
          <a:bodyPr wrap="square" lIns="0" tIns="0" rIns="0" bIns="0" rtlCol="0" anchor="ctr"/>
          <a:lstStyle/>
          <a:p>
            <a:pPr indent="0" marL="0">
              <a:lnSpc>
                <a:spcPct val="106000"/>
              </a:lnSpc>
              <a:buNone/>
            </a:pPr>
            <a:r>
              <a:rPr lang="en-US" sz="1000" dirty="0">
                <a:solidFill>
                  <a:srgbClr val="DDDDDD"/>
                </a:solidFill>
                <a:latin typeface="Calibri" pitchFamily="34" charset="0"/>
                <a:ea typeface="Calibri" pitchFamily="34" charset="-122"/>
                <a:cs typeface="Calibri" pitchFamily="34" charset="-120"/>
              </a:rPr>
              <a:t>Then do not bring it back.  Chain the next kernel — D stays resident and becomes the next A.  This is the common case: a network layer’s output feeds the next layer; a solver’s iterate feeds the next sweep.  Lesson 4’s rule, applied.</a:t>
            </a:r>
            <a:endParaRPr lang="en-US" sz="1000" dirty="0"/>
          </a:p>
        </p:txBody>
      </p:sp>
      <p:sp>
        <p:nvSpPr>
          <p:cNvPr id="9" name="Text 7"/>
          <p:cNvSpPr/>
          <p:nvPr/>
        </p:nvSpPr>
        <p:spPr>
          <a:xfrm>
            <a:off x="896112" y="4700016"/>
            <a:ext cx="2999232" cy="237744"/>
          </a:xfrm>
          <a:prstGeom prst="rect">
            <a:avLst/>
          </a:prstGeom>
          <a:noFill/>
          <a:ln/>
        </p:spPr>
        <p:txBody>
          <a:bodyPr wrap="square" lIns="0" tIns="0" rIns="0" bIns="0" rtlCol="0" anchor="ctr"/>
          <a:lstStyle/>
          <a:p>
            <a:pPr indent="0" marL="0">
              <a:buNone/>
            </a:pPr>
            <a:r>
              <a:rPr lang="en-US" sz="950" b="1" dirty="0">
                <a:solidFill>
                  <a:srgbClr val="3CE8B2"/>
                </a:solidFill>
                <a:latin typeface="Courier New" pitchFamily="34" charset="0"/>
                <a:ea typeface="Courier New" pitchFamily="34" charset="-122"/>
                <a:cs typeface="Courier New" pitchFamily="34" charset="-120"/>
              </a:rPr>
              <a:t>bring back: nothing</a:t>
            </a:r>
            <a:endParaRPr lang="en-US" sz="950" dirty="0"/>
          </a:p>
        </p:txBody>
      </p:sp>
      <p:sp>
        <p:nvSpPr>
          <p:cNvPr id="10" name="Shape 8"/>
          <p:cNvSpPr/>
          <p:nvPr/>
        </p:nvSpPr>
        <p:spPr>
          <a:xfrm>
            <a:off x="4343400" y="2788920"/>
            <a:ext cx="3474720" cy="2286000"/>
          </a:xfrm>
          <a:prstGeom prst="roundRect">
            <a:avLst>
              <a:gd name="adj" fmla="val 2200"/>
            </a:avLst>
          </a:prstGeom>
          <a:solidFill>
            <a:srgbClr val="191924"/>
          </a:solidFill>
          <a:ln w="12700">
            <a:solidFill>
              <a:srgbClr val="2A2A38"/>
            </a:solidFill>
            <a:prstDash val="solid"/>
          </a:ln>
        </p:spPr>
      </p:sp>
      <p:sp>
        <p:nvSpPr>
          <p:cNvPr id="11" name="Text 9"/>
          <p:cNvSpPr/>
          <p:nvPr/>
        </p:nvSpPr>
        <p:spPr>
          <a:xfrm>
            <a:off x="4599432" y="2971800"/>
            <a:ext cx="3017520" cy="457200"/>
          </a:xfrm>
          <a:prstGeom prst="rect">
            <a:avLst/>
          </a:prstGeom>
          <a:noFill/>
          <a:ln/>
        </p:spPr>
        <p:txBody>
          <a:bodyPr wrap="square" lIns="0" tIns="0" rIns="0" bIns="0" rtlCol="0" anchor="ctr"/>
          <a:lstStyle/>
          <a:p>
            <a:pPr indent="0" marL="0">
              <a:buNone/>
            </a:pPr>
            <a:r>
              <a:rPr lang="en-US" sz="1200" b="1" dirty="0">
                <a:solidFill>
                  <a:srgbClr val="6AA6FF"/>
                </a:solidFill>
                <a:latin typeface="Courier New" pitchFamily="34" charset="0"/>
                <a:ea typeface="Courier New" pitchFamily="34" charset="-122"/>
                <a:cs typeface="Courier New" pitchFamily="34" charset="-120"/>
              </a:rPr>
              <a:t>YOU NEED A SUMMARY OF D</a:t>
            </a:r>
            <a:endParaRPr lang="en-US" sz="1200" dirty="0"/>
          </a:p>
        </p:txBody>
      </p:sp>
      <p:sp>
        <p:nvSpPr>
          <p:cNvPr id="12" name="Text 10"/>
          <p:cNvSpPr/>
          <p:nvPr/>
        </p:nvSpPr>
        <p:spPr>
          <a:xfrm>
            <a:off x="4599432" y="3429000"/>
            <a:ext cx="2999232" cy="1280160"/>
          </a:xfrm>
          <a:prstGeom prst="rect">
            <a:avLst/>
          </a:prstGeom>
          <a:noFill/>
          <a:ln/>
        </p:spPr>
        <p:txBody>
          <a:bodyPr wrap="square" lIns="0" tIns="0" rIns="0" bIns="0" rtlCol="0" anchor="ctr"/>
          <a:lstStyle/>
          <a:p>
            <a:pPr indent="0" marL="0">
              <a:lnSpc>
                <a:spcPct val="106000"/>
              </a:lnSpc>
              <a:buNone/>
            </a:pPr>
            <a:r>
              <a:rPr lang="en-US" sz="1000" dirty="0">
                <a:solidFill>
                  <a:srgbClr val="DDDDDD"/>
                </a:solidFill>
                <a:latin typeface="Calibri" pitchFamily="34" charset="0"/>
                <a:ea typeface="Calibri" pitchFamily="34" charset="-122"/>
                <a:cs typeface="Calibri" pitchFamily="34" charset="-120"/>
              </a:rPr>
              <a:t>Then reduce on the device: a norm, a residual, a convergence check, a yes/no.  Ship one number home instead of n² — the bus should carry conclusions, not data.</a:t>
            </a:r>
            <a:endParaRPr lang="en-US" sz="1000" dirty="0"/>
          </a:p>
        </p:txBody>
      </p:sp>
      <p:sp>
        <p:nvSpPr>
          <p:cNvPr id="13" name="Text 11"/>
          <p:cNvSpPr/>
          <p:nvPr/>
        </p:nvSpPr>
        <p:spPr>
          <a:xfrm>
            <a:off x="4599432" y="4700016"/>
            <a:ext cx="2999232" cy="237744"/>
          </a:xfrm>
          <a:prstGeom prst="rect">
            <a:avLst/>
          </a:prstGeom>
          <a:noFill/>
          <a:ln/>
        </p:spPr>
        <p:txBody>
          <a:bodyPr wrap="square" lIns="0" tIns="0" rIns="0" bIns="0" rtlCol="0" anchor="ctr"/>
          <a:lstStyle/>
          <a:p>
            <a:pPr indent="0" marL="0">
              <a:buNone/>
            </a:pPr>
            <a:r>
              <a:rPr lang="en-US" sz="950" b="1" dirty="0">
                <a:solidFill>
                  <a:srgbClr val="6AA6FF"/>
                </a:solidFill>
                <a:latin typeface="Courier New" pitchFamily="34" charset="0"/>
                <a:ea typeface="Courier New" pitchFamily="34" charset="-122"/>
                <a:cs typeface="Courier New" pitchFamily="34" charset="-120"/>
              </a:rPr>
              <a:t>bring back: one number</a:t>
            </a:r>
            <a:endParaRPr lang="en-US" sz="950" dirty="0"/>
          </a:p>
        </p:txBody>
      </p:sp>
      <p:sp>
        <p:nvSpPr>
          <p:cNvPr id="14" name="Shape 12"/>
          <p:cNvSpPr/>
          <p:nvPr/>
        </p:nvSpPr>
        <p:spPr>
          <a:xfrm>
            <a:off x="8046720" y="2788920"/>
            <a:ext cx="3474720" cy="2286000"/>
          </a:xfrm>
          <a:prstGeom prst="roundRect">
            <a:avLst>
              <a:gd name="adj" fmla="val 2200"/>
            </a:avLst>
          </a:prstGeom>
          <a:solidFill>
            <a:srgbClr val="191924"/>
          </a:solidFill>
          <a:ln w="12700">
            <a:solidFill>
              <a:srgbClr val="2A2A38"/>
            </a:solidFill>
            <a:prstDash val="solid"/>
          </a:ln>
        </p:spPr>
      </p:sp>
      <p:sp>
        <p:nvSpPr>
          <p:cNvPr id="15" name="Text 13"/>
          <p:cNvSpPr/>
          <p:nvPr/>
        </p:nvSpPr>
        <p:spPr>
          <a:xfrm>
            <a:off x="8302752" y="2971800"/>
            <a:ext cx="3017520" cy="45720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YOU GENUINELY NEED ALL OF D</a:t>
            </a:r>
            <a:endParaRPr lang="en-US" sz="1200" dirty="0"/>
          </a:p>
        </p:txBody>
      </p:sp>
      <p:sp>
        <p:nvSpPr>
          <p:cNvPr id="16" name="Text 14"/>
          <p:cNvSpPr/>
          <p:nvPr/>
        </p:nvSpPr>
        <p:spPr>
          <a:xfrm>
            <a:off x="8302752" y="3429000"/>
            <a:ext cx="2999232" cy="1280160"/>
          </a:xfrm>
          <a:prstGeom prst="rect">
            <a:avLst/>
          </a:prstGeom>
          <a:noFill/>
          <a:ln/>
        </p:spPr>
        <p:txBody>
          <a:bodyPr wrap="square" lIns="0" tIns="0" rIns="0" bIns="0" rtlCol="0" anchor="ctr"/>
          <a:lstStyle/>
          <a:p>
            <a:pPr indent="0" marL="0">
              <a:lnSpc>
                <a:spcPct val="106000"/>
              </a:lnSpc>
              <a:buNone/>
            </a:pPr>
            <a:r>
              <a:rPr lang="en-US" sz="1000" dirty="0">
                <a:solidFill>
                  <a:srgbClr val="DDDDDD"/>
                </a:solidFill>
                <a:latin typeface="Calibri" pitchFamily="34" charset="0"/>
                <a:ea typeface="Calibri" pitchFamily="34" charset="-122"/>
                <a:cs typeface="Calibri" pitchFamily="34" charset="-120"/>
              </a:rPr>
              <a:t>Then pay the n² — but hide it: asynchronous copies of finished tiles overlap the compute of the remaining ones (streams, pinned memory), so the trip pipelines behind the arithmetic.  And if one small matmul is the whole job: do not offload — the CPU wins that race.</a:t>
            </a:r>
            <a:endParaRPr lang="en-US" sz="1000" dirty="0"/>
          </a:p>
        </p:txBody>
      </p:sp>
      <p:sp>
        <p:nvSpPr>
          <p:cNvPr id="17" name="Text 15"/>
          <p:cNvSpPr/>
          <p:nvPr/>
        </p:nvSpPr>
        <p:spPr>
          <a:xfrm>
            <a:off x="8302752" y="4700016"/>
            <a:ext cx="2999232" cy="237744"/>
          </a:xfrm>
          <a:prstGeom prst="rect">
            <a:avLst/>
          </a:prstGeom>
          <a:noFill/>
          <a:ln/>
        </p:spPr>
        <p:txBody>
          <a:bodyPr wrap="square" lIns="0" tIns="0" rIns="0" bIns="0" rtlCol="0" anchor="ctr"/>
          <a:lstStyle/>
          <a:p>
            <a:pPr indent="0" marL="0">
              <a:buNone/>
            </a:pPr>
            <a:r>
              <a:rPr lang="en-US" sz="950" b="1" dirty="0">
                <a:solidFill>
                  <a:srgbClr val="E8A832"/>
                </a:solidFill>
                <a:latin typeface="Courier New" pitchFamily="34" charset="0"/>
                <a:ea typeface="Courier New" pitchFamily="34" charset="-122"/>
                <a:cs typeface="Courier New" pitchFamily="34" charset="-120"/>
              </a:rPr>
              <a:t>bring back: n², overlapped</a:t>
            </a:r>
            <a:endParaRPr lang="en-US" sz="950" dirty="0"/>
          </a:p>
        </p:txBody>
      </p:sp>
      <p:sp>
        <p:nvSpPr>
          <p:cNvPr id="18" name="Shape 16"/>
          <p:cNvSpPr/>
          <p:nvPr/>
        </p:nvSpPr>
        <p:spPr>
          <a:xfrm>
            <a:off x="640080" y="5257800"/>
            <a:ext cx="10881360" cy="868680"/>
          </a:xfrm>
          <a:prstGeom prst="roundRect">
            <a:avLst>
              <a:gd name="adj" fmla="val 5789"/>
            </a:avLst>
          </a:prstGeom>
          <a:solidFill>
            <a:srgbClr val="14141D"/>
          </a:solidFill>
          <a:ln w="12700">
            <a:solidFill>
              <a:srgbClr val="2A2A38"/>
            </a:solidFill>
            <a:prstDash val="solid"/>
          </a:ln>
        </p:spPr>
      </p:sp>
      <p:sp>
        <p:nvSpPr>
          <p:cNvPr id="19" name="Text 17"/>
          <p:cNvSpPr/>
          <p:nvPr/>
        </p:nvSpPr>
        <p:spPr>
          <a:xfrm>
            <a:off x="914400" y="5394960"/>
            <a:ext cx="10058400" cy="274320"/>
          </a:xfrm>
          <a:prstGeom prst="rect">
            <a:avLst/>
          </a:prstGeom>
          <a:noFill/>
          <a:ln/>
        </p:spPr>
        <p:txBody>
          <a:bodyPr wrap="square" lIns="0" tIns="0" rIns="0" bIns="0" rtlCol="0" anchor="ctr"/>
          <a:lstStyle/>
          <a:p>
            <a:pPr indent="0" marL="0">
              <a:buNone/>
            </a:pPr>
            <a:r>
              <a:rPr lang="en-US" sz="1250" b="1" dirty="0">
                <a:solidFill>
                  <a:srgbClr val="CCCCCC"/>
                </a:solidFill>
                <a:latin typeface="Courier New" pitchFamily="34" charset="0"/>
                <a:ea typeface="Courier New" pitchFamily="34" charset="-122"/>
                <a:cs typeface="Courier New" pitchFamily="34" charset="-120"/>
              </a:rPr>
              <a:t>THE DISCIPLINE IS ALREADY IN THE API</a:t>
            </a:r>
            <a:endParaRPr lang="en-US" sz="1250" dirty="0"/>
          </a:p>
        </p:txBody>
      </p:sp>
      <p:sp>
        <p:nvSpPr>
          <p:cNvPr id="20" name="Text 18"/>
          <p:cNvSpPr/>
          <p:nvPr/>
        </p:nvSpPr>
        <p:spPr>
          <a:xfrm>
            <a:off x="914400" y="5632704"/>
            <a:ext cx="10332720" cy="457200"/>
          </a:xfrm>
          <a:prstGeom prst="rect">
            <a:avLst/>
          </a:prstGeom>
          <a:noFill/>
          <a:ln/>
        </p:spPr>
        <p:txBody>
          <a:bodyPr wrap="square" lIns="0" tIns="0" rIns="0" bIns="0" rtlCol="0" anchor="ctr"/>
          <a:lstStyle/>
          <a:p>
            <a:pPr indent="0" marL="0">
              <a:lnSpc>
                <a:spcPct val="105000"/>
              </a:lnSpc>
              <a:buNone/>
            </a:pPr>
            <a:r>
              <a:rPr lang="en-US" sz="1100" dirty="0">
                <a:solidFill>
                  <a:srgbClr val="DDDDDD"/>
                </a:solidFill>
                <a:latin typeface="Calibri" pitchFamily="34" charset="0"/>
                <a:ea typeface="Calibri" pitchFamily="34" charset="-122"/>
                <a:cs typeface="Calibri" pitchFamily="34" charset="-120"/>
              </a:rPr>
              <a:t>cuBLAS takes device pointers and leaves D where it made it — copying back is a choice you make explicitly, never a default.  And this is the offload guide’s whole question asked of one operation: count arithmetic per byte across the BUS, not per byte of DRAM.</a:t>
            </a:r>
            <a:endParaRPr lang="en-US" sz="1100" dirty="0"/>
          </a:p>
        </p:txBody>
      </p:sp>
      <p:sp>
        <p:nvSpPr>
          <p:cNvPr id="21" name="Shape 19"/>
          <p:cNvSpPr/>
          <p:nvPr/>
        </p:nvSpPr>
        <p:spPr>
          <a:xfrm>
            <a:off x="640080" y="6263640"/>
            <a:ext cx="10881360" cy="502920"/>
          </a:xfrm>
          <a:prstGeom prst="roundRect">
            <a:avLst>
              <a:gd name="adj" fmla="val 10000"/>
            </a:avLst>
          </a:prstGeom>
          <a:solidFill>
            <a:srgbClr val="1A160C"/>
          </a:solidFill>
          <a:ln w="12700">
            <a:solidFill>
              <a:srgbClr val="2A2A38"/>
            </a:solidFill>
            <a:prstDash val="solid"/>
          </a:ln>
        </p:spPr>
      </p:sp>
      <p:sp>
        <p:nvSpPr>
          <p:cNvPr id="22" name="Text 20"/>
          <p:cNvSpPr/>
          <p:nvPr/>
        </p:nvSpPr>
        <p:spPr>
          <a:xfrm>
            <a:off x="914400" y="6336792"/>
            <a:ext cx="10332720" cy="365760"/>
          </a:xfrm>
          <a:prstGeom prst="rect">
            <a:avLst/>
          </a:prstGeom>
          <a:noFill/>
          <a:ln/>
        </p:spPr>
        <p:txBody>
          <a:bodyPr wrap="square" lIns="0" tIns="0" rIns="0" bIns="0" rtlCol="0" anchor="ctr"/>
          <a:lstStyle/>
          <a:p>
            <a:pPr indent="0" marL="0">
              <a:buNone/>
            </a:pPr>
            <a:r>
              <a:rPr lang="en-US" sz="1250" i="1" dirty="0">
                <a:solidFill>
                  <a:srgbClr val="E8A832"/>
                </a:solidFill>
                <a:latin typeface="Calibri" pitchFamily="34" charset="0"/>
                <a:ea typeface="Calibri" pitchFamily="34" charset="-122"/>
                <a:cs typeface="Calibri" pitchFamily="34" charset="-120"/>
              </a:rPr>
              <a:t>Bring home conclusions, not matrices — and when you must bring the matrix, hide the trip under the math.</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triangle returns — RT cores, 2018</a:t>
            </a:r>
            <a:endParaRPr lang="en-US" sz="2700" dirty="0"/>
          </a:p>
        </p:txBody>
      </p:sp>
      <p:sp>
        <p:nvSpPr>
          <p:cNvPr id="4" name="Shape 2"/>
          <p:cNvSpPr/>
          <p:nvPr/>
        </p:nvSpPr>
        <p:spPr>
          <a:xfrm>
            <a:off x="640080" y="1554480"/>
            <a:ext cx="5394960" cy="3200400"/>
          </a:xfrm>
          <a:prstGeom prst="roundRect">
            <a:avLst>
              <a:gd name="adj" fmla="val 1571"/>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WHAT THE RT CORE COMPUTES — EXACTLY</a:t>
            </a:r>
            <a:endParaRPr lang="en-US" sz="1250" dirty="0"/>
          </a:p>
        </p:txBody>
      </p:sp>
      <p:sp>
        <p:nvSpPr>
          <p:cNvPr id="6" name="Text 4"/>
          <p:cNvSpPr/>
          <p:nvPr/>
        </p:nvSpPr>
        <p:spPr>
          <a:xfrm>
            <a:off x="914400" y="2121408"/>
            <a:ext cx="4892040" cy="10058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DDDDDD"/>
                </a:solidFill>
                <a:latin typeface="Calibri" pitchFamily="34" charset="0"/>
                <a:ea typeface="Calibri" pitchFamily="34" charset="-122"/>
                <a:cs typeface="Calibri" pitchFamily="34" charset="-120"/>
              </a:rPr>
              <a:t>BVH traversal: walk a tree of nested bounding boxes with ray–box slab tests, discarding whole subtrees the ray misses — one triangle found among millions in ~log n steps.</a:t>
            </a:r>
            <a:endParaRPr lang="en-US" sz="1100" dirty="0"/>
          </a:p>
          <a:p>
            <a:pPr marL="152400" indent="-152400">
              <a:lnSpc>
                <a:spcPct val="108000"/>
              </a:lnSpc>
              <a:spcAft>
                <a:spcPts val="800"/>
              </a:spcAft>
              <a:buSzPct val="100000"/>
              <a:buChar char="•"/>
            </a:pPr>
            <a:r>
              <a:rPr lang="en-US" sz="1100" dirty="0">
                <a:solidFill>
                  <a:srgbClr val="DDDDDD"/>
                </a:solidFill>
                <a:latin typeface="Calibri" pitchFamily="34" charset="0"/>
                <a:ea typeface="Calibri" pitchFamily="34" charset="-122"/>
                <a:cs typeface="Calibri" pitchFamily="34" charset="-120"/>
              </a:rPr>
              <a:t>Then, per surviving candidate triangle, one small linear solve:</a:t>
            </a:r>
            <a:endParaRPr lang="en-US" sz="1100" dirty="0"/>
          </a:p>
        </p:txBody>
      </p:sp>
      <p:sp>
        <p:nvSpPr>
          <p:cNvPr id="7" name="Text 5"/>
          <p:cNvSpPr/>
          <p:nvPr/>
        </p:nvSpPr>
        <p:spPr>
          <a:xfrm>
            <a:off x="914400" y="3127248"/>
            <a:ext cx="48920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 + t·D  =  (1-u-v)·V0 + u·V1 + v·V2</a:t>
            </a:r>
            <a:endParaRPr lang="en-US" sz="1400" dirty="0"/>
          </a:p>
        </p:txBody>
      </p:sp>
      <p:sp>
        <p:nvSpPr>
          <p:cNvPr id="8" name="Text 6"/>
          <p:cNvSpPr/>
          <p:nvPr/>
        </p:nvSpPr>
        <p:spPr>
          <a:xfrm>
            <a:off x="914400" y="3419856"/>
            <a:ext cx="4892040" cy="237744"/>
          </a:xfrm>
          <a:prstGeom prst="rect">
            <a:avLst/>
          </a:prstGeom>
          <a:noFill/>
          <a:ln/>
        </p:spPr>
        <p:txBody>
          <a:bodyPr wrap="square" lIns="0" tIns="0" rIns="0" bIns="0" rtlCol="0" anchor="ctr"/>
          <a:lstStyle/>
          <a:p>
            <a:pPr algn="ctr" indent="0" marL="0">
              <a:buNone/>
            </a:pPr>
            <a:r>
              <a:rPr lang="en-US" sz="950" i="1" dirty="0">
                <a:solidFill>
                  <a:srgbClr val="CCCCCC"/>
                </a:solidFill>
                <a:latin typeface="Calibri" pitchFamily="34" charset="0"/>
                <a:ea typeface="Calibri" pitchFamily="34" charset="-122"/>
                <a:cs typeface="Calibri" pitchFamily="34" charset="-120"/>
              </a:rPr>
              <a:t>ray origin O, direction D — solve for (t, u, v): cross and dot products, hardwired</a:t>
            </a:r>
            <a:endParaRPr lang="en-US" sz="950" dirty="0"/>
          </a:p>
        </p:txBody>
      </p:sp>
      <p:sp>
        <p:nvSpPr>
          <p:cNvPr id="9" name="Text 7"/>
          <p:cNvSpPr/>
          <p:nvPr/>
        </p:nvSpPr>
        <p:spPr>
          <a:xfrm>
            <a:off x="914400" y="3730752"/>
            <a:ext cx="4892040" cy="96012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000" dirty="0">
                <a:solidFill>
                  <a:srgbClr val="DDDDDD"/>
                </a:solidFill>
                <a:latin typeface="Calibri" pitchFamily="34" charset="0"/>
                <a:ea typeface="Calibri" pitchFamily="34" charset="-122"/>
                <a:cs typeface="Calibri" pitchFamily="34" charset="-120"/>
              </a:rPr>
              <a:t>t is the hit distance; (u, v) are barycentric coordinates — the very coordinates Section 1 interpolates attributes with.  A 3×3 solve, cast in silicon: the undercarriage in miniature.</a:t>
            </a:r>
            <a:endParaRPr lang="en-US" sz="1000" dirty="0"/>
          </a:p>
          <a:p>
            <a:pPr marL="152400" indent="-152400">
              <a:lnSpc>
                <a:spcPct val="108000"/>
              </a:lnSpc>
              <a:spcAft>
                <a:spcPts val="500"/>
              </a:spcAft>
              <a:buSzPct val="100000"/>
              <a:buChar char="•"/>
            </a:pPr>
            <a:r>
              <a:rPr lang="en-US" sz="1000" dirty="0">
                <a:solidFill>
                  <a:srgbClr val="DDDDDD"/>
                </a:solidFill>
                <a:latin typeface="Calibri" pitchFamily="34" charset="0"/>
                <a:ea typeface="Calibri" pitchFamily="34" charset="-122"/>
                <a:cs typeface="Calibri" pitchFamily="34" charset="-120"/>
              </a:rPr>
              <a:t>Frozen for the ORIGINAL customer — graphics itself — where the tensor core froze the NEW one (AI).  Turing 2018; every SM: CUDA + tensor + RT.</a:t>
            </a:r>
            <a:endParaRPr lang="en-US" sz="1000" dirty="0"/>
          </a:p>
        </p:txBody>
      </p:sp>
      <p:sp>
        <p:nvSpPr>
          <p:cNvPr id="10" name="Shape 8"/>
          <p:cNvSpPr/>
          <p:nvPr/>
        </p:nvSpPr>
        <p:spPr>
          <a:xfrm>
            <a:off x="6263640" y="1554480"/>
            <a:ext cx="5257800" cy="3200400"/>
          </a:xfrm>
          <a:prstGeom prst="roundRect">
            <a:avLst>
              <a:gd name="adj" fmla="val 1571"/>
            </a:avLst>
          </a:prstGeom>
          <a:solidFill>
            <a:srgbClr val="14141D"/>
          </a:solidFill>
          <a:ln w="12700">
            <a:solidFill>
              <a:srgbClr val="2A2A38"/>
            </a:solidFill>
            <a:prstDash val="solid"/>
          </a:ln>
        </p:spPr>
      </p:sp>
      <p:sp>
        <p:nvSpPr>
          <p:cNvPr id="11" name="Text 9"/>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LONGEST CALLBACK IN THE DOCUMENT</a:t>
            </a:r>
            <a:endParaRPr lang="en-US" sz="1250" dirty="0"/>
          </a:p>
        </p:txBody>
      </p:sp>
      <p:sp>
        <p:nvSpPr>
          <p:cNvPr id="12" name="Text 10"/>
          <p:cNvSpPr/>
          <p:nvPr/>
        </p:nvSpPr>
        <p:spPr>
          <a:xfrm>
            <a:off x="6537960" y="2148840"/>
            <a:ext cx="4754880" cy="23774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Section 1: the triangle wins because every pixel can be decided independently — the rasterization bargain.</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1995: the NV1 refuses it, bets on quadratic patches, and nearly kills the company.  Direct3D makes the triangle the format.</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2018: the same primitive earns its own dedicated silicon all over again.</a:t>
            </a:r>
            <a:endParaRPr lang="en-US" sz="1250" dirty="0"/>
          </a:p>
        </p:txBody>
      </p:sp>
      <p:sp>
        <p:nvSpPr>
          <p:cNvPr id="13" name="Shape 11"/>
          <p:cNvSpPr/>
          <p:nvPr/>
        </p:nvSpPr>
        <p:spPr>
          <a:xfrm>
            <a:off x="640080" y="5029200"/>
            <a:ext cx="10881360" cy="1280160"/>
          </a:xfrm>
          <a:prstGeom prst="roundRect">
            <a:avLst>
              <a:gd name="adj" fmla="val 3929"/>
            </a:avLst>
          </a:prstGeom>
          <a:solidFill>
            <a:srgbClr val="14141D"/>
          </a:solidFill>
          <a:ln w="12700">
            <a:solidFill>
              <a:srgbClr val="2A2A38"/>
            </a:solidFill>
            <a:prstDash val="solid"/>
          </a:ln>
        </p:spPr>
      </p:sp>
      <p:sp>
        <p:nvSpPr>
          <p:cNvPr id="14" name="Text 12"/>
          <p:cNvSpPr/>
          <p:nvPr/>
        </p:nvSpPr>
        <p:spPr>
          <a:xfrm>
            <a:off x="914400" y="5230368"/>
            <a:ext cx="10332720" cy="914400"/>
          </a:xfrm>
          <a:prstGeom prst="rect">
            <a:avLst/>
          </a:prstGeom>
          <a:noFill/>
          <a:ln/>
        </p:spPr>
        <p:txBody>
          <a:bodyPr wrap="square" lIns="0" tIns="0" rIns="0" bIns="0" rtlCol="0" anchor="ctr"/>
          <a:lstStyle/>
          <a:p>
            <a:pPr indent="0" marL="0">
              <a:lnSpc>
                <a:spcPct val="115000"/>
              </a:lnSpc>
              <a:buNone/>
            </a:pPr>
            <a:r>
              <a:rPr lang="en-US" sz="1600" i="1" dirty="0">
                <a:solidFill>
                  <a:srgbClr val="FFFFFF"/>
                </a:solidFill>
                <a:latin typeface="Calibri" pitchFamily="34" charset="0"/>
                <a:ea typeface="Calibri" pitchFamily="34" charset="-122"/>
                <a:cs typeface="Calibri" pitchFamily="34" charset="-120"/>
              </a:rPr>
              <a:t>“The shapes the story keeps returning to are the shapes worth casting in hardware.”</a:t>
            </a:r>
            <a:pPr indent="0" marL="0">
              <a:lnSpc>
                <a:spcPct val="115000"/>
              </a:lnSpc>
              <a:buNone/>
            </a:pPr>
            <a:endParaRPr lang="en-US" sz="1600" dirty="0"/>
          </a:p>
          <a:p>
            <a:pPr indent="0" marL="0">
              <a:lnSpc>
                <a:spcPct val="115000"/>
              </a:lnSpc>
              <a:buNone/>
            </a:pPr>
            <a:r>
              <a:rPr lang="en-US" sz="1250" dirty="0">
                <a:solidFill>
                  <a:srgbClr val="CCCCCC"/>
                </a:solidFill>
                <a:latin typeface="Calibri" pitchFamily="34" charset="0"/>
                <a:ea typeface="Calibri" pitchFamily="34" charset="-122"/>
                <a:cs typeface="Calibri" pitchFamily="34" charset="-120"/>
              </a:rPr>
              <a:t>— and the NV1’s curved patch got its own vindication: the tessellator stage now evaluates BernsteinBasis(u) in every Direct3D 11 pipeline.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Tessellation — you have been watching it</a:t>
            </a:r>
            <a:endParaRPr lang="en-US" sz="2700" dirty="0"/>
          </a:p>
        </p:txBody>
      </p:sp>
      <p:sp>
        <p:nvSpPr>
          <p:cNvPr id="4" name="Shape 2"/>
          <p:cNvSpPr/>
          <p:nvPr/>
        </p:nvSpPr>
        <p:spPr>
          <a:xfrm>
            <a:off x="640080" y="1554480"/>
            <a:ext cx="10881360" cy="914400"/>
          </a:xfrm>
          <a:prstGeom prst="roundRect">
            <a:avLst>
              <a:gd name="adj" fmla="val 5500"/>
            </a:avLst>
          </a:prstGeom>
          <a:solidFill>
            <a:srgbClr val="14141D"/>
          </a:solidFill>
          <a:ln w="12700">
            <a:solidFill>
              <a:srgbClr val="2A2A38"/>
            </a:solidFill>
            <a:prstDash val="solid"/>
          </a:ln>
        </p:spPr>
      </p:sp>
      <p:sp>
        <p:nvSpPr>
          <p:cNvPr id="5" name="Text 3"/>
          <p:cNvSpPr/>
          <p:nvPr/>
        </p:nvSpPr>
        <p:spPr>
          <a:xfrm>
            <a:off x="914400" y="1709928"/>
            <a:ext cx="10332720" cy="658368"/>
          </a:xfrm>
          <a:prstGeom prst="rect">
            <a:avLst/>
          </a:prstGeom>
          <a:noFill/>
          <a:ln/>
        </p:spPr>
        <p:txBody>
          <a:bodyPr wrap="square" lIns="0" tIns="0" rIns="0" bIns="0" rtlCol="0" anchor="ctr"/>
          <a:lstStyle/>
          <a:p>
            <a:pPr indent="0" marL="0">
              <a:lnSpc>
                <a:spcPct val="108000"/>
              </a:lnSpc>
              <a:buNone/>
            </a:pPr>
            <a:r>
              <a:rPr lang="en-US" sz="1300" b="1" dirty="0">
                <a:solidFill>
                  <a:srgbClr val="FFFFFF"/>
                </a:solidFill>
                <a:latin typeface="Calibri" pitchFamily="34" charset="0"/>
                <a:ea typeface="Calibri" pitchFamily="34" charset="-122"/>
                <a:cs typeface="Calibri" pitchFamily="34" charset="-120"/>
              </a:rPr>
              <a:t>Tessellation is cutting a smooth, exactly-described surface into flat triangles the rasterizer can draw.  </a:t>
            </a:r>
            <a:pPr indent="0" marL="0">
              <a:lnSpc>
                <a:spcPct val="108000"/>
              </a:lnSpc>
              <a:buNone/>
            </a:pPr>
            <a:r>
              <a:rPr lang="en-US" sz="1300" dirty="0">
                <a:solidFill>
                  <a:srgbClr val="DDDDDD"/>
                </a:solidFill>
                <a:latin typeface="Calibri" pitchFamily="34" charset="0"/>
                <a:ea typeface="Calibri" pitchFamily="34" charset="-122"/>
                <a:cs typeface="Calibri" pitchFamily="34" charset="-120"/>
              </a:rPr>
              <a:t>A patch is a compact exact description (9 control points, 27 floats); the rasterizer only eats triangles; tessellation converts one into the other — on the fly, every frame.</a:t>
            </a:r>
            <a:endParaRPr lang="en-US" sz="1300" dirty="0"/>
          </a:p>
        </p:txBody>
      </p:sp>
      <p:sp>
        <p:nvSpPr>
          <p:cNvPr id="6" name="Shape 4"/>
          <p:cNvSpPr/>
          <p:nvPr/>
        </p:nvSpPr>
        <p:spPr>
          <a:xfrm>
            <a:off x="640080" y="2651760"/>
            <a:ext cx="3474720" cy="1965960"/>
          </a:xfrm>
          <a:prstGeom prst="roundRect">
            <a:avLst>
              <a:gd name="adj" fmla="val 2558"/>
            </a:avLst>
          </a:prstGeom>
          <a:solidFill>
            <a:srgbClr val="191924"/>
          </a:solidFill>
          <a:ln w="12700">
            <a:solidFill>
              <a:srgbClr val="2A2A38"/>
            </a:solidFill>
            <a:prstDash val="solid"/>
          </a:ln>
        </p:spPr>
      </p:sp>
      <p:sp>
        <p:nvSpPr>
          <p:cNvPr id="7" name="Text 5"/>
          <p:cNvSpPr/>
          <p:nvPr/>
        </p:nvSpPr>
        <p:spPr>
          <a:xfrm>
            <a:off x="896112" y="2834640"/>
            <a:ext cx="3017520" cy="274320"/>
          </a:xfrm>
          <a:prstGeom prst="rect">
            <a:avLst/>
          </a:prstGeom>
          <a:noFill/>
          <a:ln/>
        </p:spPr>
        <p:txBody>
          <a:bodyPr wrap="square" lIns="0" tIns="0" rIns="0" bIns="0" rtlCol="0" anchor="ctr"/>
          <a:lstStyle/>
          <a:p>
            <a:pPr indent="0" marL="0">
              <a:buNone/>
            </a:pPr>
            <a:r>
              <a:rPr lang="en-US" sz="1350" b="1" dirty="0">
                <a:solidFill>
                  <a:srgbClr val="6AA6FF"/>
                </a:solidFill>
                <a:latin typeface="Courier New" pitchFamily="34" charset="0"/>
                <a:ea typeface="Courier New" pitchFamily="34" charset="-122"/>
                <a:cs typeface="Courier New" pitchFamily="34" charset="-120"/>
              </a:rPr>
              <a:t>HULL SHADER</a:t>
            </a:r>
            <a:endParaRPr lang="en-US" sz="1350" dirty="0"/>
          </a:p>
        </p:txBody>
      </p:sp>
      <p:sp>
        <p:nvSpPr>
          <p:cNvPr id="8" name="Text 6"/>
          <p:cNvSpPr/>
          <p:nvPr/>
        </p:nvSpPr>
        <p:spPr>
          <a:xfrm>
            <a:off x="896112" y="3108960"/>
            <a:ext cx="3017520" cy="201168"/>
          </a:xfrm>
          <a:prstGeom prst="rect">
            <a:avLst/>
          </a:prstGeom>
          <a:noFill/>
          <a:ln/>
        </p:spPr>
        <p:txBody>
          <a:bodyPr wrap="square" lIns="0" tIns="0" rIns="0" bIns="0" rtlCol="0" anchor="ctr"/>
          <a:lstStyle/>
          <a:p>
            <a:pPr indent="0" marL="0">
              <a:buNone/>
            </a:pPr>
            <a:r>
              <a:rPr lang="en-US" sz="900" i="1" dirty="0">
                <a:solidFill>
                  <a:srgbClr val="CCCCCC"/>
                </a:solidFill>
                <a:latin typeface="Calibri" pitchFamily="34" charset="0"/>
                <a:ea typeface="Calibri" pitchFamily="34" charset="-122"/>
                <a:cs typeface="Calibri" pitchFamily="34" charset="-120"/>
              </a:rPr>
              <a:t>programmable</a:t>
            </a:r>
            <a:endParaRPr lang="en-US" sz="900" dirty="0"/>
          </a:p>
        </p:txBody>
      </p:sp>
      <p:sp>
        <p:nvSpPr>
          <p:cNvPr id="9" name="Text 7"/>
          <p:cNvSpPr/>
          <p:nvPr/>
        </p:nvSpPr>
        <p:spPr>
          <a:xfrm>
            <a:off x="896112" y="3346704"/>
            <a:ext cx="2999232" cy="1188720"/>
          </a:xfrm>
          <a:prstGeom prst="rect">
            <a:avLst/>
          </a:prstGeom>
          <a:noFill/>
          <a:ln/>
        </p:spPr>
        <p:txBody>
          <a:bodyPr wrap="square" lIns="0" tIns="0" rIns="0" bIns="0" rtlCol="0" anchor="ctr"/>
          <a:lstStyle/>
          <a:p>
            <a:pPr indent="0" marL="0">
              <a:lnSpc>
                <a:spcPct val="105000"/>
              </a:lnSpc>
              <a:buNone/>
            </a:pPr>
            <a:r>
              <a:rPr lang="en-US" sz="1000" dirty="0">
                <a:solidFill>
                  <a:srgbClr val="DDDDDD"/>
                </a:solidFill>
                <a:latin typeface="Calibri" pitchFamily="34" charset="0"/>
                <a:ea typeface="Calibri" pitchFamily="34" charset="-122"/>
                <a:cs typeface="Calibri" pitchFamily="34" charset="-120"/>
              </a:rPr>
              <a:t>Decides HOW FINELY.  A patch filling the screen gets thousands of triangles; a distant one gets four.  Your animation’s rule — subdivide until the flat-triangle error is invisible — is this stage’s job.</a:t>
            </a:r>
            <a:endParaRPr lang="en-US" sz="1000" dirty="0"/>
          </a:p>
        </p:txBody>
      </p:sp>
      <p:sp>
        <p:nvSpPr>
          <p:cNvPr id="10" name="Shape 8"/>
          <p:cNvSpPr/>
          <p:nvPr/>
        </p:nvSpPr>
        <p:spPr>
          <a:xfrm>
            <a:off x="4343400" y="2651760"/>
            <a:ext cx="3474720" cy="1965960"/>
          </a:xfrm>
          <a:prstGeom prst="roundRect">
            <a:avLst>
              <a:gd name="adj" fmla="val 2558"/>
            </a:avLst>
          </a:prstGeom>
          <a:solidFill>
            <a:srgbClr val="191924"/>
          </a:solidFill>
          <a:ln w="12700">
            <a:solidFill>
              <a:srgbClr val="2A2A38"/>
            </a:solidFill>
            <a:prstDash val="solid"/>
          </a:ln>
        </p:spPr>
      </p:sp>
      <p:sp>
        <p:nvSpPr>
          <p:cNvPr id="11" name="Text 9"/>
          <p:cNvSpPr/>
          <p:nvPr/>
        </p:nvSpPr>
        <p:spPr>
          <a:xfrm>
            <a:off x="4599432" y="2834640"/>
            <a:ext cx="3017520" cy="274320"/>
          </a:xfrm>
          <a:prstGeom prst="rect">
            <a:avLst/>
          </a:prstGeom>
          <a:noFill/>
          <a:ln/>
        </p:spPr>
        <p:txBody>
          <a:bodyPr wrap="square" lIns="0" tIns="0" rIns="0" bIns="0" rtlCol="0" anchor="ctr"/>
          <a:lstStyle/>
          <a:p>
            <a:pPr indent="0" marL="0">
              <a:buNone/>
            </a:pPr>
            <a:r>
              <a:rPr lang="en-US" sz="1350" b="1" dirty="0">
                <a:solidFill>
                  <a:srgbClr val="E8A832"/>
                </a:solidFill>
                <a:latin typeface="Courier New" pitchFamily="34" charset="0"/>
                <a:ea typeface="Courier New" pitchFamily="34" charset="-122"/>
                <a:cs typeface="Courier New" pitchFamily="34" charset="-120"/>
              </a:rPr>
              <a:t>TESSELLATOR</a:t>
            </a:r>
            <a:endParaRPr lang="en-US" sz="1350" dirty="0"/>
          </a:p>
        </p:txBody>
      </p:sp>
      <p:sp>
        <p:nvSpPr>
          <p:cNvPr id="12" name="Text 10"/>
          <p:cNvSpPr/>
          <p:nvPr/>
        </p:nvSpPr>
        <p:spPr>
          <a:xfrm>
            <a:off x="4599432" y="3108960"/>
            <a:ext cx="3017520" cy="201168"/>
          </a:xfrm>
          <a:prstGeom prst="rect">
            <a:avLst/>
          </a:prstGeom>
          <a:noFill/>
          <a:ln/>
        </p:spPr>
        <p:txBody>
          <a:bodyPr wrap="square" lIns="0" tIns="0" rIns="0" bIns="0" rtlCol="0" anchor="ctr"/>
          <a:lstStyle/>
          <a:p>
            <a:pPr indent="0" marL="0">
              <a:buNone/>
            </a:pPr>
            <a:r>
              <a:rPr lang="en-US" sz="900" i="1" dirty="0">
                <a:solidFill>
                  <a:srgbClr val="CCCCCC"/>
                </a:solidFill>
                <a:latin typeface="Calibri" pitchFamily="34" charset="0"/>
                <a:ea typeface="Calibri" pitchFamily="34" charset="-122"/>
                <a:cs typeface="Calibri" pitchFamily="34" charset="-120"/>
              </a:rPr>
              <a:t>fixed function — the frozen part</a:t>
            </a:r>
            <a:endParaRPr lang="en-US" sz="900" dirty="0"/>
          </a:p>
        </p:txBody>
      </p:sp>
      <p:sp>
        <p:nvSpPr>
          <p:cNvPr id="13" name="Text 11"/>
          <p:cNvSpPr/>
          <p:nvPr/>
        </p:nvSpPr>
        <p:spPr>
          <a:xfrm>
            <a:off x="4599432" y="3346704"/>
            <a:ext cx="2999232" cy="1188720"/>
          </a:xfrm>
          <a:prstGeom prst="rect">
            <a:avLst/>
          </a:prstGeom>
          <a:noFill/>
          <a:ln/>
        </p:spPr>
        <p:txBody>
          <a:bodyPr wrap="square" lIns="0" tIns="0" rIns="0" bIns="0" rtlCol="0" anchor="ctr"/>
          <a:lstStyle/>
          <a:p>
            <a:pPr indent="0" marL="0">
              <a:lnSpc>
                <a:spcPct val="105000"/>
              </a:lnSpc>
              <a:buNone/>
            </a:pPr>
            <a:r>
              <a:rPr lang="en-US" sz="1000" dirty="0">
                <a:solidFill>
                  <a:srgbClr val="DDDDDD"/>
                </a:solidFill>
                <a:latin typeface="Calibri" pitchFamily="34" charset="0"/>
                <a:ea typeface="Calibri" pitchFamily="34" charset="-122"/>
                <a:cs typeface="Calibri" pitchFamily="34" charset="-120"/>
              </a:rPr>
              <a:t>Decides WHERE to sample.  Generates the (u,v) sample points in the parameter square and their triangle connectivity.  Pure combinatorics — it never knows what shape the surface is.</a:t>
            </a:r>
            <a:endParaRPr lang="en-US" sz="1000" dirty="0"/>
          </a:p>
        </p:txBody>
      </p:sp>
      <p:sp>
        <p:nvSpPr>
          <p:cNvPr id="14" name="Shape 12"/>
          <p:cNvSpPr/>
          <p:nvPr/>
        </p:nvSpPr>
        <p:spPr>
          <a:xfrm>
            <a:off x="8046720" y="2651760"/>
            <a:ext cx="3474720" cy="1965960"/>
          </a:xfrm>
          <a:prstGeom prst="roundRect">
            <a:avLst>
              <a:gd name="adj" fmla="val 2558"/>
            </a:avLst>
          </a:prstGeom>
          <a:solidFill>
            <a:srgbClr val="191924"/>
          </a:solidFill>
          <a:ln w="12700">
            <a:solidFill>
              <a:srgbClr val="2A2A38"/>
            </a:solidFill>
            <a:prstDash val="solid"/>
          </a:ln>
        </p:spPr>
      </p:sp>
      <p:sp>
        <p:nvSpPr>
          <p:cNvPr id="15" name="Text 13"/>
          <p:cNvSpPr/>
          <p:nvPr/>
        </p:nvSpPr>
        <p:spPr>
          <a:xfrm>
            <a:off x="8302752" y="2834640"/>
            <a:ext cx="3017520" cy="274320"/>
          </a:xfrm>
          <a:prstGeom prst="rect">
            <a:avLst/>
          </a:prstGeom>
          <a:noFill/>
          <a:ln/>
        </p:spPr>
        <p:txBody>
          <a:bodyPr wrap="square" lIns="0" tIns="0" rIns="0" bIns="0" rtlCol="0" anchor="ctr"/>
          <a:lstStyle/>
          <a:p>
            <a:pPr indent="0" marL="0">
              <a:buNone/>
            </a:pPr>
            <a:r>
              <a:rPr lang="en-US" sz="1350" b="1" dirty="0">
                <a:solidFill>
                  <a:srgbClr val="3CE8B2"/>
                </a:solidFill>
                <a:latin typeface="Courier New" pitchFamily="34" charset="0"/>
                <a:ea typeface="Courier New" pitchFamily="34" charset="-122"/>
                <a:cs typeface="Courier New" pitchFamily="34" charset="-120"/>
              </a:rPr>
              <a:t>DOMAIN SHADER</a:t>
            </a:r>
            <a:endParaRPr lang="en-US" sz="1350" dirty="0"/>
          </a:p>
        </p:txBody>
      </p:sp>
      <p:sp>
        <p:nvSpPr>
          <p:cNvPr id="16" name="Text 14"/>
          <p:cNvSpPr/>
          <p:nvPr/>
        </p:nvSpPr>
        <p:spPr>
          <a:xfrm>
            <a:off x="8302752" y="3108960"/>
            <a:ext cx="3017520" cy="201168"/>
          </a:xfrm>
          <a:prstGeom prst="rect">
            <a:avLst/>
          </a:prstGeom>
          <a:noFill/>
          <a:ln/>
        </p:spPr>
        <p:txBody>
          <a:bodyPr wrap="square" lIns="0" tIns="0" rIns="0" bIns="0" rtlCol="0" anchor="ctr"/>
          <a:lstStyle/>
          <a:p>
            <a:pPr indent="0" marL="0">
              <a:buNone/>
            </a:pPr>
            <a:r>
              <a:rPr lang="en-US" sz="900" i="1" dirty="0">
                <a:solidFill>
                  <a:srgbClr val="CCCCCC"/>
                </a:solidFill>
                <a:latin typeface="Calibri" pitchFamily="34" charset="0"/>
                <a:ea typeface="Calibri" pitchFamily="34" charset="-122"/>
                <a:cs typeface="Calibri" pitchFamily="34" charset="-120"/>
              </a:rPr>
              <a:t>programmable</a:t>
            </a:r>
            <a:endParaRPr lang="en-US" sz="900" dirty="0"/>
          </a:p>
        </p:txBody>
      </p:sp>
      <p:sp>
        <p:nvSpPr>
          <p:cNvPr id="17" name="Text 15"/>
          <p:cNvSpPr/>
          <p:nvPr/>
        </p:nvSpPr>
        <p:spPr>
          <a:xfrm>
            <a:off x="8302752" y="3346704"/>
            <a:ext cx="2999232" cy="1188720"/>
          </a:xfrm>
          <a:prstGeom prst="rect">
            <a:avLst/>
          </a:prstGeom>
          <a:noFill/>
          <a:ln/>
        </p:spPr>
        <p:txBody>
          <a:bodyPr wrap="square" lIns="0" tIns="0" rIns="0" bIns="0" rtlCol="0" anchor="ctr"/>
          <a:lstStyle/>
          <a:p>
            <a:pPr indent="0" marL="0">
              <a:lnSpc>
                <a:spcPct val="105000"/>
              </a:lnSpc>
              <a:buNone/>
            </a:pPr>
            <a:r>
              <a:rPr lang="en-US" sz="1000" dirty="0">
                <a:solidFill>
                  <a:srgbClr val="DDDDDD"/>
                </a:solidFill>
                <a:latin typeface="Calibri" pitchFamily="34" charset="0"/>
                <a:ea typeface="Calibri" pitchFamily="34" charset="-122"/>
                <a:cs typeface="Calibri" pitchFamily="34" charset="-120"/>
              </a:rPr>
              <a:t>Decides WHAT the surface says there.  Evaluates the patch equation at each (u,v) — for a Bézier patch, a weighted sum of control points with BernsteinBasis weights — producing the real 3D vertex.</a:t>
            </a:r>
            <a:endParaRPr lang="en-US" sz="1000" dirty="0"/>
          </a:p>
        </p:txBody>
      </p:sp>
      <p:sp>
        <p:nvSpPr>
          <p:cNvPr id="18" name="Shape 16"/>
          <p:cNvSpPr/>
          <p:nvPr/>
        </p:nvSpPr>
        <p:spPr>
          <a:xfrm>
            <a:off x="640080" y="4800600"/>
            <a:ext cx="10881360" cy="1005840"/>
          </a:xfrm>
          <a:prstGeom prst="roundRect">
            <a:avLst>
              <a:gd name="adj" fmla="val 5000"/>
            </a:avLst>
          </a:prstGeom>
          <a:solidFill>
            <a:srgbClr val="14141D"/>
          </a:solidFill>
          <a:ln w="12700">
            <a:solidFill>
              <a:srgbClr val="2A2A38"/>
            </a:solidFill>
            <a:prstDash val="solid"/>
          </a:ln>
        </p:spPr>
      </p:sp>
      <p:sp>
        <p:nvSpPr>
          <p:cNvPr id="19" name="Shape 17"/>
          <p:cNvSpPr/>
          <p:nvPr/>
        </p:nvSpPr>
        <p:spPr>
          <a:xfrm>
            <a:off x="914400" y="4983480"/>
            <a:ext cx="274320" cy="274320"/>
          </a:xfrm>
          <a:prstGeom prst="roundRect">
            <a:avLst>
              <a:gd name="adj" fmla="val 16667"/>
            </a:avLst>
          </a:prstGeom>
          <a:solidFill>
            <a:srgbClr val="101B30"/>
          </a:solidFill>
          <a:ln w="15875">
            <a:solidFill>
              <a:srgbClr val="6AA6FF"/>
            </a:solidFill>
            <a:prstDash val="solid"/>
          </a:ln>
        </p:spPr>
      </p:sp>
      <p:sp>
        <p:nvSpPr>
          <p:cNvPr id="20" name="Text 18"/>
          <p:cNvSpPr/>
          <p:nvPr/>
        </p:nvSpPr>
        <p:spPr>
          <a:xfrm>
            <a:off x="914400" y="4972507"/>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21" name="Text 19"/>
          <p:cNvSpPr/>
          <p:nvPr/>
        </p:nvSpPr>
        <p:spPr>
          <a:xfrm>
            <a:off x="1298448" y="4972507"/>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WHAT IS A QUADRATIC PATCH? · §2 NOTE</a:t>
            </a:r>
            <a:endParaRPr lang="en-US" sz="1150" dirty="0"/>
          </a:p>
        </p:txBody>
      </p:sp>
      <p:sp>
        <p:nvSpPr>
          <p:cNvPr id="22" name="Text 20"/>
          <p:cNvSpPr/>
          <p:nvPr/>
        </p:nvSpPr>
        <p:spPr>
          <a:xfrm>
            <a:off x="914400" y="5330952"/>
            <a:ext cx="10332720" cy="438912"/>
          </a:xfrm>
          <a:prstGeom prst="rect">
            <a:avLst/>
          </a:prstGeom>
          <a:noFill/>
          <a:ln/>
        </p:spPr>
        <p:txBody>
          <a:bodyPr wrap="square" lIns="0" tIns="0" rIns="0" bIns="0" rtlCol="0" anchor="ctr"/>
          <a:lstStyle/>
          <a:p>
            <a:pPr indent="0" marL="0">
              <a:lnSpc>
                <a:spcPct val="105000"/>
              </a:lnSpc>
              <a:buNone/>
            </a:pPr>
            <a:r>
              <a:rPr lang="en-US" sz="1150" dirty="0">
                <a:solidFill>
                  <a:srgbClr val="DDDDDD"/>
                </a:solidFill>
                <a:latin typeface="Calibri" pitchFamily="34" charset="0"/>
                <a:ea typeface="Calibri" pitchFamily="34" charset="-122"/>
                <a:cs typeface="Calibri" pitchFamily="34" charset="-120"/>
              </a:rPr>
              <a:t>You have watched tessellation all semester: the first patch animation’s right half — the same surface re-drawn as a triangle mesh, denser wherever curvature demands, 27 floats beside hundreds — and the fillet tiled by flying triangles.  Those animations ARE this process.  Today it gets its name, and its own frozen stage.</a:t>
            </a:r>
            <a:endParaRPr lang="en-US" sz="1150" dirty="0"/>
          </a:p>
        </p:txBody>
      </p:sp>
      <p:sp>
        <p:nvSpPr>
          <p:cNvPr id="23" name="Shape 21"/>
          <p:cNvSpPr/>
          <p:nvPr/>
        </p:nvSpPr>
        <p:spPr>
          <a:xfrm>
            <a:off x="640080" y="5989320"/>
            <a:ext cx="10881360" cy="548640"/>
          </a:xfrm>
          <a:prstGeom prst="roundRect">
            <a:avLst>
              <a:gd name="adj" fmla="val 9167"/>
            </a:avLst>
          </a:prstGeom>
          <a:solidFill>
            <a:srgbClr val="1A160C"/>
          </a:solidFill>
          <a:ln w="12700">
            <a:solidFill>
              <a:srgbClr val="2A2A38"/>
            </a:solidFill>
            <a:prstDash val="solid"/>
          </a:ln>
        </p:spPr>
      </p:sp>
      <p:sp>
        <p:nvSpPr>
          <p:cNvPr id="24" name="Text 22"/>
          <p:cNvSpPr/>
          <p:nvPr/>
        </p:nvSpPr>
        <p:spPr>
          <a:xfrm>
            <a:off x="914400" y="6080760"/>
            <a:ext cx="10332720" cy="384048"/>
          </a:xfrm>
          <a:prstGeom prst="rect">
            <a:avLst/>
          </a:prstGeom>
          <a:noFill/>
          <a:ln/>
        </p:spPr>
        <p:txBody>
          <a:bodyPr wrap="square" lIns="0" tIns="0" rIns="0" bIns="0" rtlCol="0" anchor="ctr"/>
          <a:lstStyle/>
          <a:p>
            <a:pPr indent="0" marL="0">
              <a:buNone/>
            </a:pPr>
            <a:r>
              <a:rPr lang="en-US" sz="1250" i="1" dirty="0">
                <a:solidFill>
                  <a:srgbClr val="E8A832"/>
                </a:solidFill>
                <a:latin typeface="Calibri" pitchFamily="34" charset="0"/>
                <a:ea typeface="Calibri" pitchFamily="34" charset="-122"/>
                <a:cs typeface="Calibri" pitchFamily="34" charset="-120"/>
              </a:rPr>
              <a:t>The patch is the description; the triangle is the drawing primitive; tessellation is the bridge — and its heart is fixed-function.  The pendulum, again.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patch’s revenge — curves return to silicon</a:t>
            </a:r>
            <a:endParaRPr lang="en-US" sz="2700" dirty="0"/>
          </a:p>
        </p:txBody>
      </p:sp>
      <p:sp>
        <p:nvSpPr>
          <p:cNvPr id="4" name="Shape 2"/>
          <p:cNvSpPr/>
          <p:nvPr/>
        </p:nvSpPr>
        <p:spPr>
          <a:xfrm>
            <a:off x="640080" y="1444752"/>
            <a:ext cx="274320" cy="274320"/>
          </a:xfrm>
          <a:prstGeom prst="roundRect">
            <a:avLst>
              <a:gd name="adj" fmla="val 16667"/>
            </a:avLst>
          </a:prstGeom>
          <a:solidFill>
            <a:srgbClr val="101B30"/>
          </a:solidFill>
          <a:ln w="15875">
            <a:solidFill>
              <a:srgbClr val="6AA6FF"/>
            </a:solidFill>
            <a:prstDash val="solid"/>
          </a:ln>
        </p:spPr>
      </p:sp>
      <p:sp>
        <p:nvSpPr>
          <p:cNvPr id="5" name="Text 3"/>
          <p:cNvSpPr/>
          <p:nvPr/>
        </p:nvSpPr>
        <p:spPr>
          <a:xfrm>
            <a:off x="640080" y="1433779"/>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6" name="Text 4"/>
          <p:cNvSpPr/>
          <p:nvPr/>
        </p:nvSpPr>
        <p:spPr>
          <a:xfrm>
            <a:off x="1024128" y="1433779"/>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FROM WEIERSTRASS TO THE GPU · §2 NOTE</a:t>
            </a:r>
            <a:endParaRPr lang="en-US" sz="1150" dirty="0"/>
          </a:p>
        </p:txBody>
      </p:sp>
      <p:sp>
        <p:nvSpPr>
          <p:cNvPr id="7" name="Shape 5"/>
          <p:cNvSpPr/>
          <p:nvPr/>
        </p:nvSpPr>
        <p:spPr>
          <a:xfrm>
            <a:off x="640080" y="1874520"/>
            <a:ext cx="6720840" cy="658368"/>
          </a:xfrm>
          <a:prstGeom prst="roundRect">
            <a:avLst>
              <a:gd name="adj" fmla="val 7639"/>
            </a:avLst>
          </a:prstGeom>
          <a:solidFill>
            <a:srgbClr val="14141D"/>
          </a:solidFill>
          <a:ln w="12700">
            <a:solidFill>
              <a:srgbClr val="2A2A38"/>
            </a:solidFill>
            <a:prstDash val="solid"/>
          </a:ln>
        </p:spPr>
      </p:sp>
      <p:sp>
        <p:nvSpPr>
          <p:cNvPr id="8" name="Text 6"/>
          <p:cNvSpPr/>
          <p:nvPr/>
        </p:nvSpPr>
        <p:spPr>
          <a:xfrm>
            <a:off x="896112" y="1938528"/>
            <a:ext cx="960120" cy="256032"/>
          </a:xfrm>
          <a:prstGeom prst="rect">
            <a:avLst/>
          </a:prstGeom>
          <a:noFill/>
          <a:ln/>
        </p:spPr>
        <p:txBody>
          <a:bodyPr wrap="square" lIns="0" tIns="0" rIns="0" bIns="0" rtlCol="0" anchor="ctr"/>
          <a:lstStyle/>
          <a:p>
            <a:pPr indent="0" marL="0">
              <a:buNone/>
            </a:pPr>
            <a:r>
              <a:rPr lang="en-US" sz="1200" b="1" dirty="0">
                <a:solidFill>
                  <a:srgbClr val="6AA6FF"/>
                </a:solidFill>
                <a:latin typeface="Courier New" pitchFamily="34" charset="0"/>
                <a:ea typeface="Courier New" pitchFamily="34" charset="-122"/>
                <a:cs typeface="Courier New" pitchFamily="34" charset="-120"/>
              </a:rPr>
              <a:t>1992</a:t>
            </a:r>
            <a:endParaRPr lang="en-US" sz="1200" dirty="0"/>
          </a:p>
        </p:txBody>
      </p:sp>
      <p:sp>
        <p:nvSpPr>
          <p:cNvPr id="9" name="Text 7"/>
          <p:cNvSpPr/>
          <p:nvPr/>
        </p:nvSpPr>
        <p:spPr>
          <a:xfrm>
            <a:off x="1901952" y="1938528"/>
            <a:ext cx="1965960" cy="512064"/>
          </a:xfrm>
          <a:prstGeom prst="rect">
            <a:avLst/>
          </a:prstGeom>
          <a:noFill/>
          <a:ln/>
        </p:spPr>
        <p:txBody>
          <a:bodyPr wrap="square" lIns="0" tIns="0" rIns="0" bIns="0" rtlCol="0" anchor="ctr"/>
          <a:lstStyle/>
          <a:p>
            <a:pPr indent="0" marL="0">
              <a:lnSpc>
                <a:spcPct val="98000"/>
              </a:lnSpc>
              <a:buNone/>
            </a:pPr>
            <a:r>
              <a:rPr lang="en-US" sz="1150" b="1" dirty="0">
                <a:solidFill>
                  <a:srgbClr val="FFFFFF"/>
                </a:solidFill>
                <a:latin typeface="Calibri" pitchFamily="34" charset="0"/>
                <a:ea typeface="Calibri" pitchFamily="34" charset="-122"/>
                <a:cs typeface="Calibri" pitchFamily="34" charset="-120"/>
              </a:rPr>
              <a:t>SGI RealityEngine</a:t>
            </a:r>
            <a:endParaRPr lang="en-US" sz="1150" dirty="0"/>
          </a:p>
        </p:txBody>
      </p:sp>
      <p:sp>
        <p:nvSpPr>
          <p:cNvPr id="10" name="Text 8"/>
          <p:cNvSpPr/>
          <p:nvPr/>
        </p:nvSpPr>
        <p:spPr>
          <a:xfrm>
            <a:off x="3931920" y="1920240"/>
            <a:ext cx="3291840" cy="566928"/>
          </a:xfrm>
          <a:prstGeom prst="rect">
            <a:avLst/>
          </a:prstGeom>
          <a:noFill/>
          <a:ln/>
        </p:spPr>
        <p:txBody>
          <a:bodyPr wrap="square" lIns="0" tIns="0" rIns="0" bIns="0" rtlCol="0" anchor="ctr"/>
          <a:lstStyle/>
          <a:p>
            <a:pPr indent="0" marL="0">
              <a:lnSpc>
                <a:spcPct val="100000"/>
              </a:lnSpc>
              <a:buNone/>
            </a:pPr>
            <a:r>
              <a:rPr lang="en-US" sz="850" dirty="0">
                <a:solidFill>
                  <a:srgbClr val="DDDDDD"/>
                </a:solidFill>
                <a:latin typeface="Calibri" pitchFamily="34" charset="0"/>
                <a:ea typeface="Calibri" pitchFamily="34" charset="-122"/>
                <a:cs typeface="Calibri" pitchFamily="34" charset="-120"/>
              </a:rPr>
              <a:t>Evaluated patches in hardware (control points → surface points on the Geometry Engine) — but still rasterized triangles.  “Evaluate, then tessellate.”</a:t>
            </a:r>
            <a:endParaRPr lang="en-US" sz="850" dirty="0"/>
          </a:p>
        </p:txBody>
      </p:sp>
      <p:sp>
        <p:nvSpPr>
          <p:cNvPr id="11" name="Shape 9"/>
          <p:cNvSpPr/>
          <p:nvPr/>
        </p:nvSpPr>
        <p:spPr>
          <a:xfrm>
            <a:off x="640080" y="2624328"/>
            <a:ext cx="6720840" cy="658368"/>
          </a:xfrm>
          <a:prstGeom prst="roundRect">
            <a:avLst>
              <a:gd name="adj" fmla="val 7639"/>
            </a:avLst>
          </a:prstGeom>
          <a:solidFill>
            <a:srgbClr val="14141D"/>
          </a:solidFill>
          <a:ln w="12700">
            <a:solidFill>
              <a:srgbClr val="2A2A38"/>
            </a:solidFill>
            <a:prstDash val="solid"/>
          </a:ln>
        </p:spPr>
      </p:sp>
      <p:sp>
        <p:nvSpPr>
          <p:cNvPr id="12" name="Text 10"/>
          <p:cNvSpPr/>
          <p:nvPr/>
        </p:nvSpPr>
        <p:spPr>
          <a:xfrm>
            <a:off x="896112" y="2688336"/>
            <a:ext cx="960120" cy="256032"/>
          </a:xfrm>
          <a:prstGeom prst="rect">
            <a:avLst/>
          </a:prstGeom>
          <a:noFill/>
          <a:ln/>
        </p:spPr>
        <p:txBody>
          <a:bodyPr wrap="square" lIns="0" tIns="0" rIns="0" bIns="0" rtlCol="0" anchor="ctr"/>
          <a:lstStyle/>
          <a:p>
            <a:pPr indent="0" marL="0">
              <a:buNone/>
            </a:pPr>
            <a:r>
              <a:rPr lang="en-US" sz="1200" b="1" dirty="0">
                <a:solidFill>
                  <a:srgbClr val="E8835C"/>
                </a:solidFill>
                <a:latin typeface="Courier New" pitchFamily="34" charset="0"/>
                <a:ea typeface="Courier New" pitchFamily="34" charset="-122"/>
                <a:cs typeface="Courier New" pitchFamily="34" charset="-120"/>
              </a:rPr>
              <a:t>1995</a:t>
            </a:r>
            <a:endParaRPr lang="en-US" sz="1200" dirty="0"/>
          </a:p>
        </p:txBody>
      </p:sp>
      <p:sp>
        <p:nvSpPr>
          <p:cNvPr id="13" name="Text 11"/>
          <p:cNvSpPr/>
          <p:nvPr/>
        </p:nvSpPr>
        <p:spPr>
          <a:xfrm>
            <a:off x="1901952" y="2688336"/>
            <a:ext cx="1965960" cy="512064"/>
          </a:xfrm>
          <a:prstGeom prst="rect">
            <a:avLst/>
          </a:prstGeom>
          <a:noFill/>
          <a:ln/>
        </p:spPr>
        <p:txBody>
          <a:bodyPr wrap="square" lIns="0" tIns="0" rIns="0" bIns="0" rtlCol="0" anchor="ctr"/>
          <a:lstStyle/>
          <a:p>
            <a:pPr indent="0" marL="0">
              <a:lnSpc>
                <a:spcPct val="98000"/>
              </a:lnSpc>
              <a:buNone/>
            </a:pPr>
            <a:r>
              <a:rPr lang="en-US" sz="1150" b="1" dirty="0">
                <a:solidFill>
                  <a:srgbClr val="FFFFFF"/>
                </a:solidFill>
                <a:latin typeface="Calibri" pitchFamily="34" charset="0"/>
                <a:ea typeface="Calibri" pitchFamily="34" charset="-122"/>
                <a:cs typeface="Calibri" pitchFamily="34" charset="-120"/>
              </a:rPr>
              <a:t>NVIDIA NV1</a:t>
            </a:r>
            <a:endParaRPr lang="en-US" sz="1150" dirty="0"/>
          </a:p>
        </p:txBody>
      </p:sp>
      <p:sp>
        <p:nvSpPr>
          <p:cNvPr id="14" name="Text 12"/>
          <p:cNvSpPr/>
          <p:nvPr/>
        </p:nvSpPr>
        <p:spPr>
          <a:xfrm>
            <a:off x="3931920" y="2670048"/>
            <a:ext cx="3291840" cy="566928"/>
          </a:xfrm>
          <a:prstGeom prst="rect">
            <a:avLst/>
          </a:prstGeom>
          <a:noFill/>
          <a:ln/>
        </p:spPr>
        <p:txBody>
          <a:bodyPr wrap="square" lIns="0" tIns="0" rIns="0" bIns="0" rtlCol="0" anchor="ctr"/>
          <a:lstStyle/>
          <a:p>
            <a:pPr indent="0" marL="0">
              <a:lnSpc>
                <a:spcPct val="100000"/>
              </a:lnSpc>
              <a:buNone/>
            </a:pPr>
            <a:r>
              <a:rPr lang="en-US" sz="850" dirty="0">
                <a:solidFill>
                  <a:srgbClr val="DDDDDD"/>
                </a:solidFill>
                <a:latin typeface="Calibri" pitchFamily="34" charset="0"/>
                <a:ea typeface="Calibri" pitchFamily="34" charset="-122"/>
                <a:cs typeface="Calibri" pitchFamily="34" charset="-120"/>
              </a:rPr>
              <a:t>The radical version: rasterized the patch ITSELF — no triangles anywhere.  Direct3D chose the triangle; the NV1 failed and nearly took the company with it.</a:t>
            </a:r>
            <a:endParaRPr lang="en-US" sz="850" dirty="0"/>
          </a:p>
        </p:txBody>
      </p:sp>
      <p:sp>
        <p:nvSpPr>
          <p:cNvPr id="15" name="Shape 13"/>
          <p:cNvSpPr/>
          <p:nvPr/>
        </p:nvSpPr>
        <p:spPr>
          <a:xfrm>
            <a:off x="640080" y="3374136"/>
            <a:ext cx="6720840" cy="658368"/>
          </a:xfrm>
          <a:prstGeom prst="roundRect">
            <a:avLst>
              <a:gd name="adj" fmla="val 7639"/>
            </a:avLst>
          </a:prstGeom>
          <a:solidFill>
            <a:srgbClr val="14141D"/>
          </a:solidFill>
          <a:ln w="12700">
            <a:solidFill>
              <a:srgbClr val="2A2A38"/>
            </a:solidFill>
            <a:prstDash val="solid"/>
          </a:ln>
        </p:spPr>
      </p:sp>
      <p:sp>
        <p:nvSpPr>
          <p:cNvPr id="16" name="Text 14"/>
          <p:cNvSpPr/>
          <p:nvPr/>
        </p:nvSpPr>
        <p:spPr>
          <a:xfrm>
            <a:off x="896112" y="3438144"/>
            <a:ext cx="960120" cy="256032"/>
          </a:xfrm>
          <a:prstGeom prst="rect">
            <a:avLst/>
          </a:prstGeom>
          <a:noFill/>
          <a:ln/>
        </p:spPr>
        <p:txBody>
          <a:bodyPr wrap="square" lIns="0" tIns="0" rIns="0" bIns="0" rtlCol="0" anchor="ctr"/>
          <a:lstStyle/>
          <a:p>
            <a:pPr indent="0" marL="0">
              <a:buNone/>
            </a:pPr>
            <a:r>
              <a:rPr lang="en-US" sz="1200" b="1" dirty="0">
                <a:solidFill>
                  <a:srgbClr val="6AA6FF"/>
                </a:solidFill>
                <a:latin typeface="Courier New" pitchFamily="34" charset="0"/>
                <a:ea typeface="Courier New" pitchFamily="34" charset="-122"/>
                <a:cs typeface="Courier New" pitchFamily="34" charset="-120"/>
              </a:rPr>
              <a:t>2001</a:t>
            </a:r>
            <a:endParaRPr lang="en-US" sz="1200" dirty="0"/>
          </a:p>
        </p:txBody>
      </p:sp>
      <p:sp>
        <p:nvSpPr>
          <p:cNvPr id="17" name="Text 15"/>
          <p:cNvSpPr/>
          <p:nvPr/>
        </p:nvSpPr>
        <p:spPr>
          <a:xfrm>
            <a:off x="1901952" y="3438144"/>
            <a:ext cx="1965960" cy="512064"/>
          </a:xfrm>
          <a:prstGeom prst="rect">
            <a:avLst/>
          </a:prstGeom>
          <a:noFill/>
          <a:ln/>
        </p:spPr>
        <p:txBody>
          <a:bodyPr wrap="square" lIns="0" tIns="0" rIns="0" bIns="0" rtlCol="0" anchor="ctr"/>
          <a:lstStyle/>
          <a:p>
            <a:pPr indent="0" marL="0">
              <a:lnSpc>
                <a:spcPct val="98000"/>
              </a:lnSpc>
              <a:buNone/>
            </a:pPr>
            <a:r>
              <a:rPr lang="en-US" sz="1150" b="1" dirty="0">
                <a:solidFill>
                  <a:srgbClr val="FFFFFF"/>
                </a:solidFill>
                <a:latin typeface="Calibri" pitchFamily="34" charset="0"/>
                <a:ea typeface="Calibri" pitchFamily="34" charset="-122"/>
                <a:cs typeface="Calibri" pitchFamily="34" charset="-120"/>
              </a:rPr>
              <a:t>ATI TruForm (Radeon 8500)</a:t>
            </a:r>
            <a:endParaRPr lang="en-US" sz="1150" dirty="0"/>
          </a:p>
        </p:txBody>
      </p:sp>
      <p:sp>
        <p:nvSpPr>
          <p:cNvPr id="18" name="Text 16"/>
          <p:cNvSpPr/>
          <p:nvPr/>
        </p:nvSpPr>
        <p:spPr>
          <a:xfrm>
            <a:off x="3931920" y="3419856"/>
            <a:ext cx="3291840" cy="566928"/>
          </a:xfrm>
          <a:prstGeom prst="rect">
            <a:avLst/>
          </a:prstGeom>
          <a:noFill/>
          <a:ln/>
        </p:spPr>
        <p:txBody>
          <a:bodyPr wrap="square" lIns="0" tIns="0" rIns="0" bIns="0" rtlCol="0" anchor="ctr"/>
          <a:lstStyle/>
          <a:p>
            <a:pPr indent="0" marL="0">
              <a:lnSpc>
                <a:spcPct val="100000"/>
              </a:lnSpc>
              <a:buNone/>
            </a:pPr>
            <a:r>
              <a:rPr lang="en-US" sz="850" dirty="0">
                <a:solidFill>
                  <a:srgbClr val="DDDDDD"/>
                </a:solidFill>
                <a:latin typeface="Calibri" pitchFamily="34" charset="0"/>
                <a:ea typeface="Calibri" pitchFamily="34" charset="-122"/>
                <a:cs typeface="Calibri" pitchFamily="34" charset="-120"/>
              </a:rPr>
              <a:t>First consumer GPU with an on-chip tessellator (N-patches).  Right idea, wrong decade — almost no adoption.</a:t>
            </a:r>
            <a:endParaRPr lang="en-US" sz="850" dirty="0"/>
          </a:p>
        </p:txBody>
      </p:sp>
      <p:sp>
        <p:nvSpPr>
          <p:cNvPr id="19" name="Shape 17"/>
          <p:cNvSpPr/>
          <p:nvPr/>
        </p:nvSpPr>
        <p:spPr>
          <a:xfrm>
            <a:off x="640080" y="4123944"/>
            <a:ext cx="6720840" cy="658368"/>
          </a:xfrm>
          <a:prstGeom prst="roundRect">
            <a:avLst>
              <a:gd name="adj" fmla="val 7639"/>
            </a:avLst>
          </a:prstGeom>
          <a:solidFill>
            <a:srgbClr val="14141D"/>
          </a:solidFill>
          <a:ln w="12700">
            <a:solidFill>
              <a:srgbClr val="2A2A38"/>
            </a:solidFill>
            <a:prstDash val="solid"/>
          </a:ln>
        </p:spPr>
      </p:sp>
      <p:sp>
        <p:nvSpPr>
          <p:cNvPr id="20" name="Text 18"/>
          <p:cNvSpPr/>
          <p:nvPr/>
        </p:nvSpPr>
        <p:spPr>
          <a:xfrm>
            <a:off x="896112" y="4187952"/>
            <a:ext cx="960120" cy="256032"/>
          </a:xfrm>
          <a:prstGeom prst="rect">
            <a:avLst/>
          </a:prstGeom>
          <a:noFill/>
          <a:ln/>
        </p:spPr>
        <p:txBody>
          <a:bodyPr wrap="square" lIns="0" tIns="0" rIns="0" bIns="0" rtlCol="0" anchor="ctr"/>
          <a:lstStyle/>
          <a:p>
            <a:pPr indent="0" marL="0">
              <a:buNone/>
            </a:pPr>
            <a:r>
              <a:rPr lang="en-US" sz="1200" b="1" dirty="0">
                <a:solidFill>
                  <a:srgbClr val="6AA6FF"/>
                </a:solidFill>
                <a:latin typeface="Courier New" pitchFamily="34" charset="0"/>
                <a:ea typeface="Courier New" pitchFamily="34" charset="-122"/>
                <a:cs typeface="Courier New" pitchFamily="34" charset="-120"/>
              </a:rPr>
              <a:t>2005</a:t>
            </a:r>
            <a:endParaRPr lang="en-US" sz="1200" dirty="0"/>
          </a:p>
        </p:txBody>
      </p:sp>
      <p:sp>
        <p:nvSpPr>
          <p:cNvPr id="21" name="Text 19"/>
          <p:cNvSpPr/>
          <p:nvPr/>
        </p:nvSpPr>
        <p:spPr>
          <a:xfrm>
            <a:off x="1901952" y="4187952"/>
            <a:ext cx="1965960" cy="512064"/>
          </a:xfrm>
          <a:prstGeom prst="rect">
            <a:avLst/>
          </a:prstGeom>
          <a:noFill/>
          <a:ln/>
        </p:spPr>
        <p:txBody>
          <a:bodyPr wrap="square" lIns="0" tIns="0" rIns="0" bIns="0" rtlCol="0" anchor="ctr"/>
          <a:lstStyle/>
          <a:p>
            <a:pPr indent="0" marL="0">
              <a:lnSpc>
                <a:spcPct val="98000"/>
              </a:lnSpc>
              <a:buNone/>
            </a:pPr>
            <a:r>
              <a:rPr lang="en-US" sz="1150" b="1" dirty="0">
                <a:solidFill>
                  <a:srgbClr val="FFFFFF"/>
                </a:solidFill>
                <a:latin typeface="Calibri" pitchFamily="34" charset="0"/>
                <a:ea typeface="Calibri" pitchFamily="34" charset="-122"/>
                <a:cs typeface="Calibri" pitchFamily="34" charset="-120"/>
              </a:rPr>
              <a:t>Loop–Blinn</a:t>
            </a:r>
            <a:endParaRPr lang="en-US" sz="1150" dirty="0"/>
          </a:p>
        </p:txBody>
      </p:sp>
      <p:sp>
        <p:nvSpPr>
          <p:cNvPr id="22" name="Text 20"/>
          <p:cNvSpPr/>
          <p:nvPr/>
        </p:nvSpPr>
        <p:spPr>
          <a:xfrm>
            <a:off x="3931920" y="4169664"/>
            <a:ext cx="3291840" cy="566928"/>
          </a:xfrm>
          <a:prstGeom prst="rect">
            <a:avLst/>
          </a:prstGeom>
          <a:noFill/>
          <a:ln/>
        </p:spPr>
        <p:txBody>
          <a:bodyPr wrap="square" lIns="0" tIns="0" rIns="0" bIns="0" rtlCol="0" anchor="ctr"/>
          <a:lstStyle/>
          <a:p>
            <a:pPr indent="0" marL="0">
              <a:lnSpc>
                <a:spcPct val="100000"/>
              </a:lnSpc>
              <a:buNone/>
            </a:pPr>
            <a:r>
              <a:rPr lang="en-US" sz="850" dirty="0">
                <a:solidFill>
                  <a:srgbClr val="DDDDDD"/>
                </a:solidFill>
                <a:latin typeface="Calibri" pitchFamily="34" charset="0"/>
                <a:ea typeface="Calibri" pitchFamily="34" charset="-122"/>
                <a:cs typeface="Calibri" pitchFamily="34" charset="-120"/>
              </a:rPr>
              <a:t>Bézier curves rasterized directly in the pixel shader — resolution-independent fonts and vector art on the GPU.</a:t>
            </a:r>
            <a:endParaRPr lang="en-US" sz="850" dirty="0"/>
          </a:p>
        </p:txBody>
      </p:sp>
      <p:sp>
        <p:nvSpPr>
          <p:cNvPr id="23" name="Shape 21"/>
          <p:cNvSpPr/>
          <p:nvPr/>
        </p:nvSpPr>
        <p:spPr>
          <a:xfrm>
            <a:off x="640080" y="4873752"/>
            <a:ext cx="6720840" cy="658368"/>
          </a:xfrm>
          <a:prstGeom prst="roundRect">
            <a:avLst>
              <a:gd name="adj" fmla="val 7639"/>
            </a:avLst>
          </a:prstGeom>
          <a:solidFill>
            <a:srgbClr val="14141D"/>
          </a:solidFill>
          <a:ln w="12700">
            <a:solidFill>
              <a:srgbClr val="2A2A38"/>
            </a:solidFill>
            <a:prstDash val="solid"/>
          </a:ln>
        </p:spPr>
      </p:sp>
      <p:sp>
        <p:nvSpPr>
          <p:cNvPr id="24" name="Text 22"/>
          <p:cNvSpPr/>
          <p:nvPr/>
        </p:nvSpPr>
        <p:spPr>
          <a:xfrm>
            <a:off x="896112" y="4937760"/>
            <a:ext cx="960120" cy="256032"/>
          </a:xfrm>
          <a:prstGeom prst="rect">
            <a:avLst/>
          </a:prstGeom>
          <a:noFill/>
          <a:ln/>
        </p:spPr>
        <p:txBody>
          <a:bodyPr wrap="square" lIns="0" tIns="0" rIns="0" bIns="0" rtlCol="0" anchor="ctr"/>
          <a:lstStyle/>
          <a:p>
            <a:pPr indent="0" marL="0">
              <a:buNone/>
            </a:pPr>
            <a:r>
              <a:rPr lang="en-US" sz="1200" b="1" dirty="0">
                <a:solidFill>
                  <a:srgbClr val="3CE8B2"/>
                </a:solidFill>
                <a:latin typeface="Courier New" pitchFamily="34" charset="0"/>
                <a:ea typeface="Courier New" pitchFamily="34" charset="-122"/>
                <a:cs typeface="Courier New" pitchFamily="34" charset="-120"/>
              </a:rPr>
              <a:t>2009–10</a:t>
            </a:r>
            <a:endParaRPr lang="en-US" sz="1200" dirty="0"/>
          </a:p>
        </p:txBody>
      </p:sp>
      <p:sp>
        <p:nvSpPr>
          <p:cNvPr id="25" name="Text 23"/>
          <p:cNvSpPr/>
          <p:nvPr/>
        </p:nvSpPr>
        <p:spPr>
          <a:xfrm>
            <a:off x="1901952" y="4937760"/>
            <a:ext cx="1965960" cy="512064"/>
          </a:xfrm>
          <a:prstGeom prst="rect">
            <a:avLst/>
          </a:prstGeom>
          <a:noFill/>
          <a:ln/>
        </p:spPr>
        <p:txBody>
          <a:bodyPr wrap="square" lIns="0" tIns="0" rIns="0" bIns="0" rtlCol="0" anchor="ctr"/>
          <a:lstStyle/>
          <a:p>
            <a:pPr indent="0" marL="0">
              <a:lnSpc>
                <a:spcPct val="98000"/>
              </a:lnSpc>
              <a:buNone/>
            </a:pPr>
            <a:r>
              <a:rPr lang="en-US" sz="1150" b="1" dirty="0">
                <a:solidFill>
                  <a:srgbClr val="FFFFFF"/>
                </a:solidFill>
                <a:latin typeface="Calibri" pitchFamily="34" charset="0"/>
                <a:ea typeface="Calibri" pitchFamily="34" charset="-122"/>
                <a:cs typeface="Calibri" pitchFamily="34" charset="-120"/>
              </a:rPr>
              <a:t>Direct3D 11 · OpenGL 4</a:t>
            </a:r>
            <a:endParaRPr lang="en-US" sz="1150" dirty="0"/>
          </a:p>
        </p:txBody>
      </p:sp>
      <p:sp>
        <p:nvSpPr>
          <p:cNvPr id="26" name="Text 24"/>
          <p:cNvSpPr/>
          <p:nvPr/>
        </p:nvSpPr>
        <p:spPr>
          <a:xfrm>
            <a:off x="3931920" y="4919472"/>
            <a:ext cx="3291840" cy="566928"/>
          </a:xfrm>
          <a:prstGeom prst="rect">
            <a:avLst/>
          </a:prstGeom>
          <a:noFill/>
          <a:ln/>
        </p:spPr>
        <p:txBody>
          <a:bodyPr wrap="square" lIns="0" tIns="0" rIns="0" bIns="0" rtlCol="0" anchor="ctr"/>
          <a:lstStyle/>
          <a:p>
            <a:pPr indent="0" marL="0">
              <a:lnSpc>
                <a:spcPct val="100000"/>
              </a:lnSpc>
              <a:buNone/>
            </a:pPr>
            <a:r>
              <a:rPr lang="en-US" sz="850" dirty="0">
                <a:solidFill>
                  <a:srgbClr val="DDDDDD"/>
                </a:solidFill>
                <a:latin typeface="Calibri" pitchFamily="34" charset="0"/>
                <a:ea typeface="Calibri" pitchFamily="34" charset="-122"/>
                <a:cs typeface="Calibri" pitchFamily="34" charset="-120"/>
              </a:rPr>
              <a:t>Tessellation becomes a standard stage: hull shader → fixed-function tessellator → domain shader.  The domain shader evaluates BernsteinBasis(u) per vertex.</a:t>
            </a:r>
            <a:endParaRPr lang="en-US" sz="850" dirty="0"/>
          </a:p>
        </p:txBody>
      </p:sp>
      <p:sp>
        <p:nvSpPr>
          <p:cNvPr id="27" name="Shape 25"/>
          <p:cNvSpPr/>
          <p:nvPr/>
        </p:nvSpPr>
        <p:spPr>
          <a:xfrm>
            <a:off x="7589520" y="1874520"/>
            <a:ext cx="3931920" cy="3703320"/>
          </a:xfrm>
          <a:prstGeom prst="roundRect">
            <a:avLst>
              <a:gd name="adj" fmla="val 1358"/>
            </a:avLst>
          </a:prstGeom>
          <a:solidFill>
            <a:srgbClr val="10151C"/>
          </a:solidFill>
          <a:ln w="12700">
            <a:solidFill>
              <a:srgbClr val="2A2A38"/>
            </a:solidFill>
            <a:prstDash val="solid"/>
          </a:ln>
        </p:spPr>
      </p:sp>
      <p:sp>
        <p:nvSpPr>
          <p:cNvPr id="28" name="Text 26"/>
          <p:cNvSpPr/>
          <p:nvPr/>
        </p:nvSpPr>
        <p:spPr>
          <a:xfrm>
            <a:off x="7863840" y="2029968"/>
            <a:ext cx="34747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WHERE THE PATCH LIVES NOW</a:t>
            </a:r>
            <a:endParaRPr lang="en-US" sz="1250" dirty="0"/>
          </a:p>
        </p:txBody>
      </p:sp>
      <p:sp>
        <p:nvSpPr>
          <p:cNvPr id="29" name="Shape 27"/>
          <p:cNvSpPr/>
          <p:nvPr/>
        </p:nvSpPr>
        <p:spPr>
          <a:xfrm>
            <a:off x="7863840" y="2377440"/>
            <a:ext cx="3383280" cy="548640"/>
          </a:xfrm>
          <a:prstGeom prst="roundRect">
            <a:avLst>
              <a:gd name="adj" fmla="val 9167"/>
            </a:avLst>
          </a:prstGeom>
          <a:solidFill>
            <a:srgbClr val="191924"/>
          </a:solidFill>
          <a:ln w="12700">
            <a:solidFill>
              <a:srgbClr val="2A2A38"/>
            </a:solidFill>
            <a:prstDash val="solid"/>
          </a:ln>
        </p:spPr>
      </p:sp>
      <p:sp>
        <p:nvSpPr>
          <p:cNvPr id="30" name="Text 28"/>
          <p:cNvSpPr/>
          <p:nvPr/>
        </p:nvSpPr>
        <p:spPr>
          <a:xfrm>
            <a:off x="8092440" y="2432304"/>
            <a:ext cx="2971800" cy="219456"/>
          </a:xfrm>
          <a:prstGeom prst="rect">
            <a:avLst/>
          </a:prstGeom>
          <a:noFill/>
          <a:ln/>
        </p:spPr>
        <p:txBody>
          <a:bodyPr wrap="square" lIns="0" tIns="0" rIns="0" bIns="0" rtlCol="0" anchor="ctr"/>
          <a:lstStyle/>
          <a:p>
            <a:pPr indent="0" marL="0">
              <a:buNone/>
            </a:pPr>
            <a:r>
              <a:rPr lang="en-US" sz="1100" b="1" dirty="0">
                <a:solidFill>
                  <a:srgbClr val="6AA6FF"/>
                </a:solidFill>
                <a:latin typeface="Courier New" pitchFamily="34" charset="0"/>
                <a:ea typeface="Courier New" pitchFamily="34" charset="-122"/>
                <a:cs typeface="Courier New" pitchFamily="34" charset="-120"/>
              </a:rPr>
              <a:t>HULL SHADER</a:t>
            </a:r>
            <a:endParaRPr lang="en-US" sz="1100" dirty="0"/>
          </a:p>
        </p:txBody>
      </p:sp>
      <p:sp>
        <p:nvSpPr>
          <p:cNvPr id="31" name="Text 29"/>
          <p:cNvSpPr/>
          <p:nvPr/>
        </p:nvSpPr>
        <p:spPr>
          <a:xfrm>
            <a:off x="8092440" y="2642616"/>
            <a:ext cx="2971800" cy="274320"/>
          </a:xfrm>
          <a:prstGeom prst="rect">
            <a:avLst/>
          </a:prstGeom>
          <a:noFill/>
          <a:ln/>
        </p:spPr>
        <p:txBody>
          <a:bodyPr wrap="square" lIns="0" tIns="0" rIns="0" bIns="0" rtlCol="0" anchor="ctr"/>
          <a:lstStyle/>
          <a:p>
            <a:pPr indent="0" marL="0">
              <a:lnSpc>
                <a:spcPct val="95000"/>
              </a:lnSpc>
              <a:buNone/>
            </a:pPr>
            <a:r>
              <a:rPr lang="en-US" sz="850" dirty="0">
                <a:solidFill>
                  <a:srgbClr val="DDDDDD"/>
                </a:solidFill>
                <a:latin typeface="Calibri" pitchFamily="34" charset="0"/>
                <a:ea typeface="Calibri" pitchFamily="34" charset="-122"/>
                <a:cs typeface="Calibri" pitchFamily="34" charset="-120"/>
              </a:rPr>
              <a:t>programmable — sets patch detail</a:t>
            </a:r>
            <a:endParaRPr lang="en-US" sz="850" dirty="0"/>
          </a:p>
        </p:txBody>
      </p:sp>
      <p:sp>
        <p:nvSpPr>
          <p:cNvPr id="32" name="Text 30"/>
          <p:cNvSpPr/>
          <p:nvPr/>
        </p:nvSpPr>
        <p:spPr>
          <a:xfrm>
            <a:off x="9436608" y="2907792"/>
            <a:ext cx="274320" cy="274320"/>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7863840" y="3172968"/>
            <a:ext cx="3383280" cy="548640"/>
          </a:xfrm>
          <a:prstGeom prst="roundRect">
            <a:avLst>
              <a:gd name="adj" fmla="val 9167"/>
            </a:avLst>
          </a:prstGeom>
          <a:solidFill>
            <a:srgbClr val="191924"/>
          </a:solidFill>
          <a:ln w="12700">
            <a:solidFill>
              <a:srgbClr val="2A2A38"/>
            </a:solidFill>
            <a:prstDash val="solid"/>
          </a:ln>
        </p:spPr>
      </p:sp>
      <p:sp>
        <p:nvSpPr>
          <p:cNvPr id="34" name="Text 32"/>
          <p:cNvSpPr/>
          <p:nvPr/>
        </p:nvSpPr>
        <p:spPr>
          <a:xfrm>
            <a:off x="8092440" y="3227832"/>
            <a:ext cx="2971800" cy="219456"/>
          </a:xfrm>
          <a:prstGeom prst="rect">
            <a:avLst/>
          </a:prstGeom>
          <a:noFill/>
          <a:ln/>
        </p:spPr>
        <p:txBody>
          <a:bodyPr wrap="square" lIns="0" tIns="0" rIns="0" bIns="0" rtlCol="0" anchor="ctr"/>
          <a:lstStyle/>
          <a:p>
            <a:pPr indent="0" marL="0">
              <a:buNone/>
            </a:pPr>
            <a:r>
              <a:rPr lang="en-US" sz="1100" b="1" dirty="0">
                <a:solidFill>
                  <a:srgbClr val="E8A832"/>
                </a:solidFill>
                <a:latin typeface="Courier New" pitchFamily="34" charset="0"/>
                <a:ea typeface="Courier New" pitchFamily="34" charset="-122"/>
                <a:cs typeface="Courier New" pitchFamily="34" charset="-120"/>
              </a:rPr>
              <a:t>TESSELLATOR</a:t>
            </a:r>
            <a:endParaRPr lang="en-US" sz="1100" dirty="0"/>
          </a:p>
        </p:txBody>
      </p:sp>
      <p:sp>
        <p:nvSpPr>
          <p:cNvPr id="35" name="Text 33"/>
          <p:cNvSpPr/>
          <p:nvPr/>
        </p:nvSpPr>
        <p:spPr>
          <a:xfrm>
            <a:off x="8092440" y="3438144"/>
            <a:ext cx="2971800" cy="274320"/>
          </a:xfrm>
          <a:prstGeom prst="rect">
            <a:avLst/>
          </a:prstGeom>
          <a:noFill/>
          <a:ln/>
        </p:spPr>
        <p:txBody>
          <a:bodyPr wrap="square" lIns="0" tIns="0" rIns="0" bIns="0" rtlCol="0" anchor="ctr"/>
          <a:lstStyle/>
          <a:p>
            <a:pPr indent="0" marL="0">
              <a:lnSpc>
                <a:spcPct val="95000"/>
              </a:lnSpc>
              <a:buNone/>
            </a:pPr>
            <a:r>
              <a:rPr lang="en-US" sz="850" dirty="0">
                <a:solidFill>
                  <a:srgbClr val="DDDDDD"/>
                </a:solidFill>
                <a:latin typeface="Calibri" pitchFamily="34" charset="0"/>
                <a:ea typeface="Calibri" pitchFamily="34" charset="-122"/>
                <a:cs typeface="Calibri" pitchFamily="34" charset="-120"/>
              </a:rPr>
              <a:t>FIXED FUNCTION — splits the patch</a:t>
            </a:r>
            <a:endParaRPr lang="en-US" sz="850" dirty="0"/>
          </a:p>
        </p:txBody>
      </p:sp>
      <p:sp>
        <p:nvSpPr>
          <p:cNvPr id="36" name="Text 34"/>
          <p:cNvSpPr/>
          <p:nvPr/>
        </p:nvSpPr>
        <p:spPr>
          <a:xfrm>
            <a:off x="9436608" y="3703320"/>
            <a:ext cx="274320" cy="274320"/>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7863840" y="3968496"/>
            <a:ext cx="3383280" cy="548640"/>
          </a:xfrm>
          <a:prstGeom prst="roundRect">
            <a:avLst>
              <a:gd name="adj" fmla="val 9167"/>
            </a:avLst>
          </a:prstGeom>
          <a:solidFill>
            <a:srgbClr val="191924"/>
          </a:solidFill>
          <a:ln w="12700">
            <a:solidFill>
              <a:srgbClr val="2A2A38"/>
            </a:solidFill>
            <a:prstDash val="solid"/>
          </a:ln>
        </p:spPr>
      </p:sp>
      <p:sp>
        <p:nvSpPr>
          <p:cNvPr id="38" name="Text 36"/>
          <p:cNvSpPr/>
          <p:nvPr/>
        </p:nvSpPr>
        <p:spPr>
          <a:xfrm>
            <a:off x="8092440" y="4023360"/>
            <a:ext cx="2971800" cy="219456"/>
          </a:xfrm>
          <a:prstGeom prst="rect">
            <a:avLst/>
          </a:prstGeom>
          <a:noFill/>
          <a:ln/>
        </p:spPr>
        <p:txBody>
          <a:bodyPr wrap="square" lIns="0" tIns="0" rIns="0" bIns="0" rtlCol="0" anchor="ctr"/>
          <a:lstStyle/>
          <a:p>
            <a:pPr indent="0" marL="0">
              <a:buNone/>
            </a:pPr>
            <a:r>
              <a:rPr lang="en-US" sz="1100" b="1" dirty="0">
                <a:solidFill>
                  <a:srgbClr val="3CE8B2"/>
                </a:solidFill>
                <a:latin typeface="Courier New" pitchFamily="34" charset="0"/>
                <a:ea typeface="Courier New" pitchFamily="34" charset="-122"/>
                <a:cs typeface="Courier New" pitchFamily="34" charset="-120"/>
              </a:rPr>
              <a:t>DOMAIN SHADER</a:t>
            </a:r>
            <a:endParaRPr lang="en-US" sz="1100" dirty="0"/>
          </a:p>
        </p:txBody>
      </p:sp>
      <p:sp>
        <p:nvSpPr>
          <p:cNvPr id="39" name="Text 37"/>
          <p:cNvSpPr/>
          <p:nvPr/>
        </p:nvSpPr>
        <p:spPr>
          <a:xfrm>
            <a:off x="8092440" y="4233672"/>
            <a:ext cx="2971800" cy="274320"/>
          </a:xfrm>
          <a:prstGeom prst="rect">
            <a:avLst/>
          </a:prstGeom>
          <a:noFill/>
          <a:ln/>
        </p:spPr>
        <p:txBody>
          <a:bodyPr wrap="square" lIns="0" tIns="0" rIns="0" bIns="0" rtlCol="0" anchor="ctr"/>
          <a:lstStyle/>
          <a:p>
            <a:pPr indent="0" marL="0">
              <a:lnSpc>
                <a:spcPct val="95000"/>
              </a:lnSpc>
              <a:buNone/>
            </a:pPr>
            <a:r>
              <a:rPr lang="en-US" sz="850" dirty="0">
                <a:solidFill>
                  <a:srgbClr val="DDDDDD"/>
                </a:solidFill>
                <a:latin typeface="Calibri" pitchFamily="34" charset="0"/>
                <a:ea typeface="Calibri" pitchFamily="34" charset="-122"/>
                <a:cs typeface="Calibri" pitchFamily="34" charset="-120"/>
              </a:rPr>
              <a:t>programmable — evaluates</a:t>
            </a:r>
            <a:endParaRPr lang="en-US" sz="850" dirty="0"/>
          </a:p>
          <a:p>
            <a:pPr indent="0" marL="0">
              <a:lnSpc>
                <a:spcPct val="95000"/>
              </a:lnSpc>
              <a:buNone/>
            </a:pPr>
            <a:r>
              <a:rPr lang="en-US" sz="850" dirty="0">
                <a:solidFill>
                  <a:srgbClr val="DDDDDD"/>
                </a:solidFill>
                <a:latin typeface="Calibri" pitchFamily="34" charset="0"/>
                <a:ea typeface="Calibri" pitchFamily="34" charset="-122"/>
                <a:cs typeface="Calibri" pitchFamily="34" charset="-120"/>
              </a:rPr>
              <a:t>BernsteinBasis(u, v) per vertex</a:t>
            </a:r>
            <a:endParaRPr lang="en-US" sz="850" dirty="0"/>
          </a:p>
        </p:txBody>
      </p:sp>
      <p:sp>
        <p:nvSpPr>
          <p:cNvPr id="40" name="Text 38"/>
          <p:cNvSpPr/>
          <p:nvPr/>
        </p:nvSpPr>
        <p:spPr>
          <a:xfrm>
            <a:off x="9436608" y="4498848"/>
            <a:ext cx="274320" cy="274320"/>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41" name="Shape 39"/>
          <p:cNvSpPr/>
          <p:nvPr/>
        </p:nvSpPr>
        <p:spPr>
          <a:xfrm>
            <a:off x="7863840" y="4764024"/>
            <a:ext cx="3383280" cy="548640"/>
          </a:xfrm>
          <a:prstGeom prst="roundRect">
            <a:avLst>
              <a:gd name="adj" fmla="val 9167"/>
            </a:avLst>
          </a:prstGeom>
          <a:solidFill>
            <a:srgbClr val="191924"/>
          </a:solidFill>
          <a:ln w="12700">
            <a:solidFill>
              <a:srgbClr val="2A2A38"/>
            </a:solidFill>
            <a:prstDash val="solid"/>
          </a:ln>
        </p:spPr>
      </p:sp>
      <p:sp>
        <p:nvSpPr>
          <p:cNvPr id="42" name="Text 40"/>
          <p:cNvSpPr/>
          <p:nvPr/>
        </p:nvSpPr>
        <p:spPr>
          <a:xfrm>
            <a:off x="8092440" y="4818888"/>
            <a:ext cx="2971800" cy="219456"/>
          </a:xfrm>
          <a:prstGeom prst="rect">
            <a:avLst/>
          </a:prstGeom>
          <a:noFill/>
          <a:ln/>
        </p:spPr>
        <p:txBody>
          <a:bodyPr wrap="square" lIns="0" tIns="0" rIns="0" bIns="0" rtlCol="0" anchor="ctr"/>
          <a:lstStyle/>
          <a:p>
            <a:pPr indent="0" marL="0">
              <a:buNone/>
            </a:pPr>
            <a:r>
              <a:rPr lang="en-US" sz="1100" b="1" dirty="0">
                <a:solidFill>
                  <a:srgbClr val="CCCCCC"/>
                </a:solidFill>
                <a:latin typeface="Courier New" pitchFamily="34" charset="0"/>
                <a:ea typeface="Courier New" pitchFamily="34" charset="-122"/>
                <a:cs typeface="Courier New" pitchFamily="34" charset="-120"/>
              </a:rPr>
              <a:t>RASTERIZER</a:t>
            </a:r>
            <a:endParaRPr lang="en-US" sz="1100" dirty="0"/>
          </a:p>
        </p:txBody>
      </p:sp>
      <p:sp>
        <p:nvSpPr>
          <p:cNvPr id="43" name="Text 41"/>
          <p:cNvSpPr/>
          <p:nvPr/>
        </p:nvSpPr>
        <p:spPr>
          <a:xfrm>
            <a:off x="8092440" y="5029200"/>
            <a:ext cx="2971800" cy="274320"/>
          </a:xfrm>
          <a:prstGeom prst="rect">
            <a:avLst/>
          </a:prstGeom>
          <a:noFill/>
          <a:ln/>
        </p:spPr>
        <p:txBody>
          <a:bodyPr wrap="square" lIns="0" tIns="0" rIns="0" bIns="0" rtlCol="0" anchor="ctr"/>
          <a:lstStyle/>
          <a:p>
            <a:pPr indent="0" marL="0">
              <a:lnSpc>
                <a:spcPct val="95000"/>
              </a:lnSpc>
              <a:buNone/>
            </a:pPr>
            <a:r>
              <a:rPr lang="en-US" sz="850" dirty="0">
                <a:solidFill>
                  <a:srgbClr val="DDDDDD"/>
                </a:solidFill>
                <a:latin typeface="Calibri" pitchFamily="34" charset="0"/>
                <a:ea typeface="Calibri" pitchFamily="34" charset="-122"/>
                <a:cs typeface="Calibri" pitchFamily="34" charset="-120"/>
              </a:rPr>
              <a:t>fixed function — triangles, as ever</a:t>
            </a:r>
            <a:endParaRPr lang="en-US" sz="850" dirty="0"/>
          </a:p>
        </p:txBody>
      </p:sp>
      <p:sp>
        <p:nvSpPr>
          <p:cNvPr id="44" name="Shape 42"/>
          <p:cNvSpPr/>
          <p:nvPr/>
        </p:nvSpPr>
        <p:spPr>
          <a:xfrm>
            <a:off x="640080" y="5760720"/>
            <a:ext cx="10881360" cy="685800"/>
          </a:xfrm>
          <a:prstGeom prst="roundRect">
            <a:avLst>
              <a:gd name="adj" fmla="val 7333"/>
            </a:avLst>
          </a:prstGeom>
          <a:solidFill>
            <a:srgbClr val="1A160C"/>
          </a:solidFill>
          <a:ln w="12700">
            <a:solidFill>
              <a:srgbClr val="2A2A38"/>
            </a:solidFill>
            <a:prstDash val="solid"/>
          </a:ln>
        </p:spPr>
      </p:sp>
      <p:sp>
        <p:nvSpPr>
          <p:cNvPr id="45" name="Text 43"/>
          <p:cNvSpPr/>
          <p:nvPr/>
        </p:nvSpPr>
        <p:spPr>
          <a:xfrm>
            <a:off x="914400" y="5852160"/>
            <a:ext cx="10332720" cy="530352"/>
          </a:xfrm>
          <a:prstGeom prst="rect">
            <a:avLst/>
          </a:prstGeom>
          <a:noFill/>
          <a:ln/>
        </p:spPr>
        <p:txBody>
          <a:bodyPr wrap="square" lIns="0" tIns="0" rIns="0" bIns="0" rtlCol="0" anchor="ctr"/>
          <a:lstStyle/>
          <a:p>
            <a:pPr indent="0" marL="0">
              <a:lnSpc>
                <a:spcPct val="105000"/>
              </a:lnSpc>
              <a:buNone/>
            </a:pPr>
            <a:r>
              <a:rPr lang="en-US" sz="1200" i="1" dirty="0">
                <a:solidFill>
                  <a:srgbClr val="E8A832"/>
                </a:solidFill>
                <a:latin typeface="Calibri" pitchFamily="34" charset="0"/>
                <a:ea typeface="Calibri" pitchFamily="34" charset="-122"/>
                <a:cs typeface="Calibri" pitchFamily="34" charset="-120"/>
              </a:rPr>
              <a:t>The NV1 was wrong by one pipeline stage, not wrong in kind: the triangle kept the rasterizer, and the curve got its own stage upstream.  Every modern pipeline evaluates Bernstein polynomials in hardware — the 1912 coin-flip weights, per vertex, per frame.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Two frozen units, one frame</a:t>
            </a:r>
            <a:endParaRPr lang="en-US" sz="2700" dirty="0"/>
          </a:p>
        </p:txBody>
      </p:sp>
      <p:sp>
        <p:nvSpPr>
          <p:cNvPr id="4" name="Shape 2"/>
          <p:cNvSpPr/>
          <p:nvPr/>
        </p:nvSpPr>
        <p:spPr>
          <a:xfrm>
            <a:off x="640080" y="1517904"/>
            <a:ext cx="6720840" cy="713232"/>
          </a:xfrm>
          <a:prstGeom prst="roundRect">
            <a:avLst>
              <a:gd name="adj" fmla="val 7051"/>
            </a:avLst>
          </a:prstGeom>
          <a:solidFill>
            <a:srgbClr val="14141D"/>
          </a:solidFill>
          <a:ln w="12700">
            <a:solidFill>
              <a:srgbClr val="2A2A38"/>
            </a:solidFill>
            <a:prstDash val="solid"/>
          </a:ln>
        </p:spPr>
      </p:sp>
      <p:sp>
        <p:nvSpPr>
          <p:cNvPr id="5" name="Text 3"/>
          <p:cNvSpPr/>
          <p:nvPr/>
        </p:nvSpPr>
        <p:spPr>
          <a:xfrm>
            <a:off x="896112" y="1609344"/>
            <a:ext cx="1874520" cy="274320"/>
          </a:xfrm>
          <a:prstGeom prst="rect">
            <a:avLst/>
          </a:prstGeom>
          <a:noFill/>
          <a:ln/>
        </p:spPr>
        <p:txBody>
          <a:bodyPr wrap="square" lIns="0" tIns="0" rIns="0" bIns="0" rtlCol="0" anchor="ctr"/>
          <a:lstStyle/>
          <a:p>
            <a:pPr indent="0" marL="0">
              <a:buNone/>
            </a:pPr>
            <a:r>
              <a:rPr lang="en-US" sz="1200" b="1" dirty="0">
                <a:solidFill>
                  <a:srgbClr val="6AA6FF"/>
                </a:solidFill>
                <a:latin typeface="Courier New" pitchFamily="34" charset="0"/>
                <a:ea typeface="Courier New" pitchFamily="34" charset="-122"/>
                <a:cs typeface="Courier New" pitchFamily="34" charset="-120"/>
              </a:rPr>
              <a:t>GENERAL CORES</a:t>
            </a:r>
            <a:endParaRPr lang="en-US" sz="1200" dirty="0"/>
          </a:p>
        </p:txBody>
      </p:sp>
      <p:sp>
        <p:nvSpPr>
          <p:cNvPr id="6" name="Text 4"/>
          <p:cNvSpPr/>
          <p:nvPr/>
        </p:nvSpPr>
        <p:spPr>
          <a:xfrm>
            <a:off x="2834640" y="1581912"/>
            <a:ext cx="4343400" cy="603504"/>
          </a:xfrm>
          <a:prstGeom prst="rect">
            <a:avLst/>
          </a:prstGeom>
          <a:noFill/>
          <a:ln/>
        </p:spPr>
        <p:txBody>
          <a:bodyPr wrap="square" lIns="0" tIns="0" rIns="0" bIns="0" rtlCol="0" anchor="ctr"/>
          <a:lstStyle/>
          <a:p>
            <a:pPr indent="0" marL="0">
              <a:lnSpc>
                <a:spcPct val="100000"/>
              </a:lnSpc>
              <a:buNone/>
            </a:pPr>
            <a:r>
              <a:rPr lang="en-US" sz="950" dirty="0">
                <a:solidFill>
                  <a:srgbClr val="DDDDDD"/>
                </a:solidFill>
                <a:latin typeface="Calibri" pitchFamily="34" charset="0"/>
                <a:ea typeface="Calibri" pitchFamily="34" charset="-122"/>
                <a:cs typeface="Calibri" pitchFamily="34" charset="-120"/>
              </a:rPr>
              <a:t>The game’s shader casts rays — only a few per pixel.  A full path trace would blow the ~16 ms frame budget many times over.</a:t>
            </a:r>
            <a:endParaRPr lang="en-US" sz="950" dirty="0"/>
          </a:p>
        </p:txBody>
      </p:sp>
      <p:sp>
        <p:nvSpPr>
          <p:cNvPr id="7" name="Text 5"/>
          <p:cNvSpPr/>
          <p:nvPr/>
        </p:nvSpPr>
        <p:spPr>
          <a:xfrm>
            <a:off x="1600200" y="2194560"/>
            <a:ext cx="274320" cy="219456"/>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8" name="Shape 6"/>
          <p:cNvSpPr/>
          <p:nvPr/>
        </p:nvSpPr>
        <p:spPr>
          <a:xfrm>
            <a:off x="640080" y="2377440"/>
            <a:ext cx="6720840" cy="713232"/>
          </a:xfrm>
          <a:prstGeom prst="roundRect">
            <a:avLst>
              <a:gd name="adj" fmla="val 7051"/>
            </a:avLst>
          </a:prstGeom>
          <a:solidFill>
            <a:srgbClr val="14141D"/>
          </a:solidFill>
          <a:ln w="12700">
            <a:solidFill>
              <a:srgbClr val="2A2A38"/>
            </a:solidFill>
            <a:prstDash val="solid"/>
          </a:ln>
        </p:spPr>
      </p:sp>
      <p:sp>
        <p:nvSpPr>
          <p:cNvPr id="9" name="Text 7"/>
          <p:cNvSpPr/>
          <p:nvPr/>
        </p:nvSpPr>
        <p:spPr>
          <a:xfrm>
            <a:off x="896112" y="2468880"/>
            <a:ext cx="1874520" cy="274320"/>
          </a:xfrm>
          <a:prstGeom prst="rect">
            <a:avLst/>
          </a:prstGeom>
          <a:noFill/>
          <a:ln/>
        </p:spPr>
        <p:txBody>
          <a:bodyPr wrap="square" lIns="0" tIns="0" rIns="0" bIns="0" rtlCol="0" anchor="ctr"/>
          <a:lstStyle/>
          <a:p>
            <a:pPr indent="0" marL="0">
              <a:buNone/>
            </a:pPr>
            <a:r>
              <a:rPr lang="en-US" sz="1200" b="1" dirty="0">
                <a:solidFill>
                  <a:srgbClr val="3CE8B2"/>
                </a:solidFill>
                <a:latin typeface="Courier New" pitchFamily="34" charset="0"/>
                <a:ea typeface="Courier New" pitchFamily="34" charset="-122"/>
                <a:cs typeface="Courier New" pitchFamily="34" charset="-120"/>
              </a:rPr>
              <a:t>RT CORES</a:t>
            </a:r>
            <a:endParaRPr lang="en-US" sz="1200" dirty="0"/>
          </a:p>
        </p:txBody>
      </p:sp>
      <p:sp>
        <p:nvSpPr>
          <p:cNvPr id="10" name="Text 8"/>
          <p:cNvSpPr/>
          <p:nvPr/>
        </p:nvSpPr>
        <p:spPr>
          <a:xfrm>
            <a:off x="2834640" y="2441448"/>
            <a:ext cx="4343400" cy="603504"/>
          </a:xfrm>
          <a:prstGeom prst="rect">
            <a:avLst/>
          </a:prstGeom>
          <a:noFill/>
          <a:ln/>
        </p:spPr>
        <p:txBody>
          <a:bodyPr wrap="square" lIns="0" tIns="0" rIns="0" bIns="0" rtlCol="0" anchor="ctr"/>
          <a:lstStyle/>
          <a:p>
            <a:pPr indent="0" marL="0">
              <a:lnSpc>
                <a:spcPct val="100000"/>
              </a:lnSpc>
              <a:buNone/>
            </a:pPr>
            <a:r>
              <a:rPr lang="en-US" sz="950" dirty="0">
                <a:solidFill>
                  <a:srgbClr val="DDDDDD"/>
                </a:solidFill>
                <a:latin typeface="Calibri" pitchFamily="34" charset="0"/>
                <a:ea typeface="Calibri" pitchFamily="34" charset="-122"/>
                <a:cs typeface="Calibri" pitchFamily="34" charset="-120"/>
              </a:rPr>
              <a:t>Per ray: walk the BVH, solve the ray–triangle system → where the light lands.  Millions of hit points per frame, in fixed-function silicon.</a:t>
            </a:r>
            <a:endParaRPr lang="en-US" sz="950" dirty="0"/>
          </a:p>
        </p:txBody>
      </p:sp>
      <p:sp>
        <p:nvSpPr>
          <p:cNvPr id="11" name="Text 9"/>
          <p:cNvSpPr/>
          <p:nvPr/>
        </p:nvSpPr>
        <p:spPr>
          <a:xfrm>
            <a:off x="1600200" y="3054096"/>
            <a:ext cx="274320" cy="219456"/>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640080" y="3236976"/>
            <a:ext cx="6720840" cy="713232"/>
          </a:xfrm>
          <a:prstGeom prst="roundRect">
            <a:avLst>
              <a:gd name="adj" fmla="val 7051"/>
            </a:avLst>
          </a:prstGeom>
          <a:solidFill>
            <a:srgbClr val="14141D"/>
          </a:solidFill>
          <a:ln w="12700">
            <a:solidFill>
              <a:srgbClr val="2A2A38"/>
            </a:solidFill>
            <a:prstDash val="solid"/>
          </a:ln>
        </p:spPr>
      </p:sp>
      <p:sp>
        <p:nvSpPr>
          <p:cNvPr id="13" name="Text 11"/>
          <p:cNvSpPr/>
          <p:nvPr/>
        </p:nvSpPr>
        <p:spPr>
          <a:xfrm>
            <a:off x="896112" y="3328416"/>
            <a:ext cx="1874520" cy="274320"/>
          </a:xfrm>
          <a:prstGeom prst="rect">
            <a:avLst/>
          </a:prstGeom>
          <a:noFill/>
          <a:ln/>
        </p:spPr>
        <p:txBody>
          <a:bodyPr wrap="square" lIns="0" tIns="0" rIns="0" bIns="0" rtlCol="0" anchor="ctr"/>
          <a:lstStyle/>
          <a:p>
            <a:pPr indent="0" marL="0">
              <a:buNone/>
            </a:pPr>
            <a:r>
              <a:rPr lang="en-US" sz="1200" b="1" dirty="0">
                <a:solidFill>
                  <a:srgbClr val="6AA6FF"/>
                </a:solidFill>
                <a:latin typeface="Courier New" pitchFamily="34" charset="0"/>
                <a:ea typeface="Courier New" pitchFamily="34" charset="-122"/>
                <a:cs typeface="Courier New" pitchFamily="34" charset="-120"/>
              </a:rPr>
              <a:t>GENERAL CORES</a:t>
            </a:r>
            <a:endParaRPr lang="en-US" sz="1200" dirty="0"/>
          </a:p>
        </p:txBody>
      </p:sp>
      <p:sp>
        <p:nvSpPr>
          <p:cNvPr id="14" name="Text 12"/>
          <p:cNvSpPr/>
          <p:nvPr/>
        </p:nvSpPr>
        <p:spPr>
          <a:xfrm>
            <a:off x="2834640" y="3300984"/>
            <a:ext cx="4343400" cy="603504"/>
          </a:xfrm>
          <a:prstGeom prst="rect">
            <a:avLst/>
          </a:prstGeom>
          <a:noFill/>
          <a:ln/>
        </p:spPr>
        <p:txBody>
          <a:bodyPr wrap="square" lIns="0" tIns="0" rIns="0" bIns="0" rtlCol="0" anchor="ctr"/>
          <a:lstStyle/>
          <a:p>
            <a:pPr indent="0" marL="0">
              <a:lnSpc>
                <a:spcPct val="100000"/>
              </a:lnSpc>
              <a:buNone/>
            </a:pPr>
            <a:r>
              <a:rPr lang="en-US" sz="950" dirty="0">
                <a:solidFill>
                  <a:srgbClr val="DDDDDD"/>
                </a:solidFill>
                <a:latin typeface="Calibri" pitchFamily="34" charset="0"/>
                <a:ea typeface="Calibri" pitchFamily="34" charset="-122"/>
                <a:cs typeface="Calibri" pitchFamily="34" charset="-120"/>
              </a:rPr>
              <a:t>Shade the hits — materials, lights, bounces.  The result is honest but NOISY and low-resolution: truth, sparsely sampled.</a:t>
            </a:r>
            <a:endParaRPr lang="en-US" sz="950" dirty="0"/>
          </a:p>
        </p:txBody>
      </p:sp>
      <p:sp>
        <p:nvSpPr>
          <p:cNvPr id="15" name="Text 13"/>
          <p:cNvSpPr/>
          <p:nvPr/>
        </p:nvSpPr>
        <p:spPr>
          <a:xfrm>
            <a:off x="1600200" y="3913632"/>
            <a:ext cx="274320" cy="219456"/>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640080" y="4096512"/>
            <a:ext cx="6720840" cy="713232"/>
          </a:xfrm>
          <a:prstGeom prst="roundRect">
            <a:avLst>
              <a:gd name="adj" fmla="val 7051"/>
            </a:avLst>
          </a:prstGeom>
          <a:solidFill>
            <a:srgbClr val="14141D"/>
          </a:solidFill>
          <a:ln w="12700">
            <a:solidFill>
              <a:srgbClr val="2A2A38"/>
            </a:solidFill>
            <a:prstDash val="solid"/>
          </a:ln>
        </p:spPr>
      </p:sp>
      <p:sp>
        <p:nvSpPr>
          <p:cNvPr id="17" name="Text 15"/>
          <p:cNvSpPr/>
          <p:nvPr/>
        </p:nvSpPr>
        <p:spPr>
          <a:xfrm>
            <a:off x="896112" y="4187952"/>
            <a:ext cx="187452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TENSOR CORES</a:t>
            </a:r>
            <a:endParaRPr lang="en-US" sz="1200" dirty="0"/>
          </a:p>
        </p:txBody>
      </p:sp>
      <p:sp>
        <p:nvSpPr>
          <p:cNvPr id="18" name="Text 16"/>
          <p:cNvSpPr/>
          <p:nvPr/>
        </p:nvSpPr>
        <p:spPr>
          <a:xfrm>
            <a:off x="2834640" y="4160520"/>
            <a:ext cx="4343400" cy="603504"/>
          </a:xfrm>
          <a:prstGeom prst="rect">
            <a:avLst/>
          </a:prstGeom>
          <a:noFill/>
          <a:ln/>
        </p:spPr>
        <p:txBody>
          <a:bodyPr wrap="square" lIns="0" tIns="0" rIns="0" bIns="0" rtlCol="0" anchor="ctr"/>
          <a:lstStyle/>
          <a:p>
            <a:pPr indent="0" marL="0">
              <a:lnSpc>
                <a:spcPct val="100000"/>
              </a:lnSpc>
              <a:buNone/>
            </a:pPr>
            <a:r>
              <a:rPr lang="en-US" sz="950" dirty="0">
                <a:solidFill>
                  <a:srgbClr val="DDDDDD"/>
                </a:solidFill>
                <a:latin typeface="Calibri" pitchFamily="34" charset="0"/>
                <a:ea typeface="Calibri" pitchFamily="34" charset="-122"/>
                <a:cs typeface="Calibri" pitchFamily="34" charset="-120"/>
              </a:rPr>
              <a:t>Neural denoise + upscale (DLSS).  Inference is matrix multiplies — the network reconstructs the pixels and rays that were never cast.</a:t>
            </a:r>
            <a:endParaRPr lang="en-US" sz="950" dirty="0"/>
          </a:p>
        </p:txBody>
      </p:sp>
      <p:sp>
        <p:nvSpPr>
          <p:cNvPr id="19" name="Text 17"/>
          <p:cNvSpPr/>
          <p:nvPr/>
        </p:nvSpPr>
        <p:spPr>
          <a:xfrm>
            <a:off x="1600200" y="4773168"/>
            <a:ext cx="274320" cy="219456"/>
          </a:xfrm>
          <a:prstGeom prst="rect">
            <a:avLst/>
          </a:prstGeom>
          <a:noFill/>
          <a:ln/>
        </p:spPr>
        <p:txBody>
          <a:bodyPr wrap="square" lIns="0" tIns="0" rIns="0" bIns="0" rtlCol="0" anchor="ctr"/>
          <a:lstStyle/>
          <a:p>
            <a:pPr algn="ctr" indent="0" marL="0">
              <a:buNone/>
            </a:pPr>
            <a:r>
              <a:rPr lang="en-US" sz="1000" dirty="0">
                <a:solidFill>
                  <a:srgbClr val="CCCCCC"/>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640080" y="4956048"/>
            <a:ext cx="6720840" cy="713232"/>
          </a:xfrm>
          <a:prstGeom prst="roundRect">
            <a:avLst>
              <a:gd name="adj" fmla="val 7051"/>
            </a:avLst>
          </a:prstGeom>
          <a:solidFill>
            <a:srgbClr val="191924"/>
          </a:solidFill>
          <a:ln w="12700">
            <a:solidFill>
              <a:srgbClr val="2A2A38"/>
            </a:solidFill>
            <a:prstDash val="solid"/>
          </a:ln>
        </p:spPr>
      </p:sp>
      <p:sp>
        <p:nvSpPr>
          <p:cNvPr id="21" name="Text 19"/>
          <p:cNvSpPr/>
          <p:nvPr/>
        </p:nvSpPr>
        <p:spPr>
          <a:xfrm>
            <a:off x="896112" y="5047488"/>
            <a:ext cx="1874520" cy="274320"/>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DISPLAYED FRAME</a:t>
            </a:r>
            <a:endParaRPr lang="en-US" sz="1200" dirty="0"/>
          </a:p>
        </p:txBody>
      </p:sp>
      <p:sp>
        <p:nvSpPr>
          <p:cNvPr id="22" name="Text 20"/>
          <p:cNvSpPr/>
          <p:nvPr/>
        </p:nvSpPr>
        <p:spPr>
          <a:xfrm>
            <a:off x="2834640" y="5020056"/>
            <a:ext cx="4343400" cy="603504"/>
          </a:xfrm>
          <a:prstGeom prst="rect">
            <a:avLst/>
          </a:prstGeom>
          <a:noFill/>
          <a:ln/>
        </p:spPr>
        <p:txBody>
          <a:bodyPr wrap="square" lIns="0" tIns="0" rIns="0" bIns="0" rtlCol="0" anchor="ctr"/>
          <a:lstStyle/>
          <a:p>
            <a:pPr indent="0" marL="0">
              <a:lnSpc>
                <a:spcPct val="100000"/>
              </a:lnSpc>
              <a:buNone/>
            </a:pPr>
            <a:r>
              <a:rPr lang="en-US" sz="950" dirty="0">
                <a:solidFill>
                  <a:srgbClr val="DDDDDD"/>
                </a:solidFill>
                <a:latin typeface="Calibri" pitchFamily="34" charset="0"/>
                <a:ea typeface="Calibri" pitchFamily="34" charset="-122"/>
                <a:cs typeface="Calibri" pitchFamily="34" charset="-120"/>
              </a:rPr>
              <a:t>Film-quality light at game frame rates.  Neither unit could deliver it alone.</a:t>
            </a:r>
            <a:endParaRPr lang="en-US" sz="950" dirty="0"/>
          </a:p>
        </p:txBody>
      </p:sp>
      <p:sp>
        <p:nvSpPr>
          <p:cNvPr id="23" name="Shape 21"/>
          <p:cNvSpPr/>
          <p:nvPr/>
        </p:nvSpPr>
        <p:spPr>
          <a:xfrm>
            <a:off x="7589520" y="1517904"/>
            <a:ext cx="3931920" cy="2011680"/>
          </a:xfrm>
          <a:prstGeom prst="roundRect">
            <a:avLst>
              <a:gd name="adj" fmla="val 2500"/>
            </a:avLst>
          </a:prstGeom>
          <a:solidFill>
            <a:srgbClr val="14141D"/>
          </a:solidFill>
          <a:ln w="12700">
            <a:solidFill>
              <a:srgbClr val="2A2A38"/>
            </a:solidFill>
            <a:prstDash val="solid"/>
          </a:ln>
        </p:spPr>
      </p:sp>
      <p:sp>
        <p:nvSpPr>
          <p:cNvPr id="24" name="Text 22"/>
          <p:cNvSpPr/>
          <p:nvPr/>
        </p:nvSpPr>
        <p:spPr>
          <a:xfrm>
            <a:off x="7863840" y="1682496"/>
            <a:ext cx="34747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WHY A NETWORK, NOT MORE RAYS</a:t>
            </a:r>
            <a:endParaRPr lang="en-US" sz="1250" dirty="0"/>
          </a:p>
        </p:txBody>
      </p:sp>
      <p:sp>
        <p:nvSpPr>
          <p:cNvPr id="25" name="Text 23"/>
          <p:cNvSpPr/>
          <p:nvPr/>
        </p:nvSpPr>
        <p:spPr>
          <a:xfrm>
            <a:off x="7863840" y="1993392"/>
            <a:ext cx="3429000" cy="1463040"/>
          </a:xfrm>
          <a:prstGeom prst="rect">
            <a:avLst/>
          </a:prstGeom>
          <a:noFill/>
          <a:ln/>
        </p:spPr>
        <p:txBody>
          <a:bodyPr wrap="square" lIns="0" tIns="0" rIns="0" bIns="0" rtlCol="0" anchor="ctr"/>
          <a:lstStyle/>
          <a:p>
            <a:pPr indent="0" marL="0">
              <a:lnSpc>
                <a:spcPct val="108000"/>
              </a:lnSpc>
              <a:buNone/>
            </a:pPr>
            <a:r>
              <a:rPr lang="en-US" sz="1050" dirty="0">
                <a:solidFill>
                  <a:srgbClr val="DDDDDD"/>
                </a:solidFill>
                <a:latin typeface="Calibri" pitchFamily="34" charset="0"/>
                <a:ea typeface="Calibri" pitchFamily="34" charset="-122"/>
                <a:cs typeface="Calibri" pitchFamily="34" charset="-120"/>
              </a:rPr>
              <a:t>Every extra ray costs as much as the last one.  Reconstruction costs a fixed inference budget, on silicon that would otherwise sit idle.  Casting few rays and inferring the rest beats casting enough — the economics chose this architecture.  Lesson 5’s dial, applied to light.</a:t>
            </a:r>
            <a:endParaRPr lang="en-US" sz="1050" dirty="0"/>
          </a:p>
        </p:txBody>
      </p:sp>
      <p:sp>
        <p:nvSpPr>
          <p:cNvPr id="26" name="Shape 24"/>
          <p:cNvSpPr/>
          <p:nvPr/>
        </p:nvSpPr>
        <p:spPr>
          <a:xfrm>
            <a:off x="7589520" y="3675888"/>
            <a:ext cx="3931920" cy="2011680"/>
          </a:xfrm>
          <a:prstGeom prst="roundRect">
            <a:avLst>
              <a:gd name="adj" fmla="val 2500"/>
            </a:avLst>
          </a:prstGeom>
          <a:solidFill>
            <a:srgbClr val="14141D"/>
          </a:solidFill>
          <a:ln w="12700">
            <a:solidFill>
              <a:srgbClr val="2A2A38"/>
            </a:solidFill>
            <a:prstDash val="solid"/>
          </a:ln>
        </p:spPr>
      </p:sp>
      <p:sp>
        <p:nvSpPr>
          <p:cNvPr id="27" name="Text 25"/>
          <p:cNvSpPr/>
          <p:nvPr/>
        </p:nvSpPr>
        <p:spPr>
          <a:xfrm>
            <a:off x="7863840" y="3840480"/>
            <a:ext cx="347472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DEPENDENCY RUNS BOTH WAYS</a:t>
            </a:r>
            <a:endParaRPr lang="en-US" sz="1250" dirty="0"/>
          </a:p>
        </p:txBody>
      </p:sp>
      <p:sp>
        <p:nvSpPr>
          <p:cNvPr id="28" name="Text 26"/>
          <p:cNvSpPr/>
          <p:nvPr/>
        </p:nvSpPr>
        <p:spPr>
          <a:xfrm>
            <a:off x="7863840" y="4151376"/>
            <a:ext cx="3429000" cy="1463040"/>
          </a:xfrm>
          <a:prstGeom prst="rect">
            <a:avLst/>
          </a:prstGeom>
          <a:noFill/>
          <a:ln/>
        </p:spPr>
        <p:txBody>
          <a:bodyPr wrap="square" lIns="0" tIns="0" rIns="0" bIns="0" rtlCol="0" anchor="ctr"/>
          <a:lstStyle/>
          <a:p>
            <a:pPr indent="0" marL="0">
              <a:lnSpc>
                <a:spcPct val="108000"/>
              </a:lnSpc>
              <a:buNone/>
            </a:pPr>
            <a:r>
              <a:rPr lang="en-US" sz="1050" dirty="0">
                <a:solidFill>
                  <a:srgbClr val="DDDDDD"/>
                </a:solidFill>
                <a:latin typeface="Calibri" pitchFamily="34" charset="0"/>
                <a:ea typeface="Calibri" pitchFamily="34" charset="-122"/>
                <a:cs typeface="Calibri" pitchFamily="34" charset="-120"/>
              </a:rPr>
              <a:t>The RT core’s output is exactly what the network needs — sparse, honest samples of the light field.  The network is exactly what the RT core needs — a way to be affordable in real time.  Neither frozen unit could ship real-time ray tracing alone.</a:t>
            </a:r>
            <a:endParaRPr lang="en-US" sz="1050" dirty="0"/>
          </a:p>
        </p:txBody>
      </p:sp>
      <p:sp>
        <p:nvSpPr>
          <p:cNvPr id="29" name="Shape 27"/>
          <p:cNvSpPr/>
          <p:nvPr/>
        </p:nvSpPr>
        <p:spPr>
          <a:xfrm>
            <a:off x="640080" y="5870448"/>
            <a:ext cx="10881360" cy="658368"/>
          </a:xfrm>
          <a:prstGeom prst="roundRect">
            <a:avLst>
              <a:gd name="adj" fmla="val 7639"/>
            </a:avLst>
          </a:prstGeom>
          <a:solidFill>
            <a:srgbClr val="1A160C"/>
          </a:solidFill>
          <a:ln w="12700">
            <a:solidFill>
              <a:srgbClr val="2A2A38"/>
            </a:solidFill>
            <a:prstDash val="solid"/>
          </a:ln>
        </p:spPr>
      </p:sp>
      <p:sp>
        <p:nvSpPr>
          <p:cNvPr id="30" name="Text 28"/>
          <p:cNvSpPr/>
          <p:nvPr/>
        </p:nvSpPr>
        <p:spPr>
          <a:xfrm>
            <a:off x="914400" y="5989320"/>
            <a:ext cx="10332720" cy="457200"/>
          </a:xfrm>
          <a:prstGeom prst="rect">
            <a:avLst/>
          </a:prstGeom>
          <a:noFill/>
          <a:ln/>
        </p:spPr>
        <p:txBody>
          <a:bodyPr wrap="square" lIns="0" tIns="0" rIns="0" bIns="0" rtlCol="0" anchor="ctr"/>
          <a:lstStyle/>
          <a:p>
            <a:pPr indent="0" marL="0">
              <a:buNone/>
            </a:pPr>
            <a:r>
              <a:rPr lang="en-US" sz="1300" i="1" dirty="0">
                <a:solidFill>
                  <a:srgbClr val="E8A832"/>
                </a:solidFill>
                <a:latin typeface="Calibri" pitchFamily="34" charset="0"/>
                <a:ea typeface="Calibri" pitchFamily="34" charset="-122"/>
                <a:cs typeface="Calibri" pitchFamily="34" charset="-120"/>
              </a:rPr>
              <a:t>The operation that left home to serve compute came back to serve the pictures — graphics now consumes the AI silicon.  The frozen units do not just coexist; they feed each other.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8 · THE PENDULUM</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pendulum settles into a mixture</a:t>
            </a:r>
            <a:endParaRPr lang="en-US" sz="2700" dirty="0"/>
          </a:p>
        </p:txBody>
      </p:sp>
      <p:sp>
        <p:nvSpPr>
          <p:cNvPr id="4" name="Shape 2"/>
          <p:cNvSpPr/>
          <p:nvPr/>
        </p:nvSpPr>
        <p:spPr>
          <a:xfrm>
            <a:off x="640080" y="1600200"/>
            <a:ext cx="10881360" cy="3017520"/>
          </a:xfrm>
          <a:prstGeom prst="roundRect">
            <a:avLst>
              <a:gd name="adj" fmla="val 1667"/>
            </a:avLst>
          </a:prstGeom>
          <a:solidFill>
            <a:srgbClr val="14141D"/>
          </a:solidFill>
          <a:ln w="12700">
            <a:solidFill>
              <a:srgbClr val="2A2A38"/>
            </a:solidFill>
            <a:prstDash val="solid"/>
          </a:ln>
        </p:spPr>
      </p:sp>
      <p:sp>
        <p:nvSpPr>
          <p:cNvPr id="5" name="Text 3"/>
          <p:cNvSpPr/>
          <p:nvPr/>
        </p:nvSpPr>
        <p:spPr>
          <a:xfrm>
            <a:off x="914400" y="1810512"/>
            <a:ext cx="5486400" cy="274320"/>
          </a:xfrm>
          <a:prstGeom prst="rect">
            <a:avLst/>
          </a:prstGeom>
          <a:noFill/>
          <a:ln/>
        </p:spPr>
        <p:txBody>
          <a:bodyPr wrap="square" lIns="0" tIns="0" rIns="0" bIns="0" rtlCol="0" anchor="ctr"/>
          <a:lstStyle/>
          <a:p>
            <a:pPr indent="0" marL="0">
              <a:buNone/>
            </a:pPr>
            <a:r>
              <a:rPr lang="en-US" sz="1250" b="1" dirty="0">
                <a:solidFill>
                  <a:srgbClr val="CCCCCC"/>
                </a:solidFill>
                <a:latin typeface="Courier New" pitchFamily="34" charset="0"/>
                <a:ea typeface="Courier New" pitchFamily="34" charset="-122"/>
                <a:cs typeface="Courier New" pitchFamily="34" charset="-120"/>
              </a:rPr>
              <a:t>ONE MODERN GPU CORE (SM)</a:t>
            </a:r>
            <a:endParaRPr lang="en-US" sz="1250" dirty="0"/>
          </a:p>
        </p:txBody>
      </p:sp>
      <p:sp>
        <p:nvSpPr>
          <p:cNvPr id="6" name="Shape 4"/>
          <p:cNvSpPr/>
          <p:nvPr/>
        </p:nvSpPr>
        <p:spPr>
          <a:xfrm>
            <a:off x="914400" y="2240280"/>
            <a:ext cx="3291840" cy="2103120"/>
          </a:xfrm>
          <a:prstGeom prst="roundRect">
            <a:avLst>
              <a:gd name="adj" fmla="val 2391"/>
            </a:avLst>
          </a:prstGeom>
          <a:solidFill>
            <a:srgbClr val="191924"/>
          </a:solidFill>
          <a:ln w="12700">
            <a:solidFill>
              <a:srgbClr val="2A2A38"/>
            </a:solidFill>
            <a:prstDash val="solid"/>
          </a:ln>
        </p:spPr>
      </p:sp>
      <p:sp>
        <p:nvSpPr>
          <p:cNvPr id="7" name="Text 5"/>
          <p:cNvSpPr/>
          <p:nvPr/>
        </p:nvSpPr>
        <p:spPr>
          <a:xfrm>
            <a:off x="1152144" y="2468880"/>
            <a:ext cx="2834640" cy="292608"/>
          </a:xfrm>
          <a:prstGeom prst="rect">
            <a:avLst/>
          </a:prstGeom>
          <a:noFill/>
          <a:ln/>
        </p:spPr>
        <p:txBody>
          <a:bodyPr wrap="square" lIns="0" tIns="0" rIns="0" bIns="0" rtlCol="0" anchor="ctr"/>
          <a:lstStyle/>
          <a:p>
            <a:pPr indent="0" marL="0">
              <a:buNone/>
            </a:pPr>
            <a:r>
              <a:rPr lang="en-US" sz="1400" b="1" dirty="0">
                <a:solidFill>
                  <a:srgbClr val="6AA6FF"/>
                </a:solidFill>
                <a:latin typeface="Courier New" pitchFamily="34" charset="0"/>
                <a:ea typeface="Courier New" pitchFamily="34" charset="-122"/>
                <a:cs typeface="Courier New" pitchFamily="34" charset="-120"/>
              </a:rPr>
              <a:t>GENERAL CORES</a:t>
            </a:r>
            <a:endParaRPr lang="en-US" sz="1400" dirty="0"/>
          </a:p>
        </p:txBody>
      </p:sp>
      <p:sp>
        <p:nvSpPr>
          <p:cNvPr id="8" name="Text 6"/>
          <p:cNvSpPr/>
          <p:nvPr/>
        </p:nvSpPr>
        <p:spPr>
          <a:xfrm>
            <a:off x="1152144" y="2834640"/>
            <a:ext cx="2834640" cy="1371600"/>
          </a:xfrm>
          <a:prstGeom prst="rect">
            <a:avLst/>
          </a:prstGeom>
          <a:noFill/>
          <a:ln/>
        </p:spPr>
        <p:txBody>
          <a:bodyPr wrap="square" lIns="0" tIns="0" rIns="0" bIns="0" rtlCol="0" anchor="ctr"/>
          <a:lstStyle/>
          <a:p>
            <a:pPr indent="0" marL="0">
              <a:lnSpc>
                <a:spcPct val="112000"/>
              </a:lnSpc>
              <a:buNone/>
            </a:pPr>
            <a:r>
              <a:rPr lang="en-US" sz="1250" dirty="0">
                <a:solidFill>
                  <a:srgbClr val="DDDDDD"/>
                </a:solidFill>
                <a:latin typeface="Calibri" pitchFamily="34" charset="0"/>
                <a:ea typeface="Calibri" pitchFamily="34" charset="-122"/>
                <a:cs typeface="Calibri" pitchFamily="34" charset="-120"/>
              </a:rPr>
              <a:t>The shader-and-CUDA inheritance.  Stay because new workloads keep arriving and something has to run them.</a:t>
            </a:r>
            <a:endParaRPr lang="en-US" sz="1250" dirty="0"/>
          </a:p>
        </p:txBody>
      </p:sp>
      <p:sp>
        <p:nvSpPr>
          <p:cNvPr id="9" name="Shape 7"/>
          <p:cNvSpPr/>
          <p:nvPr/>
        </p:nvSpPr>
        <p:spPr>
          <a:xfrm>
            <a:off x="4434840" y="2240280"/>
            <a:ext cx="3291840" cy="2103120"/>
          </a:xfrm>
          <a:prstGeom prst="roundRect">
            <a:avLst>
              <a:gd name="adj" fmla="val 2391"/>
            </a:avLst>
          </a:prstGeom>
          <a:solidFill>
            <a:srgbClr val="191924"/>
          </a:solidFill>
          <a:ln w="12700">
            <a:solidFill>
              <a:srgbClr val="2A2A38"/>
            </a:solidFill>
            <a:prstDash val="solid"/>
          </a:ln>
        </p:spPr>
      </p:sp>
      <p:sp>
        <p:nvSpPr>
          <p:cNvPr id="10" name="Text 8"/>
          <p:cNvSpPr/>
          <p:nvPr/>
        </p:nvSpPr>
        <p:spPr>
          <a:xfrm>
            <a:off x="4672584" y="2468880"/>
            <a:ext cx="2834640" cy="292608"/>
          </a:xfrm>
          <a:prstGeom prst="rect">
            <a:avLst/>
          </a:prstGeom>
          <a:noFill/>
          <a:ln/>
        </p:spPr>
        <p:txBody>
          <a:bodyPr wrap="square" lIns="0" tIns="0" rIns="0" bIns="0" rtlCol="0" anchor="ctr"/>
          <a:lstStyle/>
          <a:p>
            <a:pPr indent="0" marL="0">
              <a:buNone/>
            </a:pPr>
            <a:r>
              <a:rPr lang="en-US" sz="1400" b="1" dirty="0">
                <a:solidFill>
                  <a:srgbClr val="E8A832"/>
                </a:solidFill>
                <a:latin typeface="Courier New" pitchFamily="34" charset="0"/>
                <a:ea typeface="Courier New" pitchFamily="34" charset="-122"/>
                <a:cs typeface="Courier New" pitchFamily="34" charset="-120"/>
              </a:rPr>
              <a:t>TENSOR CORES</a:t>
            </a:r>
            <a:endParaRPr lang="en-US" sz="1400" dirty="0"/>
          </a:p>
        </p:txBody>
      </p:sp>
      <p:sp>
        <p:nvSpPr>
          <p:cNvPr id="11" name="Text 9"/>
          <p:cNvSpPr/>
          <p:nvPr/>
        </p:nvSpPr>
        <p:spPr>
          <a:xfrm>
            <a:off x="4672584" y="2834640"/>
            <a:ext cx="2834640" cy="1371600"/>
          </a:xfrm>
          <a:prstGeom prst="rect">
            <a:avLst/>
          </a:prstGeom>
          <a:noFill/>
          <a:ln/>
        </p:spPr>
        <p:txBody>
          <a:bodyPr wrap="square" lIns="0" tIns="0" rIns="0" bIns="0" rtlCol="0" anchor="ctr"/>
          <a:lstStyle/>
          <a:p>
            <a:pPr indent="0" marL="0">
              <a:lnSpc>
                <a:spcPct val="112000"/>
              </a:lnSpc>
              <a:buNone/>
            </a:pPr>
            <a:r>
              <a:rPr lang="en-US" sz="1250" dirty="0">
                <a:solidFill>
                  <a:srgbClr val="DDDDDD"/>
                </a:solidFill>
                <a:latin typeface="Calibri" pitchFamily="34" charset="0"/>
                <a:ea typeface="Calibri" pitchFamily="34" charset="-122"/>
                <a:cs typeface="Calibri" pitchFamily="34" charset="-120"/>
              </a:rPr>
              <a:t>The matrix multiply, frozen.  Dominant, stable, and the one operation the memory system can keep fed.</a:t>
            </a:r>
            <a:endParaRPr lang="en-US" sz="1250" dirty="0"/>
          </a:p>
        </p:txBody>
      </p:sp>
      <p:sp>
        <p:nvSpPr>
          <p:cNvPr id="12" name="Shape 10"/>
          <p:cNvSpPr/>
          <p:nvPr/>
        </p:nvSpPr>
        <p:spPr>
          <a:xfrm>
            <a:off x="7955280" y="2240280"/>
            <a:ext cx="3291840" cy="2103120"/>
          </a:xfrm>
          <a:prstGeom prst="roundRect">
            <a:avLst>
              <a:gd name="adj" fmla="val 2391"/>
            </a:avLst>
          </a:prstGeom>
          <a:solidFill>
            <a:srgbClr val="191924"/>
          </a:solidFill>
          <a:ln w="12700">
            <a:solidFill>
              <a:srgbClr val="2A2A38"/>
            </a:solidFill>
            <a:prstDash val="solid"/>
          </a:ln>
        </p:spPr>
      </p:sp>
      <p:sp>
        <p:nvSpPr>
          <p:cNvPr id="13" name="Text 11"/>
          <p:cNvSpPr/>
          <p:nvPr/>
        </p:nvSpPr>
        <p:spPr>
          <a:xfrm>
            <a:off x="8193024" y="2468880"/>
            <a:ext cx="2834640" cy="292608"/>
          </a:xfrm>
          <a:prstGeom prst="rect">
            <a:avLst/>
          </a:prstGeom>
          <a:noFill/>
          <a:ln/>
        </p:spPr>
        <p:txBody>
          <a:bodyPr wrap="square" lIns="0" tIns="0" rIns="0" bIns="0" rtlCol="0" anchor="ctr"/>
          <a:lstStyle/>
          <a:p>
            <a:pPr indent="0" marL="0">
              <a:buNone/>
            </a:pPr>
            <a:r>
              <a:rPr lang="en-US" sz="1400" b="1" dirty="0">
                <a:solidFill>
                  <a:srgbClr val="3CE8B2"/>
                </a:solidFill>
                <a:latin typeface="Courier New" pitchFamily="34" charset="0"/>
                <a:ea typeface="Courier New" pitchFamily="34" charset="-122"/>
                <a:cs typeface="Courier New" pitchFamily="34" charset="-120"/>
              </a:rPr>
              <a:t>RT CORES</a:t>
            </a:r>
            <a:endParaRPr lang="en-US" sz="1400" dirty="0"/>
          </a:p>
        </p:txBody>
      </p:sp>
      <p:sp>
        <p:nvSpPr>
          <p:cNvPr id="14" name="Text 12"/>
          <p:cNvSpPr/>
          <p:nvPr/>
        </p:nvSpPr>
        <p:spPr>
          <a:xfrm>
            <a:off x="8193024" y="2834640"/>
            <a:ext cx="2834640" cy="1371600"/>
          </a:xfrm>
          <a:prstGeom prst="rect">
            <a:avLst/>
          </a:prstGeom>
          <a:noFill/>
          <a:ln/>
        </p:spPr>
        <p:txBody>
          <a:bodyPr wrap="square" lIns="0" tIns="0" rIns="0" bIns="0" rtlCol="0" anchor="ctr"/>
          <a:lstStyle/>
          <a:p>
            <a:pPr indent="0" marL="0">
              <a:lnSpc>
                <a:spcPct val="112000"/>
              </a:lnSpc>
              <a:buNone/>
            </a:pPr>
            <a:r>
              <a:rPr lang="en-US" sz="1250" dirty="0">
                <a:solidFill>
                  <a:srgbClr val="DDDDDD"/>
                </a:solidFill>
                <a:latin typeface="Calibri" pitchFamily="34" charset="0"/>
                <a:ea typeface="Calibri" pitchFamily="34" charset="-122"/>
                <a:cs typeface="Calibri" pitchFamily="34" charset="-120"/>
              </a:rPr>
              <a:t>Ray ∩ triangle, frozen.  The document’s first primitive, back in dedicated silicon.</a:t>
            </a:r>
            <a:endParaRPr lang="en-US" sz="1250" dirty="0"/>
          </a:p>
        </p:txBody>
      </p:sp>
      <p:sp>
        <p:nvSpPr>
          <p:cNvPr id="15" name="Shape 13"/>
          <p:cNvSpPr/>
          <p:nvPr/>
        </p:nvSpPr>
        <p:spPr>
          <a:xfrm>
            <a:off x="640080" y="4937760"/>
            <a:ext cx="10881360" cy="1371600"/>
          </a:xfrm>
          <a:prstGeom prst="roundRect">
            <a:avLst>
              <a:gd name="adj" fmla="val 3667"/>
            </a:avLst>
          </a:prstGeom>
          <a:solidFill>
            <a:srgbClr val="14141D"/>
          </a:solidFill>
          <a:ln w="12700">
            <a:solidFill>
              <a:srgbClr val="2A2A38"/>
            </a:solidFill>
            <a:prstDash val="solid"/>
          </a:ln>
        </p:spPr>
      </p:sp>
      <p:sp>
        <p:nvSpPr>
          <p:cNvPr id="16" name="Text 14"/>
          <p:cNvSpPr/>
          <p:nvPr/>
        </p:nvSpPr>
        <p:spPr>
          <a:xfrm>
            <a:off x="914400" y="5148072"/>
            <a:ext cx="10332720" cy="1005840"/>
          </a:xfrm>
          <a:prstGeom prst="rect">
            <a:avLst/>
          </a:prstGeom>
          <a:noFill/>
          <a:ln/>
        </p:spPr>
        <p:txBody>
          <a:bodyPr wrap="square" lIns="0" tIns="0" rIns="0" bIns="0" rtlCol="0" anchor="ctr"/>
          <a:lstStyle/>
          <a:p>
            <a:pPr indent="0" marL="0">
              <a:lnSpc>
                <a:spcPct val="114000"/>
              </a:lnSpc>
              <a:buNone/>
            </a:pPr>
            <a:r>
              <a:rPr lang="en-US" sz="1450" b="1" dirty="0">
                <a:solidFill>
                  <a:srgbClr val="FFFFFF"/>
                </a:solidFill>
                <a:latin typeface="Calibri" pitchFamily="34" charset="0"/>
                <a:ea typeface="Calibri" pitchFamily="34" charset="-122"/>
                <a:cs typeface="Calibri" pitchFamily="34" charset="-120"/>
              </a:rPr>
              <a:t>Special-purpose and general-purpose are a portfolio, not a sequence.  </a:t>
            </a:r>
            <a:pPr indent="0" marL="0">
              <a:lnSpc>
                <a:spcPct val="114000"/>
              </a:lnSpc>
              <a:buNone/>
            </a:pPr>
            <a:r>
              <a:rPr lang="en-US" sz="1450" dirty="0">
                <a:solidFill>
                  <a:srgbClr val="DDDDDD"/>
                </a:solidFill>
                <a:latin typeface="Calibri" pitchFamily="34" charset="0"/>
                <a:ea typeface="Calibri" pitchFamily="34" charset="-122"/>
                <a:cs typeface="Calibri" pitchFamily="34" charset="-120"/>
              </a:rPr>
              <a:t>The general core is the bet on workloads that do not exist yet; the fixed units are the profits taken on the ones that proved dominant and stable.  Expect the portfolio to be rebalanced — that is what the whole history says it is.</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THE RABBIT HOLES · WHERE THEY ALL LANDED</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Everything converges on linear algebra</a:t>
            </a:r>
            <a:endParaRPr lang="en-US" sz="2700" dirty="0"/>
          </a:p>
        </p:txBody>
      </p:sp>
      <p:sp>
        <p:nvSpPr>
          <p:cNvPr id="4" name="Shape 2"/>
          <p:cNvSpPr/>
          <p:nvPr/>
        </p:nvSpPr>
        <p:spPr>
          <a:xfrm>
            <a:off x="640080" y="1481328"/>
            <a:ext cx="274320" cy="274320"/>
          </a:xfrm>
          <a:prstGeom prst="roundRect">
            <a:avLst>
              <a:gd name="adj" fmla="val 16667"/>
            </a:avLst>
          </a:prstGeom>
          <a:solidFill>
            <a:srgbClr val="101B30"/>
          </a:solidFill>
          <a:ln w="15875">
            <a:solidFill>
              <a:srgbClr val="6AA6FF"/>
            </a:solidFill>
            <a:prstDash val="solid"/>
          </a:ln>
        </p:spPr>
      </p:sp>
      <p:sp>
        <p:nvSpPr>
          <p:cNvPr id="5" name="Text 3"/>
          <p:cNvSpPr/>
          <p:nvPr/>
        </p:nvSpPr>
        <p:spPr>
          <a:xfrm>
            <a:off x="640080" y="1470355"/>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6" name="Text 4"/>
          <p:cNvSpPr/>
          <p:nvPr/>
        </p:nvSpPr>
        <p:spPr>
          <a:xfrm>
            <a:off x="1024128" y="1470355"/>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THE UNDERCARRIAGE · QUADRATIC-PATCH NOTE, FINAL SECTION</a:t>
            </a:r>
            <a:endParaRPr lang="en-US" sz="1150" dirty="0"/>
          </a:p>
        </p:txBody>
      </p:sp>
      <p:sp>
        <p:nvSpPr>
          <p:cNvPr id="7" name="Shape 5"/>
          <p:cNvSpPr/>
          <p:nvPr/>
        </p:nvSpPr>
        <p:spPr>
          <a:xfrm>
            <a:off x="640080" y="1920240"/>
            <a:ext cx="5394960" cy="3291840"/>
          </a:xfrm>
          <a:prstGeom prst="roundRect">
            <a:avLst>
              <a:gd name="adj" fmla="val 1528"/>
            </a:avLst>
          </a:prstGeom>
          <a:solidFill>
            <a:srgbClr val="14141D"/>
          </a:solidFill>
          <a:ln w="12700">
            <a:solidFill>
              <a:srgbClr val="2A2A38"/>
            </a:solidFill>
            <a:prstDash val="solid"/>
          </a:ln>
        </p:spPr>
      </p:sp>
      <p:sp>
        <p:nvSpPr>
          <p:cNvPr id="8" name="Text 6"/>
          <p:cNvSpPr/>
          <p:nvPr/>
        </p:nvSpPr>
        <p:spPr>
          <a:xfrm>
            <a:off x="914400" y="212140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CLAIM</a:t>
            </a:r>
            <a:endParaRPr lang="en-US" sz="1250" dirty="0"/>
          </a:p>
        </p:txBody>
      </p:sp>
      <p:sp>
        <p:nvSpPr>
          <p:cNvPr id="9" name="Text 7"/>
          <p:cNvSpPr/>
          <p:nvPr/>
        </p:nvSpPr>
        <p:spPr>
          <a:xfrm>
            <a:off x="914400" y="2487168"/>
            <a:ext cx="4892040" cy="25603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The only equations we can really solve are linear.  Nonlinear problems are solved as sequences of linear ones — Newton, gradient descent, every solver in the catalogue.</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Backpropagation is the chain rule; the chain rule is products of Jacobians; products of Jacobians are matrix multiplies.</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Graphics is matrix arithmetic.  Simulation is matrix arithmetic.  Learning is almost nothing but the matrix multiply.</a:t>
            </a:r>
            <a:endParaRPr lang="en-US" sz="1250" dirty="0"/>
          </a:p>
        </p:txBody>
      </p:sp>
      <p:sp>
        <p:nvSpPr>
          <p:cNvPr id="10" name="Shape 8"/>
          <p:cNvSpPr/>
          <p:nvPr/>
        </p:nvSpPr>
        <p:spPr>
          <a:xfrm>
            <a:off x="6263640" y="1920240"/>
            <a:ext cx="5257800" cy="3291840"/>
          </a:xfrm>
          <a:prstGeom prst="roundRect">
            <a:avLst>
              <a:gd name="adj" fmla="val 1528"/>
            </a:avLst>
          </a:prstGeom>
          <a:solidFill>
            <a:srgbClr val="14141D"/>
          </a:solidFill>
          <a:ln w="12700">
            <a:solidFill>
              <a:srgbClr val="2A2A38"/>
            </a:solidFill>
            <a:prstDash val="solid"/>
          </a:ln>
        </p:spPr>
      </p:sp>
      <p:sp>
        <p:nvSpPr>
          <p:cNvPr id="11" name="Text 9"/>
          <p:cNvSpPr/>
          <p:nvPr/>
        </p:nvSpPr>
        <p:spPr>
          <a:xfrm>
            <a:off x="6537960" y="212140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PAYOFF</a:t>
            </a:r>
            <a:endParaRPr lang="en-US" sz="1250" dirty="0"/>
          </a:p>
        </p:txBody>
      </p:sp>
      <p:sp>
        <p:nvSpPr>
          <p:cNvPr id="12" name="Text 10"/>
          <p:cNvSpPr/>
          <p:nvPr/>
        </p:nvSpPr>
        <p:spPr>
          <a:xfrm>
            <a:off x="6537960" y="2542032"/>
            <a:ext cx="4754880" cy="777240"/>
          </a:xfrm>
          <a:prstGeom prst="rect">
            <a:avLst/>
          </a:prstGeom>
          <a:noFill/>
          <a:ln/>
        </p:spPr>
        <p:txBody>
          <a:bodyPr wrap="square" lIns="0" tIns="0" rIns="0" bIns="0" rtlCol="0" anchor="ctr"/>
          <a:lstStyle/>
          <a:p>
            <a:pPr indent="0" marL="0">
              <a:lnSpc>
                <a:spcPct val="120000"/>
              </a:lnSpc>
              <a:buNone/>
            </a:pPr>
            <a:r>
              <a:rPr lang="en-US" sz="1800" b="1" dirty="0">
                <a:solidFill>
                  <a:srgbClr val="FFFFFF"/>
                </a:solidFill>
                <a:latin typeface="Courier New" pitchFamily="34" charset="0"/>
                <a:ea typeface="Courier New" pitchFamily="34" charset="-122"/>
                <a:cs typeface="Courier New" pitchFamily="34" charset="-120"/>
              </a:rPr>
              <a:t>1999  →  matrix × vector</a:t>
            </a:r>
            <a:endParaRPr lang="en-US" sz="1800" dirty="0"/>
          </a:p>
          <a:p>
            <a:pPr indent="0" marL="0">
              <a:lnSpc>
                <a:spcPct val="120000"/>
              </a:lnSpc>
              <a:buNone/>
            </a:pPr>
            <a:r>
              <a:rPr lang="en-US" sz="1800" b="1" dirty="0">
                <a:solidFill>
                  <a:srgbClr val="FFFFFF"/>
                </a:solidFill>
                <a:latin typeface="Courier New" pitchFamily="34" charset="0"/>
                <a:ea typeface="Courier New" pitchFamily="34" charset="-122"/>
                <a:cs typeface="Courier New" pitchFamily="34" charset="-120"/>
              </a:rPr>
              <a:t>2017  →  matrix × matrix</a:t>
            </a:r>
            <a:endParaRPr lang="en-US" sz="1800" dirty="0"/>
          </a:p>
        </p:txBody>
      </p:sp>
      <p:sp>
        <p:nvSpPr>
          <p:cNvPr id="13" name="Text 11"/>
          <p:cNvSpPr/>
          <p:nvPr/>
        </p:nvSpPr>
        <p:spPr>
          <a:xfrm>
            <a:off x="6537960" y="3429000"/>
            <a:ext cx="4754880" cy="1645920"/>
          </a:xfrm>
          <a:prstGeom prst="rect">
            <a:avLst/>
          </a:prstGeom>
          <a:noFill/>
          <a:ln/>
        </p:spPr>
        <p:txBody>
          <a:bodyPr wrap="square" lIns="0" tIns="0" rIns="0" bIns="0" rtlCol="0" anchor="ctr"/>
          <a:lstStyle/>
          <a:p>
            <a:pPr indent="0" marL="0">
              <a:lnSpc>
                <a:spcPct val="113000"/>
              </a:lnSpc>
              <a:buNone/>
            </a:pPr>
            <a:r>
              <a:rPr lang="en-US" sz="1250" dirty="0">
                <a:solidFill>
                  <a:srgbClr val="DDDDDD"/>
                </a:solidFill>
                <a:latin typeface="Calibri" pitchFamily="34" charset="0"/>
                <a:ea typeface="Calibri" pitchFamily="34" charset="-122"/>
                <a:cs typeface="Calibri" pitchFamily="34" charset="-120"/>
              </a:rPr>
              <a:t>The pendulum’s two endpoints froze the same mathematics twice.  What changed is the shape of the operands and what the numbers mean.  The operation — a weighted sum of weighted sums — never did.  This is why one machine serves graphics, simulation, and AI: they were always the same customer.</a:t>
            </a:r>
            <a:endParaRPr lang="en-US" sz="1250" dirty="0"/>
          </a:p>
        </p:txBody>
      </p:sp>
      <p:sp>
        <p:nvSpPr>
          <p:cNvPr id="14" name="Shape 12"/>
          <p:cNvSpPr/>
          <p:nvPr/>
        </p:nvSpPr>
        <p:spPr>
          <a:xfrm>
            <a:off x="640080" y="5440680"/>
            <a:ext cx="10881360" cy="868680"/>
          </a:xfrm>
          <a:prstGeom prst="roundRect">
            <a:avLst>
              <a:gd name="adj" fmla="val 5789"/>
            </a:avLst>
          </a:prstGeom>
          <a:solidFill>
            <a:srgbClr val="0F1A15"/>
          </a:solidFill>
          <a:ln w="12700">
            <a:solidFill>
              <a:srgbClr val="2A2A38"/>
            </a:solidFill>
            <a:prstDash val="solid"/>
          </a:ln>
        </p:spPr>
      </p:sp>
      <p:sp>
        <p:nvSpPr>
          <p:cNvPr id="15" name="Text 13"/>
          <p:cNvSpPr/>
          <p:nvPr/>
        </p:nvSpPr>
        <p:spPr>
          <a:xfrm>
            <a:off x="914400" y="5650992"/>
            <a:ext cx="10332720" cy="457200"/>
          </a:xfrm>
          <a:prstGeom prst="rect">
            <a:avLst/>
          </a:prstGeom>
          <a:noFill/>
          <a:ln/>
        </p:spPr>
        <p:txBody>
          <a:bodyPr wrap="square" lIns="0" tIns="0" rIns="0" bIns="0" rtlCol="0" anchor="ctr"/>
          <a:lstStyle/>
          <a:p>
            <a:pPr indent="0" marL="0">
              <a:buNone/>
            </a:pPr>
            <a:r>
              <a:rPr lang="en-US" sz="1550" i="1" dirty="0">
                <a:solidFill>
                  <a:srgbClr val="3CE8B2"/>
                </a:solidFill>
                <a:latin typeface="Calibri" pitchFamily="34" charset="0"/>
                <a:ea typeface="Calibri" pitchFamily="34" charset="-122"/>
                <a:cs typeface="Calibri" pitchFamily="34" charset="-120"/>
              </a:rPr>
              <a:t>“The patch, the pipeline, and the silicon are three views of the one operation we actually know how to perform.”</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THE RABBIT HOLES · THE DEEPEST CLAIM, EXAMINED</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claim, stress-tested</a:t>
            </a:r>
            <a:endParaRPr lang="en-US" sz="2700" dirty="0"/>
          </a:p>
        </p:txBody>
      </p:sp>
      <p:sp>
        <p:nvSpPr>
          <p:cNvPr id="4" name="Shape 2"/>
          <p:cNvSpPr/>
          <p:nvPr/>
        </p:nvSpPr>
        <p:spPr>
          <a:xfrm>
            <a:off x="640080" y="1554480"/>
            <a:ext cx="10881360" cy="960120"/>
          </a:xfrm>
          <a:prstGeom prst="roundRect">
            <a:avLst>
              <a:gd name="adj" fmla="val 5238"/>
            </a:avLst>
          </a:prstGeom>
          <a:solidFill>
            <a:srgbClr val="1A160C"/>
          </a:solidFill>
          <a:ln w="12700">
            <a:solidFill>
              <a:srgbClr val="2A2A38"/>
            </a:solidFill>
            <a:prstDash val="solid"/>
          </a:ln>
        </p:spPr>
      </p:sp>
      <p:sp>
        <p:nvSpPr>
          <p:cNvPr id="5" name="Text 3"/>
          <p:cNvSpPr/>
          <p:nvPr/>
        </p:nvSpPr>
        <p:spPr>
          <a:xfrm>
            <a:off x="914400" y="1682496"/>
            <a:ext cx="10332720" cy="365760"/>
          </a:xfrm>
          <a:prstGeom prst="rect">
            <a:avLst/>
          </a:prstGeom>
          <a:noFill/>
          <a:ln/>
        </p:spPr>
        <p:txBody>
          <a:bodyPr wrap="square" lIns="0" tIns="0" rIns="0" bIns="0" rtlCol="0" anchor="ctr"/>
          <a:lstStyle/>
          <a:p>
            <a:pPr indent="0" marL="0">
              <a:buNone/>
            </a:pPr>
            <a:r>
              <a:rPr lang="en-US" sz="1400" i="1" dirty="0">
                <a:solidFill>
                  <a:srgbClr val="E8A832"/>
                </a:solidFill>
                <a:latin typeface="Calibri" pitchFamily="34" charset="0"/>
                <a:ea typeface="Calibri" pitchFamily="34" charset="-122"/>
                <a:cs typeface="Calibri" pitchFamily="34" charset="-120"/>
              </a:rPr>
              <a:t>“The only equations we can really solve are linear.  Nonlinear problems are solved as sequences of linear ones.”</a:t>
            </a:r>
            <a:endParaRPr lang="en-US" sz="1400" dirty="0"/>
          </a:p>
        </p:txBody>
      </p:sp>
      <p:sp>
        <p:nvSpPr>
          <p:cNvPr id="6" name="Text 4"/>
          <p:cNvSpPr/>
          <p:nvPr/>
        </p:nvSpPr>
        <p:spPr>
          <a:xfrm>
            <a:off x="914400" y="2084832"/>
            <a:ext cx="10332720" cy="320040"/>
          </a:xfrm>
          <a:prstGeom prst="rect">
            <a:avLst/>
          </a:prstGeom>
          <a:noFill/>
          <a:ln/>
        </p:spPr>
        <p:txBody>
          <a:bodyPr wrap="square" lIns="0" tIns="0" rIns="0" bIns="0" rtlCol="0" anchor="ctr"/>
          <a:lstStyle/>
          <a:p>
            <a:pPr indent="0" marL="0">
              <a:buNone/>
            </a:pPr>
            <a:r>
              <a:rPr lang="en-US" sz="1100" dirty="0">
                <a:solidFill>
                  <a:srgbClr val="DDDDDD"/>
                </a:solidFill>
                <a:latin typeface="Calibri" pitchFamily="34" charset="0"/>
                <a:ea typeface="Calibri" pitchFamily="34" charset="-122"/>
                <a:cs typeface="Calibri" pitchFamily="34" charset="-120"/>
              </a:rPr>
              <a:t>A thesis, not a theorem — like Church–Turing: unprovable, compressing a survey of practice, earning its keep by surviving counterexamples.</a:t>
            </a:r>
            <a:endParaRPr lang="en-US" sz="1100" dirty="0"/>
          </a:p>
        </p:txBody>
      </p:sp>
      <p:sp>
        <p:nvSpPr>
          <p:cNvPr id="7" name="Shape 5"/>
          <p:cNvSpPr/>
          <p:nvPr/>
        </p:nvSpPr>
        <p:spPr>
          <a:xfrm>
            <a:off x="640080" y="2743200"/>
            <a:ext cx="5394960" cy="1444752"/>
          </a:xfrm>
          <a:prstGeom prst="roundRect">
            <a:avLst>
              <a:gd name="adj" fmla="val 3481"/>
            </a:avLst>
          </a:prstGeom>
          <a:solidFill>
            <a:srgbClr val="14141D"/>
          </a:solidFill>
          <a:ln w="12700">
            <a:solidFill>
              <a:srgbClr val="2A2A38"/>
            </a:solidFill>
            <a:prstDash val="solid"/>
          </a:ln>
        </p:spPr>
      </p:sp>
      <p:sp>
        <p:nvSpPr>
          <p:cNvPr id="8" name="Text 6"/>
          <p:cNvSpPr/>
          <p:nvPr/>
        </p:nvSpPr>
        <p:spPr>
          <a:xfrm>
            <a:off x="896112" y="2889504"/>
            <a:ext cx="4846320" cy="256032"/>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QUADRATURE IS LINEAR</a:t>
            </a:r>
            <a:endParaRPr lang="en-US" sz="1250" dirty="0"/>
          </a:p>
        </p:txBody>
      </p:sp>
      <p:sp>
        <p:nvSpPr>
          <p:cNvPr id="9" name="Text 7"/>
          <p:cNvSpPr/>
          <p:nvPr/>
        </p:nvSpPr>
        <p:spPr>
          <a:xfrm>
            <a:off x="896112" y="3182112"/>
            <a:ext cx="4892040" cy="914400"/>
          </a:xfrm>
          <a:prstGeom prst="rect">
            <a:avLst/>
          </a:prstGeom>
          <a:noFill/>
          <a:ln/>
        </p:spPr>
        <p:txBody>
          <a:bodyPr wrap="square" lIns="0" tIns="0" rIns="0" bIns="0" rtlCol="0" anchor="ctr"/>
          <a:lstStyle/>
          <a:p>
            <a:pPr indent="0" marL="0">
              <a:lnSpc>
                <a:spcPct val="106000"/>
              </a:lnSpc>
              <a:buNone/>
            </a:pPr>
            <a:r>
              <a:rPr lang="en-US" sz="1050" dirty="0">
                <a:solidFill>
                  <a:srgbClr val="DDDDDD"/>
                </a:solidFill>
                <a:latin typeface="Calibri" pitchFamily="34" charset="0"/>
                <a:ea typeface="Calibri" pitchFamily="34" charset="-122"/>
                <a:cs typeface="Calibri" pitchFamily="34" charset="-120"/>
              </a:rPr>
              <a:t>Integration is a linear operation.  Every ODE “solved by quadrature” — the oldest solvability there is — is a reduction to applying a linear functional.</a:t>
            </a:r>
            <a:endParaRPr lang="en-US" sz="1050" dirty="0"/>
          </a:p>
        </p:txBody>
      </p:sp>
      <p:sp>
        <p:nvSpPr>
          <p:cNvPr id="10" name="Shape 8"/>
          <p:cNvSpPr/>
          <p:nvPr/>
        </p:nvSpPr>
        <p:spPr>
          <a:xfrm>
            <a:off x="6263640" y="2743200"/>
            <a:ext cx="5394960" cy="1444752"/>
          </a:xfrm>
          <a:prstGeom prst="roundRect">
            <a:avLst>
              <a:gd name="adj" fmla="val 3481"/>
            </a:avLst>
          </a:prstGeom>
          <a:solidFill>
            <a:srgbClr val="14141D"/>
          </a:solidFill>
          <a:ln w="12700">
            <a:solidFill>
              <a:srgbClr val="2A2A38"/>
            </a:solidFill>
            <a:prstDash val="solid"/>
          </a:ln>
        </p:spPr>
      </p:sp>
      <p:sp>
        <p:nvSpPr>
          <p:cNvPr id="11" name="Text 9"/>
          <p:cNvSpPr/>
          <p:nvPr/>
        </p:nvSpPr>
        <p:spPr>
          <a:xfrm>
            <a:off x="6519672" y="2889504"/>
            <a:ext cx="4846320" cy="256032"/>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ROOTS ARE EIGENVALUES</a:t>
            </a:r>
            <a:endParaRPr lang="en-US" sz="1250" dirty="0"/>
          </a:p>
        </p:txBody>
      </p:sp>
      <p:sp>
        <p:nvSpPr>
          <p:cNvPr id="12" name="Text 10"/>
          <p:cNvSpPr/>
          <p:nvPr/>
        </p:nvSpPr>
        <p:spPr>
          <a:xfrm>
            <a:off x="6519672" y="3182112"/>
            <a:ext cx="4892040" cy="914400"/>
          </a:xfrm>
          <a:prstGeom prst="rect">
            <a:avLst/>
          </a:prstGeom>
          <a:noFill/>
          <a:ln/>
        </p:spPr>
        <p:txBody>
          <a:bodyPr wrap="square" lIns="0" tIns="0" rIns="0" bIns="0" rtlCol="0" anchor="ctr"/>
          <a:lstStyle/>
          <a:p>
            <a:pPr indent="0" marL="0">
              <a:lnSpc>
                <a:spcPct val="106000"/>
              </a:lnSpc>
              <a:buNone/>
            </a:pPr>
            <a:r>
              <a:rPr lang="en-US" sz="1050" dirty="0">
                <a:solidFill>
                  <a:srgbClr val="DDDDDD"/>
                </a:solidFill>
                <a:latin typeface="Calibri" pitchFamily="34" charset="0"/>
                <a:ea typeface="Calibri" pitchFamily="34" charset="-122"/>
                <a:cs typeface="Calibri" pitchFamily="34" charset="-120"/>
              </a:rPr>
              <a:t>Polynomial root-finding, the ur-problem of algebra, is solved in practice by building the companion matrix and calling an eigenvalue routine.  The oldest nonlinear problem became a linear-algebra call.</a:t>
            </a:r>
            <a:endParaRPr lang="en-US" sz="1050" dirty="0"/>
          </a:p>
        </p:txBody>
      </p:sp>
      <p:sp>
        <p:nvSpPr>
          <p:cNvPr id="13" name="Shape 11"/>
          <p:cNvSpPr/>
          <p:nvPr/>
        </p:nvSpPr>
        <p:spPr>
          <a:xfrm>
            <a:off x="640080" y="4315968"/>
            <a:ext cx="5394960" cy="1444752"/>
          </a:xfrm>
          <a:prstGeom prst="roundRect">
            <a:avLst>
              <a:gd name="adj" fmla="val 3481"/>
            </a:avLst>
          </a:prstGeom>
          <a:solidFill>
            <a:srgbClr val="14141D"/>
          </a:solidFill>
          <a:ln w="12700">
            <a:solidFill>
              <a:srgbClr val="2A2A38"/>
            </a:solidFill>
            <a:prstDash val="solid"/>
          </a:ln>
        </p:spPr>
      </p:sp>
      <p:sp>
        <p:nvSpPr>
          <p:cNvPr id="14" name="Text 12"/>
          <p:cNvSpPr/>
          <p:nvPr/>
        </p:nvSpPr>
        <p:spPr>
          <a:xfrm>
            <a:off x="896112" y="4462272"/>
            <a:ext cx="4846320" cy="256032"/>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THE FFT IS A LINEAR MAP</a:t>
            </a:r>
            <a:endParaRPr lang="en-US" sz="1250" dirty="0"/>
          </a:p>
        </p:txBody>
      </p:sp>
      <p:sp>
        <p:nvSpPr>
          <p:cNvPr id="15" name="Text 13"/>
          <p:cNvSpPr/>
          <p:nvPr/>
        </p:nvSpPr>
        <p:spPr>
          <a:xfrm>
            <a:off x="896112" y="4754880"/>
            <a:ext cx="4892040" cy="914400"/>
          </a:xfrm>
          <a:prstGeom prst="rect">
            <a:avLst/>
          </a:prstGeom>
          <a:noFill/>
          <a:ln/>
        </p:spPr>
        <p:txBody>
          <a:bodyPr wrap="square" lIns="0" tIns="0" rIns="0" bIns="0" rtlCol="0" anchor="ctr"/>
          <a:lstStyle/>
          <a:p>
            <a:pPr indent="0" marL="0">
              <a:lnSpc>
                <a:spcPct val="106000"/>
              </a:lnSpc>
              <a:buNone/>
            </a:pPr>
            <a:r>
              <a:rPr lang="en-US" sz="1050" dirty="0">
                <a:solidFill>
                  <a:srgbClr val="DDDDDD"/>
                </a:solidFill>
                <a:latin typeface="Calibri" pitchFamily="34" charset="0"/>
                <a:ea typeface="Calibri" pitchFamily="34" charset="-122"/>
                <a:cs typeface="Calibri" pitchFamily="34" charset="-120"/>
              </a:rPr>
              <a:t>The most-used algorithm in signal processing is nothing but a fast change of basis.  The spectral world runs entirely on superposition.</a:t>
            </a:r>
            <a:endParaRPr lang="en-US" sz="1050" dirty="0"/>
          </a:p>
        </p:txBody>
      </p:sp>
      <p:sp>
        <p:nvSpPr>
          <p:cNvPr id="16" name="Shape 14"/>
          <p:cNvSpPr/>
          <p:nvPr/>
        </p:nvSpPr>
        <p:spPr>
          <a:xfrm>
            <a:off x="6263640" y="4315968"/>
            <a:ext cx="5394960" cy="1444752"/>
          </a:xfrm>
          <a:prstGeom prst="roundRect">
            <a:avLst>
              <a:gd name="adj" fmla="val 3481"/>
            </a:avLst>
          </a:prstGeom>
          <a:solidFill>
            <a:srgbClr val="14141D"/>
          </a:solidFill>
          <a:ln w="12700">
            <a:solidFill>
              <a:srgbClr val="2A2A38"/>
            </a:solidFill>
            <a:prstDash val="solid"/>
          </a:ln>
        </p:spPr>
      </p:sp>
      <p:sp>
        <p:nvSpPr>
          <p:cNvPr id="17" name="Text 15"/>
          <p:cNvSpPr/>
          <p:nvPr/>
        </p:nvSpPr>
        <p:spPr>
          <a:xfrm>
            <a:off x="6519672" y="4462272"/>
            <a:ext cx="4846320" cy="256032"/>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EVEN THE ESCAPE IS LINEAR</a:t>
            </a:r>
            <a:endParaRPr lang="en-US" sz="1250" dirty="0"/>
          </a:p>
        </p:txBody>
      </p:sp>
      <p:sp>
        <p:nvSpPr>
          <p:cNvPr id="18" name="Text 16"/>
          <p:cNvSpPr/>
          <p:nvPr/>
        </p:nvSpPr>
        <p:spPr>
          <a:xfrm>
            <a:off x="6519672" y="4754880"/>
            <a:ext cx="4892040" cy="914400"/>
          </a:xfrm>
          <a:prstGeom prst="rect">
            <a:avLst/>
          </a:prstGeom>
          <a:noFill/>
          <a:ln/>
        </p:spPr>
        <p:txBody>
          <a:bodyPr wrap="square" lIns="0" tIns="0" rIns="0" bIns="0" rtlCol="0" anchor="ctr"/>
          <a:lstStyle/>
          <a:p>
            <a:pPr indent="0" marL="0">
              <a:lnSpc>
                <a:spcPct val="106000"/>
              </a:lnSpc>
              <a:buNone/>
            </a:pPr>
            <a:r>
              <a:rPr lang="en-US" sz="1050" dirty="0">
                <a:solidFill>
                  <a:srgbClr val="DDDDDD"/>
                </a:solidFill>
                <a:latin typeface="Calibri" pitchFamily="34" charset="0"/>
                <a:ea typeface="Calibri" pitchFamily="34" charset="-122"/>
                <a:cs typeface="Calibri" pitchFamily="34" charset="-120"/>
              </a:rPr>
              <a:t>A neural network puts ALL coupling between variables in its linear maps; the nonlinearity is deliberately pointwise and cheap.  Our universal nonlinear solver is, by FLOP count, almost entirely matrix multiplication.</a:t>
            </a:r>
            <a:endParaRPr lang="en-US" sz="1050" dirty="0"/>
          </a:p>
        </p:txBody>
      </p:sp>
      <p:sp>
        <p:nvSpPr>
          <p:cNvPr id="19" name="Shape 17"/>
          <p:cNvSpPr/>
          <p:nvPr/>
        </p:nvSpPr>
        <p:spPr>
          <a:xfrm>
            <a:off x="640080" y="6035040"/>
            <a:ext cx="10881360" cy="566928"/>
          </a:xfrm>
          <a:prstGeom prst="roundRect">
            <a:avLst>
              <a:gd name="adj" fmla="val 8871"/>
            </a:avLst>
          </a:prstGeom>
          <a:solidFill>
            <a:srgbClr val="14141D"/>
          </a:solidFill>
          <a:ln w="12700">
            <a:solidFill>
              <a:srgbClr val="2A2A38"/>
            </a:solidFill>
            <a:prstDash val="solid"/>
          </a:ln>
        </p:spPr>
      </p:sp>
      <p:sp>
        <p:nvSpPr>
          <p:cNvPr id="20" name="Text 18"/>
          <p:cNvSpPr/>
          <p:nvPr/>
        </p:nvSpPr>
        <p:spPr>
          <a:xfrm>
            <a:off x="914400" y="6126480"/>
            <a:ext cx="10332720" cy="402336"/>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Judged as a thesis: about ninety percent true — and the remaining ten percent is the interesting part.  Next slide.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THE RABBIT HOLES · THE DEEPEST CLAIM, EXAMINED</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honest ten percent</a:t>
            </a:r>
            <a:endParaRPr lang="en-US" sz="2700" dirty="0"/>
          </a:p>
        </p:txBody>
      </p:sp>
      <p:sp>
        <p:nvSpPr>
          <p:cNvPr id="4" name="Shape 2"/>
          <p:cNvSpPr/>
          <p:nvPr/>
        </p:nvSpPr>
        <p:spPr>
          <a:xfrm>
            <a:off x="640080" y="1554480"/>
            <a:ext cx="3474720" cy="1645920"/>
          </a:xfrm>
          <a:prstGeom prst="roundRect">
            <a:avLst>
              <a:gd name="adj" fmla="val 3056"/>
            </a:avLst>
          </a:prstGeom>
          <a:solidFill>
            <a:srgbClr val="14141D"/>
          </a:solidFill>
          <a:ln w="12700">
            <a:solidFill>
              <a:srgbClr val="2A2A38"/>
            </a:solidFill>
            <a:prstDash val="solid"/>
          </a:ln>
        </p:spPr>
      </p:sp>
      <p:sp>
        <p:nvSpPr>
          <p:cNvPr id="5" name="Text 3"/>
          <p:cNvSpPr/>
          <p:nvPr/>
        </p:nvSpPr>
        <p:spPr>
          <a:xfrm>
            <a:off x="896112" y="1737360"/>
            <a:ext cx="30175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CONVEXITY</a:t>
            </a:r>
            <a:endParaRPr lang="en-US" sz="1250" dirty="0"/>
          </a:p>
        </p:txBody>
      </p:sp>
      <p:sp>
        <p:nvSpPr>
          <p:cNvPr id="6" name="Text 4"/>
          <p:cNvSpPr/>
          <p:nvPr/>
        </p:nvSpPr>
        <p:spPr>
          <a:xfrm>
            <a:off x="896112" y="2048256"/>
            <a:ext cx="2999232" cy="1051560"/>
          </a:xfrm>
          <a:prstGeom prst="rect">
            <a:avLst/>
          </a:prstGeom>
          <a:noFill/>
          <a:ln/>
        </p:spPr>
        <p:txBody>
          <a:bodyPr wrap="square" lIns="0" tIns="0" rIns="0" bIns="0" rtlCol="0" anchor="ctr"/>
          <a:lstStyle/>
          <a:p>
            <a:pPr indent="0" marL="0">
              <a:lnSpc>
                <a:spcPct val="106000"/>
              </a:lnSpc>
              <a:buNone/>
            </a:pPr>
            <a:r>
              <a:rPr lang="en-US" sz="1000" dirty="0">
                <a:solidFill>
                  <a:srgbClr val="DDDDDD"/>
                </a:solidFill>
                <a:latin typeface="Calibri" pitchFamily="34" charset="0"/>
                <a:ea typeface="Calibri" pitchFamily="34" charset="-122"/>
                <a:cs typeface="Calibri" pitchFamily="34" charset="-120"/>
              </a:rPr>
              <a:t>A genuinely distinct certificate: local = global, separating hyperplanes, duality.  Not reducible to linear algebra — the document corrected itself on exactly this point.</a:t>
            </a:r>
            <a:endParaRPr lang="en-US" sz="1000" dirty="0"/>
          </a:p>
        </p:txBody>
      </p:sp>
      <p:sp>
        <p:nvSpPr>
          <p:cNvPr id="7" name="Shape 5"/>
          <p:cNvSpPr/>
          <p:nvPr/>
        </p:nvSpPr>
        <p:spPr>
          <a:xfrm>
            <a:off x="4343400" y="1554480"/>
            <a:ext cx="3474720" cy="1645920"/>
          </a:xfrm>
          <a:prstGeom prst="roundRect">
            <a:avLst>
              <a:gd name="adj" fmla="val 3056"/>
            </a:avLst>
          </a:prstGeom>
          <a:solidFill>
            <a:srgbClr val="14141D"/>
          </a:solidFill>
          <a:ln w="12700">
            <a:solidFill>
              <a:srgbClr val="2A2A38"/>
            </a:solidFill>
            <a:prstDash val="solid"/>
          </a:ln>
        </p:spPr>
      </p:sp>
      <p:sp>
        <p:nvSpPr>
          <p:cNvPr id="8" name="Text 6"/>
          <p:cNvSpPr/>
          <p:nvPr/>
        </p:nvSpPr>
        <p:spPr>
          <a:xfrm>
            <a:off x="4599432" y="1737360"/>
            <a:ext cx="3017520" cy="274320"/>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CONTRACTION &amp; ORDER</a:t>
            </a:r>
            <a:endParaRPr lang="en-US" sz="1250" dirty="0"/>
          </a:p>
        </p:txBody>
      </p:sp>
      <p:sp>
        <p:nvSpPr>
          <p:cNvPr id="9" name="Text 7"/>
          <p:cNvSpPr/>
          <p:nvPr/>
        </p:nvSpPr>
        <p:spPr>
          <a:xfrm>
            <a:off x="4599432" y="2048256"/>
            <a:ext cx="2999232" cy="1051560"/>
          </a:xfrm>
          <a:prstGeom prst="rect">
            <a:avLst/>
          </a:prstGeom>
          <a:noFill/>
          <a:ln/>
        </p:spPr>
        <p:txBody>
          <a:bodyPr wrap="square" lIns="0" tIns="0" rIns="0" bIns="0" rtlCol="0" anchor="ctr"/>
          <a:lstStyle/>
          <a:p>
            <a:pPr indent="0" marL="0">
              <a:lnSpc>
                <a:spcPct val="106000"/>
              </a:lnSpc>
              <a:buNone/>
            </a:pPr>
            <a:r>
              <a:rPr lang="en-US" sz="1000" dirty="0">
                <a:solidFill>
                  <a:srgbClr val="DDDDDD"/>
                </a:solidFill>
                <a:latin typeface="Calibri" pitchFamily="34" charset="0"/>
                <a:ea typeface="Calibri" pitchFamily="34" charset="-122"/>
                <a:cs typeface="Calibri" pitchFamily="34" charset="-120"/>
              </a:rPr>
              <a:t>Banach fixed points, value iteration, monotone convergence — proofs by metric and order geometry, with no linearization anywhere in the argument.</a:t>
            </a:r>
            <a:endParaRPr lang="en-US" sz="1000" dirty="0"/>
          </a:p>
        </p:txBody>
      </p:sp>
      <p:sp>
        <p:nvSpPr>
          <p:cNvPr id="10" name="Shape 8"/>
          <p:cNvSpPr/>
          <p:nvPr/>
        </p:nvSpPr>
        <p:spPr>
          <a:xfrm>
            <a:off x="8046720" y="1554480"/>
            <a:ext cx="3474720" cy="1645920"/>
          </a:xfrm>
          <a:prstGeom prst="roundRect">
            <a:avLst>
              <a:gd name="adj" fmla="val 3056"/>
            </a:avLst>
          </a:prstGeom>
          <a:solidFill>
            <a:srgbClr val="14141D"/>
          </a:solidFill>
          <a:ln w="12700">
            <a:solidFill>
              <a:srgbClr val="2A2A38"/>
            </a:solidFill>
            <a:prstDash val="solid"/>
          </a:ln>
        </p:spPr>
      </p:sp>
      <p:sp>
        <p:nvSpPr>
          <p:cNvPr id="11" name="Text 9"/>
          <p:cNvSpPr/>
          <p:nvPr/>
        </p:nvSpPr>
        <p:spPr>
          <a:xfrm>
            <a:off x="8302752" y="1737360"/>
            <a:ext cx="3017520" cy="274320"/>
          </a:xfrm>
          <a:prstGeom prst="rect">
            <a:avLst/>
          </a:prstGeom>
          <a:noFill/>
          <a:ln/>
        </p:spPr>
        <p:txBody>
          <a:bodyPr wrap="square" lIns="0" tIns="0" rIns="0" bIns="0" rtlCol="0" anchor="ctr"/>
          <a:lstStyle/>
          <a:p>
            <a:pPr indent="0" marL="0">
              <a:buNone/>
            </a:pPr>
            <a:r>
              <a:rPr lang="en-US" sz="1250" b="1" dirty="0">
                <a:solidFill>
                  <a:srgbClr val="E8835C"/>
                </a:solidFill>
                <a:latin typeface="Courier New" pitchFamily="34" charset="0"/>
                <a:ea typeface="Courier New" pitchFamily="34" charset="-122"/>
                <a:cs typeface="Courier New" pitchFamily="34" charset="-120"/>
              </a:rPr>
              <a:t>LOGICAL STRUCTURE</a:t>
            </a:r>
            <a:endParaRPr lang="en-US" sz="1250" dirty="0"/>
          </a:p>
        </p:txBody>
      </p:sp>
      <p:sp>
        <p:nvSpPr>
          <p:cNvPr id="12" name="Text 10"/>
          <p:cNvSpPr/>
          <p:nvPr/>
        </p:nvSpPr>
        <p:spPr>
          <a:xfrm>
            <a:off x="8302752" y="2048256"/>
            <a:ext cx="2999232" cy="1051560"/>
          </a:xfrm>
          <a:prstGeom prst="rect">
            <a:avLst/>
          </a:prstGeom>
          <a:noFill/>
          <a:ln/>
        </p:spPr>
        <p:txBody>
          <a:bodyPr wrap="square" lIns="0" tIns="0" rIns="0" bIns="0" rtlCol="0" anchor="ctr"/>
          <a:lstStyle/>
          <a:p>
            <a:pPr indent="0" marL="0">
              <a:lnSpc>
                <a:spcPct val="106000"/>
              </a:lnSpc>
              <a:buNone/>
            </a:pPr>
            <a:r>
              <a:rPr lang="en-US" sz="1000" dirty="0">
                <a:solidFill>
                  <a:srgbClr val="DDDDDD"/>
                </a:solidFill>
                <a:latin typeface="Calibri" pitchFamily="34" charset="0"/>
                <a:ea typeface="Calibri" pitchFamily="34" charset="-122"/>
                <a:cs typeface="Calibri" pitchFamily="34" charset="-120"/>
              </a:rPr>
              <a:t>A SAT solver really solves NP-complete instances and emits a certificate — by resolution, not superposition.  The discrete world has its own laws.</a:t>
            </a:r>
            <a:endParaRPr lang="en-US" sz="1000" dirty="0"/>
          </a:p>
        </p:txBody>
      </p:sp>
      <p:sp>
        <p:nvSpPr>
          <p:cNvPr id="13" name="Shape 11"/>
          <p:cNvSpPr/>
          <p:nvPr/>
        </p:nvSpPr>
        <p:spPr>
          <a:xfrm>
            <a:off x="640080" y="3364992"/>
            <a:ext cx="10881360" cy="1371600"/>
          </a:xfrm>
          <a:prstGeom prst="roundRect">
            <a:avLst>
              <a:gd name="adj" fmla="val 3667"/>
            </a:avLst>
          </a:prstGeom>
          <a:solidFill>
            <a:srgbClr val="14141D"/>
          </a:solidFill>
          <a:ln w="12700">
            <a:solidFill>
              <a:srgbClr val="2A2A38"/>
            </a:solidFill>
            <a:prstDash val="solid"/>
          </a:ln>
        </p:spPr>
      </p:sp>
      <p:sp>
        <p:nvSpPr>
          <p:cNvPr id="14" name="Text 12"/>
          <p:cNvSpPr/>
          <p:nvPr/>
        </p:nvSpPr>
        <p:spPr>
          <a:xfrm>
            <a:off x="914400" y="3511296"/>
            <a:ext cx="1005840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REFINEMENT: WHERE THE PROOFS LIVE vs WHERE THE FLOPS LIVE</a:t>
            </a:r>
            <a:endParaRPr lang="en-US" sz="1250" dirty="0"/>
          </a:p>
        </p:txBody>
      </p:sp>
      <p:sp>
        <p:nvSpPr>
          <p:cNvPr id="15" name="Text 13"/>
          <p:cNvSpPr/>
          <p:nvPr/>
        </p:nvSpPr>
        <p:spPr>
          <a:xfrm>
            <a:off x="914400" y="3785616"/>
            <a:ext cx="10332720" cy="868680"/>
          </a:xfrm>
          <a:prstGeom prst="rect">
            <a:avLst/>
          </a:prstGeom>
          <a:noFill/>
          <a:ln/>
        </p:spPr>
        <p:txBody>
          <a:bodyPr wrap="square" lIns="0" tIns="0" rIns="0" bIns="0" rtlCol="0" anchor="ctr"/>
          <a:lstStyle/>
          <a:p>
            <a:pPr indent="0" marL="0">
              <a:lnSpc>
                <a:spcPct val="110000"/>
              </a:lnSpc>
              <a:buNone/>
            </a:pPr>
            <a:r>
              <a:rPr lang="en-US" sz="1150" dirty="0">
                <a:solidFill>
                  <a:srgbClr val="DDDDDD"/>
                </a:solidFill>
                <a:latin typeface="Calibri" pitchFamily="34" charset="0"/>
                <a:ea typeface="Calibri" pitchFamily="34" charset="-122"/>
                <a:cs typeface="Calibri" pitchFamily="34" charset="-120"/>
              </a:rPr>
              <a:t>Convexity signs the warranty — but interior-point runs Newton systems inside.  Contraction guarantees convergence — but each sweep, in practice, is matrix multiplies.  Integrable systems solve by hidden linearization.  Several structures make problems PROVABLY solvable; only one is COMPUTABLE at scale, and the others route their inner loops through it.  Linear algebra does the work; the other structures sign the warranty.</a:t>
            </a:r>
            <a:endParaRPr lang="en-US" sz="1150" dirty="0"/>
          </a:p>
        </p:txBody>
      </p:sp>
      <p:sp>
        <p:nvSpPr>
          <p:cNvPr id="16" name="Shape 14"/>
          <p:cNvSpPr/>
          <p:nvPr/>
        </p:nvSpPr>
        <p:spPr>
          <a:xfrm>
            <a:off x="640080" y="4892040"/>
            <a:ext cx="10881360" cy="1188720"/>
          </a:xfrm>
          <a:prstGeom prst="roundRect">
            <a:avLst>
              <a:gd name="adj" fmla="val 4231"/>
            </a:avLst>
          </a:prstGeom>
          <a:solidFill>
            <a:srgbClr val="14141D"/>
          </a:solidFill>
          <a:ln w="12700">
            <a:solidFill>
              <a:srgbClr val="2A2A38"/>
            </a:solidFill>
            <a:prstDash val="solid"/>
          </a:ln>
        </p:spPr>
      </p:sp>
      <p:sp>
        <p:nvSpPr>
          <p:cNvPr id="17" name="Text 15"/>
          <p:cNvSpPr/>
          <p:nvPr/>
        </p:nvSpPr>
        <p:spPr>
          <a:xfrm>
            <a:off x="914400" y="5038344"/>
            <a:ext cx="1005840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AND THE CLAIM IS GETTING TRUER — BY CONSTRUCTION</a:t>
            </a:r>
            <a:endParaRPr lang="en-US" sz="1250" dirty="0"/>
          </a:p>
        </p:txBody>
      </p:sp>
      <p:sp>
        <p:nvSpPr>
          <p:cNvPr id="18" name="Text 16"/>
          <p:cNvSpPr/>
          <p:nvPr/>
        </p:nvSpPr>
        <p:spPr>
          <a:xfrm>
            <a:off x="914400" y="5312664"/>
            <a:ext cx="10332720" cy="685800"/>
          </a:xfrm>
          <a:prstGeom prst="rect">
            <a:avLst/>
          </a:prstGeom>
          <a:noFill/>
          <a:ln/>
        </p:spPr>
        <p:txBody>
          <a:bodyPr wrap="square" lIns="0" tIns="0" rIns="0" bIns="0" rtlCol="0" anchor="ctr"/>
          <a:lstStyle/>
          <a:p>
            <a:pPr indent="0" marL="0">
              <a:lnSpc>
                <a:spcPct val="108000"/>
              </a:lnSpc>
              <a:buNone/>
            </a:pPr>
            <a:r>
              <a:rPr lang="en-US" sz="1150" dirty="0">
                <a:solidFill>
                  <a:srgbClr val="DDDDDD"/>
                </a:solidFill>
                <a:latin typeface="Calibri" pitchFamily="34" charset="0"/>
                <a:ea typeface="Calibri" pitchFamily="34" charset="-122"/>
                <a:cs typeface="Calibri" pitchFamily="34" charset="-120"/>
              </a:rPr>
              <a:t>The tensor core froze matmul because everything routes through it; now algorithms reshape themselves to feed the frozen unit.  “Solvable” has always meant “reducible to what our instruments perform” — and we have built planetary-scale instruments for exactly one operation.  The pendulum, operating on mathematics itself.</a:t>
            </a:r>
            <a:endParaRPr lang="en-US" sz="1150" dirty="0"/>
          </a:p>
        </p:txBody>
      </p:sp>
      <p:sp>
        <p:nvSpPr>
          <p:cNvPr id="19" name="Shape 17"/>
          <p:cNvSpPr/>
          <p:nvPr/>
        </p:nvSpPr>
        <p:spPr>
          <a:xfrm>
            <a:off x="640080" y="6236208"/>
            <a:ext cx="10881360" cy="502920"/>
          </a:xfrm>
          <a:prstGeom prst="roundRect">
            <a:avLst>
              <a:gd name="adj" fmla="val 10000"/>
            </a:avLst>
          </a:prstGeom>
          <a:solidFill>
            <a:srgbClr val="1A160C"/>
          </a:solidFill>
          <a:ln w="12700">
            <a:solidFill>
              <a:srgbClr val="2A2A38"/>
            </a:solidFill>
            <a:prstDash val="solid"/>
          </a:ln>
        </p:spPr>
      </p:sp>
      <p:sp>
        <p:nvSpPr>
          <p:cNvPr id="20" name="Text 18"/>
          <p:cNvSpPr/>
          <p:nvPr/>
        </p:nvSpPr>
        <p:spPr>
          <a:xfrm>
            <a:off x="914400" y="6309360"/>
            <a:ext cx="10332720" cy="365760"/>
          </a:xfrm>
          <a:prstGeom prst="rect">
            <a:avLst/>
          </a:prstGeom>
          <a:noFill/>
          <a:ln/>
        </p:spPr>
        <p:txBody>
          <a:bodyPr wrap="square" lIns="0" tIns="0" rIns="0" bIns="0" rtlCol="0" anchor="ctr"/>
          <a:lstStyle/>
          <a:p>
            <a:pPr indent="0" marL="0">
              <a:buNone/>
            </a:pPr>
            <a:r>
              <a:rPr lang="en-US" sz="1250" i="1" dirty="0">
                <a:solidFill>
                  <a:srgbClr val="E8A832"/>
                </a:solidFill>
                <a:latin typeface="Calibri" pitchFamily="34" charset="0"/>
                <a:ea typeface="Calibri" pitchFamily="34" charset="-122"/>
                <a:cs typeface="Calibri" pitchFamily="34" charset="-120"/>
              </a:rPr>
              <a:t>Concede the taxonomy, keep the thesis: scoped to the continuum, no counterexample survives.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THE RABBIT HOLES · THE METHOD, DEMONSTRATED</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One rabbit hole, end to end</a:t>
            </a:r>
            <a:endParaRPr lang="en-US" sz="2700" dirty="0"/>
          </a:p>
        </p:txBody>
      </p:sp>
      <p:sp>
        <p:nvSpPr>
          <p:cNvPr id="4" name="Shape 2"/>
          <p:cNvSpPr/>
          <p:nvPr/>
        </p:nvSpPr>
        <p:spPr>
          <a:xfrm>
            <a:off x="640080" y="1481328"/>
            <a:ext cx="274320" cy="274320"/>
          </a:xfrm>
          <a:prstGeom prst="roundRect">
            <a:avLst>
              <a:gd name="adj" fmla="val 16667"/>
            </a:avLst>
          </a:prstGeom>
          <a:solidFill>
            <a:srgbClr val="101B30"/>
          </a:solidFill>
          <a:ln w="15875">
            <a:solidFill>
              <a:srgbClr val="6AA6FF"/>
            </a:solidFill>
            <a:prstDash val="solid"/>
          </a:ln>
        </p:spPr>
      </p:sp>
      <p:sp>
        <p:nvSpPr>
          <p:cNvPr id="5" name="Text 3"/>
          <p:cNvSpPr/>
          <p:nvPr/>
        </p:nvSpPr>
        <p:spPr>
          <a:xfrm>
            <a:off x="640080" y="1470355"/>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6" name="Text 4"/>
          <p:cNvSpPr/>
          <p:nvPr/>
        </p:nvSpPr>
        <p:spPr>
          <a:xfrm>
            <a:off x="1024128" y="1470355"/>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FROM WEIERSTRASS TO THE GPU · §2 NOTE</a:t>
            </a:r>
            <a:endParaRPr lang="en-US" sz="1150" dirty="0"/>
          </a:p>
        </p:txBody>
      </p:sp>
      <p:sp>
        <p:nvSpPr>
          <p:cNvPr id="7" name="Shape 5"/>
          <p:cNvSpPr/>
          <p:nvPr/>
        </p:nvSpPr>
        <p:spPr>
          <a:xfrm>
            <a:off x="640080" y="1938528"/>
            <a:ext cx="10881360" cy="731520"/>
          </a:xfrm>
          <a:prstGeom prst="roundRect">
            <a:avLst>
              <a:gd name="adj" fmla="val 6875"/>
            </a:avLst>
          </a:prstGeom>
          <a:solidFill>
            <a:srgbClr val="14141D"/>
          </a:solidFill>
          <a:ln w="12700">
            <a:solidFill>
              <a:srgbClr val="2A2A38"/>
            </a:solidFill>
            <a:prstDash val="solid"/>
          </a:ln>
        </p:spPr>
      </p:sp>
      <p:sp>
        <p:nvSpPr>
          <p:cNvPr id="8" name="Text 6"/>
          <p:cNvSpPr/>
          <p:nvPr/>
        </p:nvSpPr>
        <p:spPr>
          <a:xfrm>
            <a:off x="914400" y="2029968"/>
            <a:ext cx="1234440" cy="274320"/>
          </a:xfrm>
          <a:prstGeom prst="rect">
            <a:avLst/>
          </a:prstGeom>
          <a:noFill/>
          <a:ln/>
        </p:spPr>
        <p:txBody>
          <a:bodyPr wrap="square" lIns="0" tIns="0" rIns="0" bIns="0" rtlCol="0" anchor="ctr"/>
          <a:lstStyle/>
          <a:p>
            <a:pPr indent="0" marL="0">
              <a:buNone/>
            </a:pPr>
            <a:r>
              <a:rPr lang="en-US" sz="1300" b="1" dirty="0">
                <a:solidFill>
                  <a:srgbClr val="CCCCCC"/>
                </a:solidFill>
                <a:latin typeface="Courier New" pitchFamily="34" charset="0"/>
                <a:ea typeface="Courier New" pitchFamily="34" charset="-122"/>
                <a:cs typeface="Courier New" pitchFamily="34" charset="-120"/>
              </a:rPr>
              <a:t>1872–85</a:t>
            </a:r>
            <a:endParaRPr lang="en-US" sz="1300" dirty="0"/>
          </a:p>
        </p:txBody>
      </p:sp>
      <p:sp>
        <p:nvSpPr>
          <p:cNvPr id="9" name="Text 7"/>
          <p:cNvSpPr/>
          <p:nvPr/>
        </p:nvSpPr>
        <p:spPr>
          <a:xfrm>
            <a:off x="2194560" y="2029968"/>
            <a:ext cx="2286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Weierstrass</a:t>
            </a:r>
            <a:endParaRPr lang="en-US" sz="1350" dirty="0"/>
          </a:p>
        </p:txBody>
      </p:sp>
      <p:sp>
        <p:nvSpPr>
          <p:cNvPr id="10" name="Text 8"/>
          <p:cNvSpPr/>
          <p:nvPr/>
        </p:nvSpPr>
        <p:spPr>
          <a:xfrm>
            <a:off x="4572000" y="2011680"/>
            <a:ext cx="6675120" cy="566928"/>
          </a:xfrm>
          <a:prstGeom prst="rect">
            <a:avLst/>
          </a:prstGeom>
          <a:noFill/>
          <a:ln/>
        </p:spPr>
        <p:txBody>
          <a:bodyPr wrap="square" lIns="0" tIns="0" rIns="0" bIns="0" rtlCol="0" anchor="ctr"/>
          <a:lstStyle/>
          <a:p>
            <a:pPr indent="0" marL="0">
              <a:lnSpc>
                <a:spcPct val="105000"/>
              </a:lnSpc>
              <a:buNone/>
            </a:pPr>
            <a:r>
              <a:rPr lang="en-US" sz="1150" dirty="0">
                <a:solidFill>
                  <a:srgbClr val="DDDDDD"/>
                </a:solidFill>
                <a:latin typeface="Calibri" pitchFamily="34" charset="0"/>
                <a:ea typeface="Calibri" pitchFamily="34" charset="-122"/>
                <a:cs typeface="Calibri" pitchFamily="34" charset="-120"/>
              </a:rPr>
              <a:t>The nowhere-differentiable monster — then the theorem: every continuous curve can be shadowed by a polynomial.  Existence only; no construction.</a:t>
            </a:r>
            <a:endParaRPr lang="en-US" sz="1150" dirty="0"/>
          </a:p>
        </p:txBody>
      </p:sp>
      <p:sp>
        <p:nvSpPr>
          <p:cNvPr id="11" name="Shape 9"/>
          <p:cNvSpPr/>
          <p:nvPr/>
        </p:nvSpPr>
        <p:spPr>
          <a:xfrm>
            <a:off x="640080" y="2779776"/>
            <a:ext cx="10881360" cy="731520"/>
          </a:xfrm>
          <a:prstGeom prst="roundRect">
            <a:avLst>
              <a:gd name="adj" fmla="val 6875"/>
            </a:avLst>
          </a:prstGeom>
          <a:solidFill>
            <a:srgbClr val="14141D"/>
          </a:solidFill>
          <a:ln w="12700">
            <a:solidFill>
              <a:srgbClr val="2A2A38"/>
            </a:solidFill>
            <a:prstDash val="solid"/>
          </a:ln>
        </p:spPr>
      </p:sp>
      <p:sp>
        <p:nvSpPr>
          <p:cNvPr id="12" name="Text 10"/>
          <p:cNvSpPr/>
          <p:nvPr/>
        </p:nvSpPr>
        <p:spPr>
          <a:xfrm>
            <a:off x="914400" y="2871216"/>
            <a:ext cx="1234440" cy="274320"/>
          </a:xfrm>
          <a:prstGeom prst="rect">
            <a:avLst/>
          </a:prstGeom>
          <a:noFill/>
          <a:ln/>
        </p:spPr>
        <p:txBody>
          <a:bodyPr wrap="square" lIns="0" tIns="0" rIns="0" bIns="0" rtlCol="0" anchor="ctr"/>
          <a:lstStyle/>
          <a:p>
            <a:pPr indent="0" marL="0">
              <a:buNone/>
            </a:pPr>
            <a:r>
              <a:rPr lang="en-US" sz="1300" b="1" dirty="0">
                <a:solidFill>
                  <a:srgbClr val="3CE8B2"/>
                </a:solidFill>
                <a:latin typeface="Courier New" pitchFamily="34" charset="0"/>
                <a:ea typeface="Courier New" pitchFamily="34" charset="-122"/>
                <a:cs typeface="Courier New" pitchFamily="34" charset="-120"/>
              </a:rPr>
              <a:t>1912</a:t>
            </a:r>
            <a:endParaRPr lang="en-US" sz="1300" dirty="0"/>
          </a:p>
        </p:txBody>
      </p:sp>
      <p:sp>
        <p:nvSpPr>
          <p:cNvPr id="13" name="Text 11"/>
          <p:cNvSpPr/>
          <p:nvPr/>
        </p:nvSpPr>
        <p:spPr>
          <a:xfrm>
            <a:off x="2194560" y="2871216"/>
            <a:ext cx="2286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Bernstein, Kharkov</a:t>
            </a:r>
            <a:endParaRPr lang="en-US" sz="1350" dirty="0"/>
          </a:p>
        </p:txBody>
      </p:sp>
      <p:sp>
        <p:nvSpPr>
          <p:cNvPr id="14" name="Text 12"/>
          <p:cNvSpPr/>
          <p:nvPr/>
        </p:nvSpPr>
        <p:spPr>
          <a:xfrm>
            <a:off x="4572000" y="2852928"/>
            <a:ext cx="6675120" cy="566928"/>
          </a:xfrm>
          <a:prstGeom prst="rect">
            <a:avLst/>
          </a:prstGeom>
          <a:noFill/>
          <a:ln/>
        </p:spPr>
        <p:txBody>
          <a:bodyPr wrap="square" lIns="0" tIns="0" rIns="0" bIns="0" rtlCol="0" anchor="ctr"/>
          <a:lstStyle/>
          <a:p>
            <a:pPr indent="0" marL="0">
              <a:lnSpc>
                <a:spcPct val="105000"/>
              </a:lnSpc>
              <a:buNone/>
            </a:pPr>
            <a:r>
              <a:rPr lang="en-US" sz="1150" dirty="0">
                <a:solidFill>
                  <a:srgbClr val="DDDDDD"/>
                </a:solidFill>
                <a:latin typeface="Calibri" pitchFamily="34" charset="0"/>
                <a:ea typeface="Calibri" pitchFamily="34" charset="-122"/>
                <a:cs typeface="Calibri" pitchFamily="34" charset="-120"/>
              </a:rPr>
              <a:t>A two-page probabilistic proof.  The weights are binomial probabilities — the polynomials are born as a coin-flip distribution.</a:t>
            </a:r>
            <a:endParaRPr lang="en-US" sz="1150" dirty="0"/>
          </a:p>
        </p:txBody>
      </p:sp>
      <p:sp>
        <p:nvSpPr>
          <p:cNvPr id="15" name="Shape 13"/>
          <p:cNvSpPr/>
          <p:nvPr/>
        </p:nvSpPr>
        <p:spPr>
          <a:xfrm>
            <a:off x="640080" y="3621024"/>
            <a:ext cx="10881360" cy="731520"/>
          </a:xfrm>
          <a:prstGeom prst="roundRect">
            <a:avLst>
              <a:gd name="adj" fmla="val 6875"/>
            </a:avLst>
          </a:prstGeom>
          <a:solidFill>
            <a:srgbClr val="14141D"/>
          </a:solidFill>
          <a:ln w="12700">
            <a:solidFill>
              <a:srgbClr val="2A2A38"/>
            </a:solidFill>
            <a:prstDash val="solid"/>
          </a:ln>
        </p:spPr>
      </p:sp>
      <p:sp>
        <p:nvSpPr>
          <p:cNvPr id="16" name="Text 14"/>
          <p:cNvSpPr/>
          <p:nvPr/>
        </p:nvSpPr>
        <p:spPr>
          <a:xfrm>
            <a:off x="914400" y="3712464"/>
            <a:ext cx="1234440" cy="274320"/>
          </a:xfrm>
          <a:prstGeom prst="rect">
            <a:avLst/>
          </a:prstGeom>
          <a:noFill/>
          <a:ln/>
        </p:spPr>
        <p:txBody>
          <a:bodyPr wrap="square" lIns="0" tIns="0" rIns="0" bIns="0" rtlCol="0" anchor="ctr"/>
          <a:lstStyle/>
          <a:p>
            <a:pPr indent="0" marL="0">
              <a:buNone/>
            </a:pPr>
            <a:r>
              <a:rPr lang="en-US" sz="1300" b="1" dirty="0">
                <a:solidFill>
                  <a:srgbClr val="6AA6FF"/>
                </a:solidFill>
                <a:latin typeface="Courier New" pitchFamily="34" charset="0"/>
                <a:ea typeface="Courier New" pitchFamily="34" charset="-122"/>
                <a:cs typeface="Courier New" pitchFamily="34" charset="-120"/>
              </a:rPr>
              <a:t>1959</a:t>
            </a:r>
            <a:endParaRPr lang="en-US" sz="1300" dirty="0"/>
          </a:p>
        </p:txBody>
      </p:sp>
      <p:sp>
        <p:nvSpPr>
          <p:cNvPr id="17" name="Text 15"/>
          <p:cNvSpPr/>
          <p:nvPr/>
        </p:nvSpPr>
        <p:spPr>
          <a:xfrm>
            <a:off x="2194560" y="3712464"/>
            <a:ext cx="2286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 Casteljau, Citroën</a:t>
            </a:r>
            <a:endParaRPr lang="en-US" sz="1350" dirty="0"/>
          </a:p>
        </p:txBody>
      </p:sp>
      <p:sp>
        <p:nvSpPr>
          <p:cNvPr id="18" name="Text 16"/>
          <p:cNvSpPr/>
          <p:nvPr/>
        </p:nvSpPr>
        <p:spPr>
          <a:xfrm>
            <a:off x="4572000" y="3694176"/>
            <a:ext cx="6675120" cy="566928"/>
          </a:xfrm>
          <a:prstGeom prst="rect">
            <a:avLst/>
          </a:prstGeom>
          <a:noFill/>
          <a:ln/>
        </p:spPr>
        <p:txBody>
          <a:bodyPr wrap="square" lIns="0" tIns="0" rIns="0" bIns="0" rtlCol="0" anchor="ctr"/>
          <a:lstStyle/>
          <a:p>
            <a:pPr indent="0" marL="0">
              <a:lnSpc>
                <a:spcPct val="105000"/>
              </a:lnSpc>
              <a:buNone/>
            </a:pPr>
            <a:r>
              <a:rPr lang="en-US" sz="1150" dirty="0">
                <a:solidFill>
                  <a:srgbClr val="DDDDDD"/>
                </a:solidFill>
                <a:latin typeface="Calibri" pitchFamily="34" charset="0"/>
                <a:ea typeface="Calibri" pitchFamily="34" charset="-122"/>
                <a:cs typeface="Calibri" pitchFamily="34" charset="-120"/>
              </a:rPr>
              <a:t>Repeated linear interpolation turns car bodies into equations — kept secret, so the curves take Bézier’s name.</a:t>
            </a:r>
            <a:endParaRPr lang="en-US" sz="1150" dirty="0"/>
          </a:p>
        </p:txBody>
      </p:sp>
      <p:sp>
        <p:nvSpPr>
          <p:cNvPr id="19" name="Shape 17"/>
          <p:cNvSpPr/>
          <p:nvPr/>
        </p:nvSpPr>
        <p:spPr>
          <a:xfrm>
            <a:off x="640080" y="4462272"/>
            <a:ext cx="10881360" cy="731520"/>
          </a:xfrm>
          <a:prstGeom prst="roundRect">
            <a:avLst>
              <a:gd name="adj" fmla="val 6875"/>
            </a:avLst>
          </a:prstGeom>
          <a:solidFill>
            <a:srgbClr val="14141D"/>
          </a:solidFill>
          <a:ln w="12700">
            <a:solidFill>
              <a:srgbClr val="2A2A38"/>
            </a:solidFill>
            <a:prstDash val="solid"/>
          </a:ln>
        </p:spPr>
      </p:sp>
      <p:sp>
        <p:nvSpPr>
          <p:cNvPr id="20" name="Text 18"/>
          <p:cNvSpPr/>
          <p:nvPr/>
        </p:nvSpPr>
        <p:spPr>
          <a:xfrm>
            <a:off x="914400" y="4553712"/>
            <a:ext cx="1234440" cy="274320"/>
          </a:xfrm>
          <a:prstGeom prst="rect">
            <a:avLst/>
          </a:prstGeom>
          <a:noFill/>
          <a:ln/>
        </p:spPr>
        <p:txBody>
          <a:bodyPr wrap="square" lIns="0" tIns="0" rIns="0" bIns="0" rtlCol="0" anchor="ctr"/>
          <a:lstStyle/>
          <a:p>
            <a:pPr indent="0" marL="0">
              <a:buNone/>
            </a:pPr>
            <a:r>
              <a:rPr lang="en-US" sz="1300" b="1" dirty="0">
                <a:solidFill>
                  <a:srgbClr val="6AA6FF"/>
                </a:solidFill>
                <a:latin typeface="Courier New" pitchFamily="34" charset="0"/>
                <a:ea typeface="Courier New" pitchFamily="34" charset="-122"/>
                <a:cs typeface="Courier New" pitchFamily="34" charset="-120"/>
              </a:rPr>
              <a:t>1972–</a:t>
            </a:r>
            <a:endParaRPr lang="en-US" sz="1300" dirty="0"/>
          </a:p>
        </p:txBody>
      </p:sp>
      <p:sp>
        <p:nvSpPr>
          <p:cNvPr id="21" name="Text 19"/>
          <p:cNvSpPr/>
          <p:nvPr/>
        </p:nvSpPr>
        <p:spPr>
          <a:xfrm>
            <a:off x="2194560" y="4553712"/>
            <a:ext cx="2286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Forrest · PostScript</a:t>
            </a:r>
            <a:endParaRPr lang="en-US" sz="1350" dirty="0"/>
          </a:p>
        </p:txBody>
      </p:sp>
      <p:sp>
        <p:nvSpPr>
          <p:cNvPr id="22" name="Text 20"/>
          <p:cNvSpPr/>
          <p:nvPr/>
        </p:nvSpPr>
        <p:spPr>
          <a:xfrm>
            <a:off x="4572000" y="4535424"/>
            <a:ext cx="6675120" cy="566928"/>
          </a:xfrm>
          <a:prstGeom prst="rect">
            <a:avLst/>
          </a:prstGeom>
          <a:noFill/>
          <a:ln/>
        </p:spPr>
        <p:txBody>
          <a:bodyPr wrap="square" lIns="0" tIns="0" rIns="0" bIns="0" rtlCol="0" anchor="ctr"/>
          <a:lstStyle/>
          <a:p>
            <a:pPr indent="0" marL="0">
              <a:lnSpc>
                <a:spcPct val="105000"/>
              </a:lnSpc>
              <a:buNone/>
            </a:pPr>
            <a:r>
              <a:rPr lang="en-US" sz="1150" dirty="0">
                <a:solidFill>
                  <a:srgbClr val="DDDDDD"/>
                </a:solidFill>
                <a:latin typeface="Calibri" pitchFamily="34" charset="0"/>
                <a:ea typeface="Calibri" pitchFamily="34" charset="-122"/>
                <a:cs typeface="Calibri" pitchFamily="34" charset="-120"/>
              </a:rPr>
              <a:t>The industrial curves are recognized as Bernstein polynomials; every rendered glyph becomes one.</a:t>
            </a:r>
            <a:endParaRPr lang="en-US" sz="1150" dirty="0"/>
          </a:p>
        </p:txBody>
      </p:sp>
      <p:sp>
        <p:nvSpPr>
          <p:cNvPr id="23" name="Shape 21"/>
          <p:cNvSpPr/>
          <p:nvPr/>
        </p:nvSpPr>
        <p:spPr>
          <a:xfrm>
            <a:off x="640080" y="5303520"/>
            <a:ext cx="10881360" cy="731520"/>
          </a:xfrm>
          <a:prstGeom prst="roundRect">
            <a:avLst>
              <a:gd name="adj" fmla="val 6875"/>
            </a:avLst>
          </a:prstGeom>
          <a:solidFill>
            <a:srgbClr val="14141D"/>
          </a:solidFill>
          <a:ln w="12700">
            <a:solidFill>
              <a:srgbClr val="2A2A38"/>
            </a:solidFill>
            <a:prstDash val="solid"/>
          </a:ln>
        </p:spPr>
      </p:sp>
      <p:sp>
        <p:nvSpPr>
          <p:cNvPr id="24" name="Text 22"/>
          <p:cNvSpPr/>
          <p:nvPr/>
        </p:nvSpPr>
        <p:spPr>
          <a:xfrm>
            <a:off x="914400" y="5394960"/>
            <a:ext cx="1234440" cy="274320"/>
          </a:xfrm>
          <a:prstGeom prst="rect">
            <a:avLst/>
          </a:prstGeom>
          <a:noFill/>
          <a:ln/>
        </p:spPr>
        <p:txBody>
          <a:bodyPr wrap="square" lIns="0" tIns="0" rIns="0" bIns="0" rtlCol="0" anchor="ctr"/>
          <a:lstStyle/>
          <a:p>
            <a:pPr indent="0" marL="0">
              <a:buNone/>
            </a:pPr>
            <a:r>
              <a:rPr lang="en-US" sz="1300" b="1" dirty="0">
                <a:solidFill>
                  <a:srgbClr val="E8A832"/>
                </a:solidFill>
                <a:latin typeface="Courier New" pitchFamily="34" charset="0"/>
                <a:ea typeface="Courier New" pitchFamily="34" charset="-122"/>
                <a:cs typeface="Courier New" pitchFamily="34" charset="-120"/>
              </a:rPr>
              <a:t>2001–10</a:t>
            </a:r>
            <a:endParaRPr lang="en-US" sz="1300" dirty="0"/>
          </a:p>
        </p:txBody>
      </p:sp>
      <p:sp>
        <p:nvSpPr>
          <p:cNvPr id="25" name="Text 23"/>
          <p:cNvSpPr/>
          <p:nvPr/>
        </p:nvSpPr>
        <p:spPr>
          <a:xfrm>
            <a:off x="2194560" y="5394960"/>
            <a:ext cx="2286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TruForm → D3D11</a:t>
            </a:r>
            <a:endParaRPr lang="en-US" sz="1350" dirty="0"/>
          </a:p>
        </p:txBody>
      </p:sp>
      <p:sp>
        <p:nvSpPr>
          <p:cNvPr id="26" name="Text 24"/>
          <p:cNvSpPr/>
          <p:nvPr/>
        </p:nvSpPr>
        <p:spPr>
          <a:xfrm>
            <a:off x="4572000" y="5376672"/>
            <a:ext cx="6675120" cy="566928"/>
          </a:xfrm>
          <a:prstGeom prst="rect">
            <a:avLst/>
          </a:prstGeom>
          <a:noFill/>
          <a:ln/>
        </p:spPr>
        <p:txBody>
          <a:bodyPr wrap="square" lIns="0" tIns="0" rIns="0" bIns="0" rtlCol="0" anchor="ctr"/>
          <a:lstStyle/>
          <a:p>
            <a:pPr indent="0" marL="0">
              <a:lnSpc>
                <a:spcPct val="105000"/>
              </a:lnSpc>
              <a:buNone/>
            </a:pPr>
            <a:r>
              <a:rPr lang="en-US" sz="1150" dirty="0">
                <a:solidFill>
                  <a:srgbClr val="DDDDDD"/>
                </a:solidFill>
                <a:latin typeface="Calibri" pitchFamily="34" charset="0"/>
                <a:ea typeface="Calibri" pitchFamily="34" charset="-122"/>
                <a:cs typeface="Calibri" pitchFamily="34" charset="-120"/>
              </a:rPr>
              <a:t>Tessellation returns curves to hardware: the domain shader evaluates BernsteinBasis(u) per vertex — the NV1’s idea, one stage later.</a:t>
            </a:r>
            <a:endParaRPr lang="en-US" sz="1150" dirty="0"/>
          </a:p>
        </p:txBody>
      </p:sp>
      <p:sp>
        <p:nvSpPr>
          <p:cNvPr id="27" name="Text 25"/>
          <p:cNvSpPr/>
          <p:nvPr/>
        </p:nvSpPr>
        <p:spPr>
          <a:xfrm>
            <a:off x="640080" y="6263640"/>
            <a:ext cx="10881360" cy="457200"/>
          </a:xfrm>
          <a:prstGeom prst="rect">
            <a:avLst/>
          </a:prstGeom>
          <a:noFill/>
          <a:ln/>
        </p:spPr>
        <p:txBody>
          <a:bodyPr wrap="square" lIns="0" tIns="0" rIns="0" bIns="0" rtlCol="0" anchor="ctr"/>
          <a:lstStyle/>
          <a:p>
            <a:pPr indent="0" marL="0">
              <a:buNone/>
            </a:pPr>
            <a:r>
              <a:rPr lang="en-US" sz="1350" i="1" dirty="0">
                <a:solidFill>
                  <a:srgbClr val="E8A832"/>
                </a:solidFill>
                <a:latin typeface="Calibri" pitchFamily="34" charset="0"/>
                <a:ea typeface="Calibri" pitchFamily="34" charset="-122"/>
                <a:cs typeface="Calibri" pitchFamily="34" charset="-120"/>
              </a:rPr>
              <a:t>A question about one animation — “what is a quadratic patch?” — descended to 1912 probability and surfaced inside the silicon.  That is what the rabbit holes are for.</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Lesson 1 — It is a throughput machine</a:t>
            </a:r>
            <a:endParaRPr lang="en-US" sz="2700" dirty="0"/>
          </a:p>
        </p:txBody>
      </p:sp>
      <p:sp>
        <p:nvSpPr>
          <p:cNvPr id="4" name="Text 2"/>
          <p:cNvSpPr/>
          <p:nvPr/>
        </p:nvSpPr>
        <p:spPr>
          <a:xfrm>
            <a:off x="10561320" y="256032"/>
            <a:ext cx="1051560" cy="914400"/>
          </a:xfrm>
          <a:prstGeom prst="rect">
            <a:avLst/>
          </a:prstGeom>
          <a:noFill/>
          <a:ln/>
        </p:spPr>
        <p:txBody>
          <a:bodyPr wrap="square" lIns="0" tIns="0" rIns="0" bIns="0" rtlCol="0" anchor="ctr"/>
          <a:lstStyle/>
          <a:p>
            <a:pPr algn="r" indent="0" marL="0">
              <a:buNone/>
            </a:pPr>
            <a:r>
              <a:rPr lang="en-US" sz="5200" b="1" dirty="0">
                <a:solidFill>
                  <a:srgbClr val="23232F"/>
                </a:solidFill>
                <a:latin typeface="Courier New" pitchFamily="34" charset="0"/>
                <a:ea typeface="Courier New" pitchFamily="34" charset="-122"/>
                <a:cs typeface="Courier New" pitchFamily="34" charset="-120"/>
              </a:rPr>
              <a:t>1</a:t>
            </a:r>
            <a:endParaRPr lang="en-US" sz="5200" dirty="0"/>
          </a:p>
        </p:txBody>
      </p:sp>
      <p:sp>
        <p:nvSpPr>
          <p:cNvPr id="5" name="Shape 3"/>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6" name="Text 4"/>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HISTORY THAT EXPLAINS IT</a:t>
            </a:r>
            <a:endParaRPr lang="en-US" sz="1250" dirty="0"/>
          </a:p>
        </p:txBody>
      </p:sp>
      <p:sp>
        <p:nvSpPr>
          <p:cNvPr id="7" name="Text 5"/>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Gaming economics built it: millions of $300 cards, not thousands of $100k workstations — the volume flywheel from Section 2.</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A frame is millions of independent pixels; latency on any one of them is irrelevant.  The silicon inherited that: thousands of small, slow, simple cores.</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Nothing about CUDA changed the economics — compute rides on hardware shaped by games.</a:t>
            </a:r>
            <a:endParaRPr lang="en-US" sz="1250" dirty="0"/>
          </a:p>
        </p:txBody>
      </p:sp>
      <p:sp>
        <p:nvSpPr>
          <p:cNvPr id="8" name="Shape 6"/>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9" name="Text 7"/>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PRACTICE IT DEMANDS</a:t>
            </a:r>
            <a:endParaRPr lang="en-US" sz="1250" dirty="0"/>
          </a:p>
        </p:txBody>
      </p:sp>
      <p:sp>
        <p:nvSpPr>
          <p:cNvPr id="10" name="Text 8"/>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The first question of any port is not “how fast is the GPU?” but “is there enough parallel work to be worth the trip?”</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Small or serial work loses — not by a little, by orders of magnitude.  One fast core beats a thousand slow ones on a serial problem.</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Throughput-over-latency is not a setting.  It is the machine.</a:t>
            </a:r>
            <a:endParaRPr lang="en-US" sz="1250" dirty="0"/>
          </a:p>
        </p:txBody>
      </p:sp>
      <p:sp>
        <p:nvSpPr>
          <p:cNvPr id="11" name="Shape 9"/>
          <p:cNvSpPr/>
          <p:nvPr/>
        </p:nvSpPr>
        <p:spPr>
          <a:xfrm>
            <a:off x="640080" y="5349240"/>
            <a:ext cx="10881360" cy="868680"/>
          </a:xfrm>
          <a:prstGeom prst="roundRect">
            <a:avLst>
              <a:gd name="adj" fmla="val 5789"/>
            </a:avLst>
          </a:prstGeom>
          <a:solidFill>
            <a:srgbClr val="14141D"/>
          </a:solidFill>
          <a:ln w="12700">
            <a:solidFill>
              <a:srgbClr val="2A2A38"/>
            </a:solidFill>
            <a:prstDash val="solid"/>
          </a:ln>
        </p:spPr>
      </p:sp>
      <p:sp>
        <p:nvSpPr>
          <p:cNvPr id="12" name="Text 10"/>
          <p:cNvSpPr/>
          <p:nvPr/>
        </p:nvSpPr>
        <p:spPr>
          <a:xfrm>
            <a:off x="914400" y="5532120"/>
            <a:ext cx="10332720" cy="548640"/>
          </a:xfrm>
          <a:prstGeom prst="rect">
            <a:avLst/>
          </a:prstGeom>
          <a:noFill/>
          <a:ln/>
        </p:spPr>
        <p:txBody>
          <a:bodyPr wrap="square" lIns="0" tIns="0" rIns="0" bIns="0" rtlCol="0" anchor="ctr"/>
          <a:lstStyle/>
          <a:p>
            <a:pPr indent="0" marL="0">
              <a:lnSpc>
                <a:spcPct val="110000"/>
              </a:lnSpc>
              <a:buNone/>
            </a:pPr>
            <a:r>
              <a:rPr lang="en-US" sz="1450" i="1" dirty="0">
                <a:solidFill>
                  <a:srgbClr val="FFFFFF"/>
                </a:solidFill>
                <a:latin typeface="Calibri" pitchFamily="34" charset="0"/>
                <a:ea typeface="Calibri" pitchFamily="34" charset="-122"/>
                <a:cs typeface="Calibri" pitchFamily="34" charset="-120"/>
              </a:rPr>
              <a:t>The machine is a consequence of who paid for it.  Program the economics, not the brochure.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Lesson 2 — The programming model is the hardware</a:t>
            </a:r>
            <a:endParaRPr lang="en-US" sz="2700" dirty="0"/>
          </a:p>
        </p:txBody>
      </p:sp>
      <p:sp>
        <p:nvSpPr>
          <p:cNvPr id="4" name="Text 2"/>
          <p:cNvSpPr/>
          <p:nvPr/>
        </p:nvSpPr>
        <p:spPr>
          <a:xfrm>
            <a:off x="10561320" y="256032"/>
            <a:ext cx="1051560" cy="914400"/>
          </a:xfrm>
          <a:prstGeom prst="rect">
            <a:avLst/>
          </a:prstGeom>
          <a:noFill/>
          <a:ln/>
        </p:spPr>
        <p:txBody>
          <a:bodyPr wrap="square" lIns="0" tIns="0" rIns="0" bIns="0" rtlCol="0" anchor="ctr"/>
          <a:lstStyle/>
          <a:p>
            <a:pPr algn="r" indent="0" marL="0">
              <a:buNone/>
            </a:pPr>
            <a:r>
              <a:rPr lang="en-US" sz="5200" b="1" dirty="0">
                <a:solidFill>
                  <a:srgbClr val="23232F"/>
                </a:solidFill>
                <a:latin typeface="Courier New" pitchFamily="34" charset="0"/>
                <a:ea typeface="Courier New" pitchFamily="34" charset="-122"/>
                <a:cs typeface="Courier New" pitchFamily="34" charset="-120"/>
              </a:rPr>
              <a:t>2</a:t>
            </a:r>
            <a:endParaRPr lang="en-US" sz="5200" dirty="0"/>
          </a:p>
        </p:txBody>
      </p:sp>
      <p:sp>
        <p:nvSpPr>
          <p:cNvPr id="5" name="Shape 3"/>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6" name="Text 4"/>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HISTORY THAT EXPLAINS IT</a:t>
            </a:r>
            <a:endParaRPr lang="en-US" sz="1250" dirty="0"/>
          </a:p>
        </p:txBody>
      </p:sp>
      <p:sp>
        <p:nvSpPr>
          <p:cNvPr id="7" name="Text 5"/>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Section 1’s bargain: every pixel decided independently.  The model was always there — one function over many independent elements.</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Section 4’s hacks proved it: floats disguised as pixel colors, matrices as textures — general compute forced through a graphics-shaped hole.</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Brook (2004) named it — streams and kernels — and CUDA (2006) made it the native tongue.</a:t>
            </a:r>
            <a:endParaRPr lang="en-US" sz="1250" dirty="0"/>
          </a:p>
        </p:txBody>
      </p:sp>
      <p:sp>
        <p:nvSpPr>
          <p:cNvPr id="8" name="Shape 6"/>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9" name="Text 7"/>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PRACTICE IT DEMANDS</a:t>
            </a:r>
            <a:endParaRPr lang="en-US" sz="1250" dirty="0"/>
          </a:p>
        </p:txBody>
      </p:sp>
      <p:sp>
        <p:nvSpPr>
          <p:cNvPr id="10" name="Text 8"/>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Data-parallel code ports almost by transcription: one kernel, many elements, no cross-talk.</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Deeply serial code must be rethought, not translated.  If element i needs element i−1, you are fighting the machine’s founding assumption.</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Ask of every loop: are the iterations strangers to each other?</a:t>
            </a:r>
            <a:endParaRPr lang="en-US" sz="1250" dirty="0"/>
          </a:p>
        </p:txBody>
      </p:sp>
      <p:sp>
        <p:nvSpPr>
          <p:cNvPr id="11" name="Shape 9"/>
          <p:cNvSpPr/>
          <p:nvPr/>
        </p:nvSpPr>
        <p:spPr>
          <a:xfrm>
            <a:off x="6537960" y="4681728"/>
            <a:ext cx="274320" cy="274320"/>
          </a:xfrm>
          <a:prstGeom prst="roundRect">
            <a:avLst>
              <a:gd name="adj" fmla="val 16667"/>
            </a:avLst>
          </a:prstGeom>
          <a:solidFill>
            <a:srgbClr val="101B30"/>
          </a:solidFill>
          <a:ln w="15875">
            <a:solidFill>
              <a:srgbClr val="6AA6FF"/>
            </a:solidFill>
            <a:prstDash val="solid"/>
          </a:ln>
        </p:spPr>
      </p:sp>
      <p:sp>
        <p:nvSpPr>
          <p:cNvPr id="12" name="Text 10"/>
          <p:cNvSpPr/>
          <p:nvPr/>
        </p:nvSpPr>
        <p:spPr>
          <a:xfrm>
            <a:off x="6537960" y="4670755"/>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13" name="Text 11"/>
          <p:cNvSpPr/>
          <p:nvPr/>
        </p:nvSpPr>
        <p:spPr>
          <a:xfrm>
            <a:off x="6922008" y="4670755"/>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MATRIX ADDITION AS PIXELS · §4 NOTE</a:t>
            </a:r>
            <a:endParaRPr lang="en-US" sz="1150" dirty="0"/>
          </a:p>
        </p:txBody>
      </p:sp>
      <p:sp>
        <p:nvSpPr>
          <p:cNvPr id="14" name="Shape 12"/>
          <p:cNvSpPr/>
          <p:nvPr/>
        </p:nvSpPr>
        <p:spPr>
          <a:xfrm>
            <a:off x="640080" y="5349240"/>
            <a:ext cx="10881360" cy="868680"/>
          </a:xfrm>
          <a:prstGeom prst="roundRect">
            <a:avLst>
              <a:gd name="adj" fmla="val 5789"/>
            </a:avLst>
          </a:prstGeom>
          <a:solidFill>
            <a:srgbClr val="14141D"/>
          </a:solidFill>
          <a:ln w="12700">
            <a:solidFill>
              <a:srgbClr val="2A2A38"/>
            </a:solidFill>
            <a:prstDash val="solid"/>
          </a:ln>
        </p:spPr>
      </p:sp>
      <p:sp>
        <p:nvSpPr>
          <p:cNvPr id="15" name="Text 13"/>
          <p:cNvSpPr/>
          <p:nvPr/>
        </p:nvSpPr>
        <p:spPr>
          <a:xfrm>
            <a:off x="914400" y="5532120"/>
            <a:ext cx="10332720" cy="548640"/>
          </a:xfrm>
          <a:prstGeom prst="rect">
            <a:avLst/>
          </a:prstGeom>
          <a:noFill/>
          <a:ln/>
        </p:spPr>
        <p:txBody>
          <a:bodyPr wrap="square" lIns="0" tIns="0" rIns="0" bIns="0" rtlCol="0" anchor="ctr"/>
          <a:lstStyle/>
          <a:p>
            <a:pPr indent="0" marL="0">
              <a:lnSpc>
                <a:spcPct val="110000"/>
              </a:lnSpc>
              <a:buNone/>
            </a:pPr>
            <a:r>
              <a:rPr lang="en-US" sz="1450" i="1" dirty="0">
                <a:solidFill>
                  <a:srgbClr val="FFFFFF"/>
                </a:solidFill>
                <a:latin typeface="Calibri" pitchFamily="34" charset="0"/>
                <a:ea typeface="Calibri" pitchFamily="34" charset="-122"/>
                <a:cs typeface="Calibri" pitchFamily="34" charset="-120"/>
              </a:rPr>
              <a:t>CUDA did not invent the model — it stopped requiring the disguise.  The hardware’s shape was the model all along.</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Lesson 3 — Call a library, not a kernel</a:t>
            </a:r>
            <a:endParaRPr lang="en-US" sz="2700" dirty="0"/>
          </a:p>
        </p:txBody>
      </p:sp>
      <p:sp>
        <p:nvSpPr>
          <p:cNvPr id="4" name="Text 2"/>
          <p:cNvSpPr/>
          <p:nvPr/>
        </p:nvSpPr>
        <p:spPr>
          <a:xfrm>
            <a:off x="10561320" y="256032"/>
            <a:ext cx="1051560" cy="914400"/>
          </a:xfrm>
          <a:prstGeom prst="rect">
            <a:avLst/>
          </a:prstGeom>
          <a:noFill/>
          <a:ln/>
        </p:spPr>
        <p:txBody>
          <a:bodyPr wrap="square" lIns="0" tIns="0" rIns="0" bIns="0" rtlCol="0" anchor="ctr"/>
          <a:lstStyle/>
          <a:p>
            <a:pPr algn="r" indent="0" marL="0">
              <a:buNone/>
            </a:pPr>
            <a:r>
              <a:rPr lang="en-US" sz="5200" b="1" dirty="0">
                <a:solidFill>
                  <a:srgbClr val="23232F"/>
                </a:solidFill>
                <a:latin typeface="Courier New" pitchFamily="34" charset="0"/>
                <a:ea typeface="Courier New" pitchFamily="34" charset="-122"/>
                <a:cs typeface="Courier New" pitchFamily="34" charset="-120"/>
              </a:rPr>
              <a:t>3</a:t>
            </a:r>
            <a:endParaRPr lang="en-US" sz="5200" dirty="0"/>
          </a:p>
        </p:txBody>
      </p:sp>
      <p:sp>
        <p:nvSpPr>
          <p:cNvPr id="5" name="Shape 3"/>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6" name="Text 4"/>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HISTORY THAT EXPLAINS IT</a:t>
            </a:r>
            <a:endParaRPr lang="en-US" sz="1250" dirty="0"/>
          </a:p>
        </p:txBody>
      </p:sp>
      <p:sp>
        <p:nvSpPr>
          <p:cNvPr id="7" name="Text 5"/>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Section 5’s bet: the integrated proprietary stack — CUDA plus its libraries — beat the open alternative that shipped as a spec.</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cuBLAS, cuFFT, cuSOLVER, cuDNN: vendor kernels tuned per architecture, by the people who designed the silicon.</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When tensor cores arrived in 2017, code that called the libraries got them for free — without changing a line.</a:t>
            </a:r>
            <a:endParaRPr lang="en-US" sz="1250" dirty="0"/>
          </a:p>
        </p:txBody>
      </p:sp>
      <p:sp>
        <p:nvSpPr>
          <p:cNvPr id="8" name="Shape 6"/>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9" name="Text 7"/>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PRACTICE IT DEMANDS</a:t>
            </a:r>
            <a:endParaRPr lang="en-US" sz="1250" dirty="0"/>
          </a:p>
        </p:txBody>
      </p:sp>
      <p:sp>
        <p:nvSpPr>
          <p:cNvPr id="10" name="Text 8"/>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Hand-written kernels lose to vendor libraries on the operations that matter — and age worse with every hardware generation.</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Write to the operation, not the device: say “multiply these matrices,” let the library choose the silicon.</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Your own kernels are for the glue between library calls — not the linear algebra inside them.</a:t>
            </a:r>
            <a:endParaRPr lang="en-US" sz="1250" dirty="0"/>
          </a:p>
        </p:txBody>
      </p:sp>
      <p:sp>
        <p:nvSpPr>
          <p:cNvPr id="11" name="Shape 9"/>
          <p:cNvSpPr/>
          <p:nvPr/>
        </p:nvSpPr>
        <p:spPr>
          <a:xfrm>
            <a:off x="6537960" y="4681728"/>
            <a:ext cx="274320" cy="274320"/>
          </a:xfrm>
          <a:prstGeom prst="roundRect">
            <a:avLst>
              <a:gd name="adj" fmla="val 16667"/>
            </a:avLst>
          </a:prstGeom>
          <a:solidFill>
            <a:srgbClr val="101B30"/>
          </a:solidFill>
          <a:ln w="15875">
            <a:solidFill>
              <a:srgbClr val="6AA6FF"/>
            </a:solidFill>
            <a:prstDash val="solid"/>
          </a:ln>
        </p:spPr>
      </p:sp>
      <p:sp>
        <p:nvSpPr>
          <p:cNvPr id="12" name="Text 10"/>
          <p:cNvSpPr/>
          <p:nvPr/>
        </p:nvSpPr>
        <p:spPr>
          <a:xfrm>
            <a:off x="6537960" y="4670755"/>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13" name="Text 11"/>
          <p:cNvSpPr/>
          <p:nvPr/>
        </p:nvSpPr>
        <p:spPr>
          <a:xfrm>
            <a:off x="6922008" y="4670755"/>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THE RUNWAY AND THE PLANE · §7 NOTE</a:t>
            </a:r>
            <a:endParaRPr lang="en-US" sz="1150" dirty="0"/>
          </a:p>
        </p:txBody>
      </p:sp>
      <p:sp>
        <p:nvSpPr>
          <p:cNvPr id="14" name="Shape 12"/>
          <p:cNvSpPr/>
          <p:nvPr/>
        </p:nvSpPr>
        <p:spPr>
          <a:xfrm>
            <a:off x="640080" y="5349240"/>
            <a:ext cx="10881360" cy="868680"/>
          </a:xfrm>
          <a:prstGeom prst="roundRect">
            <a:avLst>
              <a:gd name="adj" fmla="val 5789"/>
            </a:avLst>
          </a:prstGeom>
          <a:solidFill>
            <a:srgbClr val="14141D"/>
          </a:solidFill>
          <a:ln w="12700">
            <a:solidFill>
              <a:srgbClr val="2A2A38"/>
            </a:solidFill>
            <a:prstDash val="solid"/>
          </a:ln>
        </p:spPr>
      </p:sp>
      <p:sp>
        <p:nvSpPr>
          <p:cNvPr id="15" name="Text 13"/>
          <p:cNvSpPr/>
          <p:nvPr/>
        </p:nvSpPr>
        <p:spPr>
          <a:xfrm>
            <a:off x="914400" y="5532120"/>
            <a:ext cx="10332720" cy="548640"/>
          </a:xfrm>
          <a:prstGeom prst="rect">
            <a:avLst/>
          </a:prstGeom>
          <a:noFill/>
          <a:ln/>
        </p:spPr>
        <p:txBody>
          <a:bodyPr wrap="square" lIns="0" tIns="0" rIns="0" bIns="0" rtlCol="0" anchor="ctr"/>
          <a:lstStyle/>
          <a:p>
            <a:pPr indent="0" marL="0">
              <a:lnSpc>
                <a:spcPct val="110000"/>
              </a:lnSpc>
              <a:buNone/>
            </a:pPr>
            <a:r>
              <a:rPr lang="en-US" sz="1450" i="1" dirty="0">
                <a:solidFill>
                  <a:srgbClr val="FFFFFF"/>
                </a:solidFill>
                <a:latin typeface="Calibri" pitchFamily="34" charset="0"/>
                <a:ea typeface="Calibri" pitchFamily="34" charset="-122"/>
                <a:cs typeface="Calibri" pitchFamily="34" charset="-120"/>
              </a:rPr>
              <a:t>The library is the contract that outlives the hardware.  It is also the only door to the tensor cores.</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Lesson 4 — Moving data is the hidden cost</a:t>
            </a:r>
            <a:endParaRPr lang="en-US" sz="2700" dirty="0"/>
          </a:p>
        </p:txBody>
      </p:sp>
      <p:sp>
        <p:nvSpPr>
          <p:cNvPr id="4" name="Text 2"/>
          <p:cNvSpPr/>
          <p:nvPr/>
        </p:nvSpPr>
        <p:spPr>
          <a:xfrm>
            <a:off x="10561320" y="256032"/>
            <a:ext cx="1051560" cy="914400"/>
          </a:xfrm>
          <a:prstGeom prst="rect">
            <a:avLst/>
          </a:prstGeom>
          <a:noFill/>
          <a:ln/>
        </p:spPr>
        <p:txBody>
          <a:bodyPr wrap="square" lIns="0" tIns="0" rIns="0" bIns="0" rtlCol="0" anchor="ctr"/>
          <a:lstStyle/>
          <a:p>
            <a:pPr algn="r" indent="0" marL="0">
              <a:buNone/>
            </a:pPr>
            <a:r>
              <a:rPr lang="en-US" sz="5200" b="1" dirty="0">
                <a:solidFill>
                  <a:srgbClr val="23232F"/>
                </a:solidFill>
                <a:latin typeface="Courier New" pitchFamily="34" charset="0"/>
                <a:ea typeface="Courier New" pitchFamily="34" charset="-122"/>
                <a:cs typeface="Courier New" pitchFamily="34" charset="-120"/>
              </a:rPr>
              <a:t>4</a:t>
            </a:r>
            <a:endParaRPr lang="en-US" sz="5200" dirty="0"/>
          </a:p>
        </p:txBody>
      </p:sp>
      <p:sp>
        <p:nvSpPr>
          <p:cNvPr id="5" name="Shape 3"/>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6" name="Text 4"/>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HISTORY THAT EXPLAINS IT</a:t>
            </a:r>
            <a:endParaRPr lang="en-US" sz="1250" dirty="0"/>
          </a:p>
        </p:txBody>
      </p:sp>
      <p:sp>
        <p:nvSpPr>
          <p:cNvPr id="7" name="Text 5"/>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The GPU is a coprocessor across a bus — Section 6’s HPC skeptics said exactly this, and they were right; it just was not fatal.</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Tianhe-1A and Titan won by keeping data resident on the device, not by shuttling it per operation.</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The exception proves the rule: matmul’s n³-on-n² is why it can be frozen at all (Slide 4).</a:t>
            </a:r>
            <a:endParaRPr lang="en-US" sz="1250" dirty="0"/>
          </a:p>
        </p:txBody>
      </p:sp>
      <p:sp>
        <p:nvSpPr>
          <p:cNvPr id="8" name="Shape 6"/>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9" name="Text 7"/>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PRACTICE IT DEMANDS</a:t>
            </a:r>
            <a:endParaRPr lang="en-US" sz="1250" dirty="0"/>
          </a:p>
        </p:txBody>
      </p:sp>
      <p:sp>
        <p:nvSpPr>
          <p:cNvPr id="10" name="Text 8"/>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Arithmetic per byte moved must pay for the move.  Count it before you port — this is the roofline question.</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Keep data resident: chain operations on the device; the worst pattern is transfer–compute–transfer per step.</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A kernel that is “slower than the CPU” is usually a transfer problem wearing a compute costume.</a:t>
            </a:r>
            <a:endParaRPr lang="en-US" sz="1250" dirty="0"/>
          </a:p>
        </p:txBody>
      </p:sp>
      <p:sp>
        <p:nvSpPr>
          <p:cNvPr id="11" name="Shape 9"/>
          <p:cNvSpPr/>
          <p:nvPr/>
        </p:nvSpPr>
        <p:spPr>
          <a:xfrm>
            <a:off x="640080" y="5349240"/>
            <a:ext cx="10881360" cy="868680"/>
          </a:xfrm>
          <a:prstGeom prst="roundRect">
            <a:avLst>
              <a:gd name="adj" fmla="val 5789"/>
            </a:avLst>
          </a:prstGeom>
          <a:solidFill>
            <a:srgbClr val="14141D"/>
          </a:solidFill>
          <a:ln w="12700">
            <a:solidFill>
              <a:srgbClr val="2A2A38"/>
            </a:solidFill>
            <a:prstDash val="solid"/>
          </a:ln>
        </p:spPr>
      </p:sp>
      <p:sp>
        <p:nvSpPr>
          <p:cNvPr id="12" name="Text 10"/>
          <p:cNvSpPr/>
          <p:nvPr/>
        </p:nvSpPr>
        <p:spPr>
          <a:xfrm>
            <a:off x="914400" y="5532120"/>
            <a:ext cx="10332720" cy="548640"/>
          </a:xfrm>
          <a:prstGeom prst="rect">
            <a:avLst/>
          </a:prstGeom>
          <a:noFill/>
          <a:ln/>
        </p:spPr>
        <p:txBody>
          <a:bodyPr wrap="square" lIns="0" tIns="0" rIns="0" bIns="0" rtlCol="0" anchor="ctr"/>
          <a:lstStyle/>
          <a:p>
            <a:pPr indent="0" marL="0">
              <a:lnSpc>
                <a:spcPct val="110000"/>
              </a:lnSpc>
              <a:buNone/>
            </a:pPr>
            <a:r>
              <a:rPr lang="en-US" sz="1450" i="1" dirty="0">
                <a:solidFill>
                  <a:srgbClr val="FFFFFF"/>
                </a:solidFill>
                <a:latin typeface="Calibri" pitchFamily="34" charset="0"/>
                <a:ea typeface="Calibri" pitchFamily="34" charset="-122"/>
                <a:cs typeface="Calibri" pitchFamily="34" charset="-120"/>
              </a:rPr>
              <a:t>The bus never got fast enough to stop mattering.  Every fast GPU program is, first, a data-residency design.</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Lesson 5 — Small costs; priced precision</a:t>
            </a:r>
            <a:endParaRPr lang="en-US" sz="2700" dirty="0"/>
          </a:p>
        </p:txBody>
      </p:sp>
      <p:sp>
        <p:nvSpPr>
          <p:cNvPr id="4" name="Text 2"/>
          <p:cNvSpPr/>
          <p:nvPr/>
        </p:nvSpPr>
        <p:spPr>
          <a:xfrm>
            <a:off x="10561320" y="256032"/>
            <a:ext cx="1051560" cy="914400"/>
          </a:xfrm>
          <a:prstGeom prst="rect">
            <a:avLst/>
          </a:prstGeom>
          <a:noFill/>
          <a:ln/>
        </p:spPr>
        <p:txBody>
          <a:bodyPr wrap="square" lIns="0" tIns="0" rIns="0" bIns="0" rtlCol="0" anchor="ctr"/>
          <a:lstStyle/>
          <a:p>
            <a:pPr algn="r" indent="0" marL="0">
              <a:buNone/>
            </a:pPr>
            <a:r>
              <a:rPr lang="en-US" sz="5200" b="1" dirty="0">
                <a:solidFill>
                  <a:srgbClr val="23232F"/>
                </a:solidFill>
                <a:latin typeface="Courier New" pitchFamily="34" charset="0"/>
                <a:ea typeface="Courier New" pitchFamily="34" charset="-122"/>
                <a:cs typeface="Courier New" pitchFamily="34" charset="-120"/>
              </a:rPr>
              <a:t>5</a:t>
            </a:r>
            <a:endParaRPr lang="en-US" sz="5200" dirty="0"/>
          </a:p>
        </p:txBody>
      </p:sp>
      <p:sp>
        <p:nvSpPr>
          <p:cNvPr id="5" name="Shape 3"/>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6" name="Text 4"/>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LAUNCH OVERHEAD · THE HISTORY</a:t>
            </a:r>
            <a:endParaRPr lang="en-US" sz="1250" dirty="0"/>
          </a:p>
        </p:txBody>
      </p:sp>
      <p:sp>
        <p:nvSpPr>
          <p:cNvPr id="7" name="Text 5"/>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Each kernel launch costs microseconds of host round-trip — invisible once, ruinous a million times.</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The fixes are structural: batch the work, fuse the kernels, capture-and-replay the whole graph (CUDA Graphs).</a:t>
            </a:r>
            <a:endParaRPr lang="en-US" sz="1250" dirty="0"/>
          </a:p>
        </p:txBody>
      </p:sp>
      <p:sp>
        <p:nvSpPr>
          <p:cNvPr id="8" name="Shape 6"/>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9" name="Text 7"/>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PRECISION · THE PRICE LIST</a:t>
            </a:r>
            <a:endParaRPr lang="en-US" sz="1250" dirty="0"/>
          </a:p>
        </p:txBody>
      </p:sp>
      <p:sp>
        <p:nvSpPr>
          <p:cNvPr id="10" name="Text 8"/>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FP64 on consumer cards: 1:8 → 1:24 → 1:32 → 1:64 of FP32, generation by generation — a business decision, not physics (Section 6).</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Tensor cores dial the other way: FP16 → INT8 → INT4 — precision engineered as a spectrum, priced by the workload.</a:t>
            </a:r>
            <a:endParaRPr lang="en-US" sz="1250" dirty="0"/>
          </a:p>
          <a:p>
            <a:pPr marL="152400" indent="-152400">
              <a:lnSpc>
                <a:spcPct val="108000"/>
              </a:lnSpc>
              <a:spcAft>
                <a:spcPts val="800"/>
              </a:spcAft>
              <a:buSzPct val="100000"/>
              <a:buChar char="•"/>
            </a:pPr>
            <a:r>
              <a:rPr lang="en-US" sz="1250" dirty="0">
                <a:solidFill>
                  <a:srgbClr val="DDDDDD"/>
                </a:solidFill>
                <a:latin typeface="Calibri" pitchFamily="34" charset="0"/>
                <a:ea typeface="Calibri" pitchFamily="34" charset="-122"/>
                <a:cs typeface="Calibri" pitchFamily="34" charset="-120"/>
              </a:rPr>
              <a:t>Choose precision like you choose an algorithm: deliberately, and check what your card actually provides.</a:t>
            </a:r>
            <a:endParaRPr lang="en-US" sz="1250" dirty="0"/>
          </a:p>
        </p:txBody>
      </p:sp>
      <p:sp>
        <p:nvSpPr>
          <p:cNvPr id="11" name="Shape 9"/>
          <p:cNvSpPr/>
          <p:nvPr/>
        </p:nvSpPr>
        <p:spPr>
          <a:xfrm>
            <a:off x="640080" y="5349240"/>
            <a:ext cx="10881360" cy="868680"/>
          </a:xfrm>
          <a:prstGeom prst="roundRect">
            <a:avLst>
              <a:gd name="adj" fmla="val 5789"/>
            </a:avLst>
          </a:prstGeom>
          <a:solidFill>
            <a:srgbClr val="14141D"/>
          </a:solidFill>
          <a:ln w="12700">
            <a:solidFill>
              <a:srgbClr val="2A2A38"/>
            </a:solidFill>
            <a:prstDash val="solid"/>
          </a:ln>
        </p:spPr>
      </p:sp>
      <p:sp>
        <p:nvSpPr>
          <p:cNvPr id="12" name="Text 10"/>
          <p:cNvSpPr/>
          <p:nvPr/>
        </p:nvSpPr>
        <p:spPr>
          <a:xfrm>
            <a:off x="914400" y="5532120"/>
            <a:ext cx="10332720" cy="548640"/>
          </a:xfrm>
          <a:prstGeom prst="rect">
            <a:avLst/>
          </a:prstGeom>
          <a:noFill/>
          <a:ln/>
        </p:spPr>
        <p:txBody>
          <a:bodyPr wrap="square" lIns="0" tIns="0" rIns="0" bIns="0" rtlCol="0" anchor="ctr"/>
          <a:lstStyle/>
          <a:p>
            <a:pPr indent="0" marL="0">
              <a:lnSpc>
                <a:spcPct val="110000"/>
              </a:lnSpc>
              <a:buNone/>
            </a:pPr>
            <a:r>
              <a:rPr lang="en-US" sz="1450" i="1" dirty="0">
                <a:solidFill>
                  <a:srgbClr val="FFFFFF"/>
                </a:solidFill>
                <a:latin typeface="Calibri" pitchFamily="34" charset="0"/>
                <a:ea typeface="Calibri" pitchFamily="34" charset="-122"/>
                <a:cs typeface="Calibri" pitchFamily="34" charset="-120"/>
              </a:rPr>
              <a:t>The FP64 penalty in the offload guide is a price list, not a law of nature.  Read the price list before you design.</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WHY THIS MATTERS FOR YOU</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Lesson 5, continued — precision in practice</a:t>
            </a:r>
            <a:endParaRPr lang="en-US" sz="2700" dirty="0"/>
          </a:p>
        </p:txBody>
      </p:sp>
      <p:sp>
        <p:nvSpPr>
          <p:cNvPr id="4" name="Shape 2"/>
          <p:cNvSpPr/>
          <p:nvPr/>
        </p:nvSpPr>
        <p:spPr>
          <a:xfrm>
            <a:off x="640080" y="1554480"/>
            <a:ext cx="5394960" cy="2286000"/>
          </a:xfrm>
          <a:prstGeom prst="roundRect">
            <a:avLst>
              <a:gd name="adj" fmla="val 2200"/>
            </a:avLst>
          </a:prstGeom>
          <a:solidFill>
            <a:srgbClr val="14141D"/>
          </a:solidFill>
          <a:ln w="12700">
            <a:solidFill>
              <a:srgbClr val="2A2A38"/>
            </a:solidFill>
            <a:prstDash val="solid"/>
          </a:ln>
        </p:spPr>
      </p:sp>
      <p:sp>
        <p:nvSpPr>
          <p:cNvPr id="5" name="Text 3"/>
          <p:cNvSpPr/>
          <p:nvPr/>
        </p:nvSpPr>
        <p:spPr>
          <a:xfrm>
            <a:off x="914400" y="1737360"/>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CHECK THE FP64 LINE FIRST</a:t>
            </a:r>
            <a:endParaRPr lang="en-US" sz="1250" dirty="0"/>
          </a:p>
        </p:txBody>
      </p:sp>
      <p:sp>
        <p:nvSpPr>
          <p:cNvPr id="6" name="Text 4"/>
          <p:cNvSpPr/>
          <p:nvPr/>
        </p:nvSpPr>
        <p:spPr>
          <a:xfrm>
            <a:off x="914400" y="2048256"/>
            <a:ext cx="4892040" cy="274320"/>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datacenter ≈ 1:2   ·   consumer 1:8 → 1:64</a:t>
            </a:r>
            <a:endParaRPr lang="en-US" sz="1250" dirty="0"/>
          </a:p>
        </p:txBody>
      </p:sp>
      <p:sp>
        <p:nvSpPr>
          <p:cNvPr id="7" name="Text 5"/>
          <p:cNvSpPr/>
          <p:nvPr/>
        </p:nvSpPr>
        <p:spPr>
          <a:xfrm>
            <a:off x="914400" y="2377440"/>
            <a:ext cx="4892040" cy="1371600"/>
          </a:xfrm>
          <a:prstGeom prst="rect">
            <a:avLst/>
          </a:prstGeom>
          <a:noFill/>
          <a:ln/>
        </p:spPr>
        <p:txBody>
          <a:bodyPr wrap="square" lIns="0" tIns="0" rIns="0" bIns="0" rtlCol="0" anchor="ctr"/>
          <a:lstStyle/>
          <a:p>
            <a:pPr indent="0" marL="0">
              <a:lnSpc>
                <a:spcPct val="107000"/>
              </a:lnSpc>
              <a:buNone/>
            </a:pPr>
            <a:r>
              <a:rPr lang="en-US" sz="1050" dirty="0">
                <a:solidFill>
                  <a:srgbClr val="DDDDDD"/>
                </a:solidFill>
                <a:latin typeface="Calibri" pitchFamily="34" charset="0"/>
                <a:ea typeface="Calibri" pitchFamily="34" charset="-122"/>
                <a:cs typeface="Calibri" pitchFamily="34" charset="-120"/>
              </a:rPr>
              <a:t>GPUs are not one machine.  Datacenter parts run double precision at half the FP32 rate — engineering-grade FP64 at full speed.  Consumer cards of the SAME generation are capped at 1:32–1:64, deliberately.  If your work leans on FP64 — structural dynamics, covariance solves, anywhere conditioning bites — the card class is the first architectural decision you make.  One line of the spec sheet decides the design.</a:t>
            </a:r>
            <a:endParaRPr lang="en-US" sz="1050" dirty="0"/>
          </a:p>
        </p:txBody>
      </p:sp>
      <p:sp>
        <p:nvSpPr>
          <p:cNvPr id="8" name="Shape 6"/>
          <p:cNvSpPr/>
          <p:nvPr/>
        </p:nvSpPr>
        <p:spPr>
          <a:xfrm>
            <a:off x="6263640" y="1554480"/>
            <a:ext cx="5257800" cy="2286000"/>
          </a:xfrm>
          <a:prstGeom prst="roundRect">
            <a:avLst>
              <a:gd name="adj" fmla="val 2200"/>
            </a:avLst>
          </a:prstGeom>
          <a:solidFill>
            <a:srgbClr val="14141D"/>
          </a:solidFill>
          <a:ln w="12700">
            <a:solidFill>
              <a:srgbClr val="2A2A38"/>
            </a:solidFill>
            <a:prstDash val="solid"/>
          </a:ln>
        </p:spPr>
      </p:sp>
      <p:sp>
        <p:nvSpPr>
          <p:cNvPr id="9" name="Text 7"/>
          <p:cNvSpPr/>
          <p:nvPr/>
        </p:nvSpPr>
        <p:spPr>
          <a:xfrm>
            <a:off x="6537960" y="1737360"/>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16-BIT IS A MEMORY STORY, NOT AN ARITHMETIC ONE</a:t>
            </a:r>
            <a:endParaRPr lang="en-US" sz="1250" dirty="0"/>
          </a:p>
        </p:txBody>
      </p:sp>
      <p:sp>
        <p:nvSpPr>
          <p:cNvPr id="10" name="Text 8"/>
          <p:cNvSpPr/>
          <p:nvPr/>
        </p:nvSpPr>
        <p:spPr>
          <a:xfrm>
            <a:off x="6537960" y="2084832"/>
            <a:ext cx="4754880" cy="1645920"/>
          </a:xfrm>
          <a:prstGeom prst="rect">
            <a:avLst/>
          </a:prstGeom>
          <a:noFill/>
          <a:ln/>
        </p:spPr>
        <p:txBody>
          <a:bodyPr wrap="square" lIns="0" tIns="0" rIns="0" bIns="0" rtlCol="0" anchor="ctr"/>
          <a:lstStyle/>
          <a:p>
            <a:pPr indent="0" marL="0">
              <a:lnSpc>
                <a:spcPct val="108000"/>
              </a:lnSpc>
              <a:buNone/>
            </a:pPr>
            <a:r>
              <a:rPr lang="en-US" sz="1050" dirty="0">
                <a:solidFill>
                  <a:srgbClr val="DDDDDD"/>
                </a:solidFill>
                <a:latin typeface="Calibri" pitchFamily="34" charset="0"/>
                <a:ea typeface="Calibri" pitchFamily="34" charset="-122"/>
                <a:cs typeface="Calibri" pitchFamily="34" charset="-120"/>
              </a:rPr>
              <a:t>Most kernels are memory-bound (Lesson 4).  Halve the width and twice as many values arrive per fetch; the working set halves; every cache line carries double.  A bandwidth-limited kernel speeds up ~2× in FP16 with no tensor cores and no new ALUs — the arithmetic was never the bottleneck.  Precision is a data-movement dial first, and a compute dial second.</a:t>
            </a:r>
            <a:endParaRPr lang="en-US" sz="1050" dirty="0"/>
          </a:p>
        </p:txBody>
      </p:sp>
      <p:sp>
        <p:nvSpPr>
          <p:cNvPr id="11" name="Shape 9"/>
          <p:cNvSpPr/>
          <p:nvPr/>
        </p:nvSpPr>
        <p:spPr>
          <a:xfrm>
            <a:off x="640080" y="4023360"/>
            <a:ext cx="10881360" cy="1508760"/>
          </a:xfrm>
          <a:prstGeom prst="roundRect">
            <a:avLst>
              <a:gd name="adj" fmla="val 3333"/>
            </a:avLst>
          </a:prstGeom>
          <a:solidFill>
            <a:srgbClr val="14141D"/>
          </a:solidFill>
          <a:ln w="12700">
            <a:solidFill>
              <a:srgbClr val="2A2A38"/>
            </a:solidFill>
            <a:prstDash val="solid"/>
          </a:ln>
        </p:spPr>
      </p:sp>
      <p:sp>
        <p:nvSpPr>
          <p:cNvPr id="12" name="Text 10"/>
          <p:cNvSpPr/>
          <p:nvPr/>
        </p:nvSpPr>
        <p:spPr>
          <a:xfrm>
            <a:off x="914400" y="4169664"/>
            <a:ext cx="10058400" cy="274320"/>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THE DECISION PROCEDURE</a:t>
            </a:r>
            <a:endParaRPr lang="en-US" sz="1250" dirty="0"/>
          </a:p>
        </p:txBody>
      </p:sp>
      <p:sp>
        <p:nvSpPr>
          <p:cNvPr id="13" name="Text 11"/>
          <p:cNvSpPr/>
          <p:nvPr/>
        </p:nvSpPr>
        <p:spPr>
          <a:xfrm>
            <a:off x="914400" y="4480560"/>
            <a:ext cx="10332720" cy="1005840"/>
          </a:xfrm>
          <a:prstGeom prst="rect">
            <a:avLst/>
          </a:prstGeom>
          <a:noFill/>
          <a:ln/>
        </p:spPr>
        <p:txBody>
          <a:bodyPr wrap="square" lIns="0" tIns="0" rIns="0" bIns="0" rtlCol="0" anchor="t"/>
          <a:lstStyle/>
          <a:p>
            <a:pPr marL="152400" indent="-152400">
              <a:lnSpc>
                <a:spcPct val="108000"/>
              </a:lnSpc>
              <a:spcAft>
                <a:spcPts val="400"/>
              </a:spcAft>
              <a:buSzPct val="100000"/>
              <a:buChar char="•"/>
            </a:pPr>
            <a:r>
              <a:rPr lang="en-US" sz="1100" dirty="0">
                <a:solidFill>
                  <a:srgbClr val="DDDDDD"/>
                </a:solidFill>
                <a:latin typeface="Calibri" pitchFamily="34" charset="0"/>
                <a:ea typeface="Calibri" pitchFamily="34" charset="-122"/>
                <a:cs typeface="Calibri" pitchFamily="34" charset="-120"/>
              </a:rPr>
              <a:t>Locate the kernel on the roofline first: memory-bound or compute-bound?  (The companion lab exists for exactly this question.)</a:t>
            </a:r>
            <a:endParaRPr lang="en-US" sz="1100" dirty="0"/>
          </a:p>
          <a:p>
            <a:pPr marL="152400" indent="-152400">
              <a:lnSpc>
                <a:spcPct val="108000"/>
              </a:lnSpc>
              <a:spcAft>
                <a:spcPts val="400"/>
              </a:spcAft>
              <a:buSzPct val="100000"/>
              <a:buChar char="•"/>
            </a:pPr>
            <a:r>
              <a:rPr lang="en-US" sz="1100" dirty="0">
                <a:solidFill>
                  <a:srgbClr val="DDDDDD"/>
                </a:solidFill>
                <a:latin typeface="Calibri" pitchFamily="34" charset="0"/>
                <a:ea typeface="Calibri" pitchFamily="34" charset="-122"/>
                <a:cs typeface="Calibri" pitchFamily="34" charset="-120"/>
              </a:rPr>
              <a:t>Memory-bound → cut bytes: lower the precision, then recover accuracy by iterative refinement.  QUDA runs production lattice physics on 8-bit block floats inside double-precision outer solves — the sloppy inner pass is corrected by the exact outer one.</a:t>
            </a:r>
            <a:endParaRPr lang="en-US" sz="1100" dirty="0"/>
          </a:p>
          <a:p>
            <a:pPr marL="152400" indent="-152400">
              <a:lnSpc>
                <a:spcPct val="108000"/>
              </a:lnSpc>
              <a:spcAft>
                <a:spcPts val="400"/>
              </a:spcAft>
              <a:buSzPct val="100000"/>
              <a:buChar char="•"/>
            </a:pPr>
            <a:r>
              <a:rPr lang="en-US" sz="1100" dirty="0">
                <a:solidFill>
                  <a:srgbClr val="DDDDDD"/>
                </a:solidFill>
                <a:latin typeface="Calibri" pitchFamily="34" charset="0"/>
                <a:ea typeface="Calibri" pitchFamily="34" charset="-122"/>
                <a:cs typeface="Calibri" pitchFamily="34" charset="-120"/>
              </a:rPr>
              <a:t>Compute-bound matmul → the tensor-core menu sets your formats.  FP64-dominated → buy the datacenter part, or do not offload.</a:t>
            </a:r>
            <a:endParaRPr lang="en-US" sz="1100" dirty="0"/>
          </a:p>
        </p:txBody>
      </p:sp>
      <p:sp>
        <p:nvSpPr>
          <p:cNvPr id="14" name="Shape 12"/>
          <p:cNvSpPr/>
          <p:nvPr/>
        </p:nvSpPr>
        <p:spPr>
          <a:xfrm>
            <a:off x="640080" y="5715000"/>
            <a:ext cx="10881360" cy="640080"/>
          </a:xfrm>
          <a:prstGeom prst="roundRect">
            <a:avLst>
              <a:gd name="adj" fmla="val 7857"/>
            </a:avLst>
          </a:prstGeom>
          <a:solidFill>
            <a:srgbClr val="1A160C"/>
          </a:solidFill>
          <a:ln w="12700">
            <a:solidFill>
              <a:srgbClr val="2A2A38"/>
            </a:solidFill>
            <a:prstDash val="solid"/>
          </a:ln>
        </p:spPr>
      </p:sp>
      <p:sp>
        <p:nvSpPr>
          <p:cNvPr id="15" name="Text 13"/>
          <p:cNvSpPr/>
          <p:nvPr/>
        </p:nvSpPr>
        <p:spPr>
          <a:xfrm>
            <a:off x="914400" y="5833872"/>
            <a:ext cx="10332720" cy="420624"/>
          </a:xfrm>
          <a:prstGeom prst="rect">
            <a:avLst/>
          </a:prstGeom>
          <a:noFill/>
          <a:ln/>
        </p:spPr>
        <p:txBody>
          <a:bodyPr wrap="square" lIns="0" tIns="0" rIns="0" bIns="0" rtlCol="0" anchor="ctr"/>
          <a:lstStyle/>
          <a:p>
            <a:pPr indent="0" marL="0">
              <a:buNone/>
            </a:pPr>
            <a:r>
              <a:rPr lang="en-US" sz="1300" i="1" dirty="0">
                <a:solidFill>
                  <a:srgbClr val="E8A832"/>
                </a:solidFill>
                <a:latin typeface="Calibri" pitchFamily="34" charset="0"/>
                <a:ea typeface="Calibri" pitchFamily="34" charset="-122"/>
                <a:cs typeface="Calibri" pitchFamily="34" charset="-120"/>
              </a:rPr>
              <a:t>Precision is priced twice: once in silicon — the FP64 market segment — and once in bytes — the bandwidth bill.  Read both price lists before you design.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SECTION 9 · THE PATTERNS UNDER THE LESSONS</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Four patterns to carry out of the room</a:t>
            </a:r>
            <a:endParaRPr lang="en-US" sz="2700" dirty="0"/>
          </a:p>
        </p:txBody>
      </p:sp>
      <p:sp>
        <p:nvSpPr>
          <p:cNvPr id="4" name="Shape 2"/>
          <p:cNvSpPr/>
          <p:nvPr/>
        </p:nvSpPr>
        <p:spPr>
          <a:xfrm>
            <a:off x="640080" y="1600200"/>
            <a:ext cx="5394960" cy="2148840"/>
          </a:xfrm>
          <a:prstGeom prst="roundRect">
            <a:avLst>
              <a:gd name="adj" fmla="val 2340"/>
            </a:avLst>
          </a:prstGeom>
          <a:solidFill>
            <a:srgbClr val="14141D"/>
          </a:solidFill>
          <a:ln w="12700">
            <a:solidFill>
              <a:srgbClr val="2A2A38"/>
            </a:solidFill>
            <a:prstDash val="solid"/>
          </a:ln>
        </p:spPr>
      </p:sp>
      <p:sp>
        <p:nvSpPr>
          <p:cNvPr id="5" name="Text 3"/>
          <p:cNvSpPr/>
          <p:nvPr/>
        </p:nvSpPr>
        <p:spPr>
          <a:xfrm>
            <a:off x="914400" y="1801368"/>
            <a:ext cx="4846320" cy="292608"/>
          </a:xfrm>
          <a:prstGeom prst="rect">
            <a:avLst/>
          </a:prstGeom>
          <a:noFill/>
          <a:ln/>
        </p:spPr>
        <p:txBody>
          <a:bodyPr wrap="square" lIns="0" tIns="0" rIns="0" bIns="0" rtlCol="0" anchor="ctr"/>
          <a:lstStyle/>
          <a:p>
            <a:pPr indent="0" marL="0">
              <a:buNone/>
            </a:pPr>
            <a:r>
              <a:rPr lang="en-US" sz="1450" b="1" dirty="0">
                <a:solidFill>
                  <a:srgbClr val="E8835C"/>
                </a:solidFill>
                <a:latin typeface="Courier New" pitchFamily="34" charset="0"/>
                <a:ea typeface="Courier New" pitchFamily="34" charset="-122"/>
                <a:cs typeface="Courier New" pitchFamily="34" charset="-120"/>
              </a:rPr>
              <a:t>WRONG TURNS MATTER</a:t>
            </a:r>
            <a:endParaRPr lang="en-US" sz="1450" dirty="0"/>
          </a:p>
        </p:txBody>
      </p:sp>
      <p:sp>
        <p:nvSpPr>
          <p:cNvPr id="6" name="Text 4"/>
          <p:cNvSpPr/>
          <p:nvPr/>
        </p:nvSpPr>
        <p:spPr>
          <a:xfrm>
            <a:off x="914400" y="2167128"/>
            <a:ext cx="4846320" cy="1234440"/>
          </a:xfrm>
          <a:prstGeom prst="rect">
            <a:avLst/>
          </a:prstGeom>
          <a:noFill/>
          <a:ln/>
        </p:spPr>
        <p:txBody>
          <a:bodyPr wrap="square" lIns="0" tIns="0" rIns="0" bIns="0" rtlCol="0" anchor="ctr"/>
          <a:lstStyle/>
          <a:p>
            <a:pPr indent="0" marL="0">
              <a:lnSpc>
                <a:spcPct val="112000"/>
              </a:lnSpc>
              <a:buNone/>
            </a:pPr>
            <a:r>
              <a:rPr lang="en-US" sz="1250" dirty="0">
                <a:solidFill>
                  <a:srgbClr val="DDDDDD"/>
                </a:solidFill>
                <a:latin typeface="Calibri" pitchFamily="34" charset="0"/>
                <a:ea typeface="Calibri" pitchFamily="34" charset="-122"/>
                <a:cs typeface="Calibri" pitchFamily="34" charset="-120"/>
              </a:rPr>
              <a:t>The NV1’s patches, 3dfx buying its own channel, the open-spec bet against the integrated stack.  Dead ends are where the real constraints become visible — study them, do not sand them out of the story.</a:t>
            </a:r>
            <a:endParaRPr lang="en-US" sz="1250" dirty="0"/>
          </a:p>
        </p:txBody>
      </p:sp>
      <p:sp>
        <p:nvSpPr>
          <p:cNvPr id="7" name="Shape 5"/>
          <p:cNvSpPr/>
          <p:nvPr/>
        </p:nvSpPr>
        <p:spPr>
          <a:xfrm>
            <a:off x="6263640" y="1600200"/>
            <a:ext cx="5394960" cy="2148840"/>
          </a:xfrm>
          <a:prstGeom prst="roundRect">
            <a:avLst>
              <a:gd name="adj" fmla="val 2340"/>
            </a:avLst>
          </a:prstGeom>
          <a:solidFill>
            <a:srgbClr val="14141D"/>
          </a:solidFill>
          <a:ln w="12700">
            <a:solidFill>
              <a:srgbClr val="2A2A38"/>
            </a:solidFill>
            <a:prstDash val="solid"/>
          </a:ln>
        </p:spPr>
      </p:sp>
      <p:sp>
        <p:nvSpPr>
          <p:cNvPr id="8" name="Text 6"/>
          <p:cNvSpPr/>
          <p:nvPr/>
        </p:nvSpPr>
        <p:spPr>
          <a:xfrm>
            <a:off x="6537960" y="1801368"/>
            <a:ext cx="4846320" cy="292608"/>
          </a:xfrm>
          <a:prstGeom prst="rect">
            <a:avLst/>
          </a:prstGeom>
          <a:noFill/>
          <a:ln/>
        </p:spPr>
        <p:txBody>
          <a:bodyPr wrap="square" lIns="0" tIns="0" rIns="0" bIns="0" rtlCol="0" anchor="ctr"/>
          <a:lstStyle/>
          <a:p>
            <a:pPr indent="0" marL="0">
              <a:buNone/>
            </a:pPr>
            <a:r>
              <a:rPr lang="en-US" sz="1450" b="1" dirty="0">
                <a:solidFill>
                  <a:srgbClr val="6AA6FF"/>
                </a:solidFill>
                <a:latin typeface="Courier New" pitchFamily="34" charset="0"/>
                <a:ea typeface="Courier New" pitchFamily="34" charset="-122"/>
                <a:cs typeface="Courier New" pitchFamily="34" charset="-120"/>
              </a:rPr>
              <a:t>EXPERT RESISTANCE</a:t>
            </a:r>
            <a:endParaRPr lang="en-US" sz="1450" dirty="0"/>
          </a:p>
        </p:txBody>
      </p:sp>
      <p:sp>
        <p:nvSpPr>
          <p:cNvPr id="9" name="Text 7"/>
          <p:cNvSpPr/>
          <p:nvPr/>
        </p:nvSpPr>
        <p:spPr>
          <a:xfrm>
            <a:off x="6537960" y="2167128"/>
            <a:ext cx="4846320" cy="1234440"/>
          </a:xfrm>
          <a:prstGeom prst="rect">
            <a:avLst/>
          </a:prstGeom>
          <a:noFill/>
          <a:ln/>
        </p:spPr>
        <p:txBody>
          <a:bodyPr wrap="square" lIns="0" tIns="0" rIns="0" bIns="0" rtlCol="0" anchor="ctr"/>
          <a:lstStyle/>
          <a:p>
            <a:pPr indent="0" marL="0">
              <a:lnSpc>
                <a:spcPct val="112000"/>
              </a:lnSpc>
              <a:buNone/>
            </a:pPr>
            <a:r>
              <a:rPr lang="en-US" sz="1250" dirty="0">
                <a:solidFill>
                  <a:srgbClr val="DDDDDD"/>
                </a:solidFill>
                <a:latin typeface="Calibri" pitchFamily="34" charset="0"/>
                <a:ea typeface="Calibri" pitchFamily="34" charset="-122"/>
                <a:cs typeface="Calibri" pitchFamily="34" charset="-120"/>
              </a:rPr>
              <a:t>Toy → grudging science → the center of AI.  When an established field says “not ready,” test the technical claims — and ask what the field would lose if the claims were wrong.</a:t>
            </a:r>
            <a:endParaRPr lang="en-US" sz="1250" dirty="0"/>
          </a:p>
        </p:txBody>
      </p:sp>
      <p:sp>
        <p:nvSpPr>
          <p:cNvPr id="10" name="Shape 8"/>
          <p:cNvSpPr/>
          <p:nvPr/>
        </p:nvSpPr>
        <p:spPr>
          <a:xfrm>
            <a:off x="6537960" y="3355848"/>
            <a:ext cx="274320" cy="274320"/>
          </a:xfrm>
          <a:prstGeom prst="roundRect">
            <a:avLst>
              <a:gd name="adj" fmla="val 16667"/>
            </a:avLst>
          </a:prstGeom>
          <a:solidFill>
            <a:srgbClr val="101B30"/>
          </a:solidFill>
          <a:ln w="15875">
            <a:solidFill>
              <a:srgbClr val="6AA6FF"/>
            </a:solidFill>
            <a:prstDash val="solid"/>
          </a:ln>
        </p:spPr>
      </p:sp>
      <p:sp>
        <p:nvSpPr>
          <p:cNvPr id="11" name="Text 9"/>
          <p:cNvSpPr/>
          <p:nvPr/>
        </p:nvSpPr>
        <p:spPr>
          <a:xfrm>
            <a:off x="6537960" y="3344875"/>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12" name="Text 10"/>
          <p:cNvSpPr/>
          <p:nvPr/>
        </p:nvSpPr>
        <p:spPr>
          <a:xfrm>
            <a:off x="6922008" y="3344875"/>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NONE OF THIS WAS HOSTILITY · §6 NOTE</a:t>
            </a:r>
            <a:endParaRPr lang="en-US" sz="1150" dirty="0"/>
          </a:p>
        </p:txBody>
      </p:sp>
      <p:sp>
        <p:nvSpPr>
          <p:cNvPr id="13" name="Shape 11"/>
          <p:cNvSpPr/>
          <p:nvPr/>
        </p:nvSpPr>
        <p:spPr>
          <a:xfrm>
            <a:off x="640080" y="3931920"/>
            <a:ext cx="5394960" cy="2148840"/>
          </a:xfrm>
          <a:prstGeom prst="roundRect">
            <a:avLst>
              <a:gd name="adj" fmla="val 2340"/>
            </a:avLst>
          </a:prstGeom>
          <a:solidFill>
            <a:srgbClr val="14141D"/>
          </a:solidFill>
          <a:ln w="12700">
            <a:solidFill>
              <a:srgbClr val="2A2A38"/>
            </a:solidFill>
            <a:prstDash val="solid"/>
          </a:ln>
        </p:spPr>
      </p:sp>
      <p:sp>
        <p:nvSpPr>
          <p:cNvPr id="14" name="Text 12"/>
          <p:cNvSpPr/>
          <p:nvPr/>
        </p:nvSpPr>
        <p:spPr>
          <a:xfrm>
            <a:off x="914400" y="4133088"/>
            <a:ext cx="4846320" cy="292608"/>
          </a:xfrm>
          <a:prstGeom prst="rect">
            <a:avLst/>
          </a:prstGeom>
          <a:noFill/>
          <a:ln/>
        </p:spPr>
        <p:txBody>
          <a:bodyPr wrap="square" lIns="0" tIns="0" rIns="0" bIns="0" rtlCol="0" anchor="ctr"/>
          <a:lstStyle/>
          <a:p>
            <a:pPr indent="0" marL="0">
              <a:buNone/>
            </a:pPr>
            <a:r>
              <a:rPr lang="en-US" sz="1450" b="1" dirty="0">
                <a:solidFill>
                  <a:srgbClr val="E8A832"/>
                </a:solidFill>
                <a:latin typeface="Courier New" pitchFamily="34" charset="0"/>
                <a:ea typeface="Courier New" pitchFamily="34" charset="-122"/>
                <a:cs typeface="Courier New" pitchFamily="34" charset="-120"/>
              </a:rPr>
              <a:t>THE ACCIDENT</a:t>
            </a:r>
            <a:endParaRPr lang="en-US" sz="1450" dirty="0"/>
          </a:p>
        </p:txBody>
      </p:sp>
      <p:sp>
        <p:nvSpPr>
          <p:cNvPr id="15" name="Text 13"/>
          <p:cNvSpPr/>
          <p:nvPr/>
        </p:nvSpPr>
        <p:spPr>
          <a:xfrm>
            <a:off x="914400" y="4498848"/>
            <a:ext cx="4846320" cy="1234440"/>
          </a:xfrm>
          <a:prstGeom prst="rect">
            <a:avLst/>
          </a:prstGeom>
          <a:noFill/>
          <a:ln/>
        </p:spPr>
        <p:txBody>
          <a:bodyPr wrap="square" lIns="0" tIns="0" rIns="0" bIns="0" rtlCol="0" anchor="ctr"/>
          <a:lstStyle/>
          <a:p>
            <a:pPr indent="0" marL="0">
              <a:lnSpc>
                <a:spcPct val="112000"/>
              </a:lnSpc>
              <a:buNone/>
            </a:pPr>
            <a:r>
              <a:rPr lang="en-US" sz="1250" dirty="0">
                <a:solidFill>
                  <a:srgbClr val="DDDDDD"/>
                </a:solidFill>
                <a:latin typeface="Calibri" pitchFamily="34" charset="0"/>
                <a:ea typeface="Calibri" pitchFamily="34" charset="-122"/>
                <a:cs typeface="Calibri" pitchFamily="34" charset="-120"/>
              </a:rPr>
              <a:t>Nobody planned AlexNet.  The runway was built for one category of aircraft; the plane that landed was from that category, but no one ordered it.  Skill is clearing the runway fast when it arrives.</a:t>
            </a:r>
            <a:endParaRPr lang="en-US" sz="1250" dirty="0"/>
          </a:p>
        </p:txBody>
      </p:sp>
      <p:sp>
        <p:nvSpPr>
          <p:cNvPr id="16" name="Shape 14"/>
          <p:cNvSpPr/>
          <p:nvPr/>
        </p:nvSpPr>
        <p:spPr>
          <a:xfrm>
            <a:off x="914400" y="5687568"/>
            <a:ext cx="274320" cy="274320"/>
          </a:xfrm>
          <a:prstGeom prst="roundRect">
            <a:avLst>
              <a:gd name="adj" fmla="val 16667"/>
            </a:avLst>
          </a:prstGeom>
          <a:solidFill>
            <a:srgbClr val="101B30"/>
          </a:solidFill>
          <a:ln w="15875">
            <a:solidFill>
              <a:srgbClr val="6AA6FF"/>
            </a:solidFill>
            <a:prstDash val="solid"/>
          </a:ln>
        </p:spPr>
      </p:sp>
      <p:sp>
        <p:nvSpPr>
          <p:cNvPr id="17" name="Text 15"/>
          <p:cNvSpPr/>
          <p:nvPr/>
        </p:nvSpPr>
        <p:spPr>
          <a:xfrm>
            <a:off x="914400" y="5676595"/>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18" name="Text 16"/>
          <p:cNvSpPr/>
          <p:nvPr/>
        </p:nvSpPr>
        <p:spPr>
          <a:xfrm>
            <a:off x="1298448" y="5676595"/>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THE RUNWAY AND THE PLANE · §7 NOTE</a:t>
            </a:r>
            <a:endParaRPr lang="en-US" sz="1150" dirty="0"/>
          </a:p>
        </p:txBody>
      </p:sp>
      <p:sp>
        <p:nvSpPr>
          <p:cNvPr id="19" name="Shape 17"/>
          <p:cNvSpPr/>
          <p:nvPr/>
        </p:nvSpPr>
        <p:spPr>
          <a:xfrm>
            <a:off x="6263640" y="3931920"/>
            <a:ext cx="5394960" cy="2148840"/>
          </a:xfrm>
          <a:prstGeom prst="roundRect">
            <a:avLst>
              <a:gd name="adj" fmla="val 2340"/>
            </a:avLst>
          </a:prstGeom>
          <a:solidFill>
            <a:srgbClr val="14141D"/>
          </a:solidFill>
          <a:ln w="12700">
            <a:solidFill>
              <a:srgbClr val="2A2A38"/>
            </a:solidFill>
            <a:prstDash val="solid"/>
          </a:ln>
        </p:spPr>
      </p:sp>
      <p:sp>
        <p:nvSpPr>
          <p:cNvPr id="20" name="Text 18"/>
          <p:cNvSpPr/>
          <p:nvPr/>
        </p:nvSpPr>
        <p:spPr>
          <a:xfrm>
            <a:off x="6537960" y="4133088"/>
            <a:ext cx="4846320" cy="292608"/>
          </a:xfrm>
          <a:prstGeom prst="rect">
            <a:avLst/>
          </a:prstGeom>
          <a:noFill/>
          <a:ln/>
        </p:spPr>
        <p:txBody>
          <a:bodyPr wrap="square" lIns="0" tIns="0" rIns="0" bIns="0" rtlCol="0" anchor="ctr"/>
          <a:lstStyle/>
          <a:p>
            <a:pPr indent="0" marL="0">
              <a:buNone/>
            </a:pPr>
            <a:r>
              <a:rPr lang="en-US" sz="1450" b="1" dirty="0">
                <a:solidFill>
                  <a:srgbClr val="3CE8B2"/>
                </a:solidFill>
                <a:latin typeface="Courier New" pitchFamily="34" charset="0"/>
                <a:ea typeface="Courier New" pitchFamily="34" charset="-122"/>
                <a:cs typeface="Courier New" pitchFamily="34" charset="-120"/>
              </a:rPr>
              <a:t>THE PENDULUM SWINGS AGAIN</a:t>
            </a:r>
            <a:endParaRPr lang="en-US" sz="1450" dirty="0"/>
          </a:p>
        </p:txBody>
      </p:sp>
      <p:sp>
        <p:nvSpPr>
          <p:cNvPr id="21" name="Text 19"/>
          <p:cNvSpPr/>
          <p:nvPr/>
        </p:nvSpPr>
        <p:spPr>
          <a:xfrm>
            <a:off x="6537960" y="4498848"/>
            <a:ext cx="4846320" cy="1234440"/>
          </a:xfrm>
          <a:prstGeom prst="rect">
            <a:avLst/>
          </a:prstGeom>
          <a:noFill/>
          <a:ln/>
        </p:spPr>
        <p:txBody>
          <a:bodyPr wrap="square" lIns="0" tIns="0" rIns="0" bIns="0" rtlCol="0" anchor="ctr"/>
          <a:lstStyle/>
          <a:p>
            <a:pPr indent="0" marL="0">
              <a:lnSpc>
                <a:spcPct val="112000"/>
              </a:lnSpc>
              <a:buNone/>
            </a:pPr>
            <a:r>
              <a:rPr lang="en-US" sz="1250" dirty="0">
                <a:solidFill>
                  <a:srgbClr val="DDDDDD"/>
                </a:solidFill>
                <a:latin typeface="Calibri" pitchFamily="34" charset="0"/>
                <a:ea typeface="Calibri" pitchFamily="34" charset="-122"/>
                <a:cs typeface="Calibri" pitchFamily="34" charset="-120"/>
              </a:rPr>
              <a:t>Dominant + stable + feedable is a standing search query, not a one-time event.  Whatever your field’s matmul turns out to be — someone is already weighing the silicon.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THE LANGUAGE</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C++26 — what actually lands</a:t>
            </a:r>
            <a:endParaRPr lang="en-US" sz="2700" dirty="0"/>
          </a:p>
        </p:txBody>
      </p:sp>
      <p:sp>
        <p:nvSpPr>
          <p:cNvPr id="4" name="Shape 2"/>
          <p:cNvSpPr/>
          <p:nvPr/>
        </p:nvSpPr>
        <p:spPr>
          <a:xfrm>
            <a:off x="640080" y="1554480"/>
            <a:ext cx="6720840" cy="1188720"/>
          </a:xfrm>
          <a:prstGeom prst="roundRect">
            <a:avLst>
              <a:gd name="adj" fmla="val 4231"/>
            </a:avLst>
          </a:prstGeom>
          <a:solidFill>
            <a:srgbClr val="14141D"/>
          </a:solidFill>
          <a:ln w="12700">
            <a:solidFill>
              <a:srgbClr val="2A2A38"/>
            </a:solidFill>
            <a:prstDash val="solid"/>
          </a:ln>
        </p:spPr>
      </p:sp>
      <p:sp>
        <p:nvSpPr>
          <p:cNvPr id="5" name="Text 3"/>
          <p:cNvSpPr/>
          <p:nvPr/>
        </p:nvSpPr>
        <p:spPr>
          <a:xfrm>
            <a:off x="914400" y="1673352"/>
            <a:ext cx="2103120" cy="274320"/>
          </a:xfrm>
          <a:prstGeom prst="rect">
            <a:avLst/>
          </a:prstGeom>
          <a:noFill/>
          <a:ln/>
        </p:spPr>
        <p:txBody>
          <a:bodyPr wrap="square" lIns="0" tIns="0" rIns="0" bIns="0" rtlCol="0" anchor="ctr"/>
          <a:lstStyle/>
          <a:p>
            <a:pPr indent="0" marL="0">
              <a:buNone/>
            </a:pPr>
            <a:r>
              <a:rPr lang="en-US" sz="1400" b="1" dirty="0">
                <a:solidFill>
                  <a:srgbClr val="3CE8B2"/>
                </a:solidFill>
                <a:latin typeface="Courier New" pitchFamily="34" charset="0"/>
                <a:ea typeface="Courier New" pitchFamily="34" charset="-122"/>
                <a:cs typeface="Courier New" pitchFamily="34" charset="-120"/>
              </a:rPr>
              <a:t>std::execution</a:t>
            </a:r>
            <a:endParaRPr lang="en-US" sz="1400" dirty="0"/>
          </a:p>
        </p:txBody>
      </p:sp>
      <p:sp>
        <p:nvSpPr>
          <p:cNvPr id="6" name="Text 4"/>
          <p:cNvSpPr/>
          <p:nvPr/>
        </p:nvSpPr>
        <p:spPr>
          <a:xfrm>
            <a:off x="2880360" y="1664208"/>
            <a:ext cx="4343400" cy="1005840"/>
          </a:xfrm>
          <a:prstGeom prst="rect">
            <a:avLst/>
          </a:prstGeom>
          <a:noFill/>
          <a:ln/>
        </p:spPr>
        <p:txBody>
          <a:bodyPr wrap="square" lIns="0" tIns="0" rIns="0" bIns="0" rtlCol="0" anchor="ctr"/>
          <a:lstStyle/>
          <a:p>
            <a:pPr indent="0" marL="0">
              <a:lnSpc>
                <a:spcPct val="104000"/>
              </a:lnSpc>
              <a:buNone/>
            </a:pPr>
            <a:r>
              <a:rPr lang="en-US" sz="1050" dirty="0">
                <a:solidFill>
                  <a:srgbClr val="DDDDDD"/>
                </a:solidFill>
                <a:latin typeface="Calibri" pitchFamily="34" charset="0"/>
                <a:ea typeface="Calibri" pitchFamily="34" charset="-122"/>
                <a:cs typeface="Calibri" pitchFamily="34" charset="-120"/>
              </a:rPr>
              <a:t>Senders, receivers, schedulers — a standard answer to “where does this code run?”  A scheduler names the place; a sender is composable work (then, when_all, bulk); the runtime is swappable.  Adopted June 2024 (P2300); NVIDIA’s stdexec is the reference implementation, CUDA-stream scheduler included.</a:t>
            </a:r>
            <a:endParaRPr lang="en-US" sz="1050" dirty="0"/>
          </a:p>
        </p:txBody>
      </p:sp>
      <p:sp>
        <p:nvSpPr>
          <p:cNvPr id="7" name="Shape 5"/>
          <p:cNvSpPr/>
          <p:nvPr/>
        </p:nvSpPr>
        <p:spPr>
          <a:xfrm>
            <a:off x="640080" y="2852928"/>
            <a:ext cx="6720840" cy="1188720"/>
          </a:xfrm>
          <a:prstGeom prst="roundRect">
            <a:avLst>
              <a:gd name="adj" fmla="val 4231"/>
            </a:avLst>
          </a:prstGeom>
          <a:solidFill>
            <a:srgbClr val="14141D"/>
          </a:solidFill>
          <a:ln w="12700">
            <a:solidFill>
              <a:srgbClr val="2A2A38"/>
            </a:solidFill>
            <a:prstDash val="solid"/>
          </a:ln>
        </p:spPr>
      </p:sp>
      <p:sp>
        <p:nvSpPr>
          <p:cNvPr id="8" name="Text 6"/>
          <p:cNvSpPr/>
          <p:nvPr/>
        </p:nvSpPr>
        <p:spPr>
          <a:xfrm>
            <a:off x="914400" y="2971800"/>
            <a:ext cx="2103120" cy="274320"/>
          </a:xfrm>
          <a:prstGeom prst="rect">
            <a:avLst/>
          </a:prstGeom>
          <a:noFill/>
          <a:ln/>
        </p:spPr>
        <p:txBody>
          <a:bodyPr wrap="square" lIns="0" tIns="0" rIns="0" bIns="0" rtlCol="0" anchor="ctr"/>
          <a:lstStyle/>
          <a:p>
            <a:pPr indent="0" marL="0">
              <a:buNone/>
            </a:pPr>
            <a:r>
              <a:rPr lang="en-US" sz="1400" b="1" dirty="0">
                <a:solidFill>
                  <a:srgbClr val="E8A832"/>
                </a:solidFill>
                <a:latin typeface="Courier New" pitchFamily="34" charset="0"/>
                <a:ea typeface="Courier New" pitchFamily="34" charset="-122"/>
                <a:cs typeface="Courier New" pitchFamily="34" charset="-120"/>
              </a:rPr>
              <a:t>std::linalg</a:t>
            </a:r>
            <a:endParaRPr lang="en-US" sz="1400" dirty="0"/>
          </a:p>
        </p:txBody>
      </p:sp>
      <p:sp>
        <p:nvSpPr>
          <p:cNvPr id="9" name="Text 7"/>
          <p:cNvSpPr/>
          <p:nvPr/>
        </p:nvSpPr>
        <p:spPr>
          <a:xfrm>
            <a:off x="2880360" y="2962656"/>
            <a:ext cx="4343400" cy="1005840"/>
          </a:xfrm>
          <a:prstGeom prst="rect">
            <a:avLst/>
          </a:prstGeom>
          <a:noFill/>
          <a:ln/>
        </p:spPr>
        <p:txBody>
          <a:bodyPr wrap="square" lIns="0" tIns="0" rIns="0" bIns="0" rtlCol="0" anchor="ctr"/>
          <a:lstStyle/>
          <a:p>
            <a:pPr indent="0" marL="0">
              <a:lnSpc>
                <a:spcPct val="104000"/>
              </a:lnSpc>
              <a:buNone/>
            </a:pPr>
            <a:r>
              <a:rPr lang="en-US" sz="1050" dirty="0">
                <a:solidFill>
                  <a:srgbClr val="DDDDDD"/>
                </a:solidFill>
                <a:latin typeface="Calibri" pitchFamily="34" charset="0"/>
                <a:ea typeface="Calibri" pitchFamily="34" charset="-122"/>
                <a:cs typeface="Calibri" pitchFamily="34" charset="-120"/>
              </a:rPr>
              <a:t>A BLAS-style linear-algebra interface over mdspan (C++23’s multi-dimensional array view): matrix_product, scaled(), transposed(), conjugated() — the ISO standard now names the matrix multiply as a first-class library operation, with room for accelerated backends underneath.</a:t>
            </a:r>
            <a:endParaRPr lang="en-US" sz="1050" dirty="0"/>
          </a:p>
        </p:txBody>
      </p:sp>
      <p:sp>
        <p:nvSpPr>
          <p:cNvPr id="10" name="Shape 8"/>
          <p:cNvSpPr/>
          <p:nvPr/>
        </p:nvSpPr>
        <p:spPr>
          <a:xfrm>
            <a:off x="640080" y="4151376"/>
            <a:ext cx="6720840" cy="1188720"/>
          </a:xfrm>
          <a:prstGeom prst="roundRect">
            <a:avLst>
              <a:gd name="adj" fmla="val 4231"/>
            </a:avLst>
          </a:prstGeom>
          <a:solidFill>
            <a:srgbClr val="14141D"/>
          </a:solidFill>
          <a:ln w="12700">
            <a:solidFill>
              <a:srgbClr val="2A2A38"/>
            </a:solidFill>
            <a:prstDash val="solid"/>
          </a:ln>
        </p:spPr>
      </p:sp>
      <p:sp>
        <p:nvSpPr>
          <p:cNvPr id="11" name="Text 9"/>
          <p:cNvSpPr/>
          <p:nvPr/>
        </p:nvSpPr>
        <p:spPr>
          <a:xfrm>
            <a:off x="914400" y="4270248"/>
            <a:ext cx="2103120" cy="274320"/>
          </a:xfrm>
          <a:prstGeom prst="rect">
            <a:avLst/>
          </a:prstGeom>
          <a:noFill/>
          <a:ln/>
        </p:spPr>
        <p:txBody>
          <a:bodyPr wrap="square" lIns="0" tIns="0" rIns="0" bIns="0" rtlCol="0" anchor="ctr"/>
          <a:lstStyle/>
          <a:p>
            <a:pPr indent="0" marL="0">
              <a:buNone/>
            </a:pPr>
            <a:r>
              <a:rPr lang="en-US" sz="1400" b="1" dirty="0">
                <a:solidFill>
                  <a:srgbClr val="6AA6FF"/>
                </a:solidFill>
                <a:latin typeface="Courier New" pitchFamily="34" charset="0"/>
                <a:ea typeface="Courier New" pitchFamily="34" charset="-122"/>
                <a:cs typeface="Courier New" pitchFamily="34" charset="-120"/>
              </a:rPr>
              <a:t>std::simd</a:t>
            </a:r>
            <a:endParaRPr lang="en-US" sz="1400" dirty="0"/>
          </a:p>
        </p:txBody>
      </p:sp>
      <p:sp>
        <p:nvSpPr>
          <p:cNvPr id="12" name="Text 10"/>
          <p:cNvSpPr/>
          <p:nvPr/>
        </p:nvSpPr>
        <p:spPr>
          <a:xfrm>
            <a:off x="2880360" y="4261104"/>
            <a:ext cx="4343400" cy="1005840"/>
          </a:xfrm>
          <a:prstGeom prst="rect">
            <a:avLst/>
          </a:prstGeom>
          <a:noFill/>
          <a:ln/>
        </p:spPr>
        <p:txBody>
          <a:bodyPr wrap="square" lIns="0" tIns="0" rIns="0" bIns="0" rtlCol="0" anchor="ctr"/>
          <a:lstStyle/>
          <a:p>
            <a:pPr indent="0" marL="0">
              <a:lnSpc>
                <a:spcPct val="104000"/>
              </a:lnSpc>
              <a:buNone/>
            </a:pPr>
            <a:r>
              <a:rPr lang="en-US" sz="1050" dirty="0">
                <a:solidFill>
                  <a:srgbClr val="DDDDDD"/>
                </a:solidFill>
                <a:latin typeface="Calibri" pitchFamily="34" charset="0"/>
                <a:ea typeface="Calibri" pitchFamily="34" charset="-122"/>
                <a:cs typeface="Calibri" pitchFamily="34" charset="-120"/>
              </a:rPr>
              <a:t>Portable data-parallel value types — explicit vectorization for the CPU side of the machine, width chosen per target at compile time.</a:t>
            </a:r>
            <a:endParaRPr lang="en-US" sz="1050" dirty="0"/>
          </a:p>
        </p:txBody>
      </p:sp>
      <p:sp>
        <p:nvSpPr>
          <p:cNvPr id="13" name="Shape 11"/>
          <p:cNvSpPr/>
          <p:nvPr/>
        </p:nvSpPr>
        <p:spPr>
          <a:xfrm>
            <a:off x="7589520" y="1554480"/>
            <a:ext cx="3931920" cy="2651760"/>
          </a:xfrm>
          <a:prstGeom prst="roundRect">
            <a:avLst>
              <a:gd name="adj" fmla="val 1897"/>
            </a:avLst>
          </a:prstGeom>
          <a:solidFill>
            <a:srgbClr val="10151C"/>
          </a:solidFill>
          <a:ln w="12700">
            <a:solidFill>
              <a:srgbClr val="2A2A38"/>
            </a:solidFill>
            <a:prstDash val="solid"/>
          </a:ln>
        </p:spPr>
      </p:sp>
      <p:sp>
        <p:nvSpPr>
          <p:cNvPr id="14" name="Text 12"/>
          <p:cNvSpPr/>
          <p:nvPr/>
        </p:nvSpPr>
        <p:spPr>
          <a:xfrm>
            <a:off x="7863840" y="1737360"/>
            <a:ext cx="3474720" cy="274320"/>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THE SHAPE OF IT (ILLUSTRATIVE)</a:t>
            </a:r>
            <a:endParaRPr lang="en-US" sz="1250" dirty="0"/>
          </a:p>
        </p:txBody>
      </p:sp>
      <p:sp>
        <p:nvSpPr>
          <p:cNvPr id="15" name="Text 13"/>
          <p:cNvSpPr/>
          <p:nvPr/>
        </p:nvSpPr>
        <p:spPr>
          <a:xfrm>
            <a:off x="7863840" y="2084832"/>
            <a:ext cx="3520440" cy="2011680"/>
          </a:xfrm>
          <a:prstGeom prst="rect">
            <a:avLst/>
          </a:prstGeom>
          <a:noFill/>
          <a:ln/>
        </p:spPr>
        <p:txBody>
          <a:bodyPr wrap="square" lIns="0" tIns="0" rIns="0" bIns="0" rtlCol="0" anchor="ctr"/>
          <a:lstStyle/>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auto task =</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schedule(gpu_sched)      // WHERE</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 bulk(N, [=](auto i){</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y[i] += a * x[i];    // WHAT</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 then(reduce_step);</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sync_wait(task);           // WHEN</a:t>
            </a:r>
            <a:endParaRPr lang="en-US" sz="1100" dirty="0"/>
          </a:p>
        </p:txBody>
      </p:sp>
      <p:sp>
        <p:nvSpPr>
          <p:cNvPr id="16" name="Shape 14"/>
          <p:cNvSpPr/>
          <p:nvPr/>
        </p:nvSpPr>
        <p:spPr>
          <a:xfrm>
            <a:off x="7589520" y="4343400"/>
            <a:ext cx="3931920" cy="1143000"/>
          </a:xfrm>
          <a:prstGeom prst="roundRect">
            <a:avLst>
              <a:gd name="adj" fmla="val 4400"/>
            </a:avLst>
          </a:prstGeom>
          <a:solidFill>
            <a:srgbClr val="14141D"/>
          </a:solidFill>
          <a:ln w="12700">
            <a:solidFill>
              <a:srgbClr val="2A2A38"/>
            </a:solidFill>
            <a:prstDash val="solid"/>
          </a:ln>
        </p:spPr>
      </p:sp>
      <p:sp>
        <p:nvSpPr>
          <p:cNvPr id="17" name="Text 15"/>
          <p:cNvSpPr/>
          <p:nvPr/>
        </p:nvSpPr>
        <p:spPr>
          <a:xfrm>
            <a:off x="7863840" y="4507992"/>
            <a:ext cx="3474720" cy="274320"/>
          </a:xfrm>
          <a:prstGeom prst="rect">
            <a:avLst/>
          </a:prstGeom>
          <a:noFill/>
          <a:ln/>
        </p:spPr>
        <p:txBody>
          <a:bodyPr wrap="square" lIns="0" tIns="0" rIns="0" bIns="0" rtlCol="0" anchor="ctr"/>
          <a:lstStyle/>
          <a:p>
            <a:pPr indent="0" marL="0">
              <a:buNone/>
            </a:pPr>
            <a:r>
              <a:rPr lang="en-US" sz="1250" b="1" dirty="0">
                <a:solidFill>
                  <a:srgbClr val="CCCCCC"/>
                </a:solidFill>
                <a:latin typeface="Courier New" pitchFamily="34" charset="0"/>
                <a:ea typeface="Courier New" pitchFamily="34" charset="-122"/>
                <a:cs typeface="Courier New" pitchFamily="34" charset="-120"/>
              </a:rPr>
              <a:t>TIMELINE</a:t>
            </a:r>
            <a:endParaRPr lang="en-US" sz="1250" dirty="0"/>
          </a:p>
        </p:txBody>
      </p:sp>
      <p:sp>
        <p:nvSpPr>
          <p:cNvPr id="18" name="Text 16"/>
          <p:cNvSpPr/>
          <p:nvPr/>
        </p:nvSpPr>
        <p:spPr>
          <a:xfrm>
            <a:off x="7863840" y="4809744"/>
            <a:ext cx="3474720" cy="640080"/>
          </a:xfrm>
          <a:prstGeom prst="rect">
            <a:avLst/>
          </a:prstGeom>
          <a:noFill/>
          <a:ln/>
        </p:spPr>
        <p:txBody>
          <a:bodyPr wrap="square" lIns="0" tIns="0" rIns="0" bIns="0" rtlCol="0" anchor="ctr"/>
          <a:lstStyle/>
          <a:p>
            <a:pPr indent="0" marL="0">
              <a:lnSpc>
                <a:spcPct val="110000"/>
              </a:lnSpc>
              <a:buNone/>
            </a:pPr>
            <a:r>
              <a:rPr lang="en-US" sz="1100" dirty="0">
                <a:solidFill>
                  <a:srgbClr val="DDDDDD"/>
                </a:solidFill>
                <a:latin typeface="Calibri" pitchFamily="34" charset="0"/>
                <a:ea typeface="Calibri" pitchFamily="34" charset="-122"/>
                <a:cs typeface="Calibri" pitchFamily="34" charset="-120"/>
              </a:rPr>
              <a:t>2024 adopted · 2025 feature-frozen</a:t>
            </a:r>
            <a:endParaRPr lang="en-US" sz="1100" dirty="0"/>
          </a:p>
          <a:p>
            <a:pPr indent="0" marL="0">
              <a:lnSpc>
                <a:spcPct val="110000"/>
              </a:lnSpc>
              <a:buNone/>
            </a:pPr>
            <a:r>
              <a:rPr lang="en-US" sz="1100" dirty="0">
                <a:solidFill>
                  <a:srgbClr val="DDDDDD"/>
                </a:solidFill>
                <a:latin typeface="Calibri" pitchFamily="34" charset="0"/>
                <a:ea typeface="Calibri" pitchFamily="34" charset="-122"/>
                <a:cs typeface="Calibri" pitchFamily="34" charset="-120"/>
              </a:rPr>
              <a:t>late 2026 published · compilers trail:</a:t>
            </a:r>
            <a:endParaRPr lang="en-US" sz="1100" dirty="0"/>
          </a:p>
          <a:p>
            <a:pPr indent="0" marL="0">
              <a:lnSpc>
                <a:spcPct val="110000"/>
              </a:lnSpc>
              <a:buNone/>
            </a:pPr>
            <a:r>
              <a:rPr lang="en-US" sz="1100" dirty="0">
                <a:solidFill>
                  <a:srgbClr val="DDDDDD"/>
                </a:solidFill>
                <a:latin typeface="Calibri" pitchFamily="34" charset="0"/>
                <a:ea typeface="Calibri" pitchFamily="34" charset="-122"/>
                <a:cs typeface="Calibri" pitchFamily="34" charset="-120"/>
              </a:rPr>
              <a:t>most of it is still experimental today</a:t>
            </a:r>
            <a:endParaRPr lang="en-US" sz="1100" dirty="0"/>
          </a:p>
        </p:txBody>
      </p:sp>
      <p:sp>
        <p:nvSpPr>
          <p:cNvPr id="19" name="Shape 17"/>
          <p:cNvSpPr/>
          <p:nvPr/>
        </p:nvSpPr>
        <p:spPr>
          <a:xfrm>
            <a:off x="640080" y="5623560"/>
            <a:ext cx="10881360" cy="731520"/>
          </a:xfrm>
          <a:prstGeom prst="roundRect">
            <a:avLst>
              <a:gd name="adj" fmla="val 6875"/>
            </a:avLst>
          </a:prstGeom>
          <a:solidFill>
            <a:srgbClr val="14141D"/>
          </a:solidFill>
          <a:ln w="12700">
            <a:solidFill>
              <a:srgbClr val="2A2A38"/>
            </a:solidFill>
            <a:prstDash val="solid"/>
          </a:ln>
        </p:spPr>
      </p:sp>
      <p:sp>
        <p:nvSpPr>
          <p:cNvPr id="20" name="Text 18"/>
          <p:cNvSpPr/>
          <p:nvPr/>
        </p:nvSpPr>
        <p:spPr>
          <a:xfrm>
            <a:off x="914400" y="5779008"/>
            <a:ext cx="10332720" cy="457200"/>
          </a:xfrm>
          <a:prstGeom prst="rect">
            <a:avLst/>
          </a:prstGeom>
          <a:noFill/>
          <a:ln/>
        </p:spPr>
        <p:txBody>
          <a:bodyPr wrap="square" lIns="0" tIns="0" rIns="0" bIns="0" rtlCol="0" anchor="ctr"/>
          <a:lstStyle/>
          <a:p>
            <a:pPr indent="0" marL="0">
              <a:buNone/>
            </a:pPr>
            <a:r>
              <a:rPr lang="en-US" sz="1250" dirty="0">
                <a:solidFill>
                  <a:srgbClr val="DDDDDD"/>
                </a:solidFill>
                <a:latin typeface="Calibri" pitchFamily="34" charset="0"/>
                <a:ea typeface="Calibri" pitchFamily="34" charset="-122"/>
                <a:cs typeface="Calibri" pitchFamily="34" charset="-120"/>
              </a:rPr>
              <a:t>Today’s bridge already exists: C++17 parallel algorithms offload to the GPU under nvc++ (-stdpar).  C++26 extends that from algorithms to whole asynchronous pipelines.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C++26, FEATURE BY FEATURE</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std::execution — orchestration as a value</a:t>
            </a:r>
            <a:endParaRPr lang="en-US" sz="2700" dirty="0"/>
          </a:p>
        </p:txBody>
      </p:sp>
      <p:sp>
        <p:nvSpPr>
          <p:cNvPr id="4" name="Shape 2"/>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THREE CONCEPTS</a:t>
            </a:r>
            <a:endParaRPr lang="en-US" sz="1250" dirty="0"/>
          </a:p>
        </p:txBody>
      </p:sp>
      <p:sp>
        <p:nvSpPr>
          <p:cNvPr id="6" name="Text 4"/>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SCHEDULER — the WHERE.  Names an execution resource: a CPU thread pool, a GPU stream, an inline loop.  The place code runs becomes a first-class value you pass around.</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SENDER — the WHAT.  A composable description of asynchronous work.  Nothing runs when you build it; pipelines assemble from algorithms — then, when_all, bulk — like expressions.</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RECEIVER — the way back.  Results, errors, and cancellation each get a typed channel.  No detached threads, no lost exceptions: structured concurrency by construction.</a:t>
            </a:r>
            <a:endParaRPr lang="en-US" sz="1150" dirty="0"/>
          </a:p>
        </p:txBody>
      </p:sp>
      <p:sp>
        <p:nvSpPr>
          <p:cNvPr id="7" name="Shape 5"/>
          <p:cNvSpPr/>
          <p:nvPr/>
        </p:nvSpPr>
        <p:spPr>
          <a:xfrm>
            <a:off x="6263640" y="1554480"/>
            <a:ext cx="5257800" cy="2011680"/>
          </a:xfrm>
          <a:prstGeom prst="roundRect">
            <a:avLst>
              <a:gd name="adj" fmla="val 2500"/>
            </a:avLst>
          </a:prstGeom>
          <a:solidFill>
            <a:srgbClr val="10151C"/>
          </a:solidFill>
          <a:ln w="12700">
            <a:solidFill>
              <a:srgbClr val="2A2A38"/>
            </a:solidFill>
            <a:prstDash val="solid"/>
          </a:ln>
        </p:spPr>
      </p:sp>
      <p:sp>
        <p:nvSpPr>
          <p:cNvPr id="8" name="Text 6"/>
          <p:cNvSpPr/>
          <p:nvPr/>
        </p:nvSpPr>
        <p:spPr>
          <a:xfrm>
            <a:off x="6537960" y="1737360"/>
            <a:ext cx="4754880" cy="274320"/>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THE SHAPE (ILLUSTRATIVE)</a:t>
            </a:r>
            <a:endParaRPr lang="en-US" sz="1250" dirty="0"/>
          </a:p>
        </p:txBody>
      </p:sp>
      <p:sp>
        <p:nvSpPr>
          <p:cNvPr id="9" name="Text 7"/>
          <p:cNvSpPr/>
          <p:nvPr/>
        </p:nvSpPr>
        <p:spPr>
          <a:xfrm>
            <a:off x="6537960" y="2066544"/>
            <a:ext cx="4754880" cy="1463040"/>
          </a:xfrm>
          <a:prstGeom prst="rect">
            <a:avLst/>
          </a:prstGeom>
          <a:noFill/>
          <a:ln/>
        </p:spPr>
        <p:txBody>
          <a:bodyPr wrap="square" lIns="0" tIns="0" rIns="0" bIns="0" rtlCol="0" anchor="ctr"/>
          <a:lstStyle/>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auto pipe =</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schedule(gpu)            // WHERE</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 bulk(N, step_kernel)   // WHAT</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 continues_on(cpu_pool) // hop home</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  | then(report);</a:t>
            </a:r>
            <a:endParaRPr lang="en-US" sz="1100" dirty="0"/>
          </a:p>
          <a:p>
            <a:pPr indent="0" marL="0">
              <a:lnSpc>
                <a:spcPct val="112000"/>
              </a:lnSpc>
              <a:buNone/>
            </a:pPr>
            <a:r>
              <a:rPr lang="en-US" sz="1100" dirty="0">
                <a:solidFill>
                  <a:srgbClr val="FFFFFF"/>
                </a:solidFill>
                <a:latin typeface="Courier New" pitchFamily="34" charset="0"/>
                <a:ea typeface="Courier New" pitchFamily="34" charset="-122"/>
                <a:cs typeface="Courier New" pitchFamily="34" charset="-120"/>
              </a:rPr>
              <a:t>sync_wait(pipe);           // WHEN</a:t>
            </a:r>
            <a:endParaRPr lang="en-US" sz="1100" dirty="0"/>
          </a:p>
        </p:txBody>
      </p:sp>
      <p:sp>
        <p:nvSpPr>
          <p:cNvPr id="10" name="Shape 8"/>
          <p:cNvSpPr/>
          <p:nvPr/>
        </p:nvSpPr>
        <p:spPr>
          <a:xfrm>
            <a:off x="6263640" y="3703320"/>
            <a:ext cx="5257800" cy="1417320"/>
          </a:xfrm>
          <a:prstGeom prst="roundRect">
            <a:avLst>
              <a:gd name="adj" fmla="val 3548"/>
            </a:avLst>
          </a:prstGeom>
          <a:solidFill>
            <a:srgbClr val="14141D"/>
          </a:solidFill>
          <a:ln w="12700">
            <a:solidFill>
              <a:srgbClr val="2A2A38"/>
            </a:solidFill>
            <a:prstDash val="solid"/>
          </a:ln>
        </p:spPr>
      </p:sp>
      <p:sp>
        <p:nvSpPr>
          <p:cNvPr id="11" name="Text 9"/>
          <p:cNvSpPr/>
          <p:nvPr/>
        </p:nvSpPr>
        <p:spPr>
          <a:xfrm>
            <a:off x="6537960" y="3867912"/>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WHY THIS SHAPE</a:t>
            </a:r>
            <a:endParaRPr lang="en-US" sz="1250" dirty="0"/>
          </a:p>
        </p:txBody>
      </p:sp>
      <p:sp>
        <p:nvSpPr>
          <p:cNvPr id="12" name="Text 10"/>
          <p:cNvSpPr/>
          <p:nvPr/>
        </p:nvSpPr>
        <p:spPr>
          <a:xfrm>
            <a:off x="6537960" y="4160520"/>
            <a:ext cx="4754880" cy="914400"/>
          </a:xfrm>
          <a:prstGeom prst="rect">
            <a:avLst/>
          </a:prstGeom>
          <a:noFill/>
          <a:ln/>
        </p:spPr>
        <p:txBody>
          <a:bodyPr wrap="square" lIns="0" tIns="0" rIns="0" bIns="0" rtlCol="0" anchor="ctr"/>
          <a:lstStyle/>
          <a:p>
            <a:pPr indent="0" marL="0">
              <a:lnSpc>
                <a:spcPct val="108000"/>
              </a:lnSpc>
              <a:buNone/>
            </a:pPr>
            <a:r>
              <a:rPr lang="en-US" sz="1050" dirty="0">
                <a:solidFill>
                  <a:srgbClr val="DDDDDD"/>
                </a:solidFill>
                <a:latin typeface="Calibri" pitchFamily="34" charset="0"/>
                <a:ea typeface="Calibri" pitchFamily="34" charset="-122"/>
                <a:cs typeface="Calibri" pitchFamily="34" charset="-120"/>
              </a:rPr>
              <a:t>Work is a value: a task graph you build, store, and launch — CUDA Graphs’ capture-and-replay idea, generalized and vendor-neutral.  Retarget the entire pipeline by swapping one scheduler; the composition never changes.</a:t>
            </a:r>
            <a:endParaRPr lang="en-US" sz="1050" dirty="0"/>
          </a:p>
        </p:txBody>
      </p:sp>
      <p:sp>
        <p:nvSpPr>
          <p:cNvPr id="13" name="Shape 11"/>
          <p:cNvSpPr/>
          <p:nvPr/>
        </p:nvSpPr>
        <p:spPr>
          <a:xfrm>
            <a:off x="640080" y="5394960"/>
            <a:ext cx="10881360" cy="777240"/>
          </a:xfrm>
          <a:prstGeom prst="roundRect">
            <a:avLst>
              <a:gd name="adj" fmla="val 6471"/>
            </a:avLst>
          </a:prstGeom>
          <a:solidFill>
            <a:srgbClr val="14141D"/>
          </a:solidFill>
          <a:ln w="12700">
            <a:solidFill>
              <a:srgbClr val="2A2A38"/>
            </a:solidFill>
            <a:prstDash val="solid"/>
          </a:ln>
        </p:spPr>
      </p:sp>
      <p:sp>
        <p:nvSpPr>
          <p:cNvPr id="14" name="Text 12"/>
          <p:cNvSpPr/>
          <p:nvPr/>
        </p:nvSpPr>
        <p:spPr>
          <a:xfrm>
            <a:off x="914400" y="5541264"/>
            <a:ext cx="10332720" cy="50292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Adopted June 2024 (P2300).  NVIDIA’s stdexec is the reference implementation, CUDA-stream scheduler included — the orchestration layer this history invented, returning as ISO text twenty years on.</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C++26, FEATURE BY FEATURE</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std::linalg — BLAS becomes ISO vocabulary</a:t>
            </a:r>
            <a:endParaRPr lang="en-US" sz="2700" dirty="0"/>
          </a:p>
        </p:txBody>
      </p:sp>
      <p:sp>
        <p:nvSpPr>
          <p:cNvPr id="4" name="Shape 2"/>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WHAT IT IS</a:t>
            </a:r>
            <a:endParaRPr lang="en-US" sz="1250" dirty="0"/>
          </a:p>
        </p:txBody>
      </p:sp>
      <p:sp>
        <p:nvSpPr>
          <p:cNvPr id="6" name="Text 4"/>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Free functions over mdspan views: matrix_product(A, B, C), norms, triangular solves — the BLAS catalogue, with standard types instead of raw pointers and leading dimensions.</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mdspan (C++23) is the substrate: a non-owning view = pointer + extents + layout.  A matrix, its transpose, and its sub-blocks are views over ONE array.</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The adaptors — scaled(α, A), transposed(A), conjugated(A) — are views too.  No copies, no data movement: just index math.</a:t>
            </a:r>
            <a:endParaRPr lang="en-US" sz="1150" dirty="0"/>
          </a:p>
        </p:txBody>
      </p:sp>
      <p:sp>
        <p:nvSpPr>
          <p:cNvPr id="7" name="Shape 5"/>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8" name="Text 6"/>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THEMES YOU ALREADY KNOW</a:t>
            </a:r>
            <a:endParaRPr lang="en-US" sz="1250" dirty="0"/>
          </a:p>
        </p:txBody>
      </p:sp>
      <p:sp>
        <p:nvSpPr>
          <p:cNvPr id="9" name="Text 7"/>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Views, not copies — the recomposition slide’s lesson (blocking is addressing, never movement) encoded as API design.  transposed(A) is the same array wearing different index math.</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A vendor-neutral face over vendor kernels: implementations dispatch to cuBLAS, rocBLAS, MKL.  Your interfaces speak standard types; the silicon underneath stays free to change.</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Lineage: P1673 grew out of the Kokkos world — the same stack as the radar companion code.  The people who live with portability wrote the portable interface.</a:t>
            </a:r>
            <a:endParaRPr lang="en-US" sz="1150" dirty="0"/>
          </a:p>
        </p:txBody>
      </p:sp>
      <p:sp>
        <p:nvSpPr>
          <p:cNvPr id="10" name="Shape 8"/>
          <p:cNvSpPr/>
          <p:nvPr/>
        </p:nvSpPr>
        <p:spPr>
          <a:xfrm>
            <a:off x="640080" y="5394960"/>
            <a:ext cx="10881360" cy="777240"/>
          </a:xfrm>
          <a:prstGeom prst="roundRect">
            <a:avLst>
              <a:gd name="adj" fmla="val 6471"/>
            </a:avLst>
          </a:prstGeom>
          <a:solidFill>
            <a:srgbClr val="1A160C"/>
          </a:solidFill>
          <a:ln w="12700">
            <a:solidFill>
              <a:srgbClr val="2A2A38"/>
            </a:solidFill>
            <a:prstDash val="solid"/>
          </a:ln>
        </p:spPr>
      </p:sp>
      <p:sp>
        <p:nvSpPr>
          <p:cNvPr id="11" name="Text 9"/>
          <p:cNvSpPr/>
          <p:nvPr/>
        </p:nvSpPr>
        <p:spPr>
          <a:xfrm>
            <a:off x="914400" y="5541264"/>
            <a:ext cx="10332720" cy="502920"/>
          </a:xfrm>
          <a:prstGeom prst="rect">
            <a:avLst/>
          </a:prstGeom>
          <a:noFill/>
          <a:ln/>
        </p:spPr>
        <p:txBody>
          <a:bodyPr wrap="square" lIns="0" tIns="0" rIns="0" bIns="0" rtlCol="0" anchor="ctr"/>
          <a:lstStyle/>
          <a:p>
            <a:pPr indent="0" marL="0">
              <a:buNone/>
            </a:pPr>
            <a:r>
              <a:rPr lang="en-US" sz="1300" i="1" dirty="0">
                <a:solidFill>
                  <a:srgbClr val="E8A832"/>
                </a:solidFill>
                <a:latin typeface="Calibri" pitchFamily="34" charset="0"/>
                <a:ea typeface="Calibri" pitchFamily="34" charset="-122"/>
                <a:cs typeface="Calibri" pitchFamily="34" charset="-120"/>
              </a:rPr>
              <a:t>The ISO standard now names the matrix multiply — the operation this whole seminar orbits — as a first-class library call.  Lesson 3, ratified.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C++26, FEATURE BY FEATURE</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std::simd — one idea, three scales</a:t>
            </a:r>
            <a:endParaRPr lang="en-US" sz="2700" dirty="0"/>
          </a:p>
        </p:txBody>
      </p:sp>
      <p:sp>
        <p:nvSpPr>
          <p:cNvPr id="4" name="Shape 2"/>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WHAT IT IS</a:t>
            </a:r>
            <a:endParaRPr lang="en-US" sz="1250" dirty="0"/>
          </a:p>
        </p:txBody>
      </p:sp>
      <p:sp>
        <p:nvSpPr>
          <p:cNvPr id="6" name="Text 4"/>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simd&lt;T&gt;: a register-wide pack of lanes that behaves like one arithmetic value — a + b adds every lane at once.  The width is chosen per target at compile time: AVX-512, NEON, SVE.</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Divergence is explicit: where(mask, x) selects the lanes that participate.  You manage the pack; nothing is hidden.</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The CPU side of heterogeneous code: pre- and post-processing at full memory bandwidth instead of a scalar dribble — the host keeping pace with the device it feeds.</a:t>
            </a:r>
            <a:endParaRPr lang="en-US" sz="1150" dirty="0"/>
          </a:p>
        </p:txBody>
      </p:sp>
      <p:sp>
        <p:nvSpPr>
          <p:cNvPr id="7" name="Shape 5"/>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8" name="Text 6"/>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SIMD vs SIMT — TWO FACES OF LESSON 2</a:t>
            </a:r>
            <a:endParaRPr lang="en-US" sz="1250" dirty="0"/>
          </a:p>
        </p:txBody>
      </p:sp>
      <p:sp>
        <p:nvSpPr>
          <p:cNvPr id="9" name="Text 7"/>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std::simd — YOU manage the pack: explicit vector values on one core, widths visible, masks by hand.</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GPU SIMT — the MACHINE manages the pack: thousands of threads, hardware-grouped into warps, divergence handled for you.  Same discipline, opposite custody.</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The founding idea appears at every scale: one function over many independent elements — lane, warp, grid.  Lesson 2 is fractal: expose the independence and the width takes care of itself.</a:t>
            </a:r>
            <a:endParaRPr lang="en-US" sz="1150" dirty="0"/>
          </a:p>
        </p:txBody>
      </p:sp>
      <p:sp>
        <p:nvSpPr>
          <p:cNvPr id="10" name="Shape 8"/>
          <p:cNvSpPr/>
          <p:nvPr/>
        </p:nvSpPr>
        <p:spPr>
          <a:xfrm>
            <a:off x="640080" y="5394960"/>
            <a:ext cx="10881360" cy="777240"/>
          </a:xfrm>
          <a:prstGeom prst="roundRect">
            <a:avLst>
              <a:gd name="adj" fmla="val 6471"/>
            </a:avLst>
          </a:prstGeom>
          <a:solidFill>
            <a:srgbClr val="14141D"/>
          </a:solidFill>
          <a:ln w="12700">
            <a:solidFill>
              <a:srgbClr val="2A2A38"/>
            </a:solidFill>
            <a:prstDash val="solid"/>
          </a:ln>
        </p:spPr>
      </p:sp>
      <p:sp>
        <p:nvSpPr>
          <p:cNvPr id="11" name="Text 9"/>
          <p:cNvSpPr/>
          <p:nvPr/>
        </p:nvSpPr>
        <p:spPr>
          <a:xfrm>
            <a:off x="914400" y="5541264"/>
            <a:ext cx="10332720" cy="50292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The instruction sets differ; the discipline does not.  Code written as “independent elements, one function” vectorizes on the CPU, offloads to the GPU, and survives whatever width arrives next.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THE LANGUAGE</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C++26, read with the pendulum</a:t>
            </a:r>
            <a:endParaRPr lang="en-US" sz="2700" dirty="0"/>
          </a:p>
        </p:txBody>
      </p:sp>
      <p:sp>
        <p:nvSpPr>
          <p:cNvPr id="4" name="Shape 2"/>
          <p:cNvSpPr/>
          <p:nvPr/>
        </p:nvSpPr>
        <p:spPr>
          <a:xfrm>
            <a:off x="640080" y="1554480"/>
            <a:ext cx="5394960" cy="2377440"/>
          </a:xfrm>
          <a:prstGeom prst="roundRect">
            <a:avLst>
              <a:gd name="adj" fmla="val 2115"/>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WHAT THE STANDARD NOW OWNS</a:t>
            </a:r>
            <a:endParaRPr lang="en-US" sz="1250" dirty="0"/>
          </a:p>
        </p:txBody>
      </p:sp>
      <p:sp>
        <p:nvSpPr>
          <p:cNvPr id="6" name="Text 4"/>
          <p:cNvSpPr/>
          <p:nvPr/>
        </p:nvSpPr>
        <p:spPr>
          <a:xfrm>
            <a:off x="914400" y="2148840"/>
            <a:ext cx="4892040" cy="1691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00" dirty="0">
                <a:solidFill>
                  <a:srgbClr val="DDDDDD"/>
                </a:solidFill>
                <a:latin typeface="Calibri" pitchFamily="34" charset="0"/>
                <a:ea typeface="Calibri" pitchFamily="34" charset="-122"/>
                <a:cs typeface="Calibri" pitchFamily="34" charset="-120"/>
              </a:rPr>
              <a:t>The orchestration seam: asynchrony, task graphs, “run this there, then that here” — the streams-and-graphs layer CUDA proved, absorbed twenty years after the fact.</a:t>
            </a:r>
            <a:endParaRPr lang="en-US" sz="1200" dirty="0"/>
          </a:p>
          <a:p>
            <a:pPr marL="152400" indent="-152400">
              <a:lnSpc>
                <a:spcPct val="108000"/>
              </a:lnSpc>
              <a:spcAft>
                <a:spcPts val="800"/>
              </a:spcAft>
              <a:buSzPct val="100000"/>
              <a:buChar char="•"/>
            </a:pPr>
            <a:r>
              <a:rPr lang="en-US" sz="1200" dirty="0">
                <a:solidFill>
                  <a:srgbClr val="DDDDDD"/>
                </a:solidFill>
                <a:latin typeface="Calibri" pitchFamily="34" charset="0"/>
                <a:ea typeface="Calibri" pitchFamily="34" charset="-122"/>
                <a:cs typeface="Calibri" pitchFamily="34" charset="-120"/>
              </a:rPr>
              <a:t>The interface vocabulary: mdspan for array views, linalg for the operations — standard types your APIs can speak without naming a vendor.</a:t>
            </a:r>
            <a:endParaRPr lang="en-US" sz="1200" dirty="0"/>
          </a:p>
        </p:txBody>
      </p:sp>
      <p:sp>
        <p:nvSpPr>
          <p:cNvPr id="7" name="Shape 5"/>
          <p:cNvSpPr/>
          <p:nvPr/>
        </p:nvSpPr>
        <p:spPr>
          <a:xfrm>
            <a:off x="6263640" y="1554480"/>
            <a:ext cx="5257800" cy="2377440"/>
          </a:xfrm>
          <a:prstGeom prst="roundRect">
            <a:avLst>
              <a:gd name="adj" fmla="val 2115"/>
            </a:avLst>
          </a:prstGeom>
          <a:solidFill>
            <a:srgbClr val="14141D"/>
          </a:solidFill>
          <a:ln w="12700">
            <a:solidFill>
              <a:srgbClr val="2A2A38"/>
            </a:solidFill>
            <a:prstDash val="solid"/>
          </a:ln>
        </p:spPr>
      </p:sp>
      <p:sp>
        <p:nvSpPr>
          <p:cNvPr id="8" name="Text 6"/>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WHAT STAYS VENDOR TERRITORY</a:t>
            </a:r>
            <a:endParaRPr lang="en-US" sz="1250" dirty="0"/>
          </a:p>
        </p:txBody>
      </p:sp>
      <p:sp>
        <p:nvSpPr>
          <p:cNvPr id="9" name="Text 7"/>
          <p:cNvSpPr/>
          <p:nvPr/>
        </p:nvSpPr>
        <p:spPr>
          <a:xfrm>
            <a:off x="6537960" y="2148840"/>
            <a:ext cx="4754880" cy="1691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00" dirty="0">
                <a:solidFill>
                  <a:srgbClr val="DDDDDD"/>
                </a:solidFill>
                <a:latin typeface="Calibri" pitchFamily="34" charset="0"/>
                <a:ea typeface="Calibri" pitchFamily="34" charset="-122"/>
                <a:cs typeface="Calibri" pitchFamily="34" charset="-120"/>
              </a:rPr>
              <a:t>The kernel layer: no kernels, no memory spaces, no offload semantics in the language.  CUDA, HIP, SYCL — or Kokkos above them — still write the device code.</a:t>
            </a:r>
            <a:endParaRPr lang="en-US" sz="1200" dirty="0"/>
          </a:p>
          <a:p>
            <a:pPr marL="152400" indent="-152400">
              <a:lnSpc>
                <a:spcPct val="108000"/>
              </a:lnSpc>
              <a:spcAft>
                <a:spcPts val="800"/>
              </a:spcAft>
              <a:buSzPct val="100000"/>
              <a:buChar char="•"/>
            </a:pPr>
            <a:r>
              <a:rPr lang="en-US" sz="1200" dirty="0">
                <a:solidFill>
                  <a:srgbClr val="DDDDDD"/>
                </a:solidFill>
                <a:latin typeface="Calibri" pitchFamily="34" charset="0"/>
                <a:ea typeface="Calibri" pitchFamily="34" charset="-122"/>
                <a:cs typeface="Calibri" pitchFamily="34" charset="-120"/>
              </a:rPr>
              <a:t>And the pendulum says why: the hardware under that layer is still swinging (tensor cores, FP4, QPUs).  You do not freeze an abstraction over moving silicon.</a:t>
            </a:r>
            <a:endParaRPr lang="en-US" sz="1200" dirty="0"/>
          </a:p>
        </p:txBody>
      </p:sp>
      <p:sp>
        <p:nvSpPr>
          <p:cNvPr id="10" name="Shape 8"/>
          <p:cNvSpPr/>
          <p:nvPr/>
        </p:nvSpPr>
        <p:spPr>
          <a:xfrm>
            <a:off x="640080" y="4160520"/>
            <a:ext cx="10881360" cy="1234440"/>
          </a:xfrm>
          <a:prstGeom prst="roundRect">
            <a:avLst>
              <a:gd name="adj" fmla="val 4074"/>
            </a:avLst>
          </a:prstGeom>
          <a:solidFill>
            <a:srgbClr val="14141D"/>
          </a:solidFill>
          <a:ln w="12700">
            <a:solidFill>
              <a:srgbClr val="2A2A38"/>
            </a:solidFill>
            <a:prstDash val="solid"/>
          </a:ln>
        </p:spPr>
      </p:sp>
      <p:sp>
        <p:nvSpPr>
          <p:cNvPr id="11" name="Text 9"/>
          <p:cNvSpPr/>
          <p:nvPr/>
        </p:nvSpPr>
        <p:spPr>
          <a:xfrm>
            <a:off x="914400" y="4343400"/>
            <a:ext cx="10058400" cy="274320"/>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WHAT TO DO ABOUT IT NOW</a:t>
            </a:r>
            <a:endParaRPr lang="en-US" sz="1250" dirty="0"/>
          </a:p>
        </p:txBody>
      </p:sp>
      <p:sp>
        <p:nvSpPr>
          <p:cNvPr id="12" name="Text 10"/>
          <p:cNvSpPr/>
          <p:nvPr/>
        </p:nvSpPr>
        <p:spPr>
          <a:xfrm>
            <a:off x="914400" y="4663440"/>
            <a:ext cx="10332720" cy="685800"/>
          </a:xfrm>
          <a:prstGeom prst="rect">
            <a:avLst/>
          </a:prstGeom>
          <a:noFill/>
          <a:ln/>
        </p:spPr>
        <p:txBody>
          <a:bodyPr wrap="square" lIns="0" tIns="0" rIns="0" bIns="0" rtlCol="0" anchor="t"/>
          <a:lstStyle/>
          <a:p>
            <a:pPr marL="152400" indent="-152400">
              <a:lnSpc>
                <a:spcPct val="108000"/>
              </a:lnSpc>
              <a:spcAft>
                <a:spcPts val="400"/>
              </a:spcAft>
              <a:buSzPct val="100000"/>
              <a:buChar char="•"/>
            </a:pPr>
            <a:r>
              <a:rPr lang="en-US" sz="1200" dirty="0">
                <a:solidFill>
                  <a:srgbClr val="DDDDDD"/>
                </a:solidFill>
                <a:latin typeface="Calibri" pitchFamily="34" charset="0"/>
                <a:ea typeface="Calibri" pitchFamily="34" charset="-122"/>
                <a:cs typeface="Calibri" pitchFamily="34" charset="-120"/>
              </a:rPr>
              <a:t>Speak the standard vocabulary at your interfaces (mdspan today, linalg types as they land) — that code outlives every vendor cycle.</a:t>
            </a:r>
            <a:endParaRPr lang="en-US" sz="1200" dirty="0"/>
          </a:p>
          <a:p>
            <a:pPr marL="152400" indent="-152400">
              <a:lnSpc>
                <a:spcPct val="108000"/>
              </a:lnSpc>
              <a:spcAft>
                <a:spcPts val="400"/>
              </a:spcAft>
              <a:buSzPct val="100000"/>
              <a:buChar char="•"/>
            </a:pPr>
            <a:r>
              <a:rPr lang="en-US" sz="1200" dirty="0">
                <a:solidFill>
                  <a:srgbClr val="DDDDDD"/>
                </a:solidFill>
                <a:latin typeface="Calibri" pitchFamily="34" charset="0"/>
                <a:ea typeface="Calibri" pitchFamily="34" charset="-122"/>
                <a:cs typeface="Calibri" pitchFamily="34" charset="-120"/>
              </a:rPr>
              <a:t>Keep orchestration migratable: stream/graph logic behind one seam, so it can move to senders when toolchains mature.  Keep kernels behind libraries — Lesson 3 did not change.</a:t>
            </a:r>
            <a:endParaRPr lang="en-US" sz="1200" dirty="0"/>
          </a:p>
        </p:txBody>
      </p:sp>
      <p:sp>
        <p:nvSpPr>
          <p:cNvPr id="13" name="Shape 11"/>
          <p:cNvSpPr/>
          <p:nvPr/>
        </p:nvSpPr>
        <p:spPr>
          <a:xfrm>
            <a:off x="640080" y="5577840"/>
            <a:ext cx="10881360" cy="777240"/>
          </a:xfrm>
          <a:prstGeom prst="roundRect">
            <a:avLst>
              <a:gd name="adj" fmla="val 6471"/>
            </a:avLst>
          </a:prstGeom>
          <a:solidFill>
            <a:srgbClr val="1A160C"/>
          </a:solidFill>
          <a:ln w="12700">
            <a:solidFill>
              <a:srgbClr val="2A2A38"/>
            </a:solidFill>
            <a:prstDash val="solid"/>
          </a:ln>
        </p:spPr>
      </p:sp>
      <p:sp>
        <p:nvSpPr>
          <p:cNvPr id="14" name="Text 12"/>
          <p:cNvSpPr/>
          <p:nvPr/>
        </p:nvSpPr>
        <p:spPr>
          <a:xfrm>
            <a:off x="914400" y="5742432"/>
            <a:ext cx="10332720" cy="457200"/>
          </a:xfrm>
          <a:prstGeom prst="rect">
            <a:avLst/>
          </a:prstGeom>
          <a:noFill/>
          <a:ln/>
        </p:spPr>
        <p:txBody>
          <a:bodyPr wrap="square" lIns="0" tIns="0" rIns="0" bIns="0" rtlCol="0" anchor="ctr"/>
          <a:lstStyle/>
          <a:p>
            <a:pPr indent="0" marL="0">
              <a:buNone/>
            </a:pPr>
            <a:r>
              <a:rPr lang="en-US" sz="1500" i="1" dirty="0">
                <a:solidFill>
                  <a:srgbClr val="E8A832"/>
                </a:solidFill>
                <a:latin typeface="Calibri" pitchFamily="34" charset="0"/>
                <a:ea typeface="Calibri" pitchFamily="34" charset="-122"/>
                <a:cs typeface="Calibri" pitchFamily="34" charset="-120"/>
              </a:rPr>
              <a:t>std::linalg is “call a library, not a kernel” as ISO text.  The standard is the fossil record of what won.</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THE MEMORY WALL</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ARM revolution — closing the bus</a:t>
            </a:r>
            <a:endParaRPr lang="en-US" sz="2700" dirty="0"/>
          </a:p>
        </p:txBody>
      </p:sp>
      <p:sp>
        <p:nvSpPr>
          <p:cNvPr id="4" name="Shape 2"/>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WHAT CHANGED</a:t>
            </a:r>
            <a:endParaRPr lang="en-US" sz="1250" dirty="0"/>
          </a:p>
        </p:txBody>
      </p:sp>
      <p:sp>
        <p:nvSpPr>
          <p:cNvPr id="6" name="Text 4"/>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DDDDDD"/>
                </a:solidFill>
                <a:latin typeface="Calibri" pitchFamily="34" charset="0"/>
                <a:ea typeface="Calibri" pitchFamily="34" charset="-122"/>
                <a:cs typeface="Calibri" pitchFamily="34" charset="-120"/>
              </a:rPr>
              <a:t>Lesson 4’s tax existed because CPU and GPU were separate sockets on a peripheral bus — PCIe, tens of GB/s, no shared view of memory.  The trip was an artifact of packaging.</a:t>
            </a:r>
            <a:endParaRPr lang="en-US" sz="1100" dirty="0"/>
          </a:p>
          <a:p>
            <a:pPr marL="152400" indent="-152400">
              <a:lnSpc>
                <a:spcPct val="108000"/>
              </a:lnSpc>
              <a:spcAft>
                <a:spcPts val="800"/>
              </a:spcAft>
              <a:buSzPct val="100000"/>
              <a:buChar char="•"/>
            </a:pPr>
            <a:r>
              <a:rPr lang="en-US" sz="1100" dirty="0">
                <a:solidFill>
                  <a:srgbClr val="DDDDDD"/>
                </a:solidFill>
                <a:latin typeface="Calibri" pitchFamily="34" charset="0"/>
                <a:ea typeface="Calibri" pitchFamily="34" charset="-122"/>
                <a:cs typeface="Calibri" pitchFamily="34" charset="-120"/>
              </a:rPr>
              <a:t>ARM licenses cores instead of selling sockets — so a system builder can put the CPU ON the accelerator’s package.  NVIDIA Grace: an ARM CPU fused to the GPU over NVLink-C2C — ~900 GB/s, cache-coherent, one address space.  The CPU–GPU copy becomes a cache line, not a transfer.</a:t>
            </a:r>
            <a:endParaRPr lang="en-US" sz="1100" dirty="0"/>
          </a:p>
          <a:p>
            <a:pPr marL="152400" indent="-152400">
              <a:lnSpc>
                <a:spcPct val="108000"/>
              </a:lnSpc>
              <a:spcAft>
                <a:spcPts val="800"/>
              </a:spcAft>
              <a:buSzPct val="100000"/>
              <a:buChar char="•"/>
            </a:pPr>
            <a:r>
              <a:rPr lang="en-US" sz="1100" dirty="0">
                <a:solidFill>
                  <a:srgbClr val="DDDDDD"/>
                </a:solidFill>
                <a:latin typeface="Calibri" pitchFamily="34" charset="0"/>
                <a:ea typeface="Calibri" pitchFamily="34" charset="-122"/>
                <a:cs typeface="Calibri" pitchFamily="34" charset="-120"/>
              </a:rPr>
              <a:t>The consumer proof: Apple silicon — CPU and GPU on one die, one unified memory.  The bus was a choice, not physics.</a:t>
            </a:r>
            <a:endParaRPr lang="en-US" sz="1100" dirty="0"/>
          </a:p>
        </p:txBody>
      </p:sp>
      <p:sp>
        <p:nvSpPr>
          <p:cNvPr id="7" name="Shape 5"/>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8" name="Text 6"/>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WHAT IT DOES NOT CHANGE</a:t>
            </a:r>
            <a:endParaRPr lang="en-US" sz="1250" dirty="0"/>
          </a:p>
        </p:txBody>
      </p:sp>
      <p:sp>
        <p:nvSpPr>
          <p:cNvPr id="9" name="Text 7"/>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DDDDDD"/>
                </a:solidFill>
                <a:latin typeface="Calibri" pitchFamily="34" charset="0"/>
                <a:ea typeface="Calibri" pitchFamily="34" charset="-122"/>
                <a:cs typeface="Calibri" pitchFamily="34" charset="-120"/>
              </a:rPr>
              <a:t>Coherence does not repeal Lesson 4.  Locality still rules: HBM is still faster than the link, and a careless access pattern still starves the arithmetic.</a:t>
            </a:r>
            <a:endParaRPr lang="en-US" sz="1100" dirty="0"/>
          </a:p>
          <a:p>
            <a:pPr marL="152400" indent="-152400">
              <a:lnSpc>
                <a:spcPct val="108000"/>
              </a:lnSpc>
              <a:spcAft>
                <a:spcPts val="800"/>
              </a:spcAft>
              <a:buSzPct val="100000"/>
              <a:buChar char="•"/>
            </a:pPr>
            <a:r>
              <a:rPr lang="en-US" sz="1100" dirty="0">
                <a:solidFill>
                  <a:srgbClr val="DDDDDD"/>
                </a:solidFill>
                <a:latin typeface="Calibri" pitchFamily="34" charset="0"/>
                <a:ea typeface="Calibri" pitchFamily="34" charset="-122"/>
                <a:cs typeface="Calibri" pitchFamily="34" charset="-120"/>
              </a:rPr>
              <a:t>It converts a cliff into a gradient: “transfer or die” becomes “place your data thoughtfully.”  The offload guide’s questions survive; the penalties soften.</a:t>
            </a:r>
            <a:endParaRPr lang="en-US" sz="1100" dirty="0"/>
          </a:p>
          <a:p>
            <a:pPr marL="152400" indent="-152400">
              <a:lnSpc>
                <a:spcPct val="108000"/>
              </a:lnSpc>
              <a:spcAft>
                <a:spcPts val="800"/>
              </a:spcAft>
              <a:buSzPct val="100000"/>
              <a:buChar char="•"/>
            </a:pPr>
            <a:r>
              <a:rPr lang="en-US" sz="1100" dirty="0">
                <a:solidFill>
                  <a:srgbClr val="DDDDDD"/>
                </a:solidFill>
                <a:latin typeface="Calibri" pitchFamily="34" charset="0"/>
                <a:ea typeface="Calibri" pitchFamily="34" charset="-122"/>
                <a:cs typeface="Calibri" pitchFamily="34" charset="-120"/>
              </a:rPr>
              <a:t>And it is not only ARM — AMD’s MI300A fuses x86 CPU, GPU, and one memory the same way.  ARM’s licensing simply made custom integration the industry’s default path.</a:t>
            </a:r>
            <a:endParaRPr lang="en-US" sz="1100" dirty="0"/>
          </a:p>
        </p:txBody>
      </p:sp>
      <p:sp>
        <p:nvSpPr>
          <p:cNvPr id="10" name="Shape 8"/>
          <p:cNvSpPr/>
          <p:nvPr/>
        </p:nvSpPr>
        <p:spPr>
          <a:xfrm>
            <a:off x="640080" y="5394960"/>
            <a:ext cx="10881360" cy="777240"/>
          </a:xfrm>
          <a:prstGeom prst="roundRect">
            <a:avLst>
              <a:gd name="adj" fmla="val 6471"/>
            </a:avLst>
          </a:prstGeom>
          <a:solidFill>
            <a:srgbClr val="0F1A15"/>
          </a:solidFill>
          <a:ln w="12700">
            <a:solidFill>
              <a:srgbClr val="2A2A38"/>
            </a:solidFill>
            <a:prstDash val="solid"/>
          </a:ln>
        </p:spPr>
      </p:sp>
      <p:sp>
        <p:nvSpPr>
          <p:cNvPr id="11" name="Text 9"/>
          <p:cNvSpPr/>
          <p:nvPr/>
        </p:nvSpPr>
        <p:spPr>
          <a:xfrm>
            <a:off x="914400" y="5541264"/>
            <a:ext cx="10332720" cy="502920"/>
          </a:xfrm>
          <a:prstGeom prst="rect">
            <a:avLst/>
          </a:prstGeom>
          <a:noFill/>
          <a:ln/>
        </p:spPr>
        <p:txBody>
          <a:bodyPr wrap="square" lIns="0" tIns="0" rIns="0" bIns="0" rtlCol="0" anchor="ctr"/>
          <a:lstStyle/>
          <a:p>
            <a:pPr indent="0" marL="0">
              <a:buNone/>
            </a:pPr>
            <a:r>
              <a:rPr lang="en-US" sz="1300" i="1" dirty="0">
                <a:solidFill>
                  <a:srgbClr val="3CE8B2"/>
                </a:solidFill>
                <a:latin typeface="Calibri" pitchFamily="34" charset="0"/>
                <a:ea typeface="Calibri" pitchFamily="34" charset="-122"/>
                <a:cs typeface="Calibri" pitchFamily="34" charset="-120"/>
              </a:rPr>
              <a:t>The bus is being engineered out of existence — and with it, the sharpest edge of Lesson 4.  Watch for coherent links on the spec sheet: that line is the quiet revolution.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THE NEXT SWING</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CUDA-Q — the stack NVIDIA is building</a:t>
            </a:r>
            <a:endParaRPr lang="en-US" sz="2700" dirty="0"/>
          </a:p>
        </p:txBody>
      </p:sp>
      <p:sp>
        <p:nvSpPr>
          <p:cNvPr id="4" name="Shape 2"/>
          <p:cNvSpPr/>
          <p:nvPr/>
        </p:nvSpPr>
        <p:spPr>
          <a:xfrm>
            <a:off x="640080" y="1554480"/>
            <a:ext cx="6720840" cy="877824"/>
          </a:xfrm>
          <a:prstGeom prst="roundRect">
            <a:avLst>
              <a:gd name="adj" fmla="val 5729"/>
            </a:avLst>
          </a:prstGeom>
          <a:solidFill>
            <a:srgbClr val="14141D"/>
          </a:solidFill>
          <a:ln w="12700">
            <a:solidFill>
              <a:srgbClr val="2A2A38"/>
            </a:solidFill>
            <a:prstDash val="solid"/>
          </a:ln>
        </p:spPr>
      </p:sp>
      <p:sp>
        <p:nvSpPr>
          <p:cNvPr id="5" name="Text 3"/>
          <p:cNvSpPr/>
          <p:nvPr/>
        </p:nvSpPr>
        <p:spPr>
          <a:xfrm>
            <a:off x="914400" y="1645920"/>
            <a:ext cx="1737360" cy="274320"/>
          </a:xfrm>
          <a:prstGeom prst="rect">
            <a:avLst/>
          </a:prstGeom>
          <a:noFill/>
          <a:ln/>
        </p:spPr>
        <p:txBody>
          <a:bodyPr wrap="square" lIns="0" tIns="0" rIns="0" bIns="0" rtlCol="0" anchor="ctr"/>
          <a:lstStyle/>
          <a:p>
            <a:pPr indent="0" marL="0">
              <a:buNone/>
            </a:pPr>
            <a:r>
              <a:rPr lang="en-US" sz="1350" b="1" dirty="0">
                <a:solidFill>
                  <a:srgbClr val="3CE8B2"/>
                </a:solidFill>
                <a:latin typeface="Courier New" pitchFamily="34" charset="0"/>
                <a:ea typeface="Courier New" pitchFamily="34" charset="-122"/>
                <a:cs typeface="Courier New" pitchFamily="34" charset="-120"/>
              </a:rPr>
              <a:t>CUDA-Q</a:t>
            </a:r>
            <a:endParaRPr lang="en-US" sz="1350" dirty="0"/>
          </a:p>
        </p:txBody>
      </p:sp>
      <p:sp>
        <p:nvSpPr>
          <p:cNvPr id="6" name="Text 4"/>
          <p:cNvSpPr/>
          <p:nvPr/>
        </p:nvSpPr>
        <p:spPr>
          <a:xfrm>
            <a:off x="2606040" y="1627632"/>
            <a:ext cx="4617720" cy="749808"/>
          </a:xfrm>
          <a:prstGeom prst="rect">
            <a:avLst/>
          </a:prstGeom>
          <a:noFill/>
          <a:ln/>
        </p:spPr>
        <p:txBody>
          <a:bodyPr wrap="square" lIns="0" tIns="0" rIns="0" bIns="0" rtlCol="0" anchor="ctr"/>
          <a:lstStyle/>
          <a:p>
            <a:pPr indent="0" marL="0">
              <a:lnSpc>
                <a:spcPct val="103000"/>
              </a:lnSpc>
              <a:buNone/>
            </a:pPr>
            <a:r>
              <a:rPr lang="en-US" sz="950" dirty="0">
                <a:solidFill>
                  <a:srgbClr val="DDDDDD"/>
                </a:solidFill>
                <a:latin typeface="Calibri" pitchFamily="34" charset="0"/>
                <a:ea typeface="Calibri" pitchFamily="34" charset="-122"/>
                <a:cs typeface="Calibri" pitchFamily="34" charset="-120"/>
              </a:rPr>
              <a:t>Single-source hybrid programs: quantum kernels (__qpu__) beside GPU and CPU code, compiled through one toolchain to simulators or real QPUs — vendor-agnostic across 17 QPU builders.  The CUDA kernel model, extended to a device class the ISO standard has not imagined yet.</a:t>
            </a:r>
            <a:endParaRPr lang="en-US" sz="950" dirty="0"/>
          </a:p>
        </p:txBody>
      </p:sp>
      <p:sp>
        <p:nvSpPr>
          <p:cNvPr id="7" name="Shape 5"/>
          <p:cNvSpPr/>
          <p:nvPr/>
        </p:nvSpPr>
        <p:spPr>
          <a:xfrm>
            <a:off x="640080" y="2542032"/>
            <a:ext cx="6720840" cy="877824"/>
          </a:xfrm>
          <a:prstGeom prst="roundRect">
            <a:avLst>
              <a:gd name="adj" fmla="val 5729"/>
            </a:avLst>
          </a:prstGeom>
          <a:solidFill>
            <a:srgbClr val="14141D"/>
          </a:solidFill>
          <a:ln w="12700">
            <a:solidFill>
              <a:srgbClr val="2A2A38"/>
            </a:solidFill>
            <a:prstDash val="solid"/>
          </a:ln>
        </p:spPr>
      </p:sp>
      <p:sp>
        <p:nvSpPr>
          <p:cNvPr id="8" name="Text 6"/>
          <p:cNvSpPr/>
          <p:nvPr/>
        </p:nvSpPr>
        <p:spPr>
          <a:xfrm>
            <a:off x="914400" y="2633472"/>
            <a:ext cx="1737360" cy="274320"/>
          </a:xfrm>
          <a:prstGeom prst="rect">
            <a:avLst/>
          </a:prstGeom>
          <a:noFill/>
          <a:ln/>
        </p:spPr>
        <p:txBody>
          <a:bodyPr wrap="square" lIns="0" tIns="0" rIns="0" bIns="0" rtlCol="0" anchor="ctr"/>
          <a:lstStyle/>
          <a:p>
            <a:pPr indent="0" marL="0">
              <a:buNone/>
            </a:pPr>
            <a:r>
              <a:rPr lang="en-US" sz="1350" b="1" dirty="0">
                <a:solidFill>
                  <a:srgbClr val="6AA6FF"/>
                </a:solidFill>
                <a:latin typeface="Courier New" pitchFamily="34" charset="0"/>
                <a:ea typeface="Courier New" pitchFamily="34" charset="-122"/>
                <a:cs typeface="Courier New" pitchFamily="34" charset="-120"/>
              </a:rPr>
              <a:t>cuQuantum</a:t>
            </a:r>
            <a:endParaRPr lang="en-US" sz="1350" dirty="0"/>
          </a:p>
        </p:txBody>
      </p:sp>
      <p:sp>
        <p:nvSpPr>
          <p:cNvPr id="9" name="Text 7"/>
          <p:cNvSpPr/>
          <p:nvPr/>
        </p:nvSpPr>
        <p:spPr>
          <a:xfrm>
            <a:off x="2606040" y="2615184"/>
            <a:ext cx="4617720" cy="749808"/>
          </a:xfrm>
          <a:prstGeom prst="rect">
            <a:avLst/>
          </a:prstGeom>
          <a:noFill/>
          <a:ln/>
        </p:spPr>
        <p:txBody>
          <a:bodyPr wrap="square" lIns="0" tIns="0" rIns="0" bIns="0" rtlCol="0" anchor="ctr"/>
          <a:lstStyle/>
          <a:p>
            <a:pPr indent="0" marL="0">
              <a:lnSpc>
                <a:spcPct val="103000"/>
              </a:lnSpc>
              <a:buNone/>
            </a:pPr>
            <a:r>
              <a:rPr lang="en-US" sz="950" dirty="0">
                <a:solidFill>
                  <a:srgbClr val="DDDDDD"/>
                </a:solidFill>
                <a:latin typeface="Calibri" pitchFamily="34" charset="0"/>
                <a:ea typeface="Calibri" pitchFamily="34" charset="-122"/>
                <a:cs typeface="Calibri" pitchFamily="34" charset="-120"/>
              </a:rPr>
              <a:t>The simulation engines: cuStateVec (state-vector) and cuTensorNet (tensor-network contraction).  Both are dense linear algebra — a quantum state is 2ⁿ amplitudes, a gate is a unitary matrix, so the GPU simulates its own successor with matmul.</a:t>
            </a:r>
            <a:endParaRPr lang="en-US" sz="950" dirty="0"/>
          </a:p>
        </p:txBody>
      </p:sp>
      <p:sp>
        <p:nvSpPr>
          <p:cNvPr id="10" name="Shape 8"/>
          <p:cNvSpPr/>
          <p:nvPr/>
        </p:nvSpPr>
        <p:spPr>
          <a:xfrm>
            <a:off x="640080" y="3529584"/>
            <a:ext cx="6720840" cy="877824"/>
          </a:xfrm>
          <a:prstGeom prst="roundRect">
            <a:avLst>
              <a:gd name="adj" fmla="val 5729"/>
            </a:avLst>
          </a:prstGeom>
          <a:solidFill>
            <a:srgbClr val="14141D"/>
          </a:solidFill>
          <a:ln w="12700">
            <a:solidFill>
              <a:srgbClr val="2A2A38"/>
            </a:solidFill>
            <a:prstDash val="solid"/>
          </a:ln>
        </p:spPr>
      </p:sp>
      <p:sp>
        <p:nvSpPr>
          <p:cNvPr id="11" name="Text 9"/>
          <p:cNvSpPr/>
          <p:nvPr/>
        </p:nvSpPr>
        <p:spPr>
          <a:xfrm>
            <a:off x="914400" y="3621024"/>
            <a:ext cx="1737360" cy="274320"/>
          </a:xfrm>
          <a:prstGeom prst="rect">
            <a:avLst/>
          </a:prstGeom>
          <a:noFill/>
          <a:ln/>
        </p:spPr>
        <p:txBody>
          <a:bodyPr wrap="square" lIns="0" tIns="0" rIns="0" bIns="0" rtlCol="0" anchor="ctr"/>
          <a:lstStyle/>
          <a:p>
            <a:pPr indent="0" marL="0">
              <a:buNone/>
            </a:pPr>
            <a:r>
              <a:rPr lang="en-US" sz="1350" b="1" dirty="0">
                <a:solidFill>
                  <a:srgbClr val="E8A832"/>
                </a:solidFill>
                <a:latin typeface="Courier New" pitchFamily="34" charset="0"/>
                <a:ea typeface="Courier New" pitchFamily="34" charset="-122"/>
                <a:cs typeface="Courier New" pitchFamily="34" charset="-120"/>
              </a:rPr>
              <a:t>NVQLink</a:t>
            </a:r>
            <a:endParaRPr lang="en-US" sz="1350" dirty="0"/>
          </a:p>
        </p:txBody>
      </p:sp>
      <p:sp>
        <p:nvSpPr>
          <p:cNvPr id="12" name="Text 10"/>
          <p:cNvSpPr/>
          <p:nvPr/>
        </p:nvSpPr>
        <p:spPr>
          <a:xfrm>
            <a:off x="2606040" y="3602736"/>
            <a:ext cx="4617720" cy="749808"/>
          </a:xfrm>
          <a:prstGeom prst="rect">
            <a:avLst/>
          </a:prstGeom>
          <a:noFill/>
          <a:ln/>
        </p:spPr>
        <p:txBody>
          <a:bodyPr wrap="square" lIns="0" tIns="0" rIns="0" bIns="0" rtlCol="0" anchor="ctr"/>
          <a:lstStyle/>
          <a:p>
            <a:pPr indent="0" marL="0">
              <a:lnSpc>
                <a:spcPct val="103000"/>
              </a:lnSpc>
              <a:buNone/>
            </a:pPr>
            <a:r>
              <a:rPr lang="en-US" sz="950" dirty="0">
                <a:solidFill>
                  <a:srgbClr val="DDDDDD"/>
                </a:solidFill>
                <a:latin typeface="Calibri" pitchFamily="34" charset="0"/>
                <a:ea typeface="Calibri" pitchFamily="34" charset="-122"/>
                <a:cs typeface="Calibri" pitchFamily="34" charset="-120"/>
              </a:rPr>
              <a:t>The interconnect: QPU ↔ GPU at 400 Gb/s, under 4 µs round trip, ~40 PF of FP4 on the GPU side; 5 control-system vendors; adopted by the major scientific supercomputing centers (2025).</a:t>
            </a:r>
            <a:endParaRPr lang="en-US" sz="950" dirty="0"/>
          </a:p>
        </p:txBody>
      </p:sp>
      <p:sp>
        <p:nvSpPr>
          <p:cNvPr id="13" name="Shape 11"/>
          <p:cNvSpPr/>
          <p:nvPr/>
        </p:nvSpPr>
        <p:spPr>
          <a:xfrm>
            <a:off x="640080" y="4517136"/>
            <a:ext cx="6720840" cy="877824"/>
          </a:xfrm>
          <a:prstGeom prst="roundRect">
            <a:avLst>
              <a:gd name="adj" fmla="val 5729"/>
            </a:avLst>
          </a:prstGeom>
          <a:solidFill>
            <a:srgbClr val="14141D"/>
          </a:solidFill>
          <a:ln w="12700">
            <a:solidFill>
              <a:srgbClr val="2A2A38"/>
            </a:solidFill>
            <a:prstDash val="solid"/>
          </a:ln>
        </p:spPr>
      </p:sp>
      <p:sp>
        <p:nvSpPr>
          <p:cNvPr id="14" name="Text 12"/>
          <p:cNvSpPr/>
          <p:nvPr/>
        </p:nvSpPr>
        <p:spPr>
          <a:xfrm>
            <a:off x="914400" y="4608576"/>
            <a:ext cx="1737360" cy="274320"/>
          </a:xfrm>
          <a:prstGeom prst="rect">
            <a:avLst/>
          </a:prstGeom>
          <a:noFill/>
          <a:ln/>
        </p:spPr>
        <p:txBody>
          <a:bodyPr wrap="square" lIns="0" tIns="0" rIns="0" bIns="0" rtlCol="0" anchor="ctr"/>
          <a:lstStyle/>
          <a:p>
            <a:pPr indent="0" marL="0">
              <a:buNone/>
            </a:pPr>
            <a:r>
              <a:rPr lang="en-US" sz="1350" b="1" dirty="0">
                <a:solidFill>
                  <a:srgbClr val="CCCCCC"/>
                </a:solidFill>
                <a:latin typeface="Courier New" pitchFamily="34" charset="0"/>
                <a:ea typeface="Courier New" pitchFamily="34" charset="-122"/>
                <a:cs typeface="Courier New" pitchFamily="34" charset="-120"/>
              </a:rPr>
              <a:t>GTC 2026</a:t>
            </a:r>
            <a:endParaRPr lang="en-US" sz="1350" dirty="0"/>
          </a:p>
        </p:txBody>
      </p:sp>
      <p:sp>
        <p:nvSpPr>
          <p:cNvPr id="15" name="Text 13"/>
          <p:cNvSpPr/>
          <p:nvPr/>
        </p:nvSpPr>
        <p:spPr>
          <a:xfrm>
            <a:off x="2606040" y="4590288"/>
            <a:ext cx="4617720" cy="749808"/>
          </a:xfrm>
          <a:prstGeom prst="rect">
            <a:avLst/>
          </a:prstGeom>
          <a:noFill/>
          <a:ln/>
        </p:spPr>
        <p:txBody>
          <a:bodyPr wrap="square" lIns="0" tIns="0" rIns="0" bIns="0" rtlCol="0" anchor="ctr"/>
          <a:lstStyle/>
          <a:p>
            <a:pPr indent="0" marL="0">
              <a:lnSpc>
                <a:spcPct val="103000"/>
              </a:lnSpc>
              <a:buNone/>
            </a:pPr>
            <a:r>
              <a:rPr lang="en-US" sz="950" dirty="0">
                <a:solidFill>
                  <a:srgbClr val="DDDDDD"/>
                </a:solidFill>
                <a:latin typeface="Calibri" pitchFamily="34" charset="0"/>
                <a:ea typeface="Calibri" pitchFamily="34" charset="-122"/>
                <a:cs typeface="Calibri" pitchFamily="34" charset="-120"/>
              </a:rPr>
              <a:t>It went programmable: the cudaq-realtime API is public, and the first real-time scalable decoder for qLDPC error-correction codes ran against Quantinuum’s Helios QPU.</a:t>
            </a:r>
            <a:endParaRPr lang="en-US" sz="950" dirty="0"/>
          </a:p>
        </p:txBody>
      </p:sp>
      <p:sp>
        <p:nvSpPr>
          <p:cNvPr id="16" name="Shape 14"/>
          <p:cNvSpPr/>
          <p:nvPr/>
        </p:nvSpPr>
        <p:spPr>
          <a:xfrm>
            <a:off x="7589520" y="1554480"/>
            <a:ext cx="3931920" cy="2331720"/>
          </a:xfrm>
          <a:prstGeom prst="roundRect">
            <a:avLst>
              <a:gd name="adj" fmla="val 2157"/>
            </a:avLst>
          </a:prstGeom>
          <a:solidFill>
            <a:srgbClr val="10151C"/>
          </a:solidFill>
          <a:ln w="12700">
            <a:solidFill>
              <a:srgbClr val="2A2A38"/>
            </a:solidFill>
            <a:prstDash val="solid"/>
          </a:ln>
        </p:spPr>
      </p:sp>
      <p:sp>
        <p:nvSpPr>
          <p:cNvPr id="17" name="Text 15"/>
          <p:cNvSpPr/>
          <p:nvPr/>
        </p:nvSpPr>
        <p:spPr>
          <a:xfrm>
            <a:off x="7863840" y="1737360"/>
            <a:ext cx="3474720" cy="274320"/>
          </a:xfrm>
          <a:prstGeom prst="rect">
            <a:avLst/>
          </a:prstGeom>
          <a:noFill/>
          <a:ln/>
        </p:spPr>
        <p:txBody>
          <a:bodyPr wrap="square" lIns="0" tIns="0" rIns="0" bIns="0" rtlCol="0" anchor="ctr"/>
          <a:lstStyle/>
          <a:p>
            <a:pPr indent="0" marL="0">
              <a:buNone/>
            </a:pPr>
            <a:r>
              <a:rPr lang="en-US" sz="1250" b="1" dirty="0">
                <a:solidFill>
                  <a:srgbClr val="6AA6FF"/>
                </a:solidFill>
                <a:latin typeface="Courier New" pitchFamily="34" charset="0"/>
                <a:ea typeface="Courier New" pitchFamily="34" charset="-122"/>
                <a:cs typeface="Courier New" pitchFamily="34" charset="-120"/>
              </a:rPr>
              <a:t>A QUANTUM KERNEL (ILLUSTRATIVE)</a:t>
            </a:r>
            <a:endParaRPr lang="en-US" sz="1250" dirty="0"/>
          </a:p>
        </p:txBody>
      </p:sp>
      <p:sp>
        <p:nvSpPr>
          <p:cNvPr id="18" name="Text 16"/>
          <p:cNvSpPr/>
          <p:nvPr/>
        </p:nvSpPr>
        <p:spPr>
          <a:xfrm>
            <a:off x="7863840" y="2084832"/>
            <a:ext cx="3520440" cy="169164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ourier New" pitchFamily="34" charset="0"/>
                <a:ea typeface="Courier New" pitchFamily="34" charset="-122"/>
                <a:cs typeface="Courier New" pitchFamily="34" charset="-120"/>
              </a:rPr>
              <a:t>auto bell = []() __qpu__ {</a:t>
            </a:r>
            <a:endParaRPr lang="en-US" sz="1150" dirty="0"/>
          </a:p>
          <a:p>
            <a:pPr indent="0" marL="0">
              <a:lnSpc>
                <a:spcPct val="115000"/>
              </a:lnSpc>
              <a:buNone/>
            </a:pPr>
            <a:r>
              <a:rPr lang="en-US" sz="1150" dirty="0">
                <a:solidFill>
                  <a:srgbClr val="FFFFFF"/>
                </a:solidFill>
                <a:latin typeface="Courier New" pitchFamily="34" charset="0"/>
                <a:ea typeface="Courier New" pitchFamily="34" charset="-122"/>
                <a:cs typeface="Courier New" pitchFamily="34" charset="-120"/>
              </a:rPr>
              <a:t>  cudaq::qvector q(2);</a:t>
            </a:r>
            <a:endParaRPr lang="en-US" sz="1150" dirty="0"/>
          </a:p>
          <a:p>
            <a:pPr indent="0" marL="0">
              <a:lnSpc>
                <a:spcPct val="115000"/>
              </a:lnSpc>
              <a:buNone/>
            </a:pPr>
            <a:r>
              <a:rPr lang="en-US" sz="1150" dirty="0">
                <a:solidFill>
                  <a:srgbClr val="FFFFFF"/>
                </a:solidFill>
                <a:latin typeface="Courier New" pitchFamily="34" charset="0"/>
                <a:ea typeface="Courier New" pitchFamily="34" charset="-122"/>
                <a:cs typeface="Courier New" pitchFamily="34" charset="-120"/>
              </a:rPr>
              <a:t>  h(q[0]);</a:t>
            </a:r>
            <a:endParaRPr lang="en-US" sz="1150" dirty="0"/>
          </a:p>
          <a:p>
            <a:pPr indent="0" marL="0">
              <a:lnSpc>
                <a:spcPct val="115000"/>
              </a:lnSpc>
              <a:buNone/>
            </a:pPr>
            <a:r>
              <a:rPr lang="en-US" sz="1150" dirty="0">
                <a:solidFill>
                  <a:srgbClr val="FFFFFF"/>
                </a:solidFill>
                <a:latin typeface="Courier New" pitchFamily="34" charset="0"/>
                <a:ea typeface="Courier New" pitchFamily="34" charset="-122"/>
                <a:cs typeface="Courier New" pitchFamily="34" charset="-120"/>
              </a:rPr>
              <a:t>  x&lt;cudaq::ctrl&gt;(q[0], q[1]);</a:t>
            </a:r>
            <a:endParaRPr lang="en-US" sz="1150" dirty="0"/>
          </a:p>
          <a:p>
            <a:pPr indent="0" marL="0">
              <a:lnSpc>
                <a:spcPct val="115000"/>
              </a:lnSpc>
              <a:buNone/>
            </a:pPr>
            <a:r>
              <a:rPr lang="en-US" sz="1150" dirty="0">
                <a:solidFill>
                  <a:srgbClr val="FFFFFF"/>
                </a:solidFill>
                <a:latin typeface="Courier New" pitchFamily="34" charset="0"/>
                <a:ea typeface="Courier New" pitchFamily="34" charset="-122"/>
                <a:cs typeface="Courier New" pitchFamily="34" charset="-120"/>
              </a:rPr>
              <a:t>  mz(q);</a:t>
            </a:r>
            <a:endParaRPr lang="en-US" sz="1150" dirty="0"/>
          </a:p>
          <a:p>
            <a:pPr indent="0" marL="0">
              <a:lnSpc>
                <a:spcPct val="115000"/>
              </a:lnSpc>
              <a:buNone/>
            </a:pPr>
            <a:r>
              <a:rPr lang="en-US" sz="1150" dirty="0">
                <a:solidFill>
                  <a:srgbClr val="FFFFFF"/>
                </a:solidFill>
                <a:latin typeface="Courier New" pitchFamily="34" charset="0"/>
                <a:ea typeface="Courier New" pitchFamily="34" charset="-122"/>
                <a:cs typeface="Courier New" pitchFamily="34" charset="-120"/>
              </a:rPr>
              <a:t>};</a:t>
            </a:r>
            <a:endParaRPr lang="en-US" sz="1150" dirty="0"/>
          </a:p>
        </p:txBody>
      </p:sp>
      <p:sp>
        <p:nvSpPr>
          <p:cNvPr id="19" name="Shape 17"/>
          <p:cNvSpPr/>
          <p:nvPr/>
        </p:nvSpPr>
        <p:spPr>
          <a:xfrm>
            <a:off x="7589520" y="4023360"/>
            <a:ext cx="3931920" cy="1463040"/>
          </a:xfrm>
          <a:prstGeom prst="roundRect">
            <a:avLst>
              <a:gd name="adj" fmla="val 3438"/>
            </a:avLst>
          </a:prstGeom>
          <a:solidFill>
            <a:srgbClr val="14141D"/>
          </a:solidFill>
          <a:ln w="12700">
            <a:solidFill>
              <a:srgbClr val="2A2A38"/>
            </a:solidFill>
            <a:prstDash val="solid"/>
          </a:ln>
        </p:spPr>
      </p:sp>
      <p:sp>
        <p:nvSpPr>
          <p:cNvPr id="20" name="Text 18"/>
          <p:cNvSpPr/>
          <p:nvPr/>
        </p:nvSpPr>
        <p:spPr>
          <a:xfrm>
            <a:off x="7863840" y="4187952"/>
            <a:ext cx="3474720" cy="274320"/>
          </a:xfrm>
          <a:prstGeom prst="rect">
            <a:avLst/>
          </a:prstGeom>
          <a:noFill/>
          <a:ln/>
        </p:spPr>
        <p:txBody>
          <a:bodyPr wrap="square" lIns="0" tIns="0" rIns="0" bIns="0" rtlCol="0" anchor="ctr"/>
          <a:lstStyle/>
          <a:p>
            <a:pPr indent="0" marL="0">
              <a:buNone/>
            </a:pPr>
            <a:r>
              <a:rPr lang="en-US" sz="1250" b="1" dirty="0">
                <a:solidFill>
                  <a:srgbClr val="CCCCCC"/>
                </a:solidFill>
                <a:latin typeface="Courier New" pitchFamily="34" charset="0"/>
                <a:ea typeface="Courier New" pitchFamily="34" charset="-122"/>
                <a:cs typeface="Courier New" pitchFamily="34" charset="-120"/>
              </a:rPr>
              <a:t>THREE HYBRID WORKLOADS</a:t>
            </a:r>
            <a:endParaRPr lang="en-US" sz="1250" dirty="0"/>
          </a:p>
        </p:txBody>
      </p:sp>
      <p:sp>
        <p:nvSpPr>
          <p:cNvPr id="21" name="Text 19"/>
          <p:cNvSpPr/>
          <p:nvPr/>
        </p:nvSpPr>
        <p:spPr>
          <a:xfrm>
            <a:off x="7863840" y="4498848"/>
            <a:ext cx="3520440" cy="914400"/>
          </a:xfrm>
          <a:prstGeom prst="rect">
            <a:avLst/>
          </a:prstGeom>
          <a:noFill/>
          <a:ln/>
        </p:spPr>
        <p:txBody>
          <a:bodyPr wrap="square" lIns="0" tIns="0" rIns="0" bIns="0" rtlCol="0" anchor="ctr"/>
          <a:lstStyle/>
          <a:p>
            <a:pPr indent="0" marL="0">
              <a:lnSpc>
                <a:spcPct val="118000"/>
              </a:lnSpc>
              <a:buNone/>
            </a:pPr>
            <a:r>
              <a:rPr lang="en-US" sz="1050" dirty="0">
                <a:solidFill>
                  <a:srgbClr val="DDDDDD"/>
                </a:solidFill>
                <a:latin typeface="Calibri" pitchFamily="34" charset="0"/>
                <a:ea typeface="Calibri" pitchFamily="34" charset="-122"/>
                <a:cs typeface="Calibri" pitchFamily="34" charset="-120"/>
              </a:rPr>
              <a:t>1  Simulate circuits before hardware exists</a:t>
            </a:r>
            <a:endParaRPr lang="en-US" sz="1050" dirty="0"/>
          </a:p>
          <a:p>
            <a:pPr indent="0" marL="0">
              <a:lnSpc>
                <a:spcPct val="118000"/>
              </a:lnSpc>
              <a:buNone/>
            </a:pPr>
            <a:r>
              <a:rPr lang="en-US" sz="1050" dirty="0">
                <a:solidFill>
                  <a:srgbClr val="DDDDDD"/>
                </a:solidFill>
                <a:latin typeface="Calibri" pitchFamily="34" charset="0"/>
                <a:ea typeface="Calibri" pitchFamily="34" charset="-122"/>
                <a:cs typeface="Calibri" pitchFamily="34" charset="-120"/>
              </a:rPr>
              <a:t>2  Decode errors in real time (the µs deadline)</a:t>
            </a:r>
            <a:endParaRPr lang="en-US" sz="1050" dirty="0"/>
          </a:p>
          <a:p>
            <a:pPr indent="0" marL="0">
              <a:lnSpc>
                <a:spcPct val="118000"/>
              </a:lnSpc>
              <a:buNone/>
            </a:pPr>
            <a:r>
              <a:rPr lang="en-US" sz="1050" dirty="0">
                <a:solidFill>
                  <a:srgbClr val="DDDDDD"/>
                </a:solidFill>
                <a:latin typeface="Calibri" pitchFamily="34" charset="0"/>
                <a:ea typeface="Calibri" pitchFamily="34" charset="-122"/>
                <a:cs typeface="Calibri" pitchFamily="34" charset="-120"/>
              </a:rPr>
              <a:t>3  Variational loops: QPU inside a classical optimizer</a:t>
            </a:r>
            <a:endParaRPr lang="en-US" sz="1050" dirty="0"/>
          </a:p>
        </p:txBody>
      </p:sp>
      <p:sp>
        <p:nvSpPr>
          <p:cNvPr id="22" name="Shape 20"/>
          <p:cNvSpPr/>
          <p:nvPr/>
        </p:nvSpPr>
        <p:spPr>
          <a:xfrm>
            <a:off x="640080" y="5623560"/>
            <a:ext cx="10881360" cy="731520"/>
          </a:xfrm>
          <a:prstGeom prst="roundRect">
            <a:avLst>
              <a:gd name="adj" fmla="val 6875"/>
            </a:avLst>
          </a:prstGeom>
          <a:solidFill>
            <a:srgbClr val="14141D"/>
          </a:solidFill>
          <a:ln w="12700">
            <a:solidFill>
              <a:srgbClr val="2A2A38"/>
            </a:solidFill>
            <a:prstDash val="solid"/>
          </a:ln>
        </p:spPr>
      </p:sp>
      <p:sp>
        <p:nvSpPr>
          <p:cNvPr id="23" name="Text 21"/>
          <p:cNvSpPr/>
          <p:nvPr/>
        </p:nvSpPr>
        <p:spPr>
          <a:xfrm>
            <a:off x="914400" y="5779008"/>
            <a:ext cx="10332720" cy="457200"/>
          </a:xfrm>
          <a:prstGeom prst="rect">
            <a:avLst/>
          </a:prstGeom>
          <a:noFill/>
          <a:ln/>
        </p:spPr>
        <p:txBody>
          <a:bodyPr wrap="square" lIns="0" tIns="0" rIns="0" bIns="0" rtlCol="0" anchor="ctr"/>
          <a:lstStyle/>
          <a:p>
            <a:pPr indent="0" marL="0">
              <a:buNone/>
            </a:pPr>
            <a:r>
              <a:rPr lang="en-US" sz="1250" dirty="0">
                <a:solidFill>
                  <a:srgbClr val="DDDDDD"/>
                </a:solidFill>
                <a:latin typeface="Calibri" pitchFamily="34" charset="0"/>
                <a:ea typeface="Calibri" pitchFamily="34" charset="-122"/>
                <a:cs typeface="Calibri" pitchFamily="34" charset="-120"/>
              </a:rPr>
              <a:t>Kernel syntax, device libraries, an interconnect, an ecosystem of hardware partners — item for item, this is the 2006 CUDA playbook, run again on purpose.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THE NEXT SWING</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Quantum pays the same bill</a:t>
            </a:r>
            <a:endParaRPr lang="en-US" sz="2700" dirty="0"/>
          </a:p>
        </p:txBody>
      </p:sp>
      <p:sp>
        <p:nvSpPr>
          <p:cNvPr id="4" name="Shape 2"/>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THE HARSHEST VERSION OF LESSON 4</a:t>
            </a:r>
            <a:endParaRPr lang="en-US" sz="1250" dirty="0"/>
          </a:p>
        </p:txBody>
      </p:sp>
      <p:sp>
        <p:nvSpPr>
          <p:cNvPr id="6" name="Text 4"/>
          <p:cNvSpPr/>
          <p:nvPr/>
        </p:nvSpPr>
        <p:spPr>
          <a:xfrm>
            <a:off x="914400" y="2148840"/>
            <a:ext cx="489204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To compute on data, a QPU must first LOAD it: preparing an N-value quantum state generally costs O(N) operations — unless the data has structure you can exploit.</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To answer, it must MEASURE: each shot yields a handful of bits.  Reading out a full N-vector costs O(N) shots.  The exponential state is write-once, read-barely.</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The speedup lives between those walls: computation can grow exponentially inside; the doors in and out stay narrow.</a:t>
            </a:r>
            <a:endParaRPr lang="en-US" sz="1150" dirty="0"/>
          </a:p>
        </p:txBody>
      </p:sp>
      <p:sp>
        <p:nvSpPr>
          <p:cNvPr id="7" name="Shape 5"/>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8" name="Text 6"/>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THE FLAGSHIP EXAMPLE — AND ITS FINE PRINT</a:t>
            </a:r>
            <a:endParaRPr lang="en-US" sz="1250" dirty="0"/>
          </a:p>
        </p:txBody>
      </p:sp>
      <p:sp>
        <p:nvSpPr>
          <p:cNvPr id="9" name="Text 7"/>
          <p:cNvSpPr/>
          <p:nvPr/>
        </p:nvSpPr>
        <p:spPr>
          <a:xfrm>
            <a:off x="6537960" y="2148840"/>
            <a:ext cx="47548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HHL (2009): a quantum algorithm that “solves” a linear system in ~log N time.  Note what the flagship quantum algorithm is: LINEAR ALGEBRA.  The undercarriage claim, colonized by quantum computing.</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The fine print: the win survives only if the matrix is sparse and well-conditioned, the input state is cheap to prepare, and you ask for a SUMMARY of the solution — an expectation value — never the whole vector x.</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Demand all of x back, and the exponential advantage evaporates in the readout.</a:t>
            </a:r>
            <a:endParaRPr lang="en-US" sz="1150" dirty="0"/>
          </a:p>
        </p:txBody>
      </p:sp>
      <p:sp>
        <p:nvSpPr>
          <p:cNvPr id="10" name="Shape 8"/>
          <p:cNvSpPr/>
          <p:nvPr/>
        </p:nvSpPr>
        <p:spPr>
          <a:xfrm>
            <a:off x="640080" y="5394960"/>
            <a:ext cx="10881360" cy="777240"/>
          </a:xfrm>
          <a:prstGeom prst="roundRect">
            <a:avLst>
              <a:gd name="adj" fmla="val 6471"/>
            </a:avLst>
          </a:prstGeom>
          <a:solidFill>
            <a:srgbClr val="1A160C"/>
          </a:solidFill>
          <a:ln w="12700">
            <a:solidFill>
              <a:srgbClr val="2A2A38"/>
            </a:solidFill>
            <a:prstDash val="solid"/>
          </a:ln>
        </p:spPr>
      </p:sp>
      <p:sp>
        <p:nvSpPr>
          <p:cNvPr id="11" name="Text 9"/>
          <p:cNvSpPr/>
          <p:nvPr/>
        </p:nvSpPr>
        <p:spPr>
          <a:xfrm>
            <a:off x="914400" y="5522976"/>
            <a:ext cx="10332720" cy="548640"/>
          </a:xfrm>
          <a:prstGeom prst="rect">
            <a:avLst/>
          </a:prstGeom>
          <a:noFill/>
          <a:ln/>
        </p:spPr>
        <p:txBody>
          <a:bodyPr wrap="square" lIns="0" tIns="0" rIns="0" bIns="0" rtlCol="0" anchor="ctr"/>
          <a:lstStyle/>
          <a:p>
            <a:pPr indent="0" marL="0">
              <a:buNone/>
            </a:pPr>
            <a:r>
              <a:rPr lang="en-US" sz="1250" i="1" dirty="0">
                <a:solidFill>
                  <a:srgbClr val="E8A832"/>
                </a:solidFill>
                <a:latin typeface="Calibri" pitchFamily="34" charset="0"/>
                <a:ea typeface="Calibri" pitchFamily="34" charset="-122"/>
                <a:cs typeface="Calibri" pitchFamily="34" charset="-120"/>
              </a:rPr>
              <a:t>“Bring home conclusions, not matrices” turns out to be a law, not a tip: the QPU pays for its trip exactly when the computation’s growth outruns the I/O it must buy.  That is the entire design question of quantum acceleration.</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dirty="0">
                <a:solidFill>
                  <a:srgbClr val="E8A832"/>
                </a:solidFill>
                <a:latin typeface="Courier New" pitchFamily="34" charset="0"/>
                <a:ea typeface="Courier New" pitchFamily="34" charset="-122"/>
                <a:cs typeface="Courier New" pitchFamily="34" charset="-120"/>
              </a:rPr>
              <a:t>LOOKING FORWARD · THE NEXT SWING</a:t>
            </a:r>
            <a:endParaRPr lang="en-US" sz="1200" dirty="0"/>
          </a:p>
        </p:txBody>
      </p:sp>
      <p:sp>
        <p:nvSpPr>
          <p:cNvPr id="3" name="Text 1"/>
          <p:cNvSpPr/>
          <p:nvPr/>
        </p:nvSpPr>
        <p:spPr>
          <a:xfrm>
            <a:off x="548640" y="566928"/>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ourier New" pitchFamily="34" charset="0"/>
                <a:ea typeface="Courier New" pitchFamily="34" charset="-122"/>
                <a:cs typeface="Courier New" pitchFamily="34" charset="-120"/>
              </a:rPr>
              <a:t>The pendulum, caught mid-swing</a:t>
            </a:r>
            <a:endParaRPr lang="en-US" sz="2700" dirty="0"/>
          </a:p>
        </p:txBody>
      </p:sp>
      <p:sp>
        <p:nvSpPr>
          <p:cNvPr id="4" name="Shape 2"/>
          <p:cNvSpPr/>
          <p:nvPr/>
        </p:nvSpPr>
        <p:spPr>
          <a:xfrm>
            <a:off x="640080" y="1554480"/>
            <a:ext cx="5394960" cy="3566160"/>
          </a:xfrm>
          <a:prstGeom prst="roundRect">
            <a:avLst>
              <a:gd name="adj" fmla="val 1410"/>
            </a:avLst>
          </a:prstGeom>
          <a:solidFill>
            <a:srgbClr val="14141D"/>
          </a:solidFill>
          <a:ln w="12700">
            <a:solidFill>
              <a:srgbClr val="2A2A38"/>
            </a:solidFill>
            <a:prstDash val="solid"/>
          </a:ln>
        </p:spPr>
      </p:sp>
      <p:sp>
        <p:nvSpPr>
          <p:cNvPr id="5" name="Text 3"/>
          <p:cNvSpPr/>
          <p:nvPr/>
        </p:nvSpPr>
        <p:spPr>
          <a:xfrm>
            <a:off x="914400" y="1755648"/>
            <a:ext cx="4846320" cy="274320"/>
          </a:xfrm>
          <a:prstGeom prst="rect">
            <a:avLst/>
          </a:prstGeom>
          <a:noFill/>
          <a:ln/>
        </p:spPr>
        <p:txBody>
          <a:bodyPr wrap="square" lIns="0" tIns="0" rIns="0" bIns="0" rtlCol="0" anchor="ctr"/>
          <a:lstStyle/>
          <a:p>
            <a:pPr indent="0" marL="0">
              <a:buNone/>
            </a:pPr>
            <a:r>
              <a:rPr lang="en-US" sz="1250" b="1" dirty="0">
                <a:solidFill>
                  <a:srgbClr val="E8A832"/>
                </a:solidFill>
                <a:latin typeface="Courier New" pitchFamily="34" charset="0"/>
                <a:ea typeface="Courier New" pitchFamily="34" charset="-122"/>
                <a:cs typeface="Courier New" pitchFamily="34" charset="-120"/>
              </a:rPr>
              <a:t>READ IT WITH THIS DOCUMENT’S EYES</a:t>
            </a:r>
            <a:endParaRPr lang="en-US" sz="1250" dirty="0"/>
          </a:p>
        </p:txBody>
      </p:sp>
      <p:sp>
        <p:nvSpPr>
          <p:cNvPr id="6" name="Text 4"/>
          <p:cNvSpPr/>
          <p:nvPr/>
        </p:nvSpPr>
        <p:spPr>
          <a:xfrm>
            <a:off x="914400" y="2148840"/>
            <a:ext cx="4892040" cy="28803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The heterogeneous machine grows another unit — the most special-purpose one imaginable, joined across a link instead of a die.</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Lesson 4, made existential: qubits decohere on a deadline, so error decoding must round-trip in microseconds.  The bus stopped being a tax and became life support — that is why NVQLink leads with latency, not bandwidth.</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Quantum mechanics is linear in the state — the undercarriage’s last customer.  Simulation is matrix arithmetic; the matmul engine was always going to be the classical half.</a:t>
            </a:r>
            <a:endParaRPr lang="en-US" sz="1150" dirty="0"/>
          </a:p>
          <a:p>
            <a:pPr marL="152400" indent="-152400">
              <a:lnSpc>
                <a:spcPct val="108000"/>
              </a:lnSpc>
              <a:spcAft>
                <a:spcPts val="800"/>
              </a:spcAft>
              <a:buSzPct val="100000"/>
              <a:buChar char="•"/>
            </a:pPr>
            <a:r>
              <a:rPr lang="en-US" sz="1150" dirty="0">
                <a:solidFill>
                  <a:srgbClr val="DDDDDD"/>
                </a:solidFill>
                <a:latin typeface="Calibri" pitchFamily="34" charset="0"/>
                <a:ea typeface="Calibri" pitchFamily="34" charset="-122"/>
                <a:cs typeface="Calibri" pitchFamily="34" charset="-120"/>
              </a:rPr>
              <a:t>The runway, built on purpose this time — and either way the classical half is theirs: QEC needs their GPUs if quantum works; simulation runs on them if it stalls.</a:t>
            </a:r>
            <a:endParaRPr lang="en-US" sz="1150" dirty="0"/>
          </a:p>
        </p:txBody>
      </p:sp>
      <p:sp>
        <p:nvSpPr>
          <p:cNvPr id="7" name="Shape 5"/>
          <p:cNvSpPr/>
          <p:nvPr/>
        </p:nvSpPr>
        <p:spPr>
          <a:xfrm>
            <a:off x="914400" y="4773168"/>
            <a:ext cx="274320" cy="274320"/>
          </a:xfrm>
          <a:prstGeom prst="roundRect">
            <a:avLst>
              <a:gd name="adj" fmla="val 16667"/>
            </a:avLst>
          </a:prstGeom>
          <a:solidFill>
            <a:srgbClr val="101B30"/>
          </a:solidFill>
          <a:ln w="15875">
            <a:solidFill>
              <a:srgbClr val="6AA6FF"/>
            </a:solidFill>
            <a:prstDash val="solid"/>
          </a:ln>
        </p:spPr>
      </p:sp>
      <p:sp>
        <p:nvSpPr>
          <p:cNvPr id="8" name="Text 6"/>
          <p:cNvSpPr/>
          <p:nvPr/>
        </p:nvSpPr>
        <p:spPr>
          <a:xfrm>
            <a:off x="914400" y="4762195"/>
            <a:ext cx="274320" cy="292608"/>
          </a:xfrm>
          <a:prstGeom prst="rect">
            <a:avLst/>
          </a:prstGeom>
          <a:noFill/>
          <a:ln/>
        </p:spPr>
        <p:txBody>
          <a:bodyPr wrap="square" lIns="0" tIns="0" rIns="0" bIns="0" rtlCol="0" anchor="ctr"/>
          <a:lstStyle/>
          <a:p>
            <a:pPr algn="ctr" indent="0" marL="0">
              <a:buNone/>
            </a:pPr>
            <a:r>
              <a:rPr lang="en-US" sz="1300" b="1" dirty="0">
                <a:solidFill>
                  <a:srgbClr val="6AA6FF"/>
                </a:solidFill>
                <a:latin typeface="Courier New" pitchFamily="34" charset="0"/>
                <a:ea typeface="Courier New" pitchFamily="34" charset="-122"/>
                <a:cs typeface="Courier New" pitchFamily="34" charset="-120"/>
              </a:rPr>
              <a:t>N</a:t>
            </a:r>
            <a:endParaRPr lang="en-US" sz="1300" dirty="0"/>
          </a:p>
        </p:txBody>
      </p:sp>
      <p:sp>
        <p:nvSpPr>
          <p:cNvPr id="9" name="Text 7"/>
          <p:cNvSpPr/>
          <p:nvPr/>
        </p:nvSpPr>
        <p:spPr>
          <a:xfrm>
            <a:off x="1298448" y="4762195"/>
            <a:ext cx="5120640" cy="292608"/>
          </a:xfrm>
          <a:prstGeom prst="rect">
            <a:avLst/>
          </a:prstGeom>
          <a:noFill/>
          <a:ln/>
        </p:spPr>
        <p:txBody>
          <a:bodyPr wrap="square" lIns="0" tIns="0" rIns="0" bIns="0" rtlCol="0" anchor="ctr"/>
          <a:lstStyle/>
          <a:p>
            <a:pPr indent="0" marL="0">
              <a:buNone/>
            </a:pPr>
            <a:r>
              <a:rPr lang="en-US" sz="1150" b="1" dirty="0">
                <a:solidFill>
                  <a:srgbClr val="6AA6FF"/>
                </a:solidFill>
                <a:latin typeface="Courier New" pitchFamily="34" charset="0"/>
                <a:ea typeface="Courier New" pitchFamily="34" charset="-122"/>
                <a:cs typeface="Courier New" pitchFamily="34" charset="-120"/>
              </a:rPr>
              <a:t>THE UNDERCARRIAGE · THE RUNWAY AND THE PLANE</a:t>
            </a:r>
            <a:endParaRPr lang="en-US" sz="1150" dirty="0"/>
          </a:p>
        </p:txBody>
      </p:sp>
      <p:sp>
        <p:nvSpPr>
          <p:cNvPr id="10" name="Shape 8"/>
          <p:cNvSpPr/>
          <p:nvPr/>
        </p:nvSpPr>
        <p:spPr>
          <a:xfrm>
            <a:off x="6263640" y="1554480"/>
            <a:ext cx="5257800" cy="3566160"/>
          </a:xfrm>
          <a:prstGeom prst="roundRect">
            <a:avLst>
              <a:gd name="adj" fmla="val 1410"/>
            </a:avLst>
          </a:prstGeom>
          <a:solidFill>
            <a:srgbClr val="14141D"/>
          </a:solidFill>
          <a:ln w="12700">
            <a:solidFill>
              <a:srgbClr val="2A2A38"/>
            </a:solidFill>
            <a:prstDash val="solid"/>
          </a:ln>
        </p:spPr>
      </p:sp>
      <p:sp>
        <p:nvSpPr>
          <p:cNvPr id="11" name="Text 9"/>
          <p:cNvSpPr/>
          <p:nvPr/>
        </p:nvSpPr>
        <p:spPr>
          <a:xfrm>
            <a:off x="6537960" y="1755648"/>
            <a:ext cx="475488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RUN THE FREEZE CHECKLIST ON THE QPU</a:t>
            </a:r>
            <a:endParaRPr lang="en-US" sz="1250" dirty="0"/>
          </a:p>
        </p:txBody>
      </p:sp>
      <p:sp>
        <p:nvSpPr>
          <p:cNvPr id="12" name="Text 10"/>
          <p:cNvSpPr/>
          <p:nvPr/>
        </p:nvSpPr>
        <p:spPr>
          <a:xfrm>
            <a:off x="6537960" y="2194560"/>
            <a:ext cx="160020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DOMINANT?</a:t>
            </a:r>
            <a:endParaRPr lang="en-US" sz="1250" dirty="0"/>
          </a:p>
        </p:txBody>
      </p:sp>
      <p:sp>
        <p:nvSpPr>
          <p:cNvPr id="13" name="Text 11"/>
          <p:cNvSpPr/>
          <p:nvPr/>
        </p:nvSpPr>
        <p:spPr>
          <a:xfrm>
            <a:off x="8183880" y="2176272"/>
            <a:ext cx="3200400" cy="658368"/>
          </a:xfrm>
          <a:prstGeom prst="rect">
            <a:avLst/>
          </a:prstGeom>
          <a:noFill/>
          <a:ln/>
        </p:spPr>
        <p:txBody>
          <a:bodyPr wrap="square" lIns="0" tIns="0" rIns="0" bIns="0" rtlCol="0" anchor="ctr"/>
          <a:lstStyle/>
          <a:p>
            <a:pPr indent="0" marL="0">
              <a:lnSpc>
                <a:spcPct val="103000"/>
              </a:lnSpc>
              <a:buNone/>
            </a:pPr>
            <a:r>
              <a:rPr lang="en-US" sz="1050" dirty="0">
                <a:solidFill>
                  <a:srgbClr val="DDDDDD"/>
                </a:solidFill>
                <a:latin typeface="Calibri" pitchFamily="34" charset="0"/>
                <a:ea typeface="Calibri" pitchFamily="34" charset="-122"/>
                <a:cs typeface="Calibri" pitchFamily="34" charset="-120"/>
              </a:rPr>
              <a:t>Not yet — no workload owns it; the killer application is still a forecast.</a:t>
            </a:r>
            <a:endParaRPr lang="en-US" sz="1050" dirty="0"/>
          </a:p>
        </p:txBody>
      </p:sp>
      <p:sp>
        <p:nvSpPr>
          <p:cNvPr id="14" name="Text 12"/>
          <p:cNvSpPr/>
          <p:nvPr/>
        </p:nvSpPr>
        <p:spPr>
          <a:xfrm>
            <a:off x="6537960" y="2907792"/>
            <a:ext cx="160020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STABLE?</a:t>
            </a:r>
            <a:endParaRPr lang="en-US" sz="1250" dirty="0"/>
          </a:p>
        </p:txBody>
      </p:sp>
      <p:sp>
        <p:nvSpPr>
          <p:cNvPr id="15" name="Text 13"/>
          <p:cNvSpPr/>
          <p:nvPr/>
        </p:nvSpPr>
        <p:spPr>
          <a:xfrm>
            <a:off x="8183880" y="2889504"/>
            <a:ext cx="3200400" cy="658368"/>
          </a:xfrm>
          <a:prstGeom prst="rect">
            <a:avLst/>
          </a:prstGeom>
          <a:noFill/>
          <a:ln/>
        </p:spPr>
        <p:txBody>
          <a:bodyPr wrap="square" lIns="0" tIns="0" rIns="0" bIns="0" rtlCol="0" anchor="ctr"/>
          <a:lstStyle/>
          <a:p>
            <a:pPr indent="0" marL="0">
              <a:lnSpc>
                <a:spcPct val="103000"/>
              </a:lnSpc>
              <a:buNone/>
            </a:pPr>
            <a:r>
              <a:rPr lang="en-US" sz="1050" dirty="0">
                <a:solidFill>
                  <a:srgbClr val="DDDDDD"/>
                </a:solidFill>
                <a:latin typeface="Calibri" pitchFamily="34" charset="0"/>
                <a:ea typeface="Calibri" pitchFamily="34" charset="-122"/>
                <a:cs typeface="Calibri" pitchFamily="34" charset="-120"/>
              </a:rPr>
              <a:t>No — qubit modalities, error-correction codes, even the gate sets are still in motion.</a:t>
            </a:r>
            <a:endParaRPr lang="en-US" sz="1050" dirty="0"/>
          </a:p>
        </p:txBody>
      </p:sp>
      <p:sp>
        <p:nvSpPr>
          <p:cNvPr id="16" name="Text 14"/>
          <p:cNvSpPr/>
          <p:nvPr/>
        </p:nvSpPr>
        <p:spPr>
          <a:xfrm>
            <a:off x="6537960" y="3621024"/>
            <a:ext cx="1600200" cy="274320"/>
          </a:xfrm>
          <a:prstGeom prst="rect">
            <a:avLst/>
          </a:prstGeom>
          <a:noFill/>
          <a:ln/>
        </p:spPr>
        <p:txBody>
          <a:bodyPr wrap="square" lIns="0" tIns="0" rIns="0" bIns="0" rtlCol="0" anchor="ctr"/>
          <a:lstStyle/>
          <a:p>
            <a:pPr indent="0" marL="0">
              <a:buNone/>
            </a:pPr>
            <a:r>
              <a:rPr lang="en-US" sz="1250" b="1" dirty="0">
                <a:solidFill>
                  <a:srgbClr val="3CE8B2"/>
                </a:solidFill>
                <a:latin typeface="Courier New" pitchFamily="34" charset="0"/>
                <a:ea typeface="Courier New" pitchFamily="34" charset="-122"/>
                <a:cs typeface="Courier New" pitchFamily="34" charset="-120"/>
              </a:rPr>
              <a:t>FEEDABLE?</a:t>
            </a:r>
            <a:endParaRPr lang="en-US" sz="1250" dirty="0"/>
          </a:p>
        </p:txBody>
      </p:sp>
      <p:sp>
        <p:nvSpPr>
          <p:cNvPr id="17" name="Text 15"/>
          <p:cNvSpPr/>
          <p:nvPr/>
        </p:nvSpPr>
        <p:spPr>
          <a:xfrm>
            <a:off x="8183880" y="3602736"/>
            <a:ext cx="3200400" cy="658368"/>
          </a:xfrm>
          <a:prstGeom prst="rect">
            <a:avLst/>
          </a:prstGeom>
          <a:noFill/>
          <a:ln/>
        </p:spPr>
        <p:txBody>
          <a:bodyPr wrap="square" lIns="0" tIns="0" rIns="0" bIns="0" rtlCol="0" anchor="ctr"/>
          <a:lstStyle/>
          <a:p>
            <a:pPr indent="0" marL="0">
              <a:lnSpc>
                <a:spcPct val="103000"/>
              </a:lnSpc>
              <a:buNone/>
            </a:pPr>
            <a:r>
              <a:rPr lang="en-US" sz="1050" dirty="0">
                <a:solidFill>
                  <a:srgbClr val="DDDDDD"/>
                </a:solidFill>
                <a:latin typeface="Calibri" pitchFamily="34" charset="0"/>
                <a:ea typeface="Calibri" pitchFamily="34" charset="-122"/>
                <a:cs typeface="Calibri" pitchFamily="34" charset="-120"/>
              </a:rPr>
              <a:t>The open question — the &lt;4 µs link IS the feedability problem, engineered head-on.</a:t>
            </a:r>
            <a:endParaRPr lang="en-US" sz="1050" dirty="0"/>
          </a:p>
        </p:txBody>
      </p:sp>
      <p:sp>
        <p:nvSpPr>
          <p:cNvPr id="18" name="Text 16"/>
          <p:cNvSpPr/>
          <p:nvPr/>
        </p:nvSpPr>
        <p:spPr>
          <a:xfrm>
            <a:off x="6537960" y="4370832"/>
            <a:ext cx="4754880" cy="777240"/>
          </a:xfrm>
          <a:prstGeom prst="rect">
            <a:avLst/>
          </a:prstGeom>
          <a:noFill/>
          <a:ln/>
        </p:spPr>
        <p:txBody>
          <a:bodyPr wrap="square" lIns="0" tIns="0" rIns="0" bIns="0" rtlCol="0" anchor="ctr"/>
          <a:lstStyle/>
          <a:p>
            <a:pPr indent="0" marL="0">
              <a:lnSpc>
                <a:spcPct val="108000"/>
              </a:lnSpc>
              <a:buNone/>
            </a:pPr>
            <a:r>
              <a:rPr lang="en-US" sz="1150" i="1" dirty="0">
                <a:solidFill>
                  <a:srgbClr val="FFFFFF"/>
                </a:solidFill>
                <a:latin typeface="Calibri" pitchFamily="34" charset="0"/>
                <a:ea typeface="Calibri" pitchFamily="34" charset="-122"/>
                <a:cs typeface="Calibri" pitchFamily="34" charset="-120"/>
              </a:rPr>
              <a:t>Three noes — which is exactly why the QPU sits across a link and not on the die.  The document’s own checklist predicts the architecture.</a:t>
            </a:r>
            <a:endParaRPr lang="en-US" sz="1150" dirty="0"/>
          </a:p>
        </p:txBody>
      </p:sp>
      <p:sp>
        <p:nvSpPr>
          <p:cNvPr id="19" name="Shape 17"/>
          <p:cNvSpPr/>
          <p:nvPr/>
        </p:nvSpPr>
        <p:spPr>
          <a:xfrm>
            <a:off x="640080" y="5440680"/>
            <a:ext cx="10881360" cy="868680"/>
          </a:xfrm>
          <a:prstGeom prst="roundRect">
            <a:avLst>
              <a:gd name="adj" fmla="val 5789"/>
            </a:avLst>
          </a:prstGeom>
          <a:solidFill>
            <a:srgbClr val="0F1A15"/>
          </a:solidFill>
          <a:ln w="12700">
            <a:solidFill>
              <a:srgbClr val="2A2A38"/>
            </a:solidFill>
            <a:prstDash val="solid"/>
          </a:ln>
        </p:spPr>
      </p:sp>
      <p:sp>
        <p:nvSpPr>
          <p:cNvPr id="20" name="Text 18"/>
          <p:cNvSpPr/>
          <p:nvPr/>
        </p:nvSpPr>
        <p:spPr>
          <a:xfrm>
            <a:off x="914400" y="5641848"/>
            <a:ext cx="10332720" cy="502920"/>
          </a:xfrm>
          <a:prstGeom prst="rect">
            <a:avLst/>
          </a:prstGeom>
          <a:noFill/>
          <a:ln/>
        </p:spPr>
        <p:txBody>
          <a:bodyPr wrap="square" lIns="0" tIns="0" rIns="0" bIns="0" rtlCol="0" anchor="ctr"/>
          <a:lstStyle/>
          <a:p>
            <a:pPr indent="0" marL="0">
              <a:buNone/>
            </a:pPr>
            <a:r>
              <a:rPr lang="en-US" sz="1550" i="1" dirty="0">
                <a:solidFill>
                  <a:srgbClr val="3CE8B2"/>
                </a:solidFill>
                <a:latin typeface="Calibri" pitchFamily="34" charset="0"/>
                <a:ea typeface="Calibri" pitchFamily="34" charset="-122"/>
                <a:cs typeface="Calibri" pitchFamily="34" charset="-120"/>
              </a:rPr>
              <a:t>Same pendulum, new swing — and now you know how to read it: dominant, stable, feedable.  Keep the checklist.</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2026-07-16T16:04:12Z</dcterms:created>
  <dcterms:modified xsi:type="dcterms:W3CDTF">2026-07-16T16:04:12Z</dcterms:modified>
</cp:coreProperties>
</file>