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45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store the dimensions?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ExtentStorage —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Packing Problem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machinery — where we’re headed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478" y="947547"/>
            <a:ext cx="3167438" cy="42291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inline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 =  </a:t>
            </a:r>
            <a:r>
              <a:rPr lang="en-US" sz="700" dirty="0" err="1">
                <a:solidFill>
                  <a:schemeClr val="bg1"/>
                </a:solidFill>
              </a:rPr>
              <a:t>static_cast</a:t>
            </a:r>
            <a:r>
              <a:rPr lang="en-US" sz="700" dirty="0">
                <a:solidFill>
                  <a:schemeClr val="bg1"/>
                </a:solidFill>
              </a:rPr>
              <a:t>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&gt;(-1);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namespace detail </a:t>
            </a: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inline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bool </a:t>
            </a:r>
            <a:r>
              <a:rPr lang="en-US" sz="700" dirty="0" err="1">
                <a:solidFill>
                  <a:schemeClr val="bg1"/>
                </a:solidFill>
              </a:rPr>
              <a:t>all_static_v</a:t>
            </a:r>
            <a:r>
              <a:rPr lang="en-US" sz="700" dirty="0">
                <a:solidFill>
                  <a:schemeClr val="bg1"/>
                </a:solidFill>
              </a:rPr>
              <a:t> = ((Dims !=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) &amp;&amp; ...);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inline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rank_dynamic_v</a:t>
            </a:r>
            <a:r>
              <a:rPr lang="en-US" sz="700" dirty="0">
                <a:solidFill>
                  <a:schemeClr val="bg1"/>
                </a:solidFill>
              </a:rPr>
              <a:t> =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(std::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{0} + ... + (Dims ==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 ?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{1}  :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{0}));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I,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First,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Rest&gt;</a:t>
            </a:r>
          </a:p>
          <a:p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nth_pack_element</a:t>
            </a:r>
            <a:r>
              <a:rPr lang="en-US" sz="700" dirty="0">
                <a:solidFill>
                  <a:schemeClr val="bg1"/>
                </a:solidFill>
              </a:rPr>
              <a:t>()</a:t>
            </a: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if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(I == 0) return First;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else return </a:t>
            </a:r>
            <a:r>
              <a:rPr lang="en-US" sz="700" dirty="0" err="1">
                <a:solidFill>
                  <a:schemeClr val="bg1"/>
                </a:solidFill>
              </a:rPr>
              <a:t>nth_pack_element</a:t>
            </a:r>
            <a:r>
              <a:rPr lang="en-US" sz="700" dirty="0">
                <a:solidFill>
                  <a:schemeClr val="bg1"/>
                </a:solidFill>
              </a:rPr>
              <a:t>&lt;I - 1, Rest...&gt;();</a:t>
            </a:r>
          </a:p>
          <a:p>
            <a:r>
              <a:rPr lang="en-US" sz="700" dirty="0">
                <a:solidFill>
                  <a:schemeClr val="bg1"/>
                </a:solidFill>
              </a:rPr>
              <a:t>}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I,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 err="1">
                <a:solidFill>
                  <a:schemeClr val="bg1"/>
                </a:solidFill>
              </a:rPr>
              <a:t>consteval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dynamic_slot</a:t>
            </a:r>
            <a:r>
              <a:rPr lang="en-US" sz="700" dirty="0">
                <a:solidFill>
                  <a:schemeClr val="bg1"/>
                </a:solidFill>
              </a:rPr>
              <a:t>()</a:t>
            </a: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pack[] = {Dims...};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slot = 0;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for (std::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k = 0; k &lt; I; ++k)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if (pack[k] ==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) ++slot;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return slot;</a:t>
            </a:r>
          </a:p>
          <a:p>
            <a:r>
              <a:rPr lang="en-US" sz="700" dirty="0">
                <a:solidFill>
                  <a:schemeClr val="bg1"/>
                </a:solidFill>
              </a:rPr>
              <a:t>}</a:t>
            </a:r>
          </a:p>
          <a:p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914400"/>
            <a:ext cx="2228939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846320" y="640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3972" y="947547"/>
            <a:ext cx="285555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dirty="0">
                <a:solidFill>
                  <a:schemeClr val="bg1"/>
                </a:solidFill>
              </a:rPr>
              <a:t>    </a:t>
            </a:r>
          </a:p>
          <a:p>
            <a:r>
              <a:rPr lang="en-US" sz="700" dirty="0">
                <a:solidFill>
                  <a:schemeClr val="bg1"/>
                </a:solidFill>
              </a:rPr>
              <a:t>template&lt;</a:t>
            </a:r>
            <a:r>
              <a:rPr lang="en-US" sz="700" dirty="0" err="1">
                <a:solidFill>
                  <a:schemeClr val="bg1"/>
                </a:solidFill>
              </a:rPr>
              <a:t>typename</a:t>
            </a:r>
            <a:r>
              <a:rPr lang="en-US" sz="700" dirty="0">
                <a:solidFill>
                  <a:schemeClr val="bg1"/>
                </a:solidFill>
              </a:rPr>
              <a:t> T,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class </a:t>
            </a:r>
            <a:r>
              <a:rPr lang="en-US" sz="700" dirty="0" err="1">
                <a:solidFill>
                  <a:schemeClr val="bg1"/>
                </a:solidFill>
              </a:rPr>
              <a:t>ArrayView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static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bool </a:t>
            </a:r>
            <a:r>
              <a:rPr lang="en-US" sz="700" dirty="0" err="1">
                <a:solidFill>
                  <a:schemeClr val="bg1"/>
                </a:solidFill>
              </a:rPr>
              <a:t>all_static</a:t>
            </a:r>
            <a:r>
              <a:rPr lang="en-US" sz="700" dirty="0">
                <a:solidFill>
                  <a:schemeClr val="bg1"/>
                </a:solidFill>
              </a:rPr>
              <a:t> = detail::</a:t>
            </a:r>
            <a:r>
              <a:rPr lang="en-US" sz="700" dirty="0" err="1">
                <a:solidFill>
                  <a:schemeClr val="bg1"/>
                </a:solidFill>
              </a:rPr>
              <a:t>all_static_v</a:t>
            </a:r>
            <a:r>
              <a:rPr lang="en-US" sz="700" dirty="0">
                <a:solidFill>
                  <a:schemeClr val="bg1"/>
                </a:solidFill>
              </a:rPr>
              <a:t>&lt;Dims...&gt;;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public: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using </a:t>
            </a:r>
            <a:r>
              <a:rPr lang="en-US" sz="700" dirty="0" err="1">
                <a:solidFill>
                  <a:schemeClr val="bg1"/>
                </a:solidFill>
              </a:rPr>
              <a:t>size_type</a:t>
            </a:r>
            <a:r>
              <a:rPr lang="en-US" sz="700" dirty="0">
                <a:solidFill>
                  <a:schemeClr val="bg1"/>
                </a:solidFill>
              </a:rPr>
              <a:t> =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private: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static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size_type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kRank</a:t>
            </a:r>
            <a:r>
              <a:rPr lang="en-US" sz="700" dirty="0">
                <a:solidFill>
                  <a:schemeClr val="bg1"/>
                </a:solidFill>
              </a:rPr>
              <a:t>    = </a:t>
            </a:r>
            <a:r>
              <a:rPr lang="en-US" sz="700" dirty="0" err="1">
                <a:solidFill>
                  <a:schemeClr val="bg1"/>
                </a:solidFill>
              </a:rPr>
              <a:t>sizeof</a:t>
            </a:r>
            <a:r>
              <a:rPr lang="en-US" sz="700" dirty="0">
                <a:solidFill>
                  <a:schemeClr val="bg1"/>
                </a:solidFill>
              </a:rPr>
              <a:t>...(Dims);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static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size_type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kRankDynamic</a:t>
            </a:r>
            <a:r>
              <a:rPr lang="en-US" sz="700" dirty="0">
                <a:solidFill>
                  <a:schemeClr val="bg1"/>
                </a:solidFill>
              </a:rPr>
              <a:t> =    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                                                       detail::</a:t>
            </a:r>
            <a:r>
              <a:rPr lang="en-US" sz="700" dirty="0" err="1">
                <a:solidFill>
                  <a:schemeClr val="bg1"/>
                </a:solidFill>
              </a:rPr>
              <a:t>rank_dynamic_v</a:t>
            </a:r>
            <a:r>
              <a:rPr lang="en-US" sz="700" dirty="0">
                <a:solidFill>
                  <a:schemeClr val="bg1"/>
                </a:solidFill>
              </a:rPr>
              <a:t>&lt;Dims...&gt;;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T* </a:t>
            </a:r>
            <a:r>
              <a:rPr lang="en-US" sz="700" dirty="0" err="1">
                <a:solidFill>
                  <a:schemeClr val="bg1"/>
                </a:solidFill>
              </a:rPr>
              <a:t>mData</a:t>
            </a:r>
            <a:r>
              <a:rPr lang="en-US" sz="700" dirty="0">
                <a:solidFill>
                  <a:schemeClr val="bg1"/>
                </a:solidFill>
              </a:rPr>
              <a:t>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ULIB_NO_UNIQUE_ADDRESS detail::</a:t>
            </a:r>
            <a:r>
              <a:rPr lang="en-US" sz="700" dirty="0" err="1">
                <a:solidFill>
                  <a:schemeClr val="bg1"/>
                </a:solidFill>
              </a:rPr>
              <a:t>ExtentStorage</a:t>
            </a:r>
            <a:r>
              <a:rPr lang="en-US" sz="700" dirty="0">
                <a:solidFill>
                  <a:schemeClr val="bg1"/>
                </a:solidFill>
              </a:rPr>
              <a:t>&lt;Dims...&gt; </a:t>
            </a:r>
            <a:r>
              <a:rPr lang="en-US" sz="700" dirty="0" err="1">
                <a:solidFill>
                  <a:schemeClr val="bg1"/>
                </a:solidFill>
              </a:rPr>
              <a:t>mExtents</a:t>
            </a:r>
            <a:r>
              <a:rPr lang="en-US" sz="700" dirty="0">
                <a:solidFill>
                  <a:schemeClr val="bg1"/>
                </a:solidFill>
              </a:rPr>
              <a:t>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public: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template&lt;</a:t>
            </a:r>
            <a:r>
              <a:rPr lang="en-US" sz="700" dirty="0" err="1">
                <a:solidFill>
                  <a:schemeClr val="bg1"/>
                </a:solidFill>
              </a:rPr>
              <a:t>typename</a:t>
            </a:r>
            <a:r>
              <a:rPr lang="en-US" sz="700" dirty="0">
                <a:solidFill>
                  <a:schemeClr val="bg1"/>
                </a:solidFill>
              </a:rPr>
              <a:t> Array&gt;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ArrayView</a:t>
            </a:r>
            <a:r>
              <a:rPr lang="en-US" sz="700" dirty="0">
                <a:solidFill>
                  <a:schemeClr val="bg1"/>
                </a:solidFill>
              </a:rPr>
              <a:t>(Array&amp; </a:t>
            </a:r>
            <a:r>
              <a:rPr lang="en-US" sz="700" dirty="0" err="1">
                <a:solidFill>
                  <a:schemeClr val="bg1"/>
                </a:solidFill>
              </a:rPr>
              <a:t>arr</a:t>
            </a:r>
            <a:r>
              <a:rPr lang="en-US" sz="700" dirty="0">
                <a:solidFill>
                  <a:schemeClr val="bg1"/>
                </a:solidFill>
              </a:rPr>
              <a:t>) </a:t>
            </a:r>
            <a:r>
              <a:rPr lang="en-US" sz="700" dirty="0" err="1">
                <a:solidFill>
                  <a:schemeClr val="bg1"/>
                </a:solidFill>
              </a:rPr>
              <a:t>noexcept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    : </a:t>
            </a:r>
            <a:r>
              <a:rPr lang="en-US" sz="700" dirty="0" err="1">
                <a:solidFill>
                  <a:schemeClr val="bg1"/>
                </a:solidFill>
              </a:rPr>
              <a:t>mData</a:t>
            </a:r>
            <a:r>
              <a:rPr lang="en-US" sz="700" dirty="0">
                <a:solidFill>
                  <a:schemeClr val="bg1"/>
                </a:solidFill>
              </a:rPr>
              <a:t>{detail::</a:t>
            </a:r>
            <a:r>
              <a:rPr lang="en-US" sz="700" dirty="0" err="1">
                <a:solidFill>
                  <a:schemeClr val="bg1"/>
                </a:solidFill>
              </a:rPr>
              <a:t>flatPtr</a:t>
            </a:r>
            <a:r>
              <a:rPr lang="en-US" sz="700" dirty="0">
                <a:solidFill>
                  <a:schemeClr val="bg1"/>
                </a:solidFill>
              </a:rPr>
              <a:t>(</a:t>
            </a:r>
            <a:r>
              <a:rPr lang="en-US" sz="700" dirty="0" err="1">
                <a:solidFill>
                  <a:schemeClr val="bg1"/>
                </a:solidFill>
              </a:rPr>
              <a:t>arr</a:t>
            </a:r>
            <a:r>
              <a:rPr lang="en-US" sz="700" dirty="0">
                <a:solidFill>
                  <a:schemeClr val="bg1"/>
                </a:solidFill>
              </a:rPr>
              <a:t>)}, </a:t>
            </a:r>
            <a:r>
              <a:rPr lang="en-US" sz="700" dirty="0" err="1">
                <a:solidFill>
                  <a:schemeClr val="bg1"/>
                </a:solidFill>
              </a:rPr>
              <a:t>mExtents</a:t>
            </a:r>
            <a:r>
              <a:rPr lang="en-US" sz="700" dirty="0">
                <a:solidFill>
                  <a:schemeClr val="bg1"/>
                </a:solidFill>
              </a:rPr>
              <a:t>{}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{}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template&lt;std::integral... Extents&gt;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explicit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ArrayView</a:t>
            </a:r>
            <a:r>
              <a:rPr lang="en-US" sz="700" dirty="0">
                <a:solidFill>
                  <a:schemeClr val="bg1"/>
                </a:solidFill>
              </a:rPr>
              <a:t>(T* </a:t>
            </a:r>
            <a:r>
              <a:rPr lang="en-US" sz="700" dirty="0" err="1">
                <a:solidFill>
                  <a:schemeClr val="bg1"/>
                </a:solidFill>
              </a:rPr>
              <a:t>ptr</a:t>
            </a:r>
            <a:r>
              <a:rPr lang="en-US" sz="700" dirty="0">
                <a:solidFill>
                  <a:schemeClr val="bg1"/>
                </a:solidFill>
              </a:rPr>
              <a:t>, Extents... extents)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: </a:t>
            </a:r>
            <a:r>
              <a:rPr lang="en-US" sz="700" dirty="0" err="1">
                <a:solidFill>
                  <a:schemeClr val="bg1"/>
                </a:solidFill>
              </a:rPr>
              <a:t>mData</a:t>
            </a:r>
            <a:r>
              <a:rPr lang="en-US" sz="700" dirty="0">
                <a:solidFill>
                  <a:schemeClr val="bg1"/>
                </a:solidFill>
              </a:rPr>
              <a:t>{</a:t>
            </a:r>
            <a:r>
              <a:rPr lang="en-US" sz="700" dirty="0" err="1">
                <a:solidFill>
                  <a:schemeClr val="bg1"/>
                </a:solidFill>
              </a:rPr>
              <a:t>ptr</a:t>
            </a:r>
            <a:r>
              <a:rPr lang="en-US" sz="700" dirty="0">
                <a:solidFill>
                  <a:schemeClr val="bg1"/>
                </a:solidFill>
              </a:rPr>
              <a:t>}, </a:t>
            </a:r>
            <a:r>
              <a:rPr lang="en-US" sz="700" dirty="0" err="1">
                <a:solidFill>
                  <a:schemeClr val="bg1"/>
                </a:solidFill>
              </a:rPr>
              <a:t>mExtents</a:t>
            </a:r>
            <a:r>
              <a:rPr lang="en-US" sz="700" dirty="0">
                <a:solidFill>
                  <a:schemeClr val="bg1"/>
                </a:solidFill>
              </a:rPr>
              <a:t>{detail::</a:t>
            </a:r>
            <a:r>
              <a:rPr lang="en-US" sz="700" dirty="0" err="1">
                <a:solidFill>
                  <a:schemeClr val="bg1"/>
                </a:solidFill>
              </a:rPr>
              <a:t>checkedExtent</a:t>
            </a:r>
            <a:r>
              <a:rPr lang="en-US" sz="700" dirty="0">
                <a:solidFill>
                  <a:schemeClr val="bg1"/>
                </a:solidFill>
              </a:rPr>
              <a:t>(extents)...}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{}</a:t>
            </a:r>
          </a:p>
          <a:p>
            <a:r>
              <a:rPr lang="en-US" sz="700" dirty="0">
                <a:solidFill>
                  <a:schemeClr val="bg1"/>
                </a:solidFill>
              </a:rPr>
              <a:t>};</a:t>
            </a:r>
            <a:endParaRPr lang="en-US" sz="7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A036B64-B997-AE62-076B-45D037CC8B3D}"/>
              </a:ext>
            </a:extLst>
          </p:cNvPr>
          <p:cNvSpPr/>
          <p:nvPr/>
        </p:nvSpPr>
        <p:spPr>
          <a:xfrm>
            <a:off x="3281916" y="947547"/>
            <a:ext cx="2764468" cy="416280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struct </a:t>
            </a:r>
            <a:r>
              <a:rPr lang="en-US" sz="700" dirty="0" err="1">
                <a:solidFill>
                  <a:schemeClr val="bg1"/>
                </a:solidFill>
              </a:rPr>
              <a:t>ExtentStorage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static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NumDyn</a:t>
            </a:r>
            <a:r>
              <a:rPr lang="en-US" sz="700" dirty="0">
                <a:solidFill>
                  <a:schemeClr val="bg1"/>
                </a:solidFill>
              </a:rPr>
              <a:t> = </a:t>
            </a:r>
            <a:r>
              <a:rPr lang="en-US" sz="700" dirty="0" err="1">
                <a:solidFill>
                  <a:schemeClr val="bg1"/>
                </a:solidFill>
              </a:rPr>
              <a:t>rank_dynamic_v</a:t>
            </a:r>
            <a:r>
              <a:rPr lang="en-US" sz="700" dirty="0">
                <a:solidFill>
                  <a:schemeClr val="bg1"/>
                </a:solidFill>
              </a:rPr>
              <a:t>&lt;Dims...&gt;;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ULIB_NO_UNIQUE_ADDRESS std::array&lt;std::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, </a:t>
            </a:r>
            <a:r>
              <a:rPr lang="en-US" sz="700" dirty="0" err="1">
                <a:solidFill>
                  <a:schemeClr val="bg1"/>
                </a:solidFill>
              </a:rPr>
              <a:t>NumDyn</a:t>
            </a:r>
            <a:r>
              <a:rPr lang="en-US" sz="700" dirty="0">
                <a:solidFill>
                  <a:schemeClr val="bg1"/>
                </a:solidFill>
              </a:rPr>
              <a:t>&gt; </a:t>
            </a:r>
            <a:r>
              <a:rPr lang="en-US" sz="700" dirty="0" err="1">
                <a:solidFill>
                  <a:schemeClr val="bg1"/>
                </a:solidFill>
              </a:rPr>
              <a:t>dyn</a:t>
            </a:r>
            <a:r>
              <a:rPr lang="en-US" sz="700" dirty="0">
                <a:solidFill>
                  <a:schemeClr val="bg1"/>
                </a:solidFill>
              </a:rPr>
              <a:t>{};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ExtentStorage</a:t>
            </a:r>
            <a:r>
              <a:rPr lang="en-US" sz="700" dirty="0">
                <a:solidFill>
                  <a:schemeClr val="bg1"/>
                </a:solidFill>
              </a:rPr>
              <a:t>() = default;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template&lt;std::integral... Es&gt;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explicit </a:t>
            </a:r>
            <a:r>
              <a:rPr lang="en-US" sz="700" dirty="0" err="1">
                <a:solidFill>
                  <a:schemeClr val="bg1"/>
                </a:solidFill>
              </a:rPr>
              <a:t>ExtentStorage</a:t>
            </a:r>
            <a:r>
              <a:rPr lang="en-US" sz="700" dirty="0">
                <a:solidFill>
                  <a:schemeClr val="bg1"/>
                </a:solidFill>
              </a:rPr>
              <a:t>(Es... es)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: </a:t>
            </a:r>
            <a:r>
              <a:rPr lang="en-US" sz="700" dirty="0" err="1">
                <a:solidFill>
                  <a:schemeClr val="bg1"/>
                </a:solidFill>
              </a:rPr>
              <a:t>dyn</a:t>
            </a:r>
            <a:r>
              <a:rPr lang="en-US" sz="700" dirty="0">
                <a:solidFill>
                  <a:schemeClr val="bg1"/>
                </a:solidFill>
              </a:rPr>
              <a:t>{</a:t>
            </a:r>
            <a:r>
              <a:rPr lang="en-US" sz="700" dirty="0" err="1">
                <a:solidFill>
                  <a:schemeClr val="bg1"/>
                </a:solidFill>
              </a:rPr>
              <a:t>static_cast</a:t>
            </a:r>
            <a:r>
              <a:rPr lang="en-US" sz="700" dirty="0">
                <a:solidFill>
                  <a:schemeClr val="bg1"/>
                </a:solidFill>
              </a:rPr>
              <a:t>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&gt;(es)...}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}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I&gt;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get() const </a:t>
            </a:r>
            <a:r>
              <a:rPr lang="en-US" sz="700" dirty="0" err="1">
                <a:solidFill>
                  <a:schemeClr val="bg1"/>
                </a:solidFill>
              </a:rPr>
              <a:t>noexcept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auto d = </a:t>
            </a:r>
            <a:r>
              <a:rPr lang="en-US" sz="700" dirty="0" err="1">
                <a:solidFill>
                  <a:schemeClr val="bg1"/>
                </a:solidFill>
              </a:rPr>
              <a:t>nth_pack_element</a:t>
            </a:r>
            <a:r>
              <a:rPr lang="en-US" sz="700" dirty="0">
                <a:solidFill>
                  <a:schemeClr val="bg1"/>
                </a:solidFill>
              </a:rPr>
              <a:t>&lt;I, Dims...&gt;();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if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(d !=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)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    return d; 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else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    return </a:t>
            </a:r>
            <a:r>
              <a:rPr lang="en-US" sz="700" dirty="0" err="1">
                <a:solidFill>
                  <a:schemeClr val="bg1"/>
                </a:solidFill>
              </a:rPr>
              <a:t>dyn</a:t>
            </a:r>
            <a:r>
              <a:rPr lang="en-US" sz="700" dirty="0">
                <a:solidFill>
                  <a:schemeClr val="bg1"/>
                </a:solidFill>
              </a:rPr>
              <a:t>[</a:t>
            </a:r>
            <a:r>
              <a:rPr lang="en-US" sz="700" dirty="0" err="1">
                <a:solidFill>
                  <a:schemeClr val="bg1"/>
                </a:solidFill>
              </a:rPr>
              <a:t>dynamic_slot</a:t>
            </a:r>
            <a:r>
              <a:rPr lang="en-US" sz="700" dirty="0">
                <a:solidFill>
                  <a:schemeClr val="bg1"/>
                </a:solidFill>
              </a:rPr>
              <a:t>&lt;I, Dims...&gt;()];   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}</a:t>
            </a:r>
          </a:p>
          <a:p>
            <a:r>
              <a:rPr lang="en-US" sz="700" dirty="0">
                <a:solidFill>
                  <a:schemeClr val="bg1"/>
                </a:solidFill>
              </a:rPr>
              <a:t>};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} // namespace detail</a:t>
            </a:r>
          </a:p>
          <a:p>
            <a:endParaRPr lang="en-US" sz="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Obvious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64008" cy="12344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all extents in an array at runtime.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463040"/>
            <a:ext cx="7132320" cy="64008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490472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template&lt;std::size_t... Dims&gt;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ExtentStorage {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std::array&lt;std::size_t, sizeof...(Dims)&gt; all_extents;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64008" cy="10515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56032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construct a view for a 3×4 static array: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834640"/>
            <a:ext cx="7132320" cy="5486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86207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matrix[3][4];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v(matrix);  // stores {3, 4} — 16 bytes for nothing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3840480" cy="9829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64008" cy="9829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822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bytes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— 3 and 4 are already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parameters, known at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794759"/>
            <a:ext cx="3840480" cy="98297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3794760"/>
            <a:ext cx="64008" cy="98297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3822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bytes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1208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it should cost — static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are free, they live in the type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Compiler Knows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3749040" cy="146304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4864" cy="14630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Static: the compiler already has 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3383280" cy="4572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2161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3, 4&gt;  // 3,4 in the type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and 4 are template parameters.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embeds them as literals.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 needed — zero bytes.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3749040" cy="146304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54864" cy="1463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Dynamic: only known at runtime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383280" cy="4572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2161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4&gt;  // dyn = ?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dim comes from config/input.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can't know it.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stored at runtime.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mark a dimension as dynamic?  A sentinel value.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constexpr std::size_t dynamic_extent =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static_cast&lt;std::size_t&gt;(-1);  // SIZE_MAX ≈ 18.4 × 10¹⁸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real array has 18.4 quintillion elements — safe sentinel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3959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standard pattern:  </a:t>
            </a: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std::span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std::mdspan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the same sentinel. Casting </a:t>
            </a: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the maximum unsigned value — guaranteed by the standard.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becomes: how do we store only the dynamic extents?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at Compile Time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64008" cy="10058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we know how many dynamic dims there are at compile time, we can size a container.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463040"/>
            <a:ext cx="7132320" cy="41148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49047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std::array&lt;std::size_t, NumDyn&gt; dyn{};  // compile-time sized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12865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64008" cy="12865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do we need to compute?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 = {dynamic_extent, dynamic_extent, 5}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are equal </a:t>
            </a:r>
            <a:r>
              <a:rPr lang="en-US" sz="1300" dirty="0"/>
              <a:t> to </a:t>
            </a:r>
            <a:r>
              <a:rPr lang="en-US" sz="1300" dirty="0" err="1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dynamic_extent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Answer: </a:t>
            </a:r>
            <a:r>
              <a:rPr lang="en-US" sz="1600" b="1" dirty="0">
                <a:solidFill>
                  <a:srgbClr val="0F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number. A value. Not a type.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64008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7490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pattern:  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are computing a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compile time, C++ gives you direct language features — </a:t>
            </a: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consteval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fold expressions, </a:t>
            </a: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constexpr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Starting with C++11, the language absorbed these patterns — you can write normal arithmetic, loops, and branches that run at compile 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479" y="228600"/>
            <a:ext cx="8151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 Expressions: Compile-Time Reduction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sum — runtime vs compile time: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74904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161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— std::accumulate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749040" cy="14630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 v = {1, 2, 3, 4};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result =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std::accumulate(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v.begin(), v.end(), 0);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 at runtime → result =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749040" cy="2743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161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C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 time — fold expression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749040" cy="14630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template&lt;typename... Args&gt;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sum(Args... a){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(a + ...);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sum(1, 2, 3, 4);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loop — compiler emits 10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expands the pack — zero-cost abstraction: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7680960" cy="7772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410712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sum(1, 2, 3, 4)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 + ...)  →  ((1 + 2) + 3) + 4  →  10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resolved entirely at compile time, emitted as a literal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operation, same result. One runs at runtime, one vanishes into the binary.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Counting dynamic_extent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64008" cy="10058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dynamic_extent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lives in the template parameter pack. We fold over it: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7132320" cy="4572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template&lt;std::size_t... Dims&gt;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size_t rank_dynamic_v = (0 + ... + (Dims == dynamic_extent ? 1 : 0));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64008" cy="22860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Concrete example:  </a:t>
            </a: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dynamic_extent, dynamic_extent, 5&gt;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2697480"/>
            <a:ext cx="7132320" cy="16459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724912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 = {dynamic_extent, dynamic_extent, 5}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Fold expands left to right: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 + (dynamic_extent == dynamic_extent ? 1 : 0)    // → 0 + 1 = 1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(dynamic_extent == dynamic_extent ? 1 : 0)    // → 1 + 1 = 2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(5              == dynamic_extent ? 1 : 0))   // → 2 + 0 = 2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rank_dynamic_v&lt;dynamic_extent, dynamic_extent, 5&gt; =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resolves this to the integer 2. No runtime cost.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ExtentStorage: The Actual Struct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stack-allocated, compile-time-sized container: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1430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template&lt;std::size_t... Dims&gt;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ExtentStorage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constexpr size_t NumDyn = rank_dynamic_v&lt;Dims...&gt;;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[[no_unique_address]] std::array&lt;size_t, NumDyn&gt; dyn{};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338103"/>
            <a:ext cx="7680960" cy="64008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338103"/>
            <a:ext cx="54864" cy="6400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383823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[[no_unique_address]]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tells the compiler: if this member is empty, you may overlap it with other members or padding. It doesn't need its own address.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161063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different ArrayView specializations: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35383"/>
            <a:ext cx="7680960" cy="36576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3435383"/>
            <a:ext cx="54864" cy="3657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3462815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3, 4&gt;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346281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NumDyn=0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3618263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— view is just a pointer. 8 bytes total.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74295"/>
            <a:ext cx="7680960" cy="36576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874295"/>
            <a:ext cx="54864" cy="36576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901727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4&gt;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390172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NumDyn=1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4057175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size_t stored. Pointer + 8 bytes = 16 bytes.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313207"/>
            <a:ext cx="7680960" cy="36576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4313207"/>
            <a:ext cx="54864" cy="3657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4340639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dyn&gt;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49040" y="4340639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NumDyn=2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4496087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size_t values. Pointer + 16 bytes = 24 bytes.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all-static view carries no runtime extent storage — effectively just a pointer.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Mapping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64008" cy="7315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asks: "what is the size of dimension 2?"  For </a:t>
            </a: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ExtentStorage&lt;dynamic_extent, dynamic_extent, 5&gt;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dim 0 is at </a:t>
            </a: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dyn[0]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dim 1 is at </a:t>
            </a: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dyn[1]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dim 2 is the constant </a:t>
            </a: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array access at all.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dynamic dims come before position I?  That's the storage index.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331719"/>
            <a:ext cx="7680960" cy="1453471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template&lt;size_t I, size_t... Dims&gt;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consteval size_t dynamic_slot() {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constexpr size_t pack[] = {Dims...};  // materialize pack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size_t slot = 0;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(size_t k = 0; k &lt; I; ++k)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(pack[k] == dynamic_extent) ++slot;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slot;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8862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64008" cy="7772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931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consteval</a:t>
            </a: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must execute at compile time. Stronger than constexpr. The slot index is baked into the instruction stream.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8862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3886200"/>
            <a:ext cx="64008" cy="7772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3931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b="1" dirty="0">
                <a:solidFill>
                  <a:srgbClr val="0F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loop, not recursion — because the answer is a value (a size_t), not a type. Normal code, running at compile time.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→ array eliminates recursion. When the answer is a value, use a function.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 dynamic_slot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Pack:  </a:t>
            </a: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dynamic_extent, 3, dynamic_extent, 5</a:t>
            </a:r>
            <a:r>
              <a:rPr lang="en-US" sz="12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Call:  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dynamic_slot&lt;2&gt;()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dynamic dims come before position 2?  That's dyn[]'s index."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840480" cy="25603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size_t pack[] =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{dynamic_extent, 3,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dynamic_extent, 5};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slot = 0;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loop: k = 0, 1  (k &lt; I=2)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k=0: pack[0]==dynamic_extent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yes! slot = 1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k=1: pack[1]==dynamic_extent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no (pack[1] is 3). skip.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slot;  // returns 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256032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54864" cy="256032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scans positions </a:t>
            </a: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index 2: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0: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dynamic_extent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22585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count 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1: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560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(static)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7614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skip 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slot =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2's runtime value lives at dyn[1] — not dyn[2], because position 1 was static and didn't use a slot.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static dim at position 1 is skipped. Only dynamic dims consume storage slots.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Dims: No Slot Needed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</a:t>
            </a: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get&lt;1&gt;()</a:t>
            </a: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Dimension 1 is the static </a:t>
            </a: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dynamic_slot is never called.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55448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6002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template&lt;size_t I&gt;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size_t get() const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constexpr auto d = nth_pack_element&lt;I, Dims...&gt;();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constexpr (d != dynamic_extent)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d;                  // static: return the constant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dyn[dynamic_slot&lt;I, Dims...&gt;()];  // dynamic: look up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3657600" cy="123443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3246119"/>
            <a:ext cx="58338" cy="1234437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23407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get&lt;1&gt;()</a:t>
            </a:r>
            <a:r>
              <a:rPr lang="en-US" sz="12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static branch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6872" y="3603550"/>
            <a:ext cx="3474720" cy="83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3 (not dynamic_extent)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constexpr takes first branch, then return 3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array access. No dynamic_slot call.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emits a literal 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24612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3246119"/>
            <a:ext cx="64008" cy="1234439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43430" y="32335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get&lt;2&gt;()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dynamic branch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92288" y="360355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dynamic_extent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constexpr takes else branch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dynamic_slot&lt;2&gt;() = 1</a:t>
            </a:r>
            <a:r>
              <a:rPr lang="en-US" sz="1100" dirty="0"/>
              <a:t>, then 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dyn[1]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array access. Index is a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constant.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constexpr discards one branch entirely — no code generated for the path not taken.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Four Dims Resolved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ExtentStorage&lt;dynamic_extent, 3, dynamic_extent, 5&gt;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runtime values (7, 12):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2161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stored: dyn[] = {7, 12}   // two slots for two dynamic dims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each dimension: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7680960" cy="54864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get&lt;0&gt;()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dynamic_extent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35000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dynamic_slot&lt;0&gt;() = 0 → dyn[0]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7680960" cy="54864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54864" cy="5486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get&lt;1&gt;()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(static)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9008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3 directly — no slot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get&lt;2&gt;()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dynamic_extent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3383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63016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dynamic_slot&lt;2&gt;() = 1 → dyn[1]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3977640"/>
            <a:ext cx="54864" cy="5486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4023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get&lt;3&gt;()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94560" y="4023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(static)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4023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27024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5 directly — no slot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dims are free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compiler emits literal constants. Dynamic dims cost one array lookup with a compile-time index.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Construction Requires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parameters determine what the constructor needs from you.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64008" cy="9144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static — ArrayView&lt;double, 3, 4&gt;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3657600" cy="4572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810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matrix[3][4];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v(matrix);  // just a pointer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knows everything.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extents needed.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= 8 bytes (one pointer).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64008" cy="9144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— ArrayView&lt;double, dynamic_extent, 4&gt;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926080"/>
            <a:ext cx="4389120" cy="4572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2953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 buf = allocate(rows * 4);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dynamic_extent, 4&gt; v(buf, rows);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26517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supply one runtime extent.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is free — it's in the type.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= 16 bytes (ptr + 1 size_t).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64008" cy="914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794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dynamic — ArrayView&lt;double, dynamic_extent, dynamic_extent&gt;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4069080"/>
            <a:ext cx="5303520" cy="4572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4096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 buf = allocate(rows * cols);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dynamic_extent, dynamic_extent&gt; v(buf, rows, cols);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supply all extents.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free.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= 24 bytes (ptr + 2 size_t).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static dims → less you supply → smaller object → faster code.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E7793154-EB82-3878-1BA3-63B787CB41EC}"/>
              </a:ext>
            </a:extLst>
          </p:cNvPr>
          <p:cNvSpPr/>
          <p:nvPr/>
        </p:nvSpPr>
        <p:spPr>
          <a:xfrm>
            <a:off x="73152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6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B43AA39-D4FD-8345-2187-0BD4B4161A85}"/>
              </a:ext>
            </a:extLst>
          </p:cNvPr>
          <p:cNvSpPr/>
          <p:nvPr/>
        </p:nvSpPr>
        <p:spPr>
          <a:xfrm>
            <a:off x="68580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1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DE10563-B56C-8CB2-1D5D-786AB0397A2F}"/>
              </a:ext>
            </a:extLst>
          </p:cNvPr>
          <p:cNvSpPr/>
          <p:nvPr/>
        </p:nvSpPr>
        <p:spPr>
          <a:xfrm>
            <a:off x="312948" y="700659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machinery — now you can read it</a:t>
            </a:r>
            <a:endParaRPr lang="en-US" sz="10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6F39118-30E9-F86C-D49E-00C508ABCB18}"/>
              </a:ext>
            </a:extLst>
          </p:cNvPr>
          <p:cNvSpPr/>
          <p:nvPr/>
        </p:nvSpPr>
        <p:spPr>
          <a:xfrm>
            <a:off x="206622" y="947547"/>
            <a:ext cx="3167438" cy="42291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b="1" dirty="0">
                <a:solidFill>
                  <a:srgbClr val="FFD700"/>
                </a:solidFill>
              </a:rPr>
              <a:t>// sentinel value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inline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 =  </a:t>
            </a:r>
            <a:r>
              <a:rPr lang="en-US" sz="700" dirty="0" err="1">
                <a:solidFill>
                  <a:schemeClr val="bg1"/>
                </a:solidFill>
              </a:rPr>
              <a:t>static_cast</a:t>
            </a:r>
            <a:r>
              <a:rPr lang="en-US" sz="700" dirty="0">
                <a:solidFill>
                  <a:schemeClr val="bg1"/>
                </a:solidFill>
              </a:rPr>
              <a:t>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&gt;(-1);</a:t>
            </a:r>
            <a:r>
              <a:rPr lang="en-US" sz="700" b="1" dirty="0">
                <a:solidFill>
                  <a:srgbClr val="FFD700"/>
                </a:solidFill>
              </a:rPr>
              <a:t>   </a:t>
            </a:r>
            <a:endParaRPr sz="700" b="1" dirty="0">
              <a:solidFill>
                <a:srgbClr val="FFD700"/>
              </a:solidFill>
            </a:endParaRP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namespace detail </a:t>
            </a: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b="1" dirty="0">
                <a:solidFill>
                  <a:srgbClr val="FFD700"/>
                </a:solidFill>
              </a:rPr>
              <a:t>// fold: all compile-time?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inline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bool </a:t>
            </a:r>
            <a:r>
              <a:rPr lang="en-US" sz="700" dirty="0" err="1">
                <a:solidFill>
                  <a:schemeClr val="bg1"/>
                </a:solidFill>
              </a:rPr>
              <a:t>all_static_v</a:t>
            </a:r>
            <a:r>
              <a:rPr lang="en-US" sz="700" dirty="0">
                <a:solidFill>
                  <a:schemeClr val="bg1"/>
                </a:solidFill>
              </a:rPr>
              <a:t> = ((Dims !=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) &amp;&amp; ...);</a:t>
            </a:r>
            <a:r>
              <a:rPr sz="700" b="1" dirty="0">
                <a:solidFill>
                  <a:srgbClr val="FFD700"/>
                </a:solidFill>
              </a:rPr>
              <a:t>   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b="1" dirty="0">
                <a:solidFill>
                  <a:srgbClr val="FFD700"/>
                </a:solidFill>
              </a:rPr>
              <a:t>// fold: count runtime dims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inline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rank_dynamic_v</a:t>
            </a:r>
            <a:r>
              <a:rPr lang="en-US" sz="700" dirty="0">
                <a:solidFill>
                  <a:schemeClr val="bg1"/>
                </a:solidFill>
              </a:rPr>
              <a:t> =</a:t>
            </a:r>
            <a:r>
              <a:rPr sz="700" b="1" dirty="0">
                <a:solidFill>
                  <a:srgbClr val="FFD700"/>
                </a:solidFill>
              </a:rPr>
              <a:t> </a:t>
            </a:r>
            <a:r>
              <a:rPr lang="en-US" sz="700" dirty="0">
                <a:solidFill>
                  <a:schemeClr val="bg1"/>
                </a:solidFill>
              </a:rPr>
              <a:t>(std::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{0} + ... + (Dims ==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 ?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{1}  :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{0}));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b="1" dirty="0">
                <a:solidFill>
                  <a:srgbClr val="FFD700"/>
                </a:solidFill>
              </a:rPr>
              <a:t>// recursive peel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I,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First,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Rest&gt;</a:t>
            </a:r>
          </a:p>
          <a:p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nth_pack_element</a:t>
            </a:r>
            <a:r>
              <a:rPr lang="en-US" sz="700" dirty="0">
                <a:solidFill>
                  <a:schemeClr val="bg1"/>
                </a:solidFill>
              </a:rPr>
              <a:t>()</a:t>
            </a:r>
            <a:r>
              <a:rPr sz="700" b="1" dirty="0">
                <a:solidFill>
                  <a:srgbClr val="FFD700"/>
                </a:solidFill>
              </a:rPr>
              <a:t> </a:t>
            </a:r>
            <a:endParaRPr lang="en-US" sz="700" b="1" dirty="0">
              <a:solidFill>
                <a:srgbClr val="FFD700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if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(I == 0) return First;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else return </a:t>
            </a:r>
            <a:r>
              <a:rPr lang="en-US" sz="700" dirty="0" err="1">
                <a:solidFill>
                  <a:schemeClr val="bg1"/>
                </a:solidFill>
              </a:rPr>
              <a:t>nth_pack_element</a:t>
            </a:r>
            <a:r>
              <a:rPr lang="en-US" sz="700" dirty="0">
                <a:solidFill>
                  <a:schemeClr val="bg1"/>
                </a:solidFill>
              </a:rPr>
              <a:t>&lt;I - 1, Rest...&gt;();</a:t>
            </a:r>
          </a:p>
          <a:p>
            <a:r>
              <a:rPr lang="en-US" sz="700" dirty="0">
                <a:solidFill>
                  <a:schemeClr val="bg1"/>
                </a:solidFill>
              </a:rPr>
              <a:t>}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b="1" dirty="0">
                <a:solidFill>
                  <a:srgbClr val="FFD700"/>
                </a:solidFill>
              </a:rPr>
              <a:t>// </a:t>
            </a:r>
            <a:r>
              <a:rPr lang="en-US" sz="700" b="1" dirty="0" err="1">
                <a:solidFill>
                  <a:srgbClr val="FFD700"/>
                </a:solidFill>
              </a:rPr>
              <a:t>consteval</a:t>
            </a:r>
            <a:r>
              <a:rPr lang="en-US" sz="700" b="1" dirty="0">
                <a:solidFill>
                  <a:srgbClr val="FFD700"/>
                </a:solidFill>
              </a:rPr>
              <a:t>: compile-time only</a:t>
            </a:r>
          </a:p>
          <a:p>
            <a:r>
              <a:rPr lang="en-US" sz="700" b="1" dirty="0">
                <a:solidFill>
                  <a:srgbClr val="FFD700"/>
                </a:solidFill>
              </a:rPr>
              <a:t>// maps template pos → </a:t>
            </a:r>
            <a:r>
              <a:rPr lang="en-US" sz="700" b="1" dirty="0" err="1">
                <a:solidFill>
                  <a:srgbClr val="FFD700"/>
                </a:solidFill>
              </a:rPr>
              <a:t>dyn</a:t>
            </a:r>
            <a:r>
              <a:rPr lang="en-US" sz="700" b="1" dirty="0">
                <a:solidFill>
                  <a:srgbClr val="FFD700"/>
                </a:solidFill>
              </a:rPr>
              <a:t>[] index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I,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 err="1">
                <a:solidFill>
                  <a:schemeClr val="bg1"/>
                </a:solidFill>
              </a:rPr>
              <a:t>consteval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dynamic_slot</a:t>
            </a:r>
            <a:r>
              <a:rPr lang="en-US" sz="700" dirty="0">
                <a:solidFill>
                  <a:schemeClr val="bg1"/>
                </a:solidFill>
              </a:rPr>
              <a:t>()</a:t>
            </a:r>
            <a:r>
              <a:rPr sz="700" b="1" dirty="0">
                <a:solidFill>
                  <a:srgbClr val="FFD700"/>
                </a:solidFill>
              </a:rPr>
              <a:t> </a:t>
            </a:r>
            <a:endParaRPr lang="en-US" sz="700" b="1" dirty="0">
              <a:solidFill>
                <a:srgbClr val="FFD700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pack[] = {Dims...};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slot = 0;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for (std::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k = 0; k &lt; I; ++k)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if (pack[k] ==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) ++slot;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return slot;</a:t>
            </a:r>
          </a:p>
          <a:p>
            <a:r>
              <a:rPr lang="en-US" sz="700" dirty="0">
                <a:solidFill>
                  <a:schemeClr val="bg1"/>
                </a:solidFill>
              </a:rPr>
              <a:t>}</a:t>
            </a:r>
          </a:p>
          <a:p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F03481D-2BAE-8745-8641-F2A4D6FE5870}"/>
              </a:ext>
            </a:extLst>
          </p:cNvPr>
          <p:cNvSpPr/>
          <p:nvPr/>
        </p:nvSpPr>
        <p:spPr>
          <a:xfrm>
            <a:off x="868680" y="914400"/>
            <a:ext cx="2228939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798DF35-0839-39DE-9B46-4DB9468AA40C}"/>
              </a:ext>
            </a:extLst>
          </p:cNvPr>
          <p:cNvSpPr/>
          <p:nvPr/>
        </p:nvSpPr>
        <p:spPr>
          <a:xfrm>
            <a:off x="4846320" y="640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B9E02BEC-57CD-A150-ED4A-715549ACD2F2}"/>
              </a:ext>
            </a:extLst>
          </p:cNvPr>
          <p:cNvSpPr/>
          <p:nvPr/>
        </p:nvSpPr>
        <p:spPr>
          <a:xfrm>
            <a:off x="6266116" y="947547"/>
            <a:ext cx="285555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dirty="0">
                <a:solidFill>
                  <a:schemeClr val="bg1"/>
                </a:solidFill>
              </a:rPr>
              <a:t>    </a:t>
            </a:r>
          </a:p>
          <a:p>
            <a:r>
              <a:rPr lang="en-US" sz="700" dirty="0">
                <a:solidFill>
                  <a:schemeClr val="bg1"/>
                </a:solidFill>
              </a:rPr>
              <a:t>template&lt;</a:t>
            </a:r>
            <a:r>
              <a:rPr lang="en-US" sz="700" dirty="0" err="1">
                <a:solidFill>
                  <a:schemeClr val="bg1"/>
                </a:solidFill>
              </a:rPr>
              <a:t>typename</a:t>
            </a:r>
            <a:r>
              <a:rPr lang="en-US" sz="700" dirty="0">
                <a:solidFill>
                  <a:schemeClr val="bg1"/>
                </a:solidFill>
              </a:rPr>
              <a:t> T,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class </a:t>
            </a:r>
            <a:r>
              <a:rPr lang="en-US" sz="700" dirty="0" err="1">
                <a:solidFill>
                  <a:schemeClr val="bg1"/>
                </a:solidFill>
              </a:rPr>
              <a:t>ArrayView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static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bool </a:t>
            </a:r>
            <a:r>
              <a:rPr lang="en-US" sz="700" dirty="0" err="1">
                <a:solidFill>
                  <a:schemeClr val="bg1"/>
                </a:solidFill>
              </a:rPr>
              <a:t>all_static</a:t>
            </a:r>
            <a:r>
              <a:rPr lang="en-US" sz="700" dirty="0">
                <a:solidFill>
                  <a:schemeClr val="bg1"/>
                </a:solidFill>
              </a:rPr>
              <a:t> = detail::</a:t>
            </a:r>
            <a:r>
              <a:rPr lang="en-US" sz="700" dirty="0" err="1">
                <a:solidFill>
                  <a:schemeClr val="bg1"/>
                </a:solidFill>
              </a:rPr>
              <a:t>all_static_v</a:t>
            </a:r>
            <a:r>
              <a:rPr lang="en-US" sz="700" dirty="0">
                <a:solidFill>
                  <a:schemeClr val="bg1"/>
                </a:solidFill>
              </a:rPr>
              <a:t>&lt;Dims...&gt;;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public: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using </a:t>
            </a:r>
            <a:r>
              <a:rPr lang="en-US" sz="700" dirty="0" err="1">
                <a:solidFill>
                  <a:schemeClr val="bg1"/>
                </a:solidFill>
              </a:rPr>
              <a:t>size_type</a:t>
            </a:r>
            <a:r>
              <a:rPr lang="en-US" sz="700" dirty="0">
                <a:solidFill>
                  <a:schemeClr val="bg1"/>
                </a:solidFill>
              </a:rPr>
              <a:t> =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private: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static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size_type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kRank</a:t>
            </a:r>
            <a:r>
              <a:rPr lang="en-US" sz="700" dirty="0">
                <a:solidFill>
                  <a:schemeClr val="bg1"/>
                </a:solidFill>
              </a:rPr>
              <a:t>    = </a:t>
            </a:r>
            <a:r>
              <a:rPr lang="en-US" sz="700" dirty="0" err="1">
                <a:solidFill>
                  <a:schemeClr val="bg1"/>
                </a:solidFill>
              </a:rPr>
              <a:t>sizeof</a:t>
            </a:r>
            <a:r>
              <a:rPr lang="en-US" sz="700" dirty="0">
                <a:solidFill>
                  <a:schemeClr val="bg1"/>
                </a:solidFill>
              </a:rPr>
              <a:t>...(Dims);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static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size_type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kRankDynamic</a:t>
            </a:r>
            <a:r>
              <a:rPr lang="en-US" sz="700" dirty="0">
                <a:solidFill>
                  <a:schemeClr val="bg1"/>
                </a:solidFill>
              </a:rPr>
              <a:t> =    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                                                       detail::</a:t>
            </a:r>
            <a:r>
              <a:rPr lang="en-US" sz="700" dirty="0" err="1">
                <a:solidFill>
                  <a:schemeClr val="bg1"/>
                </a:solidFill>
              </a:rPr>
              <a:t>rank_dynamic_v</a:t>
            </a:r>
            <a:r>
              <a:rPr lang="en-US" sz="700" dirty="0">
                <a:solidFill>
                  <a:schemeClr val="bg1"/>
                </a:solidFill>
              </a:rPr>
              <a:t>&lt;Dims...&gt;;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T* </a:t>
            </a:r>
            <a:r>
              <a:rPr lang="en-US" sz="700" dirty="0" err="1">
                <a:solidFill>
                  <a:schemeClr val="bg1"/>
                </a:solidFill>
              </a:rPr>
              <a:t>mData</a:t>
            </a:r>
            <a:r>
              <a:rPr lang="en-US" sz="700" dirty="0">
                <a:solidFill>
                  <a:schemeClr val="bg1"/>
                </a:solidFill>
              </a:rPr>
              <a:t>;</a:t>
            </a:r>
          </a:p>
          <a:p>
            <a:r>
              <a:rPr lang="en-US" sz="700" b="1" dirty="0">
                <a:solidFill>
                  <a:srgbClr val="FFD700"/>
                </a:solidFill>
              </a:rPr>
              <a:t>    // [[</a:t>
            </a:r>
            <a:r>
              <a:rPr lang="en-US" sz="700" b="1" dirty="0" err="1">
                <a:solidFill>
                  <a:srgbClr val="FFD700"/>
                </a:solidFill>
              </a:rPr>
              <a:t>no_unique_address</a:t>
            </a:r>
            <a:r>
              <a:rPr lang="en-US" sz="700" b="1" dirty="0">
                <a:solidFill>
                  <a:srgbClr val="FFD700"/>
                </a:solidFill>
              </a:rPr>
              <a:t>]]: zero cost when all-static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ULIB_NO_UNIQUE_ADDRESS detail::</a:t>
            </a:r>
            <a:r>
              <a:rPr lang="en-US" sz="700" dirty="0" err="1">
                <a:solidFill>
                  <a:schemeClr val="bg1"/>
                </a:solidFill>
              </a:rPr>
              <a:t>ExtentStorage</a:t>
            </a:r>
            <a:r>
              <a:rPr lang="en-US" sz="700" dirty="0">
                <a:solidFill>
                  <a:schemeClr val="bg1"/>
                </a:solidFill>
              </a:rPr>
              <a:t>&lt;Dims...&gt; </a:t>
            </a:r>
            <a:r>
              <a:rPr lang="en-US" sz="700" dirty="0" err="1">
                <a:solidFill>
                  <a:schemeClr val="bg1"/>
                </a:solidFill>
              </a:rPr>
              <a:t>mExtents</a:t>
            </a:r>
            <a:r>
              <a:rPr lang="en-US" sz="700" dirty="0">
                <a:solidFill>
                  <a:schemeClr val="bg1"/>
                </a:solidFill>
              </a:rPr>
              <a:t>;</a:t>
            </a:r>
            <a:r>
              <a:rPr sz="700" b="1" dirty="0">
                <a:solidFill>
                  <a:srgbClr val="FFD700"/>
                </a:solidFill>
              </a:rPr>
              <a:t>  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public: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</a:t>
            </a:r>
            <a:r>
              <a:rPr lang="en-US" sz="700" b="1" dirty="0">
                <a:solidFill>
                  <a:srgbClr val="FFD700"/>
                </a:solidFill>
              </a:rPr>
              <a:t>// all-static: nothing stored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template&lt;</a:t>
            </a:r>
            <a:r>
              <a:rPr lang="en-US" sz="700" dirty="0" err="1">
                <a:solidFill>
                  <a:schemeClr val="bg1"/>
                </a:solidFill>
              </a:rPr>
              <a:t>typename</a:t>
            </a:r>
            <a:r>
              <a:rPr lang="en-US" sz="700" dirty="0">
                <a:solidFill>
                  <a:schemeClr val="bg1"/>
                </a:solidFill>
              </a:rPr>
              <a:t> Array&gt;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ArrayView</a:t>
            </a:r>
            <a:r>
              <a:rPr lang="en-US" sz="700" dirty="0">
                <a:solidFill>
                  <a:schemeClr val="bg1"/>
                </a:solidFill>
              </a:rPr>
              <a:t>(Array&amp; </a:t>
            </a:r>
            <a:r>
              <a:rPr lang="en-US" sz="700" dirty="0" err="1">
                <a:solidFill>
                  <a:schemeClr val="bg1"/>
                </a:solidFill>
              </a:rPr>
              <a:t>arr</a:t>
            </a:r>
            <a:r>
              <a:rPr lang="en-US" sz="700" dirty="0">
                <a:solidFill>
                  <a:schemeClr val="bg1"/>
                </a:solidFill>
              </a:rPr>
              <a:t>) </a:t>
            </a:r>
            <a:r>
              <a:rPr lang="en-US" sz="700" dirty="0" err="1">
                <a:solidFill>
                  <a:schemeClr val="bg1"/>
                </a:solidFill>
              </a:rPr>
              <a:t>noexcept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    : </a:t>
            </a:r>
            <a:r>
              <a:rPr lang="en-US" sz="700" dirty="0" err="1">
                <a:solidFill>
                  <a:schemeClr val="bg1"/>
                </a:solidFill>
              </a:rPr>
              <a:t>mData</a:t>
            </a:r>
            <a:r>
              <a:rPr lang="en-US" sz="700" dirty="0">
                <a:solidFill>
                  <a:schemeClr val="bg1"/>
                </a:solidFill>
              </a:rPr>
              <a:t>{detail::</a:t>
            </a:r>
            <a:r>
              <a:rPr lang="en-US" sz="700" dirty="0" err="1">
                <a:solidFill>
                  <a:schemeClr val="bg1"/>
                </a:solidFill>
              </a:rPr>
              <a:t>flatPtr</a:t>
            </a:r>
            <a:r>
              <a:rPr lang="en-US" sz="700" dirty="0">
                <a:solidFill>
                  <a:schemeClr val="bg1"/>
                </a:solidFill>
              </a:rPr>
              <a:t>(</a:t>
            </a:r>
            <a:r>
              <a:rPr lang="en-US" sz="700" dirty="0" err="1">
                <a:solidFill>
                  <a:schemeClr val="bg1"/>
                </a:solidFill>
              </a:rPr>
              <a:t>arr</a:t>
            </a:r>
            <a:r>
              <a:rPr lang="en-US" sz="700" dirty="0">
                <a:solidFill>
                  <a:schemeClr val="bg1"/>
                </a:solidFill>
              </a:rPr>
              <a:t>)}, </a:t>
            </a:r>
            <a:r>
              <a:rPr lang="en-US" sz="700" dirty="0" err="1">
                <a:solidFill>
                  <a:schemeClr val="bg1"/>
                </a:solidFill>
              </a:rPr>
              <a:t>mExtents</a:t>
            </a:r>
            <a:r>
              <a:rPr lang="en-US" sz="700" dirty="0">
                <a:solidFill>
                  <a:schemeClr val="bg1"/>
                </a:solidFill>
              </a:rPr>
              <a:t>{}</a:t>
            </a:r>
            <a:r>
              <a:rPr sz="700" b="1" dirty="0">
                <a:solidFill>
                  <a:srgbClr val="FFD700"/>
                </a:solidFill>
              </a:rPr>
              <a:t> </a:t>
            </a:r>
            <a:r>
              <a:rPr lang="en-US" sz="700" dirty="0">
                <a:solidFill>
                  <a:schemeClr val="bg1"/>
                </a:solidFill>
              </a:rPr>
              <a:t>{}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b="1" dirty="0">
                <a:solidFill>
                  <a:srgbClr val="FFD700"/>
                </a:solidFill>
              </a:rPr>
              <a:t>    // dynamic: validate + pack into </a:t>
            </a:r>
            <a:r>
              <a:rPr lang="en-US" sz="700" b="1" dirty="0" err="1">
                <a:solidFill>
                  <a:srgbClr val="FFD700"/>
                </a:solidFill>
              </a:rPr>
              <a:t>dyn</a:t>
            </a:r>
            <a:r>
              <a:rPr lang="en-US" sz="700" b="1" dirty="0">
                <a:solidFill>
                  <a:srgbClr val="FFD700"/>
                </a:solidFill>
              </a:rPr>
              <a:t>[]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template&lt;std::integral... Extents&gt;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explicit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ArrayView</a:t>
            </a:r>
            <a:r>
              <a:rPr lang="en-US" sz="700" dirty="0">
                <a:solidFill>
                  <a:schemeClr val="bg1"/>
                </a:solidFill>
              </a:rPr>
              <a:t>(T* </a:t>
            </a:r>
            <a:r>
              <a:rPr lang="en-US" sz="700" dirty="0" err="1">
                <a:solidFill>
                  <a:schemeClr val="bg1"/>
                </a:solidFill>
              </a:rPr>
              <a:t>ptr</a:t>
            </a:r>
            <a:r>
              <a:rPr lang="en-US" sz="700" dirty="0">
                <a:solidFill>
                  <a:schemeClr val="bg1"/>
                </a:solidFill>
              </a:rPr>
              <a:t>, Extents... extents)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: </a:t>
            </a:r>
            <a:r>
              <a:rPr lang="en-US" sz="700" dirty="0" err="1">
                <a:solidFill>
                  <a:schemeClr val="bg1"/>
                </a:solidFill>
              </a:rPr>
              <a:t>mData</a:t>
            </a:r>
            <a:r>
              <a:rPr lang="en-US" sz="700" dirty="0">
                <a:solidFill>
                  <a:schemeClr val="bg1"/>
                </a:solidFill>
              </a:rPr>
              <a:t>{</a:t>
            </a:r>
            <a:r>
              <a:rPr lang="en-US" sz="700" dirty="0" err="1">
                <a:solidFill>
                  <a:schemeClr val="bg1"/>
                </a:solidFill>
              </a:rPr>
              <a:t>ptr</a:t>
            </a:r>
            <a:r>
              <a:rPr lang="en-US" sz="700" dirty="0">
                <a:solidFill>
                  <a:schemeClr val="bg1"/>
                </a:solidFill>
              </a:rPr>
              <a:t>}, </a:t>
            </a:r>
            <a:r>
              <a:rPr lang="en-US" sz="700" dirty="0" err="1">
                <a:solidFill>
                  <a:schemeClr val="bg1"/>
                </a:solidFill>
              </a:rPr>
              <a:t>mExtents</a:t>
            </a:r>
            <a:r>
              <a:rPr lang="en-US" sz="700" dirty="0">
                <a:solidFill>
                  <a:schemeClr val="bg1"/>
                </a:solidFill>
              </a:rPr>
              <a:t>{detail::</a:t>
            </a:r>
            <a:r>
              <a:rPr lang="en-US" sz="700" dirty="0" err="1">
                <a:solidFill>
                  <a:schemeClr val="bg1"/>
                </a:solidFill>
              </a:rPr>
              <a:t>checkedExtent</a:t>
            </a:r>
            <a:r>
              <a:rPr lang="en-US" sz="700" dirty="0">
                <a:solidFill>
                  <a:schemeClr val="bg1"/>
                </a:solidFill>
              </a:rPr>
              <a:t>(extents)...}</a:t>
            </a:r>
            <a:endParaRPr sz="700" b="1" dirty="0">
              <a:solidFill>
                <a:srgbClr val="FFD700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{}</a:t>
            </a:r>
          </a:p>
          <a:p>
            <a:r>
              <a:rPr lang="en-US" sz="700" dirty="0">
                <a:solidFill>
                  <a:schemeClr val="bg1"/>
                </a:solidFill>
              </a:rPr>
              <a:t>};</a:t>
            </a:r>
            <a:endParaRPr lang="en-US" sz="7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D014FA8-B50A-6D49-9AE7-C85B6504BB30}"/>
              </a:ext>
            </a:extLst>
          </p:cNvPr>
          <p:cNvSpPr/>
          <p:nvPr/>
        </p:nvSpPr>
        <p:spPr>
          <a:xfrm>
            <a:off x="3374060" y="947547"/>
            <a:ext cx="2764468" cy="416280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... Dims&gt;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struct </a:t>
            </a:r>
            <a:r>
              <a:rPr lang="en-US" sz="700" dirty="0" err="1">
                <a:solidFill>
                  <a:schemeClr val="bg1"/>
                </a:solidFill>
              </a:rPr>
              <a:t>ExtentStorage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static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NumDyn</a:t>
            </a:r>
            <a:r>
              <a:rPr lang="en-US" sz="700" dirty="0">
                <a:solidFill>
                  <a:schemeClr val="bg1"/>
                </a:solidFill>
              </a:rPr>
              <a:t> = </a:t>
            </a:r>
            <a:r>
              <a:rPr lang="en-US" sz="700" dirty="0" err="1">
                <a:solidFill>
                  <a:schemeClr val="bg1"/>
                </a:solidFill>
              </a:rPr>
              <a:t>rank_dynamic_v</a:t>
            </a:r>
            <a:r>
              <a:rPr lang="en-US" sz="700" dirty="0">
                <a:solidFill>
                  <a:schemeClr val="bg1"/>
                </a:solidFill>
              </a:rPr>
              <a:t>&lt;Dims...&gt;;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b="1" dirty="0">
                <a:solidFill>
                  <a:srgbClr val="FFD700"/>
                </a:solidFill>
              </a:rPr>
              <a:t>   // all-static: array&lt;size_t,0&gt; — zero bytes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ULIB_NO_UNIQUE_ADDRESS std::array&lt;std::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, </a:t>
            </a:r>
            <a:r>
              <a:rPr lang="en-US" sz="700" dirty="0" err="1">
                <a:solidFill>
                  <a:schemeClr val="bg1"/>
                </a:solidFill>
              </a:rPr>
              <a:t>NumDyn</a:t>
            </a:r>
            <a:r>
              <a:rPr lang="en-US" sz="700" dirty="0">
                <a:solidFill>
                  <a:schemeClr val="bg1"/>
                </a:solidFill>
              </a:rPr>
              <a:t>&gt; </a:t>
            </a:r>
            <a:r>
              <a:rPr lang="en-US" sz="700" dirty="0" err="1">
                <a:solidFill>
                  <a:schemeClr val="bg1"/>
                </a:solidFill>
              </a:rPr>
              <a:t>dyn</a:t>
            </a:r>
            <a:r>
              <a:rPr lang="en-US" sz="700" dirty="0">
                <a:solidFill>
                  <a:schemeClr val="bg1"/>
                </a:solidFill>
              </a:rPr>
              <a:t>{};</a:t>
            </a:r>
            <a:r>
              <a:rPr sz="700" b="1" dirty="0">
                <a:solidFill>
                  <a:srgbClr val="FFD700"/>
                </a:solidFill>
              </a:rPr>
              <a:t>  </a:t>
            </a:r>
            <a:endParaRPr lang="en-US" sz="700" b="1" dirty="0">
              <a:solidFill>
                <a:srgbClr val="FFD700"/>
              </a:solidFill>
            </a:endParaRP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</a:t>
            </a:r>
            <a:r>
              <a:rPr lang="en-US" sz="700" dirty="0" err="1">
                <a:solidFill>
                  <a:schemeClr val="bg1"/>
                </a:solidFill>
              </a:rPr>
              <a:t>ExtentStorage</a:t>
            </a:r>
            <a:r>
              <a:rPr lang="en-US" sz="700" dirty="0">
                <a:solidFill>
                  <a:schemeClr val="bg1"/>
                </a:solidFill>
              </a:rPr>
              <a:t>() = default;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template&lt;std::integral... Es&gt;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explicit </a:t>
            </a:r>
            <a:r>
              <a:rPr lang="en-US" sz="700" dirty="0" err="1">
                <a:solidFill>
                  <a:schemeClr val="bg1"/>
                </a:solidFill>
              </a:rPr>
              <a:t>ExtentStorage</a:t>
            </a:r>
            <a:r>
              <a:rPr lang="en-US" sz="700" dirty="0">
                <a:solidFill>
                  <a:schemeClr val="bg1"/>
                </a:solidFill>
              </a:rPr>
              <a:t>(Es... es)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: </a:t>
            </a:r>
            <a:r>
              <a:rPr lang="en-US" sz="700" dirty="0" err="1">
                <a:solidFill>
                  <a:schemeClr val="bg1"/>
                </a:solidFill>
              </a:rPr>
              <a:t>dyn</a:t>
            </a:r>
            <a:r>
              <a:rPr lang="en-US" sz="700" dirty="0">
                <a:solidFill>
                  <a:schemeClr val="bg1"/>
                </a:solidFill>
              </a:rPr>
              <a:t>{</a:t>
            </a:r>
            <a:r>
              <a:rPr lang="en-US" sz="700" dirty="0" err="1">
                <a:solidFill>
                  <a:schemeClr val="bg1"/>
                </a:solidFill>
              </a:rPr>
              <a:t>static_cast</a:t>
            </a:r>
            <a:r>
              <a:rPr lang="en-US" sz="700" dirty="0">
                <a:solidFill>
                  <a:schemeClr val="bg1"/>
                </a:solidFill>
              </a:rPr>
              <a:t>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&gt;(es)...}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}</a:t>
            </a:r>
          </a:p>
          <a:p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template&lt;std::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I&gt;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std::</a:t>
            </a:r>
            <a:r>
              <a:rPr lang="en-US" sz="700" dirty="0" err="1">
                <a:solidFill>
                  <a:schemeClr val="bg1"/>
                </a:solidFill>
              </a:rPr>
              <a:t>size_t</a:t>
            </a:r>
            <a:r>
              <a:rPr lang="en-US" sz="700" dirty="0">
                <a:solidFill>
                  <a:schemeClr val="bg1"/>
                </a:solidFill>
              </a:rPr>
              <a:t> get() const </a:t>
            </a:r>
            <a:r>
              <a:rPr lang="en-US" sz="700" dirty="0" err="1">
                <a:solidFill>
                  <a:schemeClr val="bg1"/>
                </a:solidFill>
              </a:rPr>
              <a:t>noexcept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auto d = </a:t>
            </a:r>
            <a:r>
              <a:rPr lang="en-US" sz="700" dirty="0" err="1">
                <a:solidFill>
                  <a:schemeClr val="bg1"/>
                </a:solidFill>
              </a:rPr>
              <a:t>nth_pack_element</a:t>
            </a:r>
            <a:r>
              <a:rPr lang="en-US" sz="700" dirty="0">
                <a:solidFill>
                  <a:schemeClr val="bg1"/>
                </a:solidFill>
              </a:rPr>
              <a:t>&lt;I, Dims...&gt;();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if </a:t>
            </a:r>
            <a:r>
              <a:rPr lang="en-US" sz="700" dirty="0" err="1">
                <a:solidFill>
                  <a:schemeClr val="bg1"/>
                </a:solidFill>
              </a:rPr>
              <a:t>constexpr</a:t>
            </a:r>
            <a:r>
              <a:rPr lang="en-US" sz="700" dirty="0">
                <a:solidFill>
                  <a:schemeClr val="bg1"/>
                </a:solidFill>
              </a:rPr>
              <a:t> (d != </a:t>
            </a:r>
            <a:r>
              <a:rPr lang="en-US" sz="700" dirty="0" err="1">
                <a:solidFill>
                  <a:schemeClr val="bg1"/>
                </a:solidFill>
              </a:rPr>
              <a:t>dynamic_extent</a:t>
            </a:r>
            <a:r>
              <a:rPr lang="en-US" sz="700" dirty="0">
                <a:solidFill>
                  <a:schemeClr val="bg1"/>
                </a:solidFill>
              </a:rPr>
              <a:t>)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    </a:t>
            </a:r>
            <a:r>
              <a:rPr lang="en-US" sz="700" b="1" dirty="0">
                <a:solidFill>
                  <a:srgbClr val="FFD700"/>
                </a:solidFill>
              </a:rPr>
              <a:t>// static: baked into binary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        return d; 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else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{</a:t>
            </a:r>
          </a:p>
          <a:p>
            <a:r>
              <a:rPr lang="en-US" sz="700" dirty="0">
                <a:solidFill>
                  <a:schemeClr val="bg1"/>
                </a:solidFill>
              </a:rPr>
              <a:t>            </a:t>
            </a:r>
            <a:r>
              <a:rPr lang="en-US" sz="700" b="1" dirty="0">
                <a:solidFill>
                  <a:srgbClr val="FFD700"/>
                </a:solidFill>
              </a:rPr>
              <a:t>// dynamic: packed slot lookup</a:t>
            </a:r>
            <a:endParaRPr lang="en-US" sz="700" dirty="0">
              <a:solidFill>
                <a:schemeClr val="bg1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         return </a:t>
            </a:r>
            <a:r>
              <a:rPr lang="en-US" sz="700" dirty="0" err="1">
                <a:solidFill>
                  <a:schemeClr val="bg1"/>
                </a:solidFill>
              </a:rPr>
              <a:t>dyn</a:t>
            </a:r>
            <a:r>
              <a:rPr lang="en-US" sz="700" dirty="0">
                <a:solidFill>
                  <a:schemeClr val="bg1"/>
                </a:solidFill>
              </a:rPr>
              <a:t>[</a:t>
            </a:r>
            <a:r>
              <a:rPr lang="en-US" sz="700" dirty="0" err="1">
                <a:solidFill>
                  <a:schemeClr val="bg1"/>
                </a:solidFill>
              </a:rPr>
              <a:t>dynamic_slot</a:t>
            </a:r>
            <a:r>
              <a:rPr lang="en-US" sz="700" dirty="0">
                <a:solidFill>
                  <a:schemeClr val="bg1"/>
                </a:solidFill>
              </a:rPr>
              <a:t>&lt;I, Dims...&gt;()];   </a:t>
            </a:r>
            <a:r>
              <a:rPr sz="700" b="1" dirty="0">
                <a:solidFill>
                  <a:srgbClr val="FFD700"/>
                </a:solidFill>
              </a:rPr>
              <a:t> </a:t>
            </a:r>
            <a:endParaRPr lang="en-US" sz="700" b="1" dirty="0">
              <a:solidFill>
                <a:srgbClr val="FFD700"/>
              </a:solidFill>
            </a:endParaRPr>
          </a:p>
          <a:p>
            <a:r>
              <a:rPr lang="en-US" sz="700" b="1" dirty="0">
                <a:solidFill>
                  <a:srgbClr val="FFD700"/>
                </a:solidFill>
              </a:rPr>
              <a:t>      </a:t>
            </a:r>
            <a:r>
              <a:rPr lang="en-US" sz="700" b="1" dirty="0">
                <a:solidFill>
                  <a:schemeClr val="bg2"/>
                </a:solidFill>
              </a:rPr>
              <a:t> }</a:t>
            </a:r>
            <a:endParaRPr sz="700" b="1" dirty="0">
              <a:solidFill>
                <a:schemeClr val="bg2"/>
              </a:solidFill>
            </a:endParaRPr>
          </a:p>
          <a:p>
            <a:r>
              <a:rPr lang="en-US" sz="700" dirty="0">
                <a:solidFill>
                  <a:schemeClr val="bg1"/>
                </a:solidFill>
              </a:rPr>
              <a:t>   }</a:t>
            </a:r>
          </a:p>
          <a:p>
            <a:r>
              <a:rPr lang="en-US" sz="700" dirty="0">
                <a:solidFill>
                  <a:schemeClr val="bg1"/>
                </a:solidFill>
              </a:rPr>
              <a:t>};</a:t>
            </a:r>
          </a:p>
          <a:p>
            <a:r>
              <a:rPr lang="en-US" sz="700" dirty="0">
                <a:solidFill>
                  <a:schemeClr val="bg1"/>
                </a:solidFill>
              </a:rPr>
              <a:t>} // namespace detail</a:t>
            </a:r>
          </a:p>
          <a:p>
            <a:endParaRPr lang="en-US" sz="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F0F0F0"/>
                </a:solidFill>
                <a:latin typeface="Courier New"/>
              </a:rPr>
              <a:t>Element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286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888888"/>
                </a:solidFill>
                <a:latin typeface="Courier New"/>
              </a:rPr>
              <a:t>ArrayView.h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70408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56DBD6"/>
                </a:solidFill>
                <a:latin typeface="Consolas"/>
              </a:rPr>
              <a:t>operator() → linearOffset → mData[]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dirty="0">
                <a:solidFill>
                  <a:srgbClr val="CCCCCC"/>
                </a:solidFill>
                <a:latin typeface="Consolas"/>
              </a:rPr>
              <a:t>template&lt;std::integral... Indices&gt;</a:t>
            </a:r>
          </a:p>
          <a:p>
            <a:r>
              <a:rPr sz="800" b="0" dirty="0" err="1">
                <a:solidFill>
                  <a:srgbClr val="CCCCCC"/>
                </a:solidFill>
                <a:latin typeface="Consolas"/>
              </a:rPr>
              <a:t>constexpr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 reference operator()(Indices... indices) const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{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const std::array&lt;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size_type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,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kRank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&gt;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idx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{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   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static_cast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&lt;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size_type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&gt;(indices)...};</a:t>
            </a:r>
            <a:r>
              <a:rPr sz="800" b="1" dirty="0">
                <a:solidFill>
                  <a:srgbClr val="FFD700"/>
                </a:solidFill>
                <a:latin typeface="Consolas"/>
              </a:rPr>
              <a:t>  // pack indices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checkBounds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(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idx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);</a:t>
            </a:r>
            <a:r>
              <a:rPr sz="800" b="1" dirty="0">
                <a:solidFill>
                  <a:srgbClr val="FFD700"/>
                </a:solidFill>
                <a:latin typeface="Consolas"/>
              </a:rPr>
              <a:t>  // assert each dim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return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mData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[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linearOffset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(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idx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               std::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make_index_sequence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&lt;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kRank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&gt;{})];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}</a:t>
            </a:r>
          </a:p>
          <a:p>
            <a:endParaRPr sz="800" b="0" dirty="0">
              <a:solidFill>
                <a:srgbClr val="CCCCCC"/>
              </a:solidFill>
              <a:latin typeface="Consolas"/>
            </a:endParaRP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template&lt;std::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size_t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... Is&gt;</a:t>
            </a:r>
          </a:p>
          <a:p>
            <a:r>
              <a:rPr sz="800" b="0" dirty="0" err="1">
                <a:solidFill>
                  <a:srgbClr val="CCCCCC"/>
                </a:solidFill>
                <a:latin typeface="Consolas"/>
              </a:rPr>
              <a:t>constexpr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size_type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linearOffset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(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const std::array&lt;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size_type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,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kRank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&gt;&amp;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idx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std::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index_sequence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&lt;Is...&gt;) const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{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size_type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 offset = 0;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((offset = offset * extent&lt;Is&gt;() +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idx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[Is]), ...);</a:t>
            </a:r>
            <a:r>
              <a:rPr sz="800" b="1" dirty="0">
                <a:solidFill>
                  <a:srgbClr val="FFD700"/>
                </a:solidFill>
                <a:latin typeface="Consolas"/>
              </a:rPr>
              <a:t>  // one fold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return offset;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}</a:t>
            </a:r>
          </a:p>
          <a:p>
            <a:endParaRPr sz="800" b="0" dirty="0">
              <a:solidFill>
                <a:srgbClr val="CCCCCC"/>
              </a:solidFill>
              <a:latin typeface="Consolas"/>
            </a:endParaRPr>
          </a:p>
          <a:p>
            <a:r>
              <a:rPr sz="800" b="0" dirty="0" err="1">
                <a:solidFill>
                  <a:srgbClr val="CCCCCC"/>
                </a:solidFill>
                <a:latin typeface="Consolas"/>
              </a:rPr>
              <a:t>constexpr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 void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checkBounds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(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const std::array&lt;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size_type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,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kRank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&gt;&amp;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idx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) const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{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auto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exts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 =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extentTable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(std::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make_index_sequence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&lt;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kRank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&gt;{});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for (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size_type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 = 0;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 &lt;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kRank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; ++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        assert(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idx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[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] &lt; 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exts</a:t>
            </a:r>
            <a:r>
              <a:rPr sz="800" b="0" dirty="0">
                <a:solidFill>
                  <a:srgbClr val="CCCCCC"/>
                </a:solidFill>
                <a:latin typeface="Consolas"/>
              </a:rPr>
              <a:t>[</a:t>
            </a:r>
            <a:r>
              <a:rPr sz="800" b="0" dirty="0" err="1">
                <a:solidFill>
                  <a:srgbClr val="CCCCCC"/>
                </a:solidFill>
                <a:latin typeface="Consolas"/>
              </a:rPr>
              <a:t>i</a:t>
            </a:r>
            <a:r>
              <a:rPr sz="800" b="0">
                <a:solidFill>
                  <a:srgbClr val="CCCCCC"/>
                </a:solidFill>
                <a:latin typeface="Consolas"/>
              </a:rPr>
              <a:t>]);</a:t>
            </a:r>
            <a:r>
              <a:rPr sz="800" b="1">
                <a:solidFill>
                  <a:srgbClr val="FFD700"/>
                </a:solidFill>
                <a:latin typeface="Consolas"/>
              </a:rPr>
              <a:t>  // per-dim check</a:t>
            </a:r>
          </a:p>
          <a:p>
            <a:r>
              <a:rPr sz="800" b="0" dirty="0">
                <a:solidFill>
                  <a:srgbClr val="CCCCCC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0058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56DBD6"/>
                </a:solidFill>
                <a:latin typeface="Consolas"/>
              </a:rPr>
              <a:t>Example: walk through v(1,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61872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FFD700"/>
                </a:solidFill>
                <a:latin typeface="Consolas"/>
              </a:rPr>
              <a:t>// one dynamic, one static</a:t>
            </a:r>
          </a:p>
          <a:p>
            <a:r>
              <a:rPr sz="800" b="1">
                <a:solidFill>
                  <a:srgbClr val="7ECF7E"/>
                </a:solidFill>
                <a:latin typeface="Consolas"/>
              </a:rPr>
              <a:t>ArrayView&lt;double, dynamic_extent, 4&gt; v(ptr, </a:t>
            </a:r>
            <a:r>
              <a:rPr sz="800" b="1">
                <a:solidFill>
                  <a:srgbClr val="FFD700"/>
                </a:solidFill>
                <a:latin typeface="Consolas"/>
              </a:rPr>
              <a:t>3</a:t>
            </a:r>
            <a:r>
              <a:rPr sz="800" b="1">
                <a:solidFill>
                  <a:srgbClr val="7ECF7E"/>
                </a:solidFill>
                <a:latin typeface="Consolas"/>
              </a:rPr>
              <a:t>);</a:t>
            </a:r>
          </a:p>
          <a:p>
            <a:r>
              <a:rPr sz="800" b="1">
                <a:solidFill>
                  <a:srgbClr val="7ECF7E"/>
                </a:solidFill>
                <a:latin typeface="Consolas"/>
              </a:rPr>
              <a:t>v(1, 2);</a:t>
            </a:r>
          </a:p>
          <a:p>
            <a:r>
              <a:rPr sz="800" b="1">
                <a:solidFill>
                  <a:srgbClr val="FFD700"/>
                </a:solidFill>
                <a:latin typeface="Consolas"/>
              </a:rPr>
              <a:t>// Dims = {dyn, 4}  kRankDynamic = 1</a:t>
            </a:r>
          </a:p>
          <a:p>
            <a:r>
              <a:rPr sz="800" b="1">
                <a:solidFill>
                  <a:srgbClr val="FFD700"/>
                </a:solidFill>
                <a:latin typeface="Consolas"/>
              </a:rPr>
              <a:t>// dyn[] = {</a:t>
            </a:r>
            <a:r>
              <a:rPr sz="800" b="1">
                <a:solidFill>
                  <a:srgbClr val="FF6B6B"/>
                </a:solidFill>
                <a:latin typeface="Consolas"/>
              </a:rPr>
              <a:t>3</a:t>
            </a:r>
            <a:r>
              <a:rPr sz="800" b="1">
                <a:solidFill>
                  <a:srgbClr val="FFD700"/>
                </a:solidFill>
                <a:latin typeface="Consolas"/>
              </a:rPr>
              <a:t>}  ← one runtime slot</a:t>
            </a:r>
          </a:p>
          <a:p>
            <a:endParaRPr sz="800" b="1">
              <a:solidFill>
                <a:srgbClr val="FFD700"/>
              </a:solidFill>
              <a:latin typeface="Consolas"/>
            </a:endParaRPr>
          </a:p>
          <a:p>
            <a:r>
              <a:rPr sz="800" b="0">
                <a:solidFill>
                  <a:srgbClr val="CCCCCC"/>
                </a:solidFill>
                <a:latin typeface="Consolas"/>
              </a:rPr>
              <a:t>extent&lt;0&gt;(): d=dyn → dyn[slot(0)] → </a:t>
            </a:r>
            <a:r>
              <a:rPr sz="800" b="1">
                <a:solidFill>
                  <a:srgbClr val="FFD700"/>
                </a:solidFill>
                <a:latin typeface="Consolas"/>
              </a:rPr>
              <a:t>3</a:t>
            </a:r>
            <a:r>
              <a:rPr sz="800" b="1">
                <a:solidFill>
                  <a:srgbClr val="FF6B6B"/>
                </a:solidFill>
                <a:latin typeface="Consolas"/>
              </a:rPr>
              <a:t>  runtime</a:t>
            </a:r>
          </a:p>
          <a:p>
            <a:r>
              <a:rPr sz="800" b="0">
                <a:solidFill>
                  <a:srgbClr val="CCCCCC"/>
                </a:solidFill>
                <a:latin typeface="Consolas"/>
              </a:rPr>
              <a:t>extent&lt;1&gt;(): d=4   → return 4     → </a:t>
            </a:r>
            <a:r>
              <a:rPr sz="800" b="1">
                <a:solidFill>
                  <a:srgbClr val="FFD700"/>
                </a:solidFill>
                <a:latin typeface="Consolas"/>
              </a:rPr>
              <a:t>4</a:t>
            </a:r>
            <a:r>
              <a:rPr sz="800" b="1">
                <a:solidFill>
                  <a:srgbClr val="7ECF7E"/>
                </a:solidFill>
                <a:latin typeface="Consolas"/>
              </a:rPr>
              <a:t>  compile-time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697480"/>
            <a:ext cx="3657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F6B6B"/>
                </a:solidFill>
                <a:latin typeface="Consolas"/>
              </a:rPr>
              <a:t>Step 1: checkBounds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8529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>
                <a:solidFill>
                  <a:srgbClr val="CCCCCC"/>
                </a:solidFill>
                <a:latin typeface="Consolas"/>
              </a:rPr>
              <a:t>exts = {3, 4}    idx = {1, 2}</a:t>
            </a:r>
          </a:p>
          <a:p>
            <a:r>
              <a:rPr sz="800" b="1">
                <a:solidFill>
                  <a:srgbClr val="7ECF7E"/>
                </a:solidFill>
                <a:latin typeface="Consolas"/>
              </a:rPr>
              <a:t>1 &lt; 3  ✓    2 &lt; 4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200400"/>
            <a:ext cx="3657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F6B6B"/>
                </a:solidFill>
                <a:latin typeface="Consolas"/>
              </a:rPr>
              <a:t>Step 2: linearOffset  (row-major fold)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355848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>
                <a:solidFill>
                  <a:srgbClr val="CCCCCC"/>
                </a:solidFill>
                <a:latin typeface="Consolas"/>
              </a:rPr>
              <a:t>Is... = {0, 1}      idx = {1, 2}      offset = 0</a:t>
            </a:r>
          </a:p>
          <a:p>
            <a:endParaRPr sz="800" b="0">
              <a:solidFill>
                <a:srgbClr val="CCCCCC"/>
              </a:solidFill>
              <a:latin typeface="Consolas"/>
            </a:endParaRPr>
          </a:p>
          <a:p>
            <a:r>
              <a:rPr sz="800" b="0">
                <a:solidFill>
                  <a:srgbClr val="CCCCCC"/>
                </a:solidFill>
                <a:latin typeface="Consolas"/>
              </a:rPr>
              <a:t>I=0:  offset = 0 * extent&lt;0&gt;() + idx[0]</a:t>
            </a:r>
          </a:p>
          <a:p>
            <a:r>
              <a:rPr sz="800" b="0">
                <a:solidFill>
                  <a:srgbClr val="CCCCCC"/>
                </a:solidFill>
                <a:latin typeface="Consolas"/>
              </a:rPr>
              <a:t>            = 0 * </a:t>
            </a:r>
            <a:r>
              <a:rPr sz="800" b="1">
                <a:solidFill>
                  <a:srgbClr val="7ECF7E"/>
                </a:solidFill>
                <a:latin typeface="Consolas"/>
              </a:rPr>
              <a:t>3</a:t>
            </a:r>
            <a:r>
              <a:rPr sz="800" b="0">
                <a:solidFill>
                  <a:srgbClr val="CCCCCC"/>
                </a:solidFill>
                <a:latin typeface="Consolas"/>
              </a:rPr>
              <a:t> + </a:t>
            </a:r>
            <a:r>
              <a:rPr sz="800" b="1">
                <a:solidFill>
                  <a:srgbClr val="7ECF7E"/>
                </a:solidFill>
                <a:latin typeface="Consolas"/>
              </a:rPr>
              <a:t>1</a:t>
            </a:r>
            <a:r>
              <a:rPr sz="800" b="0">
                <a:solidFill>
                  <a:srgbClr val="CCCCCC"/>
                </a:solidFill>
                <a:latin typeface="Consolas"/>
              </a:rPr>
              <a:t>  = </a:t>
            </a:r>
            <a:r>
              <a:rPr sz="800" b="1">
                <a:solidFill>
                  <a:srgbClr val="FFD700"/>
                </a:solidFill>
                <a:latin typeface="Consolas"/>
              </a:rPr>
              <a:t>1</a:t>
            </a:r>
            <a:r>
              <a:rPr sz="800" b="1">
                <a:solidFill>
                  <a:srgbClr val="FF6B6B"/>
                </a:solidFill>
                <a:latin typeface="Consolas"/>
              </a:rPr>
              <a:t>  ← 3 from dyn[]</a:t>
            </a:r>
          </a:p>
          <a:p>
            <a:r>
              <a:rPr sz="800" b="0">
                <a:solidFill>
                  <a:srgbClr val="CCCCCC"/>
                </a:solidFill>
                <a:latin typeface="Consolas"/>
              </a:rPr>
              <a:t>I=1:  offset = 1 * extent&lt;1&gt;() + idx[1]</a:t>
            </a:r>
          </a:p>
          <a:p>
            <a:r>
              <a:rPr sz="800" b="0">
                <a:solidFill>
                  <a:srgbClr val="CCCCCC"/>
                </a:solidFill>
                <a:latin typeface="Consolas"/>
              </a:rPr>
              <a:t>            = 1 * </a:t>
            </a:r>
            <a:r>
              <a:rPr sz="800" b="1">
                <a:solidFill>
                  <a:srgbClr val="7ECF7E"/>
                </a:solidFill>
                <a:latin typeface="Consolas"/>
              </a:rPr>
              <a:t>4</a:t>
            </a:r>
            <a:r>
              <a:rPr sz="800" b="0">
                <a:solidFill>
                  <a:srgbClr val="CCCCCC"/>
                </a:solidFill>
                <a:latin typeface="Consolas"/>
              </a:rPr>
              <a:t> + </a:t>
            </a:r>
            <a:r>
              <a:rPr sz="800" b="1">
                <a:solidFill>
                  <a:srgbClr val="7ECF7E"/>
                </a:solidFill>
                <a:latin typeface="Consolas"/>
              </a:rPr>
              <a:t>2</a:t>
            </a:r>
            <a:r>
              <a:rPr sz="800" b="0">
                <a:solidFill>
                  <a:srgbClr val="CCCCCC"/>
                </a:solidFill>
                <a:latin typeface="Consolas"/>
              </a:rPr>
              <a:t>  = </a:t>
            </a:r>
            <a:r>
              <a:rPr sz="800" b="1">
                <a:solidFill>
                  <a:srgbClr val="FFD700"/>
                </a:solidFill>
                <a:latin typeface="Consolas"/>
              </a:rPr>
              <a:t>6</a:t>
            </a:r>
            <a:r>
              <a:rPr sz="800" b="1">
                <a:solidFill>
                  <a:srgbClr val="7ECF7E"/>
                </a:solidFill>
                <a:latin typeface="Consolas"/>
              </a:rPr>
              <a:t>  ← 4 from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434840"/>
            <a:ext cx="3657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F6B6B"/>
                </a:solidFill>
                <a:latin typeface="Consolas"/>
              </a:rPr>
              <a:t>Step 3: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5902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>
                <a:solidFill>
                  <a:srgbClr val="CCCCCC"/>
                </a:solidFill>
                <a:latin typeface="Consolas"/>
              </a:rPr>
              <a:t>return mData[</a:t>
            </a:r>
            <a:r>
              <a:rPr sz="800" b="1">
                <a:solidFill>
                  <a:srgbClr val="FFD700"/>
                </a:solidFill>
                <a:latin typeface="Consolas"/>
              </a:rPr>
              <a:t>6</a:t>
            </a:r>
            <a:r>
              <a:rPr sz="800" b="0">
                <a:solidFill>
                  <a:srgbClr val="CCCCCC"/>
                </a:solidFill>
                <a:latin typeface="Consolas"/>
              </a:rPr>
              <a:t>];</a:t>
            </a:r>
            <a:r>
              <a:rPr sz="800" b="1">
                <a:solidFill>
                  <a:srgbClr val="FFD700"/>
                </a:solidFill>
                <a:latin typeface="Consolas"/>
              </a:rPr>
              <a:t>  // row 1, col 2 of ?×4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888888"/>
                </a:solidFill>
                <a:latin typeface="Consolas"/>
              </a:rPr>
              <a:t>Same fold, same codegen — static extents become immediate constants, dynamic ones load from dyn[].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3812</Words>
  <Application>Microsoft Office PowerPoint</Application>
  <PresentationFormat>On-screen Show (16:9)</PresentationFormat>
  <Paragraphs>460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ExtentStorage — The Packing Problem</dc:title>
  <dc:subject>PptxGenJS Presentation</dc:subject>
  <dc:creator>ArrayView / ulib</dc:creator>
  <cp:lastModifiedBy>Matthew Schroeder</cp:lastModifiedBy>
  <cp:revision>6</cp:revision>
  <dcterms:created xsi:type="dcterms:W3CDTF">2026-04-06T03:03:38Z</dcterms:created>
  <dcterms:modified xsi:type="dcterms:W3CDTF">2026-04-06T05:24:57Z</dcterms:modified>
</cp:coreProperties>
</file>