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3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View That Learned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Count Its Own Dimensions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non-owning multidimensional array adapter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multiple compile-time patterns into one header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  ·  ulib  ·  C++20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Arrays Are Everywhere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856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73736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Scientific code is full of multidimensional arrays.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(computational fluid dynamics) simulation: 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field[NX][NY][NZ]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grid:  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readings[channels][samples]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matrix:  </a:t>
            </a:r>
            <a:endParaRPr lang="en-US" sz="13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R[3][3]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246120"/>
            <a:ext cx="182880" cy="1828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in memory, regular layout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630168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elements means computing linear offsets by hand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014216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9684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safety — wrong index order silently corrupts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4398264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43525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bounds checking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arrays need a type-safe, bounds-checked wrapper.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Want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non-owning view — wraps a pointer, provides multi-index access, deduces everything.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219456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7223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grid[10][20][30] = {};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v(grid);             // deduces ArrayView&lt;int, 10, 20, 30&gt;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v(2, 5, 15) = 42;              // bounds-checked, multi-index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rank = v.rank();           // 3, compile time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size = v.size();           // 6000, compile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468880" cy="91440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46888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Non-owning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pointer, never allocates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977640"/>
            <a:ext cx="2468880" cy="91440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3977640"/>
            <a:ext cx="246888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4069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overhead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dims cost zero bytes at runtime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2468880" cy="91440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246888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4069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Deduces element type, rank, and all dims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 Dims Are Runtime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2801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every dimension is known at compile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acquisition system has 16 channels (fixed by hardware, compile-time) but a variable number of samples per run (runtime). A CFD (computational fluid dynamics) grid has dimensions read from a config file.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64008" cy="18288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All-static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3108960" cy="6400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R[3][3];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v(R); // all known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storage for dims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64008" cy="1828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static + dynamic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246120"/>
            <a:ext cx="3108960" cy="6400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 from config, 16 fixed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16&gt;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 at runtime, 16 for free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waste 8 bytes storing the number 16 — a value the compiler already knows.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Second Story: The GPU Bridge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GPU-accelerated computing, data lives in two separate memory systems.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memory (CPU RAM) is where your program runs. Device memory (GPU VRAM) is where massively parallel computation happens. Data must be explicitly copied between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788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host data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host 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94560" y="2971800"/>
            <a:ext cx="2011680" cy="0"/>
          </a:xfrm>
          <a:prstGeom prst="line">
            <a:avLst/>
          </a:prstGeom>
          <a:noFill/>
          <a:ln w="19050">
            <a:solidFill>
              <a:srgbClr val="8A9CC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deep_copy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spaces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37760" y="2971800"/>
            <a:ext cx="2011680" cy="0"/>
          </a:xfrm>
          <a:prstGeom prst="line">
            <a:avLst/>
          </a:prstGeom>
          <a:noFill/>
          <a:ln w="19050">
            <a:solidFill>
              <a:srgbClr val="8A9CC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9516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788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parallel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on device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" y="4057650"/>
            <a:ext cx="7680960" cy="54863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31520" y="4057650"/>
            <a:ext cx="91440" cy="548638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097280" y="4057650"/>
            <a:ext cx="704088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 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library that manages this. Its central abstraction is </a:t>
            </a: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</a:t>
            </a: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multidimensional array that knows which memory space it lives in.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 A Portability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Kokkos is not just a GPU library. It abstracts over multiple parallel backends — the same code runs on different hardware.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54480" cy="118872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36576"/>
          </a:xfrm>
          <a:prstGeom prst="rect">
            <a:avLst/>
          </a:prstGeom>
          <a:solidFill>
            <a:srgbClr val="76B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1554480" cy="118872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1554480" cy="3657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GPUs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554480"/>
            <a:ext cx="1554480" cy="118872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554480"/>
            <a:ext cx="1554480" cy="36576"/>
          </a:xfrm>
          <a:prstGeom prst="rect">
            <a:avLst/>
          </a:prstGeom>
          <a:solidFill>
            <a:srgbClr val="007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SYCL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GPUs / FPGAs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554480"/>
            <a:ext cx="1554480" cy="118872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1554480"/>
            <a:ext cx="1554480" cy="36576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OpenMP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threads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1554480"/>
            <a:ext cx="1554480" cy="118872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06640" y="1554480"/>
            <a:ext cx="1554480" cy="36576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4380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std::thread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19"/>
            <a:ext cx="7680960" cy="800101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017520"/>
            <a:ext cx="64008" cy="80010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31057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common abstraction. Whether the kernel runs on a GPU, on CPU threads via OpenMP, or on any other backend — the view type, the DataType encoding, and the deep_copy semantics are the same.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run on any parallel backend. The type machinery ArrayView computes is backend-agnostic.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Compute Node Up Close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15968" y="978408"/>
            <a:ext cx="4535424" cy="32666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kokkos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51560"/>
            <a:ext cx="4389120" cy="31203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97280"/>
            <a:ext cx="54864" cy="8686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side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cores, DRAM, NVRAM — where your program runs and C arrays live.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54864" cy="86868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on-package memory — a separate address space the CPU cannot directly touch.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291840"/>
            <a:ext cx="54864" cy="868680"/>
          </a:xfrm>
          <a:prstGeom prst="rect">
            <a:avLst/>
          </a:prstGeom>
          <a:solidFill>
            <a:srgbClr val="FFC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interconnect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cross this boundary explicitly. That transfer is what Kokkos automates.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389120" y="430911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Kokkos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DataType Encoding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Kokkos needs a type-level encoding of array dimensions as a template parameter.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008" cy="7772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645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dims </a:t>
            </a:r>
            <a:r>
              <a:rPr lang="en-US" sz="13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(compile-time)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array brackets 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002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64008" cy="7772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645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dims </a:t>
            </a:r>
            <a:r>
              <a:rPr lang="en-US" sz="13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(runtime only)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pointer stars 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606040"/>
          <a:ext cx="6949440" cy="188366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ArrayView Dims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Kokkos DataType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3, 4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7B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double[3][4]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dynamic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dyn, dyn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dynamic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dyn,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double*[3]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dyn, dyn, 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double**[5]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encoding wrong → hundreds of lines of template errors.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Errors Look Like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— used double[3][4] but first dim is runtime: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7680960" cy="539496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241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rows = config.get("rows");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Kokkos::View&lt;double[3][4], HostSpace, Unmanaged&gt; hv(ptr, rows);  // WRONG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3889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says (first 35 of ~200 lines):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94921"/>
            <a:ext cx="7680960" cy="3051399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66941"/>
            <a:ext cx="7406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no matching constructor for initialization of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'Kokkos::View&lt;double[3][4], Kokkos::HostSpace, Kokkos::MemoryTraits&lt;1&gt;&gt;'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MemoryTraits&lt;Unmanaged&gt;&gt; hv(ptr, rows);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^~~~~~~~~~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kokkos/core/src/Kokkos_View.hpp:1847:12: note: candidate template ignored: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constraints not satisfied [with DataType = double[3][4]]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kokkos/core/src/impl/Kokkos_ViewMapping.hpp:2241:7: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instantiation of 'struct Kokkos::Impl::ViewMapping&lt;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Kokkos::ViewTraits&lt;double[3][4], Kokkos::HostSpace,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Kokkos::MemoryTraits&lt;1&gt;&gt;, void&gt;':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kokkos/core/src/impl/Kokkos_ViewMapping.hpp:1893:44: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 from 'class Kokkos::View&lt;double[3][4],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Kokkos::HostSpace, Kokkos::MemoryTraits&lt;1&gt;&gt;'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kokkos/core/src/impl/Kokkos_ViewMapping.hpp:2241:7: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error: static_assert failed: Kokkos::View extent is not dynamic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kokkos/core/src/impl/Kokkos_ViewMapping.hpp:2244:7: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in instantiation of template class 'Kokkos::Impl::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ViewOffset&lt;Kokkos::Impl::ViewDimension&lt;3, 4&gt;,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Kokkos::LayoutRight&gt;' requested here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kokkos/core/src/impl/Kokkos_ViewMapping.hpp:1341:16: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error: no viable conversion from 'size_t' to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'Kokkos::Impl::ViewDimension&lt;3, 4&gt;::static_extent_type'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kokkos/core/src/impl/Kokkos_ViewMapping.hpp:873:3: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candidate constructor not viable: requires 0 arguments, but 1 provided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kokkos/core/src/impl/Kokkos_ViewMapping.hpp:891:3: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candidate constructor not viable: no known conversion from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'size_t' to 'const ViewDimension&lt;3, 4&gt;' for 1st argument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kokkos/core/src/impl/Kokkos_ViewCtor.hpp:412:5: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FC9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in instantiation of function template specialization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'Kokkos::Impl::SharedAllocationRecord&lt;Kokkos::HostSpace,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77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void&gt;::allocate&lt;Kokkos::View&lt;double[3][4], ...&gt;&gt;' requested here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^</a:t>
            </a:r>
            <a:endParaRPr lang="en-US" sz="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174 more lines of template backtrace ...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 is one wrong character. The compiler buries it in 200 lines.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DataType Encoding in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static — every dim known at compile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7680960" cy="9601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21615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matrix[64][64];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v(matrix);          // ArrayView&lt;double, 64, 64&gt;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Kokkos DataType: double[64][64]  — all brackets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dynamic — every dim supplied at runtime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87752"/>
            <a:ext cx="7680960" cy="9601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rows = config.get("rows"), cols = config.get("cols");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ptr = allocate(rows * cols);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dyn&gt; v(ptr, rows, cols);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Kokkos DataType: double**          — all stars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some static, some dynamic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05072"/>
            <a:ext cx="7680960" cy="96012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050792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nSamples = daq.acquire();  // runtime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float* buf = allocate(nSamples * 16);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ArrayView&lt;float, dyn, 16&gt; v(buf, nSamples);  // 16 channels fixed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Kokkos DataType: float*[16]     — star + bracket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Six-Step Ceremony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7223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matrix[64][64];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fill_matrix(matrix);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figure out the DataType by hand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create an unmanaged host view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Kokkos::View&lt;double[64][64], </a:t>
            </a:r>
            <a:r>
              <a:rPr lang="en-US" sz="9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HostSpace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9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MemoryTraits</a:t>
            </a: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&lt;Unmanaged&gt;&gt; hv(&amp;matrix[0][0]);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create a device view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Kokkos::View&lt;double[64][64]&gt; dv("matrix");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4: deep_copy host → device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Kokkos::deep_copy(dv, hv);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5: run kernel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Kokkos::parallel_for(64, KOKKOS_LAMBDA(int i){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64; ++j)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dv(i,j) *= 2.0;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6: deep_copy device → host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Kokkos::deep_copy(hv, dv);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repeats this pattern hundreds of times.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Bugs Hide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3716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is manual.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hand-compute the DataType encoding — stars for dynamic, brackets for static. Get it wrong and the compiler produces hundreds of lines of template instantiation errors with the real problem buried under layers of Kokkos internals.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76809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64008" cy="1737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dimensions make it worse.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6858000" cy="10058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rows = config.get("rows");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double* buffer = allocate(rows * 3);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Kokkos DataType?  double*[3]?  double**?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should not be doing this. A compile-time trait should compute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64008" cy="3291838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554480"/>
            <a:ext cx="3200400" cy="26974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645921"/>
            <a:ext cx="2926080" cy="244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matrix[64][64];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fill_matrix(matrix);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figure out DataType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host view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Kokkos::View&lt;double[64][64],</a:t>
            </a:r>
            <a:r>
              <a:rPr lang="en-US" sz="800" dirty="0"/>
              <a:t> </a:t>
            </a:r>
            <a:r>
              <a:rPr lang="en-US" sz="80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HostSpace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Unmanaged&gt; hv(&amp;m[0][0]);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device view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Kokkos::View&lt;double[64][64]&gt;</a:t>
            </a:r>
            <a:r>
              <a:rPr lang="en-US" sz="800" dirty="0"/>
              <a:t> 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dv("m");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4: deep_copy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Kokkos::deep_copy(dv, hv);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5: kernel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80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parallel_for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(64,</a:t>
            </a:r>
            <a:r>
              <a:rPr lang="en-US" sz="800" dirty="0"/>
              <a:t> 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KOKKOS_LAMBDA(int </a:t>
            </a:r>
            <a:r>
              <a:rPr lang="en-US" sz="80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j=0; j&lt;64; ++j)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80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dev.view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()(</a:t>
            </a:r>
            <a:r>
              <a:rPr lang="en-US" sz="80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i,j</a:t>
            </a: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*= 2.0;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6: deep_copy back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Kokkos::deep_copy(hv, dv);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46888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143001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142999"/>
            <a:ext cx="64008" cy="329183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2064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B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0" y="1554480"/>
            <a:ext cx="3200400" cy="269748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17373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matrix[64][64];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fill_matrix(matrix);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dev =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makeDeviceInout</a:t>
            </a: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matrix,"matrix</a:t>
            </a: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");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Kokkos::parallel_for(64,</a:t>
            </a:r>
            <a:r>
              <a:rPr lang="en-US" sz="850" dirty="0"/>
              <a:t> </a:t>
            </a: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KOKKOS_LAMBDA(int i) 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j=0; j&lt;64; ++j)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dev.view()(i,j) *= 2.0;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dev.copyBack();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1520" y="44844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manual steps, manual DataType </a:t>
            </a:r>
            <a:r>
              <a:rPr lang="en-US" sz="15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5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kernel, zero boilerplate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5544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Runtime-sized dimensions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grids whose dimensions come from config files — cannot bake into template params.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37760" y="11887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1188720"/>
            <a:ext cx="64008" cy="15544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6636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08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static &amp; dynamic extents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21208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hardware channels (compile-time) × N samples (runtime). Don't waste 8 bytes storing the number 16.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30175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31520" y="3017520"/>
            <a:ext cx="64008" cy="15544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6012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337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Kokkos bridge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0584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DataType encoding from the dimension pack at compile time. No manual stars and brackets.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937760" y="30175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937760" y="3017520"/>
            <a:ext cx="64008" cy="155448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16636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3375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CTAD: deduce everything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21208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ArrayView(arr) where arr is int[3][4][5] should produce ArrayView&lt;int, 3, 4, 5&gt; — no template params spelled out.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forced a specific template metaprogramming mechanism.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Introducing ArrayView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variadic class template — the dimension pack is the design.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486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 class ArrayView;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4864" cy="5486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 — double, float, int, const double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solidFill>
            <a:srgbClr val="1B24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4864" cy="548640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Dims...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788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Variadic pack of dimension extents — each is either a compile-time constant or dynamic_extent (SIZE_MAX)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stores: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0D1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9319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T* mData;                                       // pointer to first element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ExtentStorage&lt;Dims...&gt; mExtents;                 // only dynamic extents packed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dims → 0 bytes.  All-static view = one pointer.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 determines everything: rank, storage, strides, Kokkos encoding.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>
            <a:extLst>
              <a:ext uri="{FF2B5EF4-FFF2-40B4-BE49-F238E27FC236}">
                <a16:creationId xmlns:a16="http://schemas.microsoft.com/office/drawing/2014/main" id="{00687F5C-C017-8A2B-4FF7-D424617F1353}"/>
              </a:ext>
            </a:extLst>
          </p:cNvPr>
          <p:cNvSpPr/>
          <p:nvPr/>
        </p:nvSpPr>
        <p:spPr>
          <a:xfrm>
            <a:off x="731520" y="40233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Public Interface</a:t>
            </a:r>
            <a:endParaRPr lang="en-US" sz="3200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4C3046AA-FA8B-F7D9-EECF-D82CA3680F9A}"/>
              </a:ext>
            </a:extLst>
          </p:cNvPr>
          <p:cNvSpPr/>
          <p:nvPr/>
        </p:nvSpPr>
        <p:spPr>
          <a:xfrm>
            <a:off x="731520" y="1088136"/>
            <a:ext cx="76809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CFFA843C-8EB6-00FF-7311-88B8ACBF1DC7}"/>
              </a:ext>
            </a:extLst>
          </p:cNvPr>
          <p:cNvSpPr/>
          <p:nvPr/>
        </p:nvSpPr>
        <p:spPr>
          <a:xfrm>
            <a:off x="731520" y="1088136"/>
            <a:ext cx="64008" cy="694944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ECEA3298-275D-3603-AC3A-C084DA2A860A}"/>
              </a:ext>
            </a:extLst>
          </p:cNvPr>
          <p:cNvSpPr/>
          <p:nvPr/>
        </p:nvSpPr>
        <p:spPr>
          <a:xfrm>
            <a:off x="1097280" y="1124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E0F51F40-19A9-2B8E-D0A5-E7CDA712DB3B}"/>
              </a:ext>
            </a:extLst>
          </p:cNvPr>
          <p:cNvSpPr/>
          <p:nvPr/>
        </p:nvSpPr>
        <p:spPr>
          <a:xfrm>
            <a:off x="1097280" y="134416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ArrayView(array&amp;)  —  from C array, CTAD deduces all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ArrayView(ptr, extents...)  —  pointer + dynamic extents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makeArrayView(array)  —  factory, handles rank &gt; 8</a:t>
            </a:r>
            <a:endParaRPr lang="en-US" sz="85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3621E706-F5EF-D31E-18E3-5CED883E2307}"/>
              </a:ext>
            </a:extLst>
          </p:cNvPr>
          <p:cNvSpPr/>
          <p:nvPr/>
        </p:nvSpPr>
        <p:spPr>
          <a:xfrm>
            <a:off x="731520" y="1856232"/>
            <a:ext cx="76809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8B42477C-59EC-5AFD-F445-E4DA1F9C837F}"/>
              </a:ext>
            </a:extLst>
          </p:cNvPr>
          <p:cNvSpPr/>
          <p:nvPr/>
        </p:nvSpPr>
        <p:spPr>
          <a:xfrm>
            <a:off x="731520" y="1856232"/>
            <a:ext cx="64008" cy="69494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D7764535-E87F-7CBF-6448-456C1F87D391}"/>
              </a:ext>
            </a:extLst>
          </p:cNvPr>
          <p:cNvSpPr/>
          <p:nvPr/>
        </p:nvSpPr>
        <p:spPr>
          <a:xfrm>
            <a:off x="1097280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Observers</a:t>
            </a:r>
            <a:endParaRPr lang="en-US" sz="1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F7A6138-9949-AA32-5DA4-F60C7C2A6CE9}"/>
              </a:ext>
            </a:extLst>
          </p:cNvPr>
          <p:cNvSpPr/>
          <p:nvPr/>
        </p:nvSpPr>
        <p:spPr>
          <a:xfrm>
            <a:off x="1097280" y="211226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 rankDynamic()  —  compile-time constants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extent&lt;I&gt;()  stride&lt;I&gt;()  —  per-dimension queries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  sizeBytes()  empty()  data()</a:t>
            </a:r>
            <a:endParaRPr lang="en-US" sz="85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35C1DF0-F7E0-78FC-BAEE-5EB31CAB2BD9}"/>
              </a:ext>
            </a:extLst>
          </p:cNvPr>
          <p:cNvSpPr/>
          <p:nvPr/>
        </p:nvSpPr>
        <p:spPr>
          <a:xfrm>
            <a:off x="731520" y="2624328"/>
            <a:ext cx="76809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29BC0761-FB65-4E7E-C805-A6DE56607D3A}"/>
              </a:ext>
            </a:extLst>
          </p:cNvPr>
          <p:cNvSpPr/>
          <p:nvPr/>
        </p:nvSpPr>
        <p:spPr>
          <a:xfrm>
            <a:off x="731520" y="2624328"/>
            <a:ext cx="64008" cy="69494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E58232A1-5D11-EA38-D584-1BC8D286588F}"/>
              </a:ext>
            </a:extLst>
          </p:cNvPr>
          <p:cNvSpPr/>
          <p:nvPr/>
        </p:nvSpPr>
        <p:spPr>
          <a:xfrm>
            <a:off x="1097280" y="2660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Access</a:t>
            </a:r>
            <a:endParaRPr lang="en-US" sz="12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1971E01A-1ECC-C73F-9A9D-29FF2A390C77}"/>
              </a:ext>
            </a:extLst>
          </p:cNvPr>
          <p:cNvSpPr/>
          <p:nvPr/>
        </p:nvSpPr>
        <p:spPr>
          <a:xfrm>
            <a:off x="1097280" y="288036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operator()(i, j, k...)  —  multi-index, bounds-checked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operator[](array&lt;size_t,N&gt;)  —  index-array access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operator[](i)  —  scalar subscript, rank-1 only</a:t>
            </a:r>
            <a:endParaRPr lang="en-US" sz="8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2A3F5AAA-80DF-12B1-6DC6-E6DBAEC32EC1}"/>
              </a:ext>
            </a:extLst>
          </p:cNvPr>
          <p:cNvSpPr/>
          <p:nvPr/>
        </p:nvSpPr>
        <p:spPr>
          <a:xfrm>
            <a:off x="731520" y="3392424"/>
            <a:ext cx="76809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D166CBE2-76BC-3F79-670D-E793D9BD3013}"/>
              </a:ext>
            </a:extLst>
          </p:cNvPr>
          <p:cNvSpPr/>
          <p:nvPr/>
        </p:nvSpPr>
        <p:spPr>
          <a:xfrm>
            <a:off x="731520" y="3392424"/>
            <a:ext cx="64008" cy="694944"/>
          </a:xfrm>
          <a:prstGeom prst="rect">
            <a:avLst/>
          </a:prstGeom>
          <a:solidFill>
            <a:srgbClr val="FFC9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7A23DD43-A72C-7FDD-F7AA-B4DC0EEC93AD}"/>
              </a:ext>
            </a:extLst>
          </p:cNvPr>
          <p:cNvSpPr/>
          <p:nvPr/>
        </p:nvSpPr>
        <p:spPr>
          <a:xfrm>
            <a:off x="109728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Slicing &amp; Iteration</a:t>
            </a:r>
            <a:endParaRPr lang="en-US" sz="12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55E890C2-02D3-A392-FDA7-23E1E821A7E1}"/>
              </a:ext>
            </a:extLst>
          </p:cNvPr>
          <p:cNvSpPr/>
          <p:nvPr/>
        </p:nvSpPr>
        <p:spPr>
          <a:xfrm>
            <a:off x="1097280" y="364845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subview(idx)  —  fix leading dim, returns rank-(N-1) view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begin() / end()  —  rank-1 iterators, STL-compatible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first(n)  last(n)  subspan(offset, count)  —  rank-1</a:t>
            </a:r>
            <a:endParaRPr lang="en-US" sz="85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AF706566-AF5A-D07F-04D5-0D6C65F913AA}"/>
              </a:ext>
            </a:extLst>
          </p:cNvPr>
          <p:cNvSpPr/>
          <p:nvPr/>
        </p:nvSpPr>
        <p:spPr>
          <a:xfrm>
            <a:off x="731520" y="4160520"/>
            <a:ext cx="76809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BE86807C-04B2-81D3-A7CE-8FCB547B0FEB}"/>
              </a:ext>
            </a:extLst>
          </p:cNvPr>
          <p:cNvSpPr/>
          <p:nvPr/>
        </p:nvSpPr>
        <p:spPr>
          <a:xfrm>
            <a:off x="731520" y="4160520"/>
            <a:ext cx="64008" cy="694944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2E1D34DF-E1DC-6C1E-D17A-C6BE73707C11}"/>
              </a:ext>
            </a:extLst>
          </p:cNvPr>
          <p:cNvSpPr/>
          <p:nvPr/>
        </p:nvSpPr>
        <p:spPr>
          <a:xfrm>
            <a:off x="1097280" y="4197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Kokkos Bridge</a:t>
            </a:r>
            <a:endParaRPr lang="en-US" sz="12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AE1BAD3-3D38-58E6-70D4-9BDF0185BCE9}"/>
              </a:ext>
            </a:extLst>
          </p:cNvPr>
          <p:cNvSpPr/>
          <p:nvPr/>
        </p:nvSpPr>
        <p:spPr>
          <a:xfrm>
            <a:off x="1097280" y="441655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toKokkos()  —  unmanaged Kokkos::View with computed DataType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4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toKokkos&lt;Layout, Space&gt;()  —  export adapter only, not layout-aware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92561BBF-30FA-F483-AEDA-AF25344A4301}"/>
              </a:ext>
            </a:extLst>
          </p:cNvPr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Contracts</a:t>
            </a:r>
            <a:endParaRPr lang="en-US" sz="3200" dirty="0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E196698D-EFF5-36A2-F469-2D61B72B883F}"/>
              </a:ext>
            </a:extLst>
          </p:cNvPr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D10A590B-1FDD-B580-5809-8A32A154525E}"/>
              </a:ext>
            </a:extLst>
          </p:cNvPr>
          <p:cNvSpPr/>
          <p:nvPr/>
        </p:nvSpPr>
        <p:spPr>
          <a:xfrm>
            <a:off x="731520" y="1051560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8AB66D23-E31F-78BD-06CC-2A7FF1356367}"/>
              </a:ext>
            </a:extLst>
          </p:cNvPr>
          <p:cNvSpPr/>
          <p:nvPr/>
        </p:nvSpPr>
        <p:spPr>
          <a:xfrm>
            <a:off x="1097280" y="1097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Non-owning</a:t>
            </a:r>
            <a:endParaRPr lang="en-US" sz="11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1467F11A-9225-FF98-F94A-AB10DDEA5020}"/>
              </a:ext>
            </a:extLst>
          </p:cNvPr>
          <p:cNvSpPr/>
          <p:nvPr/>
        </p:nvSpPr>
        <p:spPr>
          <a:xfrm>
            <a:off x="3291840" y="1097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pointer. Never allocates, never frees. Cheap to copy by value.</a:t>
            </a:r>
            <a:endParaRPr lang="en-US" sz="110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93758DCC-A579-4D2A-EA62-E79763BB3C5F}"/>
              </a:ext>
            </a:extLst>
          </p:cNvPr>
          <p:cNvSpPr/>
          <p:nvPr/>
        </p:nvSpPr>
        <p:spPr>
          <a:xfrm>
            <a:off x="731520" y="1563624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08C5B5EA-E56D-497D-DC40-B2BB49451679}"/>
              </a:ext>
            </a:extLst>
          </p:cNvPr>
          <p:cNvSpPr/>
          <p:nvPr/>
        </p:nvSpPr>
        <p:spPr>
          <a:xfrm>
            <a:off x="731520" y="1563624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D7FDEE36-AD68-E5D8-5638-DFC8E19BF913}"/>
              </a:ext>
            </a:extLst>
          </p:cNvPr>
          <p:cNvSpPr/>
          <p:nvPr/>
        </p:nvSpPr>
        <p:spPr>
          <a:xfrm>
            <a:off x="1097280" y="16093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Non-nullable</a:t>
            </a:r>
            <a:endParaRPr lang="en-US" sz="11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842D6E2D-1FC5-FF8E-CA1B-F490812AC143}"/>
              </a:ext>
            </a:extLst>
          </p:cNvPr>
          <p:cNvSpPr/>
          <p:nvPr/>
        </p:nvSpPr>
        <p:spPr>
          <a:xfrm>
            <a:off x="3291840" y="16093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asserts ptr != nullptr. No default constructor.</a:t>
            </a:r>
            <a:endParaRPr lang="en-US" sz="110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35295FDE-9026-71D9-15B2-268213A6A72D}"/>
              </a:ext>
            </a:extLst>
          </p:cNvPr>
          <p:cNvSpPr/>
          <p:nvPr/>
        </p:nvSpPr>
        <p:spPr>
          <a:xfrm>
            <a:off x="731520" y="2075688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AF014730-9282-471C-8C8B-83122FEDF0CB}"/>
              </a:ext>
            </a:extLst>
          </p:cNvPr>
          <p:cNvSpPr/>
          <p:nvPr/>
        </p:nvSpPr>
        <p:spPr>
          <a:xfrm>
            <a:off x="731520" y="2075688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83DDF9F9-54AA-6FC4-D04C-90797B882434}"/>
              </a:ext>
            </a:extLst>
          </p:cNvPr>
          <p:cNvSpPr/>
          <p:nvPr/>
        </p:nvSpPr>
        <p:spPr>
          <a:xfrm>
            <a:off x="1097280" y="2121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Non-empty</a:t>
            </a:r>
            <a:endParaRPr lang="en-US" sz="11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F5AC8BB5-822B-6AF5-273A-4ACB901B5EEE}"/>
              </a:ext>
            </a:extLst>
          </p:cNvPr>
          <p:cNvSpPr/>
          <p:nvPr/>
        </p:nvSpPr>
        <p:spPr>
          <a:xfrm>
            <a:off x="3291840" y="2121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extents are rejected. empty() is always false.</a:t>
            </a:r>
            <a:endParaRPr lang="en-US" sz="11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B2714BA4-80B5-B0B3-743D-4CDFDB5CE893}"/>
              </a:ext>
            </a:extLst>
          </p:cNvPr>
          <p:cNvSpPr/>
          <p:nvPr/>
        </p:nvSpPr>
        <p:spPr>
          <a:xfrm>
            <a:off x="731520" y="2587752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D22F12E1-C555-15F1-947D-29EF0AB1B629}"/>
              </a:ext>
            </a:extLst>
          </p:cNvPr>
          <p:cNvSpPr/>
          <p:nvPr/>
        </p:nvSpPr>
        <p:spPr>
          <a:xfrm>
            <a:off x="731520" y="2587752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D4A6FEC2-BF4D-B006-9215-38247223B35A}"/>
              </a:ext>
            </a:extLst>
          </p:cNvPr>
          <p:cNvSpPr/>
          <p:nvPr/>
        </p:nvSpPr>
        <p:spPr>
          <a:xfrm>
            <a:off x="1097280" y="26334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Bounds-checked</a:t>
            </a:r>
            <a:endParaRPr lang="en-US" sz="110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94CD6D7E-A799-DEDB-B596-597B270512B8}"/>
              </a:ext>
            </a:extLst>
          </p:cNvPr>
          <p:cNvSpPr/>
          <p:nvPr/>
        </p:nvSpPr>
        <p:spPr>
          <a:xfrm>
            <a:off x="3291840" y="2633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validated via assert — active in Debug, removed in Release.</a:t>
            </a:r>
            <a:endParaRPr lang="en-US" sz="110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BD9B8AFD-4BED-8F25-2535-EACF5BFE1EBB}"/>
              </a:ext>
            </a:extLst>
          </p:cNvPr>
          <p:cNvSpPr/>
          <p:nvPr/>
        </p:nvSpPr>
        <p:spPr>
          <a:xfrm>
            <a:off x="731520" y="3099816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F743AB9A-A9AE-4442-04CD-8D5E3E2B8A60}"/>
              </a:ext>
            </a:extLst>
          </p:cNvPr>
          <p:cNvSpPr/>
          <p:nvPr/>
        </p:nvSpPr>
        <p:spPr>
          <a:xfrm>
            <a:off x="731520" y="3099816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8232EE98-9D2B-6889-98E4-3E1AB338CA90}"/>
              </a:ext>
            </a:extLst>
          </p:cNvPr>
          <p:cNvSpPr/>
          <p:nvPr/>
        </p:nvSpPr>
        <p:spPr>
          <a:xfrm>
            <a:off x="1097280" y="31455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Row-major (LayoutRight)</a:t>
            </a:r>
            <a:endParaRPr lang="en-US" sz="110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1BFFA05B-F5F9-F4C6-333F-114DCF322A2E}"/>
              </a:ext>
            </a:extLst>
          </p:cNvPr>
          <p:cNvSpPr/>
          <p:nvPr/>
        </p:nvSpPr>
        <p:spPr>
          <a:xfrm>
            <a:off x="3291840" y="31455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index varies fastest. Strides computed from right to left.</a:t>
            </a:r>
            <a:endParaRPr lang="en-US" sz="11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FAF1EE3C-5B90-690D-EBF2-07E694622CB4}"/>
              </a:ext>
            </a:extLst>
          </p:cNvPr>
          <p:cNvSpPr/>
          <p:nvPr/>
        </p:nvSpPr>
        <p:spPr>
          <a:xfrm>
            <a:off x="731520" y="3611880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BD003F91-3CA4-5C37-8858-F9179DBB7AC0}"/>
              </a:ext>
            </a:extLst>
          </p:cNvPr>
          <p:cNvSpPr/>
          <p:nvPr/>
        </p:nvSpPr>
        <p:spPr>
          <a:xfrm>
            <a:off x="731520" y="3611880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91F424C0-416B-82DE-68CD-D91A54AE153A}"/>
              </a:ext>
            </a:extLst>
          </p:cNvPr>
          <p:cNvSpPr/>
          <p:nvPr/>
        </p:nvSpPr>
        <p:spPr>
          <a:xfrm>
            <a:off x="1097280" y="3657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Const-correct</a:t>
            </a:r>
            <a:endParaRPr lang="en-US" sz="11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7229171C-D38F-EA14-4E5C-46042D45C73A}"/>
              </a:ext>
            </a:extLst>
          </p:cNvPr>
          <p:cNvSpPr/>
          <p:nvPr/>
        </p:nvSpPr>
        <p:spPr>
          <a:xfrm>
            <a:off x="329184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ArrayView&lt;T&gt; is mutable. ArrayView&lt;const T&gt; is read-only. Implicit promotion.</a:t>
            </a:r>
            <a:endParaRPr lang="en-US" sz="110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11950428-5349-EA47-12BD-7AE8B58908E3}"/>
              </a:ext>
            </a:extLst>
          </p:cNvPr>
          <p:cNvSpPr/>
          <p:nvPr/>
        </p:nvSpPr>
        <p:spPr>
          <a:xfrm>
            <a:off x="731520" y="4123944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6EB994E2-6098-79D5-CC6A-9150C39916F7}"/>
              </a:ext>
            </a:extLst>
          </p:cNvPr>
          <p:cNvSpPr/>
          <p:nvPr/>
        </p:nvSpPr>
        <p:spPr>
          <a:xfrm>
            <a:off x="731520" y="4123944"/>
            <a:ext cx="64008" cy="438912"/>
          </a:xfrm>
          <a:prstGeom prst="rect">
            <a:avLst/>
          </a:prstGeom>
          <a:solidFill>
            <a:srgbClr val="3EC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69183C80-8E8B-75D1-1865-F27A74AC113C}"/>
              </a:ext>
            </a:extLst>
          </p:cNvPr>
          <p:cNvSpPr/>
          <p:nvPr/>
        </p:nvSpPr>
        <p:spPr>
          <a:xfrm>
            <a:off x="1097280" y="41696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Lifetime-trackable</a:t>
            </a:r>
            <a:endParaRPr lang="en-US" sz="1100" dirty="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B7BBF2DD-641B-8395-A315-9643BEE43D8B}"/>
              </a:ext>
            </a:extLst>
          </p:cNvPr>
          <p:cNvSpPr/>
          <p:nvPr/>
        </p:nvSpPr>
        <p:spPr>
          <a:xfrm>
            <a:off x="3291840" y="4169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LifetimeToken binds view to data scope. Asserts on access after tracked scope expires.</a:t>
            </a:r>
            <a:endParaRPr lang="en-US" sz="110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27975AC9-0C40-E4F3-D4EB-A01BC3CBA994}"/>
              </a:ext>
            </a:extLst>
          </p:cNvPr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how do we build this?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2443</Words>
  <Application>Microsoft Office PowerPoint</Application>
  <PresentationFormat>On-screen Show (16:9)</PresentationFormat>
  <Paragraphs>292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View That Learned to Count Its Own Dimensions</dc:title>
  <dc:subject>PptxGenJS Presentation</dc:subject>
  <dc:creator>ArrayView / ulib</dc:creator>
  <cp:lastModifiedBy>Matthew Schroeder</cp:lastModifiedBy>
  <cp:revision>4</cp:revision>
  <dcterms:created xsi:type="dcterms:W3CDTF">2026-04-05T23:52:54Z</dcterms:created>
  <dcterms:modified xsi:type="dcterms:W3CDTF">2026-04-06T01:26:59Z</dcterms:modified>
</cp:coreProperties>
</file>