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52A50"/>
          </a:solidFill>
          <a:ln w="12700">
            <a:solidFill>
              <a:srgbClr val="252A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0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CArrayView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Zero-Overhead Multidimensional C Array View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deduction · Recursive TMP · CTAD · UB analysis · Design gaps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1554480" cy="292608"/>
          </a:xfrm>
          <a:prstGeom prst="rect">
            <a:avLst/>
          </a:prstGeom>
          <a:solidFill>
            <a:srgbClr val="252A5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97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Non-owning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50008" y="2697480"/>
            <a:ext cx="1554480" cy="292608"/>
          </a:xfrm>
          <a:prstGeom prst="rect">
            <a:avLst/>
          </a:prstGeom>
          <a:solidFill>
            <a:srgbClr val="252A5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0008" y="2697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from type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14216" y="2697480"/>
            <a:ext cx="1554480" cy="292608"/>
          </a:xfrm>
          <a:prstGeom prst="rect">
            <a:avLst/>
          </a:prstGeom>
          <a:solidFill>
            <a:srgbClr val="252A5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14216" y="2697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CTAD rank 1–8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78424" y="2697480"/>
            <a:ext cx="1554480" cy="292608"/>
          </a:xfrm>
          <a:prstGeom prst="rect">
            <a:avLst/>
          </a:prstGeom>
          <a:solidFill>
            <a:srgbClr val="252A5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78424" y="2697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C++20 concepts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42632" y="2697480"/>
            <a:ext cx="1554480" cy="292608"/>
          </a:xfrm>
          <a:prstGeom prst="rect">
            <a:avLst/>
          </a:prstGeom>
          <a:solidFill>
            <a:srgbClr val="252A5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42632" y="2697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allocation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ulib::CArrayView&lt;T, Rank, Dims...&gt;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8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C++20  ·  Header-only  ·  All shapes compile-time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361EE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Accessing Multidimensional C Arrays Safely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arrays from legacy APIs or hardware structs have fixed layout. You cannot change them. Raw pointer access has no bounds checking, no const propagation, and loses the shape entirely.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1572768"/>
            <a:ext cx="2834640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910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shape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892808"/>
            <a:ext cx="2834640" cy="160020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965960"/>
            <a:ext cx="263347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arr[3][4][5];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int* p = &amp;arr[0][0][0];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3? 4? 5? Lost.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p[99] = 42; // silent UB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1572768"/>
            <a:ext cx="283464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5910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const safety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72968" y="1892808"/>
            <a:ext cx="2834640" cy="160020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1965960"/>
            <a:ext cx="263347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process(int* p)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p[0] = 99; // mutates!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arr[3][4][5];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process(&amp;arr[0][0][0]);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3056" y="1572768"/>
            <a:ext cx="2834640" cy="32004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5910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rank enforcement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63056" y="1892808"/>
            <a:ext cx="2834640" cy="160020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1965960"/>
            <a:ext cx="263347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caller must know shape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fill(int* p,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int d0,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int d1, int d2);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fill(p, 5, 4, 3); // wrong order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657600"/>
            <a:ext cx="8503920" cy="749808"/>
          </a:xfrm>
          <a:prstGeom prst="rect">
            <a:avLst/>
          </a:prstGeom>
          <a:solidFill>
            <a:srgbClr val="EEF9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21608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CArrayView solution:  </a:t>
            </a:r>
            <a:pPr indent="0" marL="0">
              <a:buNone/>
            </a:pPr>
            <a:r>
              <a:rPr lang="en-US" sz="13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is encoded in the type at compile time, const propagates correctly, all indices are bounds-checked in debug, and rank mismatch is a concept failure — not a runtime crash.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4498848"/>
            <a:ext cx="8503920" cy="50292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4572000"/>
            <a:ext cx="83027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arr[3][4][5] = {};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CArrayView v(arr);</a:t>
            </a:r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deduces CArrayView&lt;int, 3, 3, 4, 5&gt;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v(2, 1, 0) = 42;</a:t>
            </a:r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// bounds-checked, const-safe, rank-enforced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361EE"/>
                </a:solidFill>
              </a:rPr>
              <a:t>TYPE ANATOMY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CArrayView&lt;int, 3, 3, 4, 5&gt;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8503920" cy="77724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CArrayView</a:t>
            </a:r>
            <a:pPr algn="ctr" indent="0" marL="0">
              <a:buNone/>
            </a:pPr>
            <a:r>
              <a:rPr lang="en-US" sz="2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ctr" indent="0" marL="0">
              <a:buNone/>
            </a:pPr>
            <a:r>
              <a:rPr lang="en-US" sz="22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ctr" indent="0" marL="0">
              <a:buNone/>
            </a:pPr>
            <a:r>
              <a:rPr lang="en-US" sz="2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ctr" indent="0" marL="0">
              <a:buNone/>
            </a:pPr>
            <a:r>
              <a:rPr lang="en-US" sz="2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ctr" indent="0" marL="0">
              <a:buNone/>
            </a:pPr>
            <a:r>
              <a:rPr lang="en-US" sz="2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algn="ctr" indent="0" marL="0">
              <a:buNone/>
            </a:pPr>
            <a:r>
              <a:rPr lang="en-US" sz="2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ctr" indent="0" marL="0">
              <a:buNone/>
            </a:pPr>
            <a:r>
              <a:rPr lang="en-US" sz="2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05840" y="1691640"/>
            <a:ext cx="0" cy="320040"/>
          </a:xfrm>
          <a:prstGeom prst="line">
            <a:avLst/>
          </a:prstGeom>
          <a:noFill/>
          <a:ln w="19050">
            <a:solidFill>
              <a:srgbClr val="89B4F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1371600" cy="685800"/>
          </a:xfrm>
          <a:prstGeom prst="rect">
            <a:avLst/>
          </a:prstGeom>
          <a:solidFill>
            <a:srgbClr val="F0F4FF"/>
          </a:solidFill>
          <a:ln w="15240">
            <a:solidFill>
              <a:srgbClr val="89B4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756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9B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type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propagates const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T* for const views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94760" y="1691640"/>
            <a:ext cx="0" cy="32004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246120" y="2011680"/>
            <a:ext cx="1371600" cy="685800"/>
          </a:xfrm>
          <a:prstGeom prst="rect">
            <a:avLst/>
          </a:prstGeom>
          <a:solidFill>
            <a:srgbClr val="F0F4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0756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3317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Redundant: always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sizeof...(Dims)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1691640"/>
            <a:ext cx="0" cy="320040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394960" y="2011680"/>
            <a:ext cx="1371600" cy="685800"/>
          </a:xfrm>
          <a:prstGeom prst="rect">
            <a:avLst/>
          </a:prstGeom>
          <a:solidFill>
            <a:srgbClr val="F0F4FF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20756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Dims...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40680" y="23317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encoded 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itself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880360"/>
            <a:ext cx="8503920" cy="292608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260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type exactly maps onto   int arr[3][4][5]   — 60 ints laid out contiguously in row-major order.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291840"/>
            <a:ext cx="8503920" cy="292608"/>
          </a:xfrm>
          <a:prstGeom prst="rect">
            <a:avLst/>
          </a:prstGeom>
          <a:solidFill>
            <a:srgbClr val="252A50"/>
          </a:solidFill>
          <a:ln w="12700">
            <a:solidFill>
              <a:srgbClr val="252A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32841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stride table — all computed by makeStrides() at class instantiation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584448"/>
            <a:ext cx="2057400" cy="1371600"/>
          </a:xfrm>
          <a:prstGeom prst="rect">
            <a:avLst/>
          </a:prstGeom>
          <a:solidFill>
            <a:srgbClr val="F0F4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657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 0 = 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396849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=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42062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× 5 = 20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1480" y="453542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v(i,_,_): +20×i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41448" y="3584448"/>
            <a:ext cx="2057400" cy="1371600"/>
          </a:xfrm>
          <a:prstGeom prst="rect">
            <a:avLst/>
          </a:prstGeom>
          <a:solidFill>
            <a:srgbClr val="F0F4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32888" y="3657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 1 =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32888" y="396849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=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32888" y="42062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× 1 = 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532888" y="453542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v(i,_,_): +5×i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62856" y="3584448"/>
            <a:ext cx="2057400" cy="1371600"/>
          </a:xfrm>
          <a:prstGeom prst="rect">
            <a:avLst/>
          </a:prstGeom>
          <a:solidFill>
            <a:srgbClr val="F0F4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54296" y="3657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 2 = 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54296" y="396849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=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54296" y="42062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654296" y="453542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v(i,_,_): +1×i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684264" y="3584448"/>
            <a:ext cx="2057400" cy="1371600"/>
          </a:xfrm>
          <a:prstGeom prst="rect">
            <a:avLst/>
          </a:prstGeom>
          <a:solidFill>
            <a:srgbClr val="F0F4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75704" y="3657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size()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75704" y="396849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=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75704" y="42062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× 4 × 5 = 60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775704" y="453542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elements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361EE"/>
                </a:solidFill>
              </a:rPr>
              <a:t>TMP — EXTRACTDIMS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Recursive Dimension Peeling: int[3][4][5]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914400"/>
            <a:ext cx="3931920" cy="192024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373075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Array,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size_t... Accumulated&gt;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ExtractDims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base case: T is NOT an array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 type =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CArrayView&lt;Array,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sizeof...(Accumulated),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Accumulated...&gt;;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size_t N,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size_t... Accumulated&gt;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ExtractDims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&lt;T[N], Accumulated...&gt;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ExtractDims</a:t>
            </a:r>
            <a:pPr indent="0" marL="0">
              <a:buNone/>
            </a:pPr>
            <a:r>
              <a:rPr lang="en-US" sz="95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&lt;T, Accumulated..., N&gt;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{};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51960" y="914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trace for  int[3][4][5]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307592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307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99432" y="1271016"/>
            <a:ext cx="4407408" cy="713232"/>
          </a:xfrm>
          <a:prstGeom prst="rect">
            <a:avLst/>
          </a:prstGeom>
          <a:solidFill>
            <a:srgbClr val="FFF0F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325880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ExtractDims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5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[3][4][5]</a:t>
            </a:r>
            <a:pPr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/*empty*/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09160" y="1581912"/>
            <a:ext cx="4224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partial spec: T=int[4][5], N=3, Acc={}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9160" y="1783080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ExtractDims&lt;int[4][5],  3&gt;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2112264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2112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99432" y="2075688"/>
            <a:ext cx="4407408" cy="713232"/>
          </a:xfrm>
          <a:prstGeom prst="rect">
            <a:avLst/>
          </a:prstGeom>
          <a:solidFill>
            <a:srgbClr val="FFFBF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130552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ExtractDims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5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[4][5]</a:t>
            </a:r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3&gt;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09160" y="2386584"/>
            <a:ext cx="4224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partial spec: T=int[5], N=4, Acc={3}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9160" y="2587752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ExtractDims&lt;int[5],  3, 4&gt;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51960" y="2916936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916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99432" y="2880360"/>
            <a:ext cx="4407408" cy="713232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935224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ExtractDims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5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3, 4&gt;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3191256"/>
            <a:ext cx="4224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partial spec: T=int, N=5, Acc={3,4}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3392424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ExtractDims&lt;int,  3, 4, 5&gt;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251960" y="3721608"/>
            <a:ext cx="292608" cy="292608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3721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99432" y="3685032"/>
            <a:ext cx="4407408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739896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ExtractDims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95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3, 4, 5&gt;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9160" y="3995928"/>
            <a:ext cx="4224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int is not an array — recursion stops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9160" y="4197096"/>
            <a:ext cx="4224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CArrayView&lt;int, 3,  3, 4, 5&gt;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361EE"/>
                </a:solidFill>
              </a:rPr>
              <a:t>TMP — BUILDARRAYTYPE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Reconstructing the C Array Type: The Inverse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BuildArrayType goes the other direction — from element type and a dimension pack back to the nested C array type. It is the exact inverse of ExtractDims, and must be, or the constructor breaks.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4160520" cy="169164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81912"/>
            <a:ext cx="395935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case: no dims left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BuildArrayType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using type = T; };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Recursive case: peel First off front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size_t First, size_t... Rest&gt;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BuildArrayType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&lt;T, First, Rest...&gt;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 type =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typename 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BuildArrayType</a:t>
            </a:r>
            <a:pPr indent="0" marL="0">
              <a:buNone/>
            </a:pPr>
            <a:r>
              <a:rPr lang="en-US" sz="95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&lt;T, Rest...&gt;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::type</a:t>
            </a:r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[First]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for  BuildArrayT&lt;int, 3, 4, 5&gt;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865376"/>
            <a:ext cx="256032" cy="25603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65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837944"/>
            <a:ext cx="3840480" cy="484632"/>
          </a:xfrm>
          <a:prstGeom prst="rect">
            <a:avLst/>
          </a:prstGeom>
          <a:solidFill>
            <a:srgbClr val="FFF0F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85623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BuildArrayT&lt;int, 3, 4, 5&gt;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74920" y="20756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BuildArrayT&lt;int,4,5&gt;::type[3]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2432304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432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83480" y="2404872"/>
            <a:ext cx="3840480" cy="484632"/>
          </a:xfrm>
          <a:prstGeom prst="rect">
            <a:avLst/>
          </a:prstGeom>
          <a:solidFill>
            <a:srgbClr val="FFFBF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42316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BuildArrayT&lt;int, 4, 5&gt;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74920" y="26426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BuildArrayT&lt;int,5&gt;::type[4]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999232"/>
            <a:ext cx="256032" cy="25603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83480" y="2971800"/>
            <a:ext cx="3840480" cy="484632"/>
          </a:xfrm>
          <a:prstGeom prst="rect">
            <a:avLst/>
          </a:prstGeom>
          <a:solidFill>
            <a:srgbClr val="F0FF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9900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BuildArrayT&lt;int, 5&gt;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74920" y="320954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BuildArrayT&lt;int&gt;::type[5]  →  int[5]  (base)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493008"/>
            <a:ext cx="8503920" cy="274320"/>
          </a:xfrm>
          <a:prstGeom prst="rect">
            <a:avLst/>
          </a:prstGeom>
          <a:solidFill>
            <a:srgbClr val="252A50"/>
          </a:solidFill>
          <a:ln w="12700">
            <a:solidFill>
              <a:srgbClr val="252A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295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Unwinding — substituting base case back up: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767328"/>
            <a:ext cx="8503920" cy="1170432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3840480"/>
            <a:ext cx="83027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BuildArrayT&lt;int&gt;::type            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int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BuildArrayT&lt;int,5&gt;::type          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int</a:t>
            </a:r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BuildArrayT&lt;int,4,5&gt;::type        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int</a:t>
            </a:r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= int[4][5]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BuildArrayT&lt;int,3,4,5&gt;::type      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int</a:t>
            </a:r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pPr indent="0" marL="0">
              <a:buNone/>
            </a:pPr>
            <a:r>
              <a:rPr lang="en-US" sz="950" i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= int[3][4][5]  ✓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[First] wrapping IS correct because C type construction is right-to-left.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int[5][4][3] in type algebra means: array-of-3 of (array-of-4 of (int[5]))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361EE"/>
                </a:solidFill>
              </a:rPr>
              <a:t>THE ISOMORPHISM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ExtractDims and BuildArrayType Are Exact Inverses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incidental — it is the structural guarantee that makes the constructor type-safe. If they diverged, the constructor would reject the array it was deduced from.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103120" cy="640080"/>
          </a:xfrm>
          <a:prstGeom prst="rect">
            <a:avLst/>
          </a:prstGeom>
          <a:solidFill>
            <a:srgbClr val="F5F6FA"/>
          </a:solidFill>
          <a:ln w="254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819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int[3][4][5]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array type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20440" y="1508760"/>
            <a:ext cx="3017520" cy="640080"/>
          </a:xfrm>
          <a:prstGeom prst="rect">
            <a:avLst/>
          </a:prstGeom>
          <a:solidFill>
            <a:srgbClr val="F5F6FA"/>
          </a:solidFill>
          <a:ln w="25400">
            <a:solidFill>
              <a:srgbClr val="436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CArrayView&lt;int,3,3,4,5&gt;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191109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type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508760"/>
            <a:ext cx="2103120" cy="640080"/>
          </a:xfrm>
          <a:prstGeom prst="rect">
            <a:avLst/>
          </a:prstGeom>
          <a:solidFill>
            <a:srgbClr val="F5F6F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5819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int[3][4][5]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19110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array_type alias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87168" y="1828800"/>
            <a:ext cx="100584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7168" y="15727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ExtractDims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56248" y="1828800"/>
            <a:ext cx="1005840" cy="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5727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BuildArrayType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16276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</a:rPr>
              <a:t>≡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320040" y="2331720"/>
            <a:ext cx="8503920" cy="256032"/>
          </a:xfrm>
          <a:prstGeom prst="rect">
            <a:avLst/>
          </a:prstGeom>
          <a:solidFill>
            <a:srgbClr val="252A50"/>
          </a:solidFill>
          <a:ln w="12700">
            <a:solidFill>
              <a:srgbClr val="252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3682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type system enforces this automatically: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587752"/>
            <a:ext cx="8503920" cy="96012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2660904"/>
            <a:ext cx="830275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array_type = BuildArrayT&lt;element_type, Dims...&gt;;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CArrayView(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array_type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arr) noexcept;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     ^^^^^^^^^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BuildArrayType were wrong, CArrayView&lt;int,3,3,4,5&gt;'s ctor would not accept int[3][4][5].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657600"/>
            <a:ext cx="2084832" cy="1298448"/>
          </a:xfrm>
          <a:prstGeom prst="rect">
            <a:avLst/>
          </a:prstGeom>
          <a:solidFill>
            <a:srgbClr val="F0F4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73075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 ExtractDims peels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" y="4041648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Outermost extent removed each step. Acc pack grows left-to-right in declaration order.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68880" y="3657600"/>
            <a:ext cx="2084832" cy="1298448"/>
          </a:xfrm>
          <a:prstGeom prst="rect">
            <a:avLst/>
          </a:prstGeom>
          <a:solidFill>
            <a:srgbClr val="F0F4FF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373075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BuildArrayType wraps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560320" y="4041648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wraps the recursed result in [First]. C type construction right-to-left corrects the order.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3657600"/>
            <a:ext cx="2084832" cy="1298448"/>
          </a:xfrm>
          <a:prstGeom prst="rect">
            <a:avLst/>
          </a:prstGeom>
          <a:solidFill>
            <a:srgbClr val="F0F4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73075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 They compose to identity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09160" y="4041648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BuildArrayT&lt;int, ExtractDims&lt;int[3][4][5]&gt;::Dims&gt; == int[3][4][5].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3657600"/>
            <a:ext cx="2084832" cy="1298448"/>
          </a:xfrm>
          <a:prstGeom prst="rect">
            <a:avLst/>
          </a:prstGeom>
          <a:solidFill>
            <a:srgbClr val="F0F4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73075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Type system enforces 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58000" y="4041648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BuildArrayType causes a hard compile error at the constructor, not a runtime bug.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361EE"/>
                </a:solidFill>
              </a:rPr>
              <a:t>POINTER MECHANICS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flatPtr — Honest UB, Universally Relied Upon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flatPtr collapses the nested array to a scalar pointer by recursively following [0] subscripts. The resulting pointer is used with stride arithmetic that crosses sub-array boundaries — technically UB, practically correct on every ABI.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4160520" cy="150876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627632"/>
            <a:ext cx="395935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auto 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flatPtr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(T&amp; val) noexcept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remove_all_extents_t&lt;T&gt;*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constexpr 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(is_array_v&lt;T&gt;)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flatPtr(val[0]);</a:t>
            </a:r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recurse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addressof(val);  // base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63440" y="15544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for  int arr[3][4][5]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892808"/>
            <a:ext cx="201168" cy="20116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9472" y="1874520"/>
            <a:ext cx="3913632" cy="256032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892808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flatPtr(arr)</a:t>
            </a:r>
            <a:pPr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arr is int[3][4][5] → is_array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19456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9472" y="2176272"/>
            <a:ext cx="3913632" cy="256032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194560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flatPtr(arr[0])</a:t>
            </a:r>
            <a:pPr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arr[0] is int[4][5] → is_array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49631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9472" y="2478024"/>
            <a:ext cx="3913632" cy="256032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496312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flatPtr(arr[0][0])</a:t>
            </a:r>
            <a:pPr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arr[0][0] is int[5] → is_array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798064"/>
            <a:ext cx="201168" cy="201168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9472" y="2779776"/>
            <a:ext cx="3913632" cy="256032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798064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flatPtr(arr[0][0][0])</a:t>
            </a:r>
            <a:pPr indent="0" marL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arr[0][0][0] is int → returns &amp;arr[0][0][0]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200400"/>
            <a:ext cx="4160520" cy="1755648"/>
          </a:xfrm>
          <a:prstGeom prst="rect">
            <a:avLst/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735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theoretical UB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593592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[expr.add] forbids pointer arithmetic past the end of the innermost array object. v(1, 0, 0) computes mData + 20, crossing the int[5] sub-array boundary.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C++ compiler and ABI lays arrays out contiguously. std::mdspan does the same thing. This is universally relied upon in production code.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200400"/>
            <a:ext cx="4160520" cy="1755648"/>
          </a:xfrm>
          <a:prstGeom prst="rect">
            <a:avLst/>
          </a:prstGeom>
          <a:solidFill>
            <a:srgbClr val="EDF7F1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2735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C++23 fix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3593592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std::start_lifetime_as&lt;T[N]&gt;(ptr) starts an implicit-lifetime object over the storage, making the arithmetic well-defined.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as a future improvement in the header comment — the honest acknowledgement is itself the correct engineering posture.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361EE"/>
                </a:solidFill>
              </a:rPr>
              <a:t>CTAD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Deduction Guides: Rank 1–8 + Rank-0 Fallback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CTAD guides enumerate ranks 1–8. The !is_array_v&lt;T&gt; guard is load-bearing — without it, int[2][3] would match the rank-1 guide with T=int[3]. The rank-0 fallback catches deeper arrays and fires a readable static_assert.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4297680" cy="224028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627632"/>
            <a:ext cx="409651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Rank 1 — T must not be an array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size_t A&gt;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requires (!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is_array_v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&lt;T&gt;)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CArrayView(T(&amp;)[A])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CArrayView&lt;T, 1, A&gt;;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Rank 2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size_t A, size_t B&gt;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requires (!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is_array_v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&lt;T&gt;)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CArrayView(T(&amp;)[A][B])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CArrayView&lt;T, 2, A, B&gt;;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ranks 3–8 follow the same pattern ...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Rank-0 FALLBACK — catches rank &gt; 8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size_t A&gt;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requires 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is_array_v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&lt;T&gt;</a:t>
            </a:r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 IS an array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CArrayView(T(&amp;)[A])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CArrayView&lt;remove_all_extents_t&lt;T&gt;, 0&gt;;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554480"/>
            <a:ext cx="4069080" cy="256032"/>
          </a:xfrm>
          <a:prstGeom prst="rect">
            <a:avLst/>
          </a:prstGeom>
          <a:solidFill>
            <a:srgbClr val="252A50"/>
          </a:solidFill>
          <a:ln w="12700">
            <a:solidFill>
              <a:srgbClr val="252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59105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!is_array_v&lt;T&gt; is load-bearing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810512"/>
            <a:ext cx="4069080" cy="128016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883664"/>
            <a:ext cx="38679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arr[2][3];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WITHOUT guard: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T=int[3], A=2 → rank-1 guide matches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CArrayView&lt;int[3], 1, 2&gt;  WRONG!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 !is_array_v&lt;T&gt; guard: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rank-1 guide rejected (T is array)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rank-2 guide fires with T=int ✓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0600" y="3200400"/>
            <a:ext cx="4069080" cy="256032"/>
          </a:xfrm>
          <a:prstGeom prst="rect">
            <a:avLst/>
          </a:prstGeom>
          <a:solidFill>
            <a:srgbClr val="252A50"/>
          </a:solidFill>
          <a:ln w="12700">
            <a:solidFill>
              <a:srgbClr val="252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323697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makeCArrayView — unlimited rank via ExtractDims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3456432"/>
            <a:ext cx="4069080" cy="100584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3529584"/>
            <a:ext cx="386791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Array&gt;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requires 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is_array_v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&lt;Array&gt;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auto 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makeCArrayView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(Array&amp; a)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return 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CArrayViewFor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&lt;Array&gt;{a}; }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rank ceiling — TMP depth only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913632"/>
            <a:ext cx="8503920" cy="1051560"/>
          </a:xfrm>
          <a:prstGeom prst="rect">
            <a:avLst/>
          </a:prstGeom>
          <a:solidFill>
            <a:srgbClr val="EEF2FF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05072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split:  </a:t>
            </a:r>
            <a:pPr indent="0" marL="0">
              <a:buNone/>
            </a:pPr>
            <a:r>
              <a:rPr lang="en-US" sz="12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CTAD guides are ergonomic for common cases (rank 1–8) and give clear type names in error messages. </a:t>
            </a:r>
            <a:pPr indent="0" marL="0">
              <a:buNone/>
            </a:pPr>
            <a:r>
              <a:rPr lang="en-US" sz="12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makeCArrayView</a:t>
            </a:r>
            <a:pPr indent="0" marL="0">
              <a:buNone/>
            </a:pPr>
            <a:r>
              <a:rPr lang="en-US" sz="12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no ceiling because </a:t>
            </a:r>
            <a:pPr indent="0" marL="0">
              <a:buNone/>
            </a:pPr>
            <a:r>
              <a:rPr lang="en-US" sz="12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ExtractDims</a:t>
            </a:r>
            <a:pPr indent="0" marL="0">
              <a:buNone/>
            </a:pPr>
            <a:r>
              <a:rPr lang="en-US" sz="12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recurses without a fixed depth limit. The rank-0 fallback guide exists purely to redirect users who hit the CTAD ceiling to </a:t>
            </a:r>
            <a:pPr indent="0" marL="0">
              <a:buNone/>
            </a:pPr>
            <a:r>
              <a:rPr lang="en-US" sz="12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makeCArrayView()</a:t>
            </a:r>
            <a:pPr indent="0" marL="0">
              <a:buNone/>
            </a:pPr>
            <a:r>
              <a:rPr lang="en-US" sz="12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readable diagnostic rather than a cryptic template error.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361EE"/>
                </a:solidFill>
              </a:rPr>
              <a:t>ELEMENT ACCESS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v(2, 1, 0) — From Indices to Flat Offset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shape information is compile-time. The linear offset fold expression expands with zero branches at runtime.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251960" cy="128016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44752"/>
            <a:ext cx="40507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template&lt;integral... Indices&gt;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requires (sizeof...(Indices) == Rank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&amp;&amp; (!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is_same_v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&lt;remove_cvref_t&lt;Indices&gt;, bool&gt;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&amp;&amp; ...))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reference operator()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(Indices... indices) const noexcept;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4114800" cy="1280160"/>
          </a:xfrm>
          <a:prstGeom prst="rect">
            <a:avLst/>
          </a:prstGeom>
          <a:solidFill>
            <a:srgbClr val="FFF8E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444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bool excluded?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73736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satisfies std::integral. Without the extra constraint, v(true, false, true) would compile — producing indices {1,0,1}. Excluding bool makes the intent clear: indices must be integers, not booleans.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743200"/>
            <a:ext cx="8503920" cy="256032"/>
          </a:xfrm>
          <a:prstGeom prst="rect">
            <a:avLst/>
          </a:prstGeom>
          <a:solidFill>
            <a:srgbClr val="252A50"/>
          </a:solidFill>
          <a:ln w="12700">
            <a:solidFill>
              <a:srgbClr val="252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7977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Trace: v(2, 1, 0)   on   CArrayView&lt;int, 3, 3,4,5&gt;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99232"/>
            <a:ext cx="8503920" cy="1371600"/>
          </a:xfrm>
          <a:prstGeom prst="rect">
            <a:avLst/>
          </a:prstGeom>
          <a:solidFill>
            <a:srgbClr val="1E2030"/>
          </a:solidFill>
          <a:ln w="12700">
            <a:solidFill>
              <a:srgbClr val="2A2D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072384"/>
            <a:ext cx="830275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kStrides = {20, 5, 1}       // makeStrides() at compile time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linearOffset(idx={2,1,0}) = 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idx[0]*kStrides[0]  +  idx[1]*kStrides[1]  +  idx[2]*kStrides[2]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2*20                +  1*5                 +  0*1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40                  +  5                   +  0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45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mData[45];  // &amp;arr[0][0][0] + 45 == &amp;arr[2][1][0]  ✓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4462272"/>
            <a:ext cx="8503920" cy="502920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5079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 expression  </a:t>
            </a:r>
            <a:pPr indent="0" marL="0">
              <a:buNone/>
            </a:pPr>
            <a:r>
              <a:rPr lang="en-US" sz="1100" b="1" dirty="0">
                <a:solidFill>
                  <a:srgbClr val="4361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((idx[Is] * kStrides[Is]) + ...)</a:t>
            </a:r>
            <a:pPr indent="0" marL="0">
              <a:buNone/>
            </a:pPr>
            <a:r>
              <a:rPr lang="en-US" sz="11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expands at compile time to exactly Rank multiplications and additions — no loop, no branch, no overhead.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4361EE"/>
                </a:solidFill>
              </a:rPr>
              <a:t>DESIGN GAPS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Issues &amp; What to Fix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914400"/>
            <a:ext cx="42976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87552"/>
            <a:ext cx="822960" cy="21945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9875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70432" y="9875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Rank parameter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261872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sizeof...(Dims) always equals Rank by the requires clause. The redundancy creates a manual consistency hazard for anyone constructing CArrayView by hand. Drop Rank and derive it: static constexpr size_t Rank = sizeof...(Dims).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792224"/>
            <a:ext cx="4114800" cy="310896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81051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T, size_t... Dims&gt; class CArrayView { static constexpr size_t Rank = sizeof...(Dims); };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4592" y="2267712"/>
            <a:ext cx="42976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340864"/>
            <a:ext cx="82296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408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70432" y="23408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checkBounds assert not constexpr-safe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615184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assert() is not a core constant expression in C++20. checkBounds() is called from constexpr operator(). The rank-1 constexpr path claimed in the header comment can silently skip the assert or hard-error depending on the implementation.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3145536"/>
            <a:ext cx="4114800" cy="310896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316382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(!std::is_constant_evaluated()) for (size_type i=0; i&lt;Rank; ++i) assert(idx[i] &lt; kDims[i]);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4592" y="3621024"/>
            <a:ext cx="42976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4361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3694176"/>
            <a:ext cx="822960" cy="219456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36941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70432" y="36941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begin()/end() iterators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3968496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data() and size() are both present. Adding begin()/end() makes CArrayView a contiguous range, unlocking std::ranges algorithms, range-for, and structured bindings at zero cost.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4498848"/>
            <a:ext cx="4114800" cy="310896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451713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pointer begin() const noexcept { return mData; }  constexpr pointer end() const noexcept { return mData + size(); }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914400"/>
            <a:ext cx="42976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987552"/>
            <a:ext cx="822960" cy="21945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9875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669280" y="9875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compile-time stride&lt;R&gt;()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73168" y="1261872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stride(r) takes a runtime argument. For the common case of stride(0), stride(1), a template overload eliminates the assert and the bounds check, with concept-based error on out-of-range R.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1792224"/>
            <a:ext cx="4114800" cy="310896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81051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template&lt;size_t R&gt; requires (R &lt; Rank) static constexpr size_type stride() noexcept { return kStrides[R]; }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2267712"/>
            <a:ext cx="429768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340864"/>
            <a:ext cx="822960" cy="21945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3408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669280" y="23408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operator== or std::hash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73168" y="2615184"/>
            <a:ext cx="4096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gap as StructRef. Two views pointing to the same array should compare equal. Without operator== and std::hash, CArrayView cannot be used as a key in unordered containers.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145536"/>
            <a:ext cx="4114800" cy="310896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16382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friend constexpr bool operator==(CArrayView a, CArrayView b) noexcept { return a.mData == b.mData; }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0" y="320040"/>
            <a:ext cx="1554480" cy="1097280"/>
          </a:xfrm>
          <a:prstGeom prst="rect">
            <a:avLst/>
          </a:prstGeom>
          <a:solidFill>
            <a:srgbClr val="0EA5E9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320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A−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0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grade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ExtractDims / BuildArrayType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inverse TMP pair — enforced by the type system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12140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CTAD !is_array_v guard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5156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silent rank-1 mis-deduction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77977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UB acknowledged in flatPtr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3035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[expr.add], C++23 fix path noted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43814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fromPointer named factory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51560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path explicit at call site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09651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Rank-0 fallback + static_assert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51560" y="4352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diagnostic beyond rank 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fix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46304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Redundant Rank parameter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5780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Eliminable, consistency hazard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12140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checkBounds + constexpr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5780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not safe in constant expressions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77977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begin()/end()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57800" y="3035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the entire ranges ecosystem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43814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compile-time stride&lt;R&gt;()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57800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arg where compile-time suffices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409651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operator== / std::hash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57800" y="4352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gap as StructRef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52A50"/>
          </a:solidFill>
          <a:ln w="12700">
            <a:solidFill>
              <a:srgbClr val="252A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79145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8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ulib::CArrayView — compile-time shape, zero overhead, honest UB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CArrayView — Zero-Overhead Multidimensional C Array View</dc:title>
  <dc:subject>PptxGenJS Presentation</dc:subject>
  <dc:creator>PptxGenJS</dc:creator>
  <cp:lastModifiedBy>PptxGenJS</cp:lastModifiedBy>
  <cp:revision>1</cp:revision>
  <dcterms:created xsi:type="dcterms:W3CDTF">2026-03-05T08:16:33Z</dcterms:created>
  <dcterms:modified xsi:type="dcterms:W3CDTF">2026-03-05T08:16:33Z</dcterms:modified>
</cp:coreProperties>
</file>