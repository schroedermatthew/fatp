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A3633"/>
                </a:solidFill>
              </a:rPr>
              <a:t>PROBLEM-SOLVING SESSION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EDF3"/>
                </a:solidFill>
              </a:rPr>
              <a:t>The Accidental Mutation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Const Correctness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3383280"/>
            <a:ext cx="1280160" cy="36576"/>
          </a:xfrm>
          <a:prstGeom prst="rect">
            <a:avLst/>
          </a:prstGeom>
          <a:solidFill>
            <a:srgbClr val="DA363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"helper" function that secretly modifies your data.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754880" cy="219456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6576" cy="21945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calculate_average(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vector&lt;Record&gt;&amp; records)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"Normalize" categories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(auto&amp; r : records)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transform(r.category.begin(),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r.category.end(),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r.category.begin(),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::tolower);  // MUTATES!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compute average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0" y="1005840"/>
            <a:ext cx="3474720" cy="1645920"/>
          </a:xfrm>
          <a:prstGeom prst="rect">
            <a:avLst/>
          </a:prstGeom>
          <a:solidFill>
            <a:srgbClr val="2D151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THE SURPRISE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0680" y="13716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Caller passes records.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Expects just an average.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Gets mutated data back.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Original category casing? Gone.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Downstream grouping? Broken.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8412480" cy="50292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41071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</a:rPr>
              <a:t>The function signature (vector&lt;Record&gt;&amp;) said "I might modify this."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</a:rPr>
              <a:t>But who reads signatures that carefully?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const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Add const — compiler catches the mutation: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0" cy="123444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36576" cy="1234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calculate_average(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vector&lt;Record&gt;&amp; records)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(auto&amp; r : records)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transform(...)  // Compile ERROR!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0" y="1234440"/>
            <a:ext cx="3657600" cy="8229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2984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cannot assign to variable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'r' with const-qualified type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'const Record&amp;'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REFERENCE TYPES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14630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Copy — can modify locally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14630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T&amp;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Reference — can modify, caller sees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146304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49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T&amp;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Const ref — cannot modify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2651760"/>
            <a:ext cx="3657600" cy="146304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2651760"/>
            <a:ext cx="36576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743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RULE OF THUMB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3017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Default to const T&amp;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Only remove const when you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intend to modify the argument.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A const method promises not to modify *this: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0" cy="219456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36576" cy="21945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4343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balance_;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Const: can call on const objects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get_balance() const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balance_;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Non-const: modifies *this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deposit(double amount)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balance_ += amount;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2064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USAGE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0" y="1463040"/>
            <a:ext cx="3657600" cy="146304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1463040"/>
            <a:ext cx="36576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15544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audit(const BankAccount&amp; a)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b = a.get_balance();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OK: const method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a.deposit(100);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ERROR: non-const method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on const object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3063240"/>
            <a:ext cx="3657600" cy="7772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3127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CONST METHOD CONTRACT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57800" y="3337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Won't modify non-mutable members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Won't call non-const methods on *this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• Safe to call on const objects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constexpr and consteval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71F7"/>
                </a:solidFill>
              </a:rPr>
              <a:t>CONSTEXPR: maybe compile-time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554480"/>
          </a:xfrm>
          <a:prstGeom prst="rect">
            <a:avLst/>
          </a:prstGeom>
          <a:solidFill>
            <a:srgbClr val="1C1C1C"/>
          </a:solidFill>
          <a:ln w="6350">
            <a:solidFill>
              <a:srgbClr val="A37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36576" cy="155448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constexpr int square(int x)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 * 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constexpr int a = square(5);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Compile-time: a = 25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square(runtime_val);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Runtime (if not constexpr)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CONSTEVAL: always compile-time (C++20)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4023360" cy="1005840"/>
          </a:xfrm>
          <a:prstGeom prst="rect">
            <a:avLst/>
          </a:prstGeom>
          <a:solidFill>
            <a:srgbClr val="1C1C1C"/>
          </a:solidFill>
          <a:ln w="6350">
            <a:solidFill>
              <a:srgbClr val="F088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063240"/>
            <a:ext cx="36576" cy="10058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15468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consteval int cube(int x)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 * x * 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cube(3);  //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cube(x);  // ERROR!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06240" cy="1828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9875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CONST VS CONSTEXPR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Immutable?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Yes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Yes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16276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Compile-time?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16276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Maybe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1627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Yes (if inputs are)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19751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Array size?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19751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No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19751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Yes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23225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Template arg?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3225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No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23225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</a:rPr>
              <a:t>Yes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10515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const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1051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constexpr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834640"/>
            <a:ext cx="4206240" cy="100584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9260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constexpr int MAX = 1024;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array&lt;int, MAX&gt; buffer;  // OK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max = get_max();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array&lt;int, max&gt; buf2;  // ERROR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and Thread Safety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Const enables safe concurrent access: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0" cy="164592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36576" cy="1645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4343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Document doc = load();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Multiple threads can read safely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10;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threads.emplace_back([&amp;doc]()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content = doc.get_content();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Safe: doc is const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0" y="1234440"/>
            <a:ext cx="365760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5257800" y="12984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STANDARD LIBRARY GUARANTEE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57800" y="1572768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const methods can be called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  concurrently from multiple threads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• non-const methods require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  exclusive access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Const objects are safe to share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without locks.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8412480" cy="822960"/>
          </a:xfrm>
          <a:prstGeom prst="rect">
            <a:avLst/>
          </a:prstGeom>
          <a:solidFill>
            <a:srgbClr val="2D151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272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5149"/>
                </a:solidFill>
              </a:rPr>
              <a:t>DATA RACE EXAMPLE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337560"/>
            <a:ext cx="8138160" cy="50292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337560"/>
            <a:ext cx="36576" cy="5029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7909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vector&lt;int&gt; v = {1,2,3};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v.size();      // Thread 1: const,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v[0];          // Thread 2: const, 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v.push_back(4);  // Thread 3: non-const, DATA RACE!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36576" cy="731520"/>
          </a:xfrm>
          <a:prstGeom prst="rect">
            <a:avLst/>
          </a:prstGeom>
          <a:solidFill>
            <a:srgbClr val="DA363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3633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Default to const — remove only when mutation is needed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91440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const T&amp; for read-only params, T&amp; only when modifying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737360"/>
            <a:ext cx="36576" cy="7315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Mark methods const if they don't modify *this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737360"/>
            <a:ext cx="36576" cy="7315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71F7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constexpr for compile-time constants (array sizes, templates)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560320"/>
            <a:ext cx="36576" cy="7315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Const enables thread-safe sharing without locks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4206240" cy="731520"/>
          </a:xfrm>
          <a:prstGeom prst="rect">
            <a:avLst/>
          </a:prstGeom>
          <a:solidFill>
            <a:srgbClr val="1A2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56032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Use const everywhere you can — compiler tells you where you can't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A3633"/>
                </a:solidFill>
              </a:rPr>
              <a:t>const is documentation that the compiler enforces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5: The Accidental Mutation</dc:title>
  <dc:subject>PptxGenJS Presentation</dc:subject>
  <dc:creator>PptxGenJS</dc:creator>
  <cp:lastModifiedBy>PptxGenJS</cp:lastModifiedBy>
  <cp:revision>1</cp:revision>
  <dcterms:created xsi:type="dcterms:W3CDTF">2026-01-19T08:51:58Z</dcterms:created>
  <dcterms:modified xsi:type="dcterms:W3CDTF">2026-01-19T08:51:58Z</dcterms:modified>
</cp:coreProperties>
</file>