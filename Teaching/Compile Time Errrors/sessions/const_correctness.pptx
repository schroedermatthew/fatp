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113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331720"/>
            <a:ext cx="91440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ACCIDENTAL MUTATION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Correctness: Immutability Enforced by the Compiler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Session 5  •  C++20  •  45–60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874520" cy="14630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743200"/>
            <a:ext cx="54864" cy="146304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803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291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Compiler-enforced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contracts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2743200"/>
            <a:ext cx="1874520" cy="14630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0" y="2743200"/>
            <a:ext cx="54864" cy="146304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8803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291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T&amp; parameters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const methods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46320" y="2743200"/>
            <a:ext cx="1874520" cy="14630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2743200"/>
            <a:ext cx="54864" cy="14630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803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3291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/ consteval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evaluation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49440" y="2743200"/>
            <a:ext cx="1874520" cy="14630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0" y="2743200"/>
            <a:ext cx="54864" cy="146304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8803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32918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 shallow const,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suppression, mutable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analytics pipeline processes millions of records daily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aggregation numbers don't match the raw data anymore."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029200" cy="29260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673352"/>
            <a:ext cx="475488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Record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std::string category;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 value;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Precondition: records is non-empty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double calculate_average(std::vector&lt;Record&gt;&amp;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(auto&amp; r :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std::transform(r.category.begin(), r.category.end(),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r.category.begin(),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[](unsigned char c) { return static_cast&lt;char&gt;(std::tolower(c)); });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 sum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(const auto&amp; r : records) sum += r.value;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sum / records.size();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52160" y="1600200"/>
            <a:ext cx="2926080" cy="13716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60020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Side-effect mutation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calculate_average() lowercases every category as a side effect. The caller never expected this.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200400"/>
            <a:ext cx="2926080" cy="128016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3200400"/>
            <a:ext cx="54864" cy="1280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Downstream breakage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by category uses original casing — but original casing is now gone. Results silently wrong.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BUG: THE CALLER'S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code warns the caller about mutation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303520" cy="25603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70432"/>
            <a:ext cx="50292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process_data(std::vector&lt;Record&gt;&amp; data)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 avg = calculate_average(data);   // Looks harmless...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Later: group by category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std::map&lt;std::string, double&gt; by_category;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(const auto&amp; r : data)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by_category[r.category] += r.value;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// BUG: categories were lowercased by calculate_average!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"Electronics" became "electronics"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"FOOD" became "food"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Original keys are gone forever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2651760" cy="9144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097280"/>
            <a:ext cx="54864" cy="9144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143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calculate_average()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"Electronics"  "FOOD"  "Toys"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2651760" cy="9144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228600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calculate_average()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"electronics"  "food"  "toys"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011680"/>
            <a:ext cx="274320" cy="2743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48640" y="3840480"/>
            <a:ext cx="8229600" cy="82296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840480"/>
            <a:ext cx="54864" cy="82296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88720" y="39319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signature said nothing about mutation. The name said "calculate." The caller had every reason to expect read-only behavior. This is the cost of missing const.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THE FIX WAS ALWAYS THERE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keyword turns a runtime mystery into a compile error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16459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44752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calculate_average(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std::vector&lt;Record&gt;&amp; records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(auto&amp; r :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std::transform(...);  // Compiles!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...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023360" cy="16459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444752"/>
            <a:ext cx="3749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calculate_average(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std::vector&lt;Record&gt;&amp; records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(auto&amp; r :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std::transform(...);  // COMPILE ERROR!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...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229600" cy="6400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20040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cannot assign to variable 'r' with const-qualified type 'const Record&amp;'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908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4023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accidental mutation becomes a compile error. The bug is caught before the code ever runs.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THE CORRECTED FUNCTIONS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read-only operations from mutations — let the signature declare intent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229600" cy="15544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70432"/>
            <a:ext cx="79552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Read-only: takes const reference, cannot mutate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Precondition: records is non-empty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double calculate_average(const std::vector&lt;Record&gt;&amp;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 sum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(const auto&amp; r :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sum += r.value;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sum / records.size();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8229600" cy="14630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907792"/>
            <a:ext cx="79552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Explicitly mutating: name AND signature both say "I modify your data"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normalize_categories_in_place(std::vector&lt;Record&gt;&amp;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(auto&amp; r :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std::transform(r.category.begin(), r.category.end(),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r.category.begin(),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[](unsigned char c) { return static_cast&lt;char&gt;(std::tolower(c)); });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4434840"/>
            <a:ext cx="54864" cy="5029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4805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44622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Design: The caller decides whether and when to normalize. The compiler makes it impossible to embed mutation inside a read-only function.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FOUR WAYS TO PASS ARGUMENTS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different implications for who can see modifications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2801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Parameter Type</a:t>
                      </a:r>
                      <a:endParaRPr lang="en-US" sz="12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Can Modify?</a:t>
                      </a:r>
                      <a:endParaRPr lang="en-US" sz="12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Copies Data?</a:t>
                      </a:r>
                      <a:endParaRPr lang="en-US" sz="12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Use When</a:t>
                      </a:r>
                      <a:endParaRPr lang="en-US" sz="12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Yes (local copy)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Small types, need local copy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T&amp;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Yes (caller sees!)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Intent is to modify caller's data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T&amp;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0A5FA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Read-only access (large objects)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8B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T&amp;&amp;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Yes (move from)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Taking ownership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08960"/>
            <a:ext cx="8229600" cy="10058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3182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Non-const when const would work — looks like it might modify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print_stats(std::vector&lt;Record&gt;&amp; records);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Const signals read-only intent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print_stats(const std::vector&lt;Record&gt;&amp; records);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8229600" cy="5486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297680"/>
            <a:ext cx="54864" cy="5486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const T&amp; by default for types expensive to copy. Only remove const when you need to modify.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WHY NOT const T&amp; FOR SMALL TYPES?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int, double, bool — pass by value is actually better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18288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 int&amp;  (reference)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Caller stores int in memory, passes pointer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Callee dereferences on every read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Compiler must reload after any call (aliasing)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 memory traffic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8288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  (by value)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goes directly into a register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address taken, no indirection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Compiler knows local can't alias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stays in register across calls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Assembly difference: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8229600" cy="8229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502152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void f(const int&amp; x)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 eax, DWORD PTR [rdi]   ; dereference pointer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void f(int x)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x is already in edi — no load needed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cutoff: pass by value for int, double, float, char, bool, raw pointers, iterators. Use const T&amp; for everything else.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CONST ON BY-VALUE PARAMETERS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accidental assignment to the wrong parameter (doesn’t change the function’s type/signature — purely an intent tool inside the body)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229600" cy="11887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7955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Typo assigns to parameter instead of using correct constant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lerp(double a, double b, double t)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 = std::clamp(t, 0.0, b);  // Oops: 'b' instead of '1.0'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a + t * (b - a);     // Produces plausible but wrong results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33172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651760"/>
            <a:ext cx="8229600" cy="10515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724912"/>
            <a:ext cx="7955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const catches the typo immediately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lerp(const double a, const double b, const double t)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 = std::clamp(t, 0.0, b);  // COMPILE ERROR: cannot assign to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a + t * (b - a);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7947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114800"/>
            <a:ext cx="8229600" cy="91440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85800" y="418795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BEST: Assign to a new local, making intent explicit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lerp(const double a, const double b, const double t)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double clamped = std::clamp(t, 0.0, 1.0);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a + clamped * (b - a);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WHAT const T&amp; GIVES THE COMPILER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assembly differences — GCC 13.2, -O2, x86-64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NON-CONST  (must reload)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16459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44752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sum_and_count(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std::vector&lt;int&gt;&amp; v)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int total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for (int x : v) total += x;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total + v.size();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must reload size — did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the loop modify v?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  (cached in register)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069080" cy="16459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44752"/>
            <a:ext cx="37947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sum_and_count(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std::vector&lt;int&gt;&amp; v)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int total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for (int x : v) total += x;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total + v.size();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size cached from before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the loop — stays in register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Generated assembly (simplified):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0" cy="10515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593592"/>
            <a:ext cx="35661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--- non-const (after loop) ---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 rax, QWORD PTR [rdi+8]  ; reload v.end()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 rax, QWORD PTR [rdi]    ; reload v.begin()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  rax, 2                   ; size = (end-begin)/4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eax, ecx                 ; add to total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3520440"/>
            <a:ext cx="4069080" cy="10515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593592"/>
            <a:ext cx="37947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--- const (after loop) ---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 eax, r12d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r12d already holds size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loaded once before the loop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TWO FEWER memory loads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tight loops, those extra loads hit L1 at best, main memory at worst. The cost scales with call frequency.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CONST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const on a method means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846320" cy="19202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70432"/>
            <a:ext cx="457200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BankAccount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 balance_ = 0.0;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 get_balance() const {  // Promises not to modify *this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balance_;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void deposit(double amount) { // May modify *this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balance_ += amount;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108960" cy="19202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1097280"/>
            <a:ext cx="54864" cy="19202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Contract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5087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Won't modify non-mutable members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Won't call non-const methods on *this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Safe to call on const objects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229600" cy="9601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364992"/>
            <a:ext cx="7955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audit(const BankAccount&amp; account)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 b = account.get_balance();  // OK: get_balance() is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account.deposit(100);              // COMPILE ERROR: deposit() is non-const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43484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48056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44622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const on a getter hides it from every function that takes const T&amp;. One missing const cascades across the codebase.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CONST OVERLOAD RESOLUTION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selects const vs. non-const based on the object's qualification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029200" cy="24688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475488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Matrix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std::vector&lt;double&gt; data_;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int cols_;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Non-const overload: returns mutable reference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double&amp; operator()(int r, int c)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data_[r * cols_ + c];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Const overload: returns const reference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double&amp; operator()(int r, int c) const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data_[r * cols_ + c];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051560"/>
            <a:ext cx="2926080" cy="10972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051560"/>
            <a:ext cx="54864" cy="10972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Non-const object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m(0,0) = 1.0;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calls non-const operator()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returns double&amp;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0" y="2377440"/>
            <a:ext cx="2926080" cy="10972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2377440"/>
            <a:ext cx="54864" cy="10972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423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 object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697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v = cm(0,0);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calls const operator()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returns const double&amp;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8229600" cy="13258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822192"/>
            <a:ext cx="79552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fill(Matrix&amp; m)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m(0, 0) = 1.0;       // non-const: returns double&amp;, assignment OK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trace(const Matrix&amp; m)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m(0, 0);       // const: returns const double&amp;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m(0, 0) = 5.0;     // COMPILE ERROR: const double&amp; not assignable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MUTABLE — WHEN IMPLEMENTATION ≠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Logically read-only, but implementation needs internal bookkeeping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029200" cy="21945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47548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Cache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mutable std::unordered_map&lt;int, Result&gt; cache_;  // mutable!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Result lookup(int key) const {    // const method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if (auto it = cache_.find(key); it != cache_.end())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return it-&gt;second;        // Cache hit — return stored result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Result r = expensive_compute(key);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cache_[key] = r;              // OK: cache_ is mutable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r;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051560"/>
            <a:ext cx="2926080" cy="10058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051560"/>
            <a:ext cx="54864" cy="10058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Legitimate uses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 (locking in const methods)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 counters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286000"/>
            <a:ext cx="2926080" cy="9601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228600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Smell 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"getter" needs mutable for real state — it isn't actually a getter. Reconsider the design.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229600" cy="14173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474720"/>
            <a:ext cx="54864" cy="14173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56616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8872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DANGER: mutable breaks thread safety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" y="3886200"/>
            <a:ext cx="7863840" cy="7772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68680" y="3959352"/>
            <a:ext cx="7589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Cache c;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std::jthread t1([&amp;c]() { c.lookup(1); });  // Both threads write to cache_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std::jthread t2([&amp;c]() { c.lookup(2); });  // DATA RACE — undefined behavior!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Q3: FIXING MUTABLE WITH SYNCHRONIZATION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mutable data member with mutable synchronization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669280" cy="24688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53949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Cache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mutable std::mutex mutex_;                       // mutable mutex!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mutable std::unordered_map&lt;int, Result&gt; cache_;  // mutable data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Result lookup(int key) const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std::lock_guard lock(mutex_);  // OK: mutex_ is mutable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if (auto it = cache_.find(key); it != cache_.end())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return it-&gt;second;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Result r = expensive_compute(key);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cache_[key] = r;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return r;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92240" y="1051560"/>
            <a:ext cx="2286000" cy="10972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0" y="105156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097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94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calls to lookup serialize on the mutex. Const contract restored.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2377440"/>
            <a:ext cx="2286000" cy="10972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377440"/>
            <a:ext cx="54864" cy="109728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4231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can treat const Cache&amp; as concurrent-read-safe.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8229600" cy="9601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85800" y="3867912"/>
            <a:ext cx="79552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safe — threads serialize on the internal mutex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Cache c;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std::jthread t1([&amp;c]() { c.lookup(1); });  // OK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std::jthread t2([&amp;c]() { c.lookup(2); });  // OK — no data race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discipline: every mutable data member should have a corresponding synchronization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 CONSTEXPR — MAYBE COMPILE-TIME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can be evaluated at compile time if the inputs are known"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229600" cy="137160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7955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square(int x)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x * x;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a = square(5);       // Computed at compile time: a = 25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 = square(runtime_value);     // Falls back to runtime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constexpr has grown — C++11 → C++23: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874520" cy="11887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26080"/>
            <a:ext cx="54864" cy="1188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C++11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return, no loops,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variables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2926080"/>
            <a:ext cx="1874520" cy="11887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2926080"/>
            <a:ext cx="54864" cy="1188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C++14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locals, mutation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local state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1874520" cy="11887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54864" cy="1188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C++20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allocs (new/delete),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vector, string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2926080"/>
            <a:ext cx="1874520" cy="11887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2926080"/>
            <a:ext cx="54864" cy="1188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C++23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goto, labels, static locals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nearly everything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maintaining hand-rolled compile-time tables or recursive template metafunctions, a constexpr function with loops is almost always clearer.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 CONSTEXPR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factorial to compile-time data processing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C++14+: loops, locals, mutation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16916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53312"/>
            <a:ext cx="36576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factorial(int n)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int result = 1;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for (int i = 2; i &lt;= n; ++i)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result *= i;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result;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f10 = factorial(10);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f10 = 3628800 at compile 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C++20: vector &amp; string at compile 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16916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53312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size_t count_unique_words(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string_view text)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vector&lt;string_view&gt; words;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... parse words ...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sort(words.begin(), words.end());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auto last = unique(words.begin(),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words.end());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last - words.begin();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229600" cy="8229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73552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Validated at compile time — duplicate field name caught before the program runs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kFieldCount = count_unique_words("name age score name rank");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static_assert(kFieldCount == 4, "duplicate field name detected");  // 4, not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8229600" cy="6858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206240"/>
            <a:ext cx="54864" cy="68580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9768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42793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validation eliminates entire categories of runtime bugs. If the data is known at compile time, validate it at compile time.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 CONSTEVAL — MUST BE COMPILE-TIME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silently falls back to runtime. consteval refuses to.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constexpr: maybe compile-time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21031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99032"/>
            <a:ext cx="35661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square(int x)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x * x;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int a = square(5);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OK: compile time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 = get_input();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 = square(val);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OK: falls back to runtime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WARNING — silent fallback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consteval: always compile-time (C++20)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24688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99032"/>
            <a:ext cx="374904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consteval uint16_t port(int p)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(p &lt; 1 || p &gt; 65535)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throw "port out of range";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/* byte swap */;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ok  = port(80);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OK: computed at compile time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bad = port(99999);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 ERROR: out of range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 = get_input();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x = port(p);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 ERROR: not constant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8229600" cy="59436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977640"/>
            <a:ext cx="54864" cy="594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consteval when the whole point is to catch mistakes before the program runs. Runtime fallback defeats the purpose.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Q4: CONSTINIT &amp; IF CONSTEXPR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compile-time family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23774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23774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constinit (C++20)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initialization,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mutability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566160" cy="14173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947672"/>
            <a:ext cx="32918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constinit int request_count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Initialized at compile time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const — can modify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handle_request()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++request_count;  // OK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14800" cy="23774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2377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constexpr (C++17)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branching 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discarded branch need not compile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874520"/>
            <a:ext cx="3749040" cy="14173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947672"/>
            <a:ext cx="34747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to_string(const T&amp; val)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if constexpr (is_integral_v&lt;T&gt;)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std::to_string(val);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else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val.serialize();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1887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Keyword</a:t>
                      </a:r>
                      <a:endParaRPr lang="en-US" sz="11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Compile-time Init?</a:t>
                      </a:r>
                      <a:endParaRPr lang="en-US" sz="11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Immutable?</a:t>
                      </a:r>
                      <a:endParaRPr lang="en-US" sz="11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Use Case</a:t>
                      </a:r>
                      <a:endParaRPr lang="en-US" sz="11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</a:rPr>
                        <a:t>Sometimes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Runtime values that shouldn't change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constexpr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Always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True compile-time constants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0A5F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constinit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Always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Safe init of mutable globals</a:t>
                      </a:r>
                      <a:endParaRPr lang="en-US" sz="1000" dirty="0"/>
                    </a:p>
                  </a:txBody>
                  <a:tcPr marL="109728" marR="109728" marT="54864" marB="54864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Q5: CONST FOR LOCAL VARIABLES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accidental reassignment of config, results, and snapshots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846320" cy="16459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457200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process()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auto config = load_config();  // Can't accidentally reassign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config = other_config;  // COMPILE ERROR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Half the function uses one config, half uses another?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Not possible with const.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use(config);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051560"/>
            <a:ext cx="3108960" cy="16459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1051560"/>
            <a:ext cx="54864" cy="1645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config = other_config halfway through creates a subtle inconsistency — first half operates under one config, second half under another. const catches this at the point of the mistake.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variables — same pattern: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931920" cy="7315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502152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(auto&amp; r :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process(r);  // Did process() modify r? Who knows.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29000"/>
            <a:ext cx="4023360" cy="7315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auto&amp; r : records)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process(r);  // Compile error if process() modifies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auto&amp; makes read-only intent explicit and catches accidental writes when they're introduced.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Q5: POINTER LEVELS OF CONST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dimensions — pointee vs. pointer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229600" cy="23774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795528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10, y = 20;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            p1 = &amp;x;   // Mutable pointer to mutable int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int*       p2 = &amp;x;   // Mutable pointer to const int   (can't modify *p2)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const       p3 = &amp;x;   // Const pointer to mutable int   (can't reassign p3)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int* const p4 = &amp;x;   // Const pointer to const int     (can't do either)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*p1 = 5;    // OK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*p2 = 5;    // COMPILE ERROR: *p2 is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 = &amp;y;   // COMPILE ERROR: p3 is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*p3 = 5;    // OK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*p4 = 5;    // COMPILE ERROR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  = &amp;y;   // COMPILE ERROR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931920" cy="10972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657600"/>
            <a:ext cx="54864" cy="10972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30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right-to-left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050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int* const p =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 is a const pointer to a const int"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always applies to its left,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it's leftmost (applies right).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3657600"/>
            <a:ext cx="54864" cy="10972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730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common 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40050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T*  (or T const*)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you can redirect but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write through. This is what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APIs use for read-only buffers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(const char*).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CONST LOSES: SHALLOW CONST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on a container doesn't propagate through pointers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229600" cy="114300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7955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modify_through_const(const std::vector&lt;int*&gt;&amp; v)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v.push_back(nullptr);  // COMPILE ERROR: v is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v.clear();             // COMPILE ERROR: v is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*v[0] = 42;              // COMPILES! v[0] is int* const, not const int*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8229600" cy="15544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450592"/>
            <a:ext cx="79552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Engine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std::unique_ptr&lt;Config&gt; config_;  // const pointer, non-const pointee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void reconfigure()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// config_ = make_unique&lt;Config&gt;();  // COMPILE ERROR: can't reassign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config_-&gt;timeout = 30;              // COMPILES: Config is mutable!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different mutation contracts: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965960" cy="6400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4343400"/>
            <a:ext cx="54864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unique_ptr&lt;Config&gt;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ptr: mutable  config: mutable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51760" y="4343400"/>
            <a:ext cx="1965960" cy="6400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434340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unique_ptr&lt;Config&gt;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ptr: fixed  config: mutable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4343400"/>
            <a:ext cx="1965960" cy="6400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4343400"/>
            <a:ext cx="54864" cy="6400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unique_ptr&lt;const Config&gt;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ptr: mutable  config: immutable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0" y="4343400"/>
            <a:ext cx="1965960" cy="6400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434340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unique_ptr&lt;const Config&gt;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4944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ptr: fixed  config: immutable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CONST LOSES: BLOCKS MOVE SEMANTICS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case where "default to const" has a genuine performance cost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229600" cy="10515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79552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std::vector&lt;std::string&gt; build_report()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auto lines = generate_lines();  // const local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...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lines;                         // May copy — move fallback blocked by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931920" cy="15544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59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copies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std::move(const T) produces const T&amp;&amp;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cannot bind to T&amp;&amp;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NRVO may still fire, but if it doesn't,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is copy, not move.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strings: microseconds → milliseconds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4023360" cy="155448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28600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guideline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locals const when they won't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moved from.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variables that will be returned,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T&amp;&amp; or by value, or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emplaced — leave them non-const.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8229600" cy="91440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14223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CORRECT: non-const local allows move/NRVO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std::vector&lt;std::string&gt; build_report()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auto lines = generate_lines();   // no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lines;                    // NRVO or implicit move — no copy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 AND THREAD SAFETY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enables concurrent reads — but is not a synchronization primitive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029200" cy="17373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4754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readers, no writers — data-race-free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Document doc = load_document();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std::vector&lt;std::thread&gt; threads;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10; i++)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threads.emplace_back([&amp;doc]()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auto content = doc.get_content();  // OK: doc is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051560"/>
            <a:ext cx="2926080" cy="173736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051560"/>
            <a:ext cx="54864" cy="1737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Library Contract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37160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standard library types, simultaneous const member function calls are safe as long as no thread performs a non-const operation on the same object.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Non-const member functions require exclusive access — no other thread may access the object.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classes get no such guarantee for free.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229600" cy="59436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17520"/>
            <a:ext cx="54864" cy="59436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9067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reads are data-race-free only if nothing is mutating the object — including via mutable members, shared pointees, or unsynchronized internal caches.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94760"/>
            <a:ext cx="8229600" cy="114300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" y="3867912"/>
            <a:ext cx="7955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std::vector&lt;int&gt; v = {1, 2, 3};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1: int size = v.size();      // OK: const access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2: int first = v[0];         // OK: concurrent const access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3: v.push_back(4);           // COMPILE ERROR: push_back is non-const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prevents the mutation that would make synchronization necessary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CONST LOSES: const_cast &amp; C APIs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escape hatches from const correctness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22860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const_cast = Undefined Behavior risk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566160" cy="169164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536192"/>
            <a:ext cx="32918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bad(const string&amp; s) {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string&amp; mut = const_cast&lt;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string&amp;&gt;(s);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mut = "modified";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UB if s was born const!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string original = "hello";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bad(original);  // UB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22860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2286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15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API Boundaries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 APIs take char* for buffers they won't modify.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must const_cast or copy — both erode const guarantees.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wrap C APIs in const-correct C++ interfaces.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itself remains a gap in the const safety net.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229600" cy="12344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54864" cy="12344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393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Viral Propagation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1363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const to one parameter cascades: every function it calls must also be const-correct, every getter must be marked const, every reference must be const T&amp;. In a codebase that didn't start const-correct, retrofitting touches dozens of files. This is not a flaw — it's const enforcing its promises — but it is a real adoption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1 &amp;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const on getters • Exposing non-const internal references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 1: Missing const on getters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229600" cy="118872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53312"/>
            <a:ext cx="7955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std::string name_;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get_name() { return name_; }        // BAD: can't call on const Person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string get_name() const { return name_; }  // GOOD: works on any Person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 2: Returning non-const ref to internals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8229600" cy="15544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953512"/>
            <a:ext cx="79552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Container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std::vector&lt;int&gt; data_;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GOOD: const overload for read-only access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const std::vector&lt;int&gt;&amp; get_data() const { return data_;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Non-const overload only if mutable access is genuinely needed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std::vector&lt;int&gt;&amp; get_data() { return data_;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^^^ Caller can now bypass all class invariants — deliberate design choice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temptation is to remove const from the caller's parameter to make it compile. That's the wrong fix — it propagates the problem outward.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 3: const_cast AND 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through cast-away const is undefined behavior if the object was born const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229600" cy="137160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24712"/>
            <a:ext cx="7955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bad_function(const std::string&amp; s)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std::string&amp; mutable_s = const_cast&lt;std::string&amp;&gt;(s);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mutable_s = "modified";  // UB if s refers to an originally-const object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std::string original = "hello";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bad_function(original);  // UNDEFINED BEHAVIOR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931920" cy="19202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06040"/>
            <a:ext cx="54864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compiler can break you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declare const, the compiler may: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 it in read-only memory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away repeated reads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Substitute the known value directly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Reorder/eliminate stores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write may never be seen, may crash, or may produce different results at different -O levels.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606040"/>
            <a:ext cx="4023360" cy="192024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606040"/>
            <a:ext cx="54864" cy="1920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legitimate 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999232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with legacy APIs that lack const correctness but are known not to modify the argument.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then: you must be certain the underlying object was NOT originally declared const.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 is safe only when the object was born non-const and acquired const along the way (e.g., via const T&amp; parameter).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4 &amp;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variables without const • Lambda capture surprises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 4: Loop variables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229600" cy="128016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53312"/>
            <a:ext cx="79552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(auto&amp; r : records)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process(r);  // Did process() modify r? Who knows.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auto&amp; r : records)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process(r);  // Compile error if process() tries to modify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Mistake 5: Lambda captures are const by default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8229600" cy="1783080"/>
          </a:xfrm>
          <a:prstGeom prst="rect">
            <a:avLst/>
          </a:prstGeom>
          <a:solidFill>
            <a:srgbClr val="181B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090672"/>
            <a:ext cx="795528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count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std::for_each(items.begin(), items.end(), [count](const Item&amp; item)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(item.is_valid()) ++count;  // COMPILE ERROR: count is const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Fix: add mutable keyword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std::for_each(items.begin(), items.end(), [count](const Item&amp; item) mutable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(item.is_valid()) ++count;  // OK — but count is a COPY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 here is still 0! Lambda modified its own copy.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are compiler-generated classes. operator() is const by default. Captured-by-value vars are members → immutable in const methods. Use mutable or capture by 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GUARANTEES vs NON-GUARANTEES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GUARANTEED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through const T&amp; rejected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2024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Non-const methods blocked on const objects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2316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overload selected for const objects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2608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vars available at compile time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2900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86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consteval enforces compile-time eval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3192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6868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captures immutable by default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GUARANTEED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41732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749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immutability through pointers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192024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7492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semantics on const objects</a:t>
            </a:r>
            <a:endParaRPr lang="en-US" sz="11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2423160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07492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 from const alone</a:t>
            </a:r>
            <a:endParaRPr lang="en-US" sz="11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2926080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07492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against const_cast misuse</a:t>
            </a:r>
            <a:endParaRPr lang="en-US" sz="11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3429000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07492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members staying unchanged</a:t>
            </a:r>
            <a:endParaRPr lang="en-US" sz="11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0600" y="3931920"/>
            <a:ext cx="201168" cy="201168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07492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propagation across C APIs</a:t>
            </a:r>
            <a:endParaRPr lang="en-US" sz="1100" dirty="0"/>
          </a:p>
        </p:txBody>
      </p:sp>
      <p:sp>
        <p:nvSpPr>
          <p:cNvPr id="30" name="Shape 16"/>
          <p:cNvSpPr/>
          <p:nvPr/>
        </p:nvSpPr>
        <p:spPr>
          <a:xfrm>
            <a:off x="4434840" y="1005840"/>
            <a:ext cx="27432" cy="3108960"/>
          </a:xfrm>
          <a:prstGeom prst="rect">
            <a:avLst/>
          </a:prstGeom>
          <a:solidFill>
            <a:srgbClr val="333A48"/>
          </a:solidFill>
          <a:ln/>
        </p:spPr>
      </p:sp>
      <p:sp>
        <p:nvSpPr>
          <p:cNvPr id="31" name="Shape 17"/>
          <p:cNvSpPr/>
          <p:nvPr/>
        </p:nvSpPr>
        <p:spPr>
          <a:xfrm>
            <a:off x="548640" y="4251960"/>
            <a:ext cx="8229600" cy="68580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18"/>
          <p:cNvSpPr/>
          <p:nvPr/>
        </p:nvSpPr>
        <p:spPr>
          <a:xfrm>
            <a:off x="548640" y="4251960"/>
            <a:ext cx="54864" cy="685800"/>
          </a:xfrm>
          <a:prstGeom prst="rect">
            <a:avLst/>
          </a:prstGeom>
          <a:solidFill>
            <a:srgbClr val="60A5FA"/>
          </a:solidFill>
          <a:ln/>
        </p:spPr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4315968"/>
            <a:ext cx="274320" cy="27432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143000" y="42976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Checklist: Parameters → Return types → Member functions → Const overloads → Local vars → Loop vars → Pointers → mutable members → Lambda captures → Globals/statics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SUMMARY: PROBLEM → SOLUTION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Problem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Solution</a:t>
                      </a:r>
                      <a:endParaRPr lang="en-US" sz="110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0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Accidental mutation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const T&amp; for read-only parameters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Surprise side effects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Mark non-modifying methods const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mutable data races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Pair mutable data with mutable std::mutex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Unclear API intent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const documents read-only vs. read-write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Runtime "constants"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constexpr for compile-time constants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Static init order fiasco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constinit for safe initialization of mutable globals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Silent copy instead of move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Don't const locals that will be returned or moved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Shallow const surprise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1F5F9"/>
                          </a:solidFill>
                        </a:rPr>
                        <a:t>const at each indirection level: unique_ptr&lt;const T&gt;</a:t>
                      </a:r>
                      <a:endParaRPr lang="en-US" sz="1050" dirty="0"/>
                    </a:p>
                  </a:txBody>
                  <a:tcPr marL="137160" marR="137160" marT="73152" marB="73152">
                    <a:lnL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A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PRINCIPLES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51560" y="868680"/>
            <a:ext cx="36576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822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const — remove it only when mutation is needed, or when the variable will be moved from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1344168"/>
            <a:ext cx="36576" cy="274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2984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is documentation — it tells callers what to expect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1819656"/>
            <a:ext cx="36576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17739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is enforced — the compiler rejects violations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2494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1560" y="2295144"/>
            <a:ext cx="36576" cy="274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22494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enables concurrent reads — but does not replace thread-safety guarantees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724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2770632"/>
            <a:ext cx="36576" cy="274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27249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propagates through members — but not through pointers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51560" y="3246120"/>
            <a:ext cx="36576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32004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participates in overload resolution — compiler selects based on qualification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6758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" y="3721608"/>
            <a:ext cx="3657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requires synchronization — every mutable member needs a strategy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804672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const everywhere you can. The compiler will tell you where you can't.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EXERCISES &amp; FURTHER READING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029200" cy="34747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34747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789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Audit a class: mark every getter const, fix errors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Refactor T&amp; → const T&amp; where no mutation occurs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constexpr factorial, verify as array size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SharedConfig: concurrent reads, exclusive writes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Trigger TSan race on mutable Cache, fix w/ mutex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Measure move vs copy with/without const local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const vector&lt;unique_ptr&lt;Widget&gt;&gt;: what compiles?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if constexpr print_value&lt;T&gt;() with static_assert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0" y="1005840"/>
            <a:ext cx="2926080" cy="3474720"/>
          </a:xfrm>
          <a:prstGeom prst="rect">
            <a:avLst/>
          </a:prstGeom>
          <a:solidFill>
            <a:srgbClr val="2226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1005840"/>
            <a:ext cx="54864" cy="34747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789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035040" y="141732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Core Guidelines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Con.1–4: Immutability defaults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C++ (Meyers) Item 3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Coding Standards Item 15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Turner – CppCon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Gregory – Const Correctness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Explorer (godbolt.org)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Session 5  •  Const Correctness  •  C++20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Accidental Mutation — Const Correctness</dc:title>
  <dc:subject>PptxGenJS Presentation</dc:subject>
  <dc:creator>Problem Session 5</dc:creator>
  <cp:lastModifiedBy>Problem Session 5</cp:lastModifiedBy>
  <cp:revision>1</cp:revision>
  <dcterms:created xsi:type="dcterms:W3CDTF">2026-02-05T08:40:36Z</dcterms:created>
  <dcterms:modified xsi:type="dcterms:W3CDTF">2026-02-05T08:40:36Z</dcterms:modified>
</cp:coreProperties>
</file>