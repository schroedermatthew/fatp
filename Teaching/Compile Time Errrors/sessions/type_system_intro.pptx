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2" r:id="rId13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LEVERAGING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TYPE SYSTEM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compiler enforce your rules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Review  •  C++  •  5–10 minutes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3657600"/>
            <a:ext cx="411480" cy="411480"/>
          </a:xfrm>
          <a:prstGeom prst="oval">
            <a:avLst/>
          </a:prstGeom>
          <a:solidFill>
            <a:srgbClr val="333A48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739896"/>
            <a:ext cx="246888" cy="2468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system as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checker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0" name="Shape 7"/>
          <p:cNvSpPr/>
          <p:nvPr/>
        </p:nvSpPr>
        <p:spPr>
          <a:xfrm>
            <a:off x="2852928" y="3657600"/>
            <a:ext cx="411480" cy="411480"/>
          </a:xfrm>
          <a:prstGeom prst="oval">
            <a:avLst/>
          </a:prstGeom>
          <a:solidFill>
            <a:srgbClr val="333A48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224" y="373989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55848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detection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791456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4" name="Shape 10"/>
          <p:cNvSpPr/>
          <p:nvPr/>
        </p:nvSpPr>
        <p:spPr>
          <a:xfrm>
            <a:off x="4928616" y="3657600"/>
            <a:ext cx="411480" cy="411480"/>
          </a:xfrm>
          <a:prstGeom prst="oval">
            <a:avLst/>
          </a:prstGeom>
          <a:solidFill>
            <a:srgbClr val="333A48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912" y="373989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31536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semantics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types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867144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8" name="Shape 13"/>
          <p:cNvSpPr/>
          <p:nvPr/>
        </p:nvSpPr>
        <p:spPr>
          <a:xfrm>
            <a:off x="7004304" y="3657600"/>
            <a:ext cx="411480" cy="411480"/>
          </a:xfrm>
          <a:prstGeom prst="oval">
            <a:avLst/>
          </a:prstGeom>
          <a:solidFill>
            <a:srgbClr val="333A48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3739896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507224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as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contract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IDEA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is a constraint checker you already use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already has a type system.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rejects code that violates type rules.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we encode our rules as types?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compiler enforces them for us — automatically, every time.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8404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 runtime cost. </a:t>
            </a:r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 discipline required.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does the work.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COMPILER ALREADY CATCHES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rely on the type system to prevent mistakes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77724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89888"/>
            <a:ext cx="3291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std::string name = "Alice";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name;  // ERROR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0" y="1280160"/>
            <a:ext cx="3931920" cy="77724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389888"/>
            <a:ext cx="35661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foo(int* p);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foo("hello");  // ERROR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assign string to 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pass string as int*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type system is a constraint checker. 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 it only checks built-in constraints (string ≠ int, etc.)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45643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const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same idea — encoding "read-only" into the type: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822192"/>
            <a:ext cx="7498080" cy="868680"/>
          </a:xfrm>
          <a:prstGeom prst="rect">
            <a:avLst/>
          </a:prstGeom>
          <a:solidFill>
            <a:srgbClr val="181B2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31920"/>
            <a:ext cx="7132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calculate_average(const std::vector&lt;Record&gt;&amp; records) {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for (auto&amp; r : records) {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std::transform(...);   // COMPILE ERROR — mutation rejected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}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ENCODING OUR CONSTRAINTS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type, different meaning → Different types, compiler enforces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840480" cy="196596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27048"/>
            <a:ext cx="34747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user_id = 42;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doc_id = 99;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Compiler sees: int, int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"Both are ints. Looks fine."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grant_access(doc_id, user_id);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Oops — arguments swapped!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749040" cy="196596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527048"/>
            <a:ext cx="338328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UserId user_id{42};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DocId doc_id{99};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Compiler sees: UserId, DocId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"These are different types!"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grant_access(doc_id, user_id);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ERROR!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7863840" cy="118872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6576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We encoded semantic meaning in the type. 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UserId and DocId are different types even though they both wrap an int. 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compiler's existing type-checking now enforces our rule: </a:t>
            </a:r>
            <a:endParaRPr lang="en-US" sz="1200" dirty="0"/>
          </a:p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mix up user IDs and document IDs."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 to compiler-enforced correctness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7863840" cy="105156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08760"/>
            <a:ext cx="502920" cy="502920"/>
          </a:xfrm>
          <a:prstGeom prst="oval">
            <a:avLst/>
          </a:prstGeom>
          <a:solidFill>
            <a:srgbClr val="60A5F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389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constraint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719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rule do you want the compiler to enforce?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1389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"Users and documents have different IDs"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7863840" cy="105156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2697480"/>
            <a:ext cx="502920" cy="502920"/>
          </a:xfrm>
          <a:prstGeom prst="oval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2578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it as a type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types that make violations impossible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03520" y="257860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and DocId as distinct types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7863840" cy="105156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3886200"/>
            <a:ext cx="502920" cy="502920"/>
          </a:xfrm>
          <a:prstGeom prst="oval">
            <a:avLst/>
          </a:pr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compiler work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Type-checking now catches mistakes at compile time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03520" y="37673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runtime cost, no discipline required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PAYOFF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compiler accepts your code,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certain bugs are impossible.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Not "unlikely." Not "tested for." </a:t>
            </a:r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already enforces: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971800"/>
            <a:ext cx="54864" cy="4572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types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2971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≠ int, int* ≠ char*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502152"/>
            <a:ext cx="7863840" cy="45720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502152"/>
            <a:ext cx="54864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021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correctness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3502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contracts — mutation rejected at compile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32504"/>
            <a:ext cx="7863840" cy="45720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4032504"/>
            <a:ext cx="54864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 types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4032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≠ DocId — semantic rules encoded as types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is already there. We're just using more of it.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CHOOSES BEHAVIOR</a:t>
            </a:r>
            <a:endParaRPr lang="en-US" sz="2800" dirty="0"/>
          </a:p>
        </p:txBody>
      </p:sp>
      <p:sp>
        <p:nvSpPr>
          <p:cNvPr id="3" name="Subtitle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doesn’t just block writes — it selects different code paths</a:t>
            </a:r>
            <a:endParaRPr lang="en-US" sz="1200" dirty="0"/>
          </a:p>
        </p:txBody>
      </p:sp>
      <p:sp>
        <p:nvSpPr>
          <p:cNvPr id="4" name="CodeBg"/>
          <p:cNvSpPr/>
          <p:nvPr/>
        </p:nvSpPr>
        <p:spPr>
          <a:xfrm>
            <a:off x="502920" y="1188720"/>
            <a:ext cx="8138160" cy="1143000"/>
          </a:xfrm>
          <a:prstGeom prst="rect">
            <a:avLst/>
          </a:prstGeom>
          <a:solidFill>
            <a:srgbClr val="181B20"/>
          </a:solidFill>
          <a:ln/>
        </p:spPr>
      </p:sp>
      <p:sp>
        <p:nvSpPr>
          <p:cNvPr id="5" name="MatrixCode"/>
          <p:cNvSpPr/>
          <p:nvPr/>
        </p:nvSpPr>
        <p:spPr>
          <a:xfrm>
            <a:off x="640080" y="128016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Matrix {</a:t>
            </a:r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double&amp;       operator()(int r, int c);        // called on Matrix&amp;</a:t>
            </a:r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const double&amp; operator()(int r, int c) const; // called on const Matrix&amp;</a:t>
            </a:r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</a:p>
        </p:txBody>
      </p:sp>
      <p:sp>
        <p:nvSpPr>
          <p:cNvPr id="6" name="Explanation"/>
          <p:cNvSpPr/>
          <p:nvPr/>
        </p:nvSpPr>
        <p:spPr>
          <a:xfrm>
            <a:off x="502920" y="24688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name, same arguments. The compiler picks which one to call:</a:t>
            </a:r>
            <a:endParaRPr lang="en-US" sz="1300" dirty="0"/>
          </a:p>
        </p:txBody>
      </p:sp>
      <p:sp>
        <p:nvSpPr>
          <p:cNvPr id="7" name="LeftCallBg"/>
          <p:cNvSpPr/>
          <p:nvPr/>
        </p:nvSpPr>
        <p:spPr>
          <a:xfrm>
            <a:off x="502920" y="2834640"/>
            <a:ext cx="3931920" cy="68580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8" name="LeftCallCode"/>
          <p:cNvSpPr/>
          <p:nvPr/>
        </p:nvSpPr>
        <p:spPr>
          <a:xfrm>
            <a:off x="64008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m(3, 3);</a:t>
            </a:r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m(0, 0) = 5.0;  // returns double&amp;</a:t>
            </a:r>
          </a:p>
        </p:txBody>
      </p:sp>
      <p:sp>
        <p:nvSpPr>
          <p:cNvPr id="9" name="LeftAnnotation"/>
          <p:cNvSpPr/>
          <p:nvPr/>
        </p:nvSpPr>
        <p:spPr>
          <a:xfrm>
            <a:off x="50292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reference → can write</a:t>
            </a:r>
            <a:endParaRPr lang="en-US" sz="1000" dirty="0"/>
          </a:p>
        </p:txBody>
      </p:sp>
      <p:sp>
        <p:nvSpPr>
          <p:cNvPr id="10" name="RightCallBg"/>
          <p:cNvSpPr/>
          <p:nvPr/>
        </p:nvSpPr>
        <p:spPr>
          <a:xfrm>
            <a:off x="4709160" y="2834640"/>
            <a:ext cx="3931920" cy="68580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1" name="RightCallCode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Matrix&amp; cm = m;</a:t>
            </a:r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v = cm(0, 0); // returns const double&amp;</a:t>
            </a:r>
          </a:p>
        </p:txBody>
      </p:sp>
      <p:sp>
        <p:nvSpPr>
          <p:cNvPr id="12" name="RightAnnotation"/>
          <p:cNvSpPr/>
          <p:nvPr/>
        </p:nvSpPr>
        <p:spPr>
          <a:xfrm>
            <a:off x="470916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→ can only read</a:t>
            </a:r>
            <a:endParaRPr lang="en-US" sz="1000" dirty="0"/>
          </a:p>
        </p:txBody>
      </p:sp>
      <p:sp>
        <p:nvSpPr>
          <p:cNvPr id="13" name="CalloutBg"/>
          <p:cNvSpPr/>
          <p:nvPr/>
        </p:nvSpPr>
        <p:spPr>
          <a:xfrm>
            <a:off x="502920" y="3977640"/>
            <a:ext cx="8138160" cy="640080"/>
          </a:xfrm>
          <a:prstGeom prst="rect">
            <a:avLst/>
          </a:prstGeom>
          <a:solidFill>
            <a:srgbClr val="22262E"/>
          </a:solidFill>
          <a:ln/>
        </p:spPr>
      </p:sp>
      <p:sp>
        <p:nvSpPr>
          <p:cNvPr id="14" name="AccentBar"/>
          <p:cNvSpPr/>
          <p:nvPr/>
        </p:nvSpPr>
        <p:spPr>
          <a:xfrm>
            <a:off x="502920" y="3977640"/>
            <a:ext cx="45720" cy="64008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5" name="CalloutText"/>
          <p:cNvSpPr/>
          <p:nvPr/>
        </p:nvSpPr>
        <p:spPr>
          <a:xfrm>
            <a:off x="685800" y="402336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This is the type system choosing behavior, not just blocking a write. 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cascades: if get_name() isn’t marked const, it vanishes from every function that takes const Person&amp;. One missing qualifier propagates through the entire call graph.</a:t>
            </a:r>
            <a:endParaRPr lang="en-US" sz="1100" dirty="0"/>
          </a:p>
        </p:txBody>
      </p:sp>
      <p:sp>
        <p:nvSpPr>
          <p:cNvPr id="16" name="SlideNum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Leveraging the Type System</dc:title>
  <dc:subject>PptxGenJS Presentation</dc:subject>
  <dc:creator>Problem Sessions</dc:creator>
  <cp:lastModifiedBy>Problem Sessions</cp:lastModifiedBy>
  <cp:revision>1</cp:revision>
  <dcterms:created xsi:type="dcterms:W3CDTF">2026-02-05T16:06:46Z</dcterms:created>
  <dcterms:modified xsi:type="dcterms:W3CDTF">2026-02-05T16:06:46Z</dcterms:modified>
</cp:coreProperties>
</file>