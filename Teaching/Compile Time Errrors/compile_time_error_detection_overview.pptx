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672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Compile-Time Error Detection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Compiler as Your Safety Net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097280" cy="3657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</a:rPr>
              <a:t>Fat-P Library • Problem-Solving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Principle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bug caught at compile time is a bug that: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reaches code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reaches testing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reaches production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wakes you up at 3am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274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64608" y="1280160"/>
            <a:ext cx="3712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64608" y="1508760"/>
            <a:ext cx="3712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dirty="0">
                <a:solidFill>
                  <a:schemeClr val="bg2"/>
                </a:solidFill>
              </a:rPr>
              <a:t>Transform runtime errors into compile errors—making many classes of bugs hard or impossible to write.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SESSION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EDF3"/>
                </a:solidFill>
              </a:rPr>
              <a:t>Strong Typedefs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91440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36576" cy="91440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int UserId;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int DocumentId;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Compiler sees both as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Swapping arguments compiles!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023360" cy="77724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36576" cy="7772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UserId = StrongId&lt;UserTag&gt;;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DocumentId = StrongId&lt;DocTag&gt;;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Swapping → compile error!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WHAT IT CATCHES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• Argument order bugs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• Mixing up IDs, handles, indices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• Unit confusion (meters vs feet)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19456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0" y="2194560"/>
            <a:ext cx="4114800" cy="2743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81728" y="2286000"/>
            <a:ext cx="3895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 COMPONENT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81728" y="2514600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StrongId&lt;Tag, Policy&gt;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SESSION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EDF3"/>
                </a:solidFill>
              </a:rPr>
              <a:t>Exhaustive Enums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109728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36576" cy="109728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(status)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Pending: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Shipped: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return "";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enum value → silent bug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023360" cy="64008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36576" cy="6400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EnumPlusMap — data-driven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EnumPlusMap&lt;Status, string&gt; MSGS;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OR: -Werror=switch-enum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WHAT IT CATCHES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• Forgotten cases when enums grow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• Silent fallthrough to wrong behavior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• Incomplete dispatching logic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19456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0" y="2194560"/>
            <a:ext cx="4114800" cy="2743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81728" y="2286000"/>
            <a:ext cx="3895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 COMPONENT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81728" y="2514600"/>
            <a:ext cx="38953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EnumPlusMap&lt;E, T&gt; + EnumSizeTrait&lt;E&gt;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SESSION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EDF3"/>
                </a:solidFill>
              </a:rPr>
              <a:t>Type-Safe State Machines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114300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36576" cy="114300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handle(Event 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(state)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IDLE: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Missing transitions!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 entry/exit actions!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114800" cy="91440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36576" cy="9144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09160" y="11430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Transitions = tuple&lt;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pair&lt;Idle, Connecting&gt;,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pair&lt;Connecting, Connected&gt;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Invalid → exception!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0" y="2103120"/>
            <a:ext cx="4114800" cy="2743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681728" y="2194560"/>
            <a:ext cx="3895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 COMPONENT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81728" y="2423160"/>
            <a:ext cx="38953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StateMachine&lt;Ctx, Trans, Policy&gt;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10972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274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</a:rPr>
              <a:t>Type-State Pattern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States encoded in types, not variables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File&lt;Open&gt; → File&lt;Closed&gt;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10972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2743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9204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Const Correctness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Immutability enforced by compiler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const, constexpr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4206240" cy="10972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206240" cy="2743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292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</a:rPr>
              <a:t>[[nodiscard]]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Prevent ignored return values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880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Expected&lt;T, E&gt;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4206240" cy="10972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206240" cy="27432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9204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71F7"/>
                </a:solidFill>
              </a:rPr>
              <a:t>Template Constraints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Reject wrong types at API boundary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880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SFINAE, Concepts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All techniques share the same goal: make illegal states unrepresentable</a:t>
            </a:r>
          </a:p>
          <a:p>
            <a:endParaRPr/>
          </a:p>
          <a:p>
            <a:r>
              <a:t>Sessions 6–8 are optional extensions and are not included in this bundle.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Cost-Benefit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</a:rPr>
              <a:t>Technique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94560" y="914400"/>
            <a:ext cx="1920240" cy="36576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194560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</a:rPr>
              <a:t>Compile Cost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914400"/>
            <a:ext cx="1920240" cy="36576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206240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</a:rPr>
              <a:t>Runtime Cost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1920240" cy="36576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217920" y="914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</a:rPr>
              <a:t>Adoption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576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</a:rPr>
              <a:t>Strong Typedefs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32588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19456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883E"/>
                </a:solidFill>
              </a:rPr>
              <a:t>Slight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132588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0624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9D8F"/>
                </a:solidFill>
              </a:rPr>
              <a:t>Zero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21792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883E"/>
                </a:solidFill>
              </a:rPr>
              <a:t>Moderate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</a:rPr>
              <a:t>Exhaustive Switches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94560" y="173736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19456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9D8F"/>
                </a:solidFill>
              </a:rPr>
              <a:t>Negligible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173736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20624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9D8F"/>
                </a:solidFill>
              </a:rPr>
              <a:t>Zero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73736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21792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9D8F"/>
                </a:solidFill>
              </a:rPr>
              <a:t>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148840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657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</a:rPr>
              <a:t>StateMachine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94560" y="214884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1945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883E"/>
                </a:solidFill>
              </a:rPr>
              <a:t>Slight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214884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20624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 dirty="0">
                <a:solidFill>
                  <a:schemeClr val="bg2"/>
                </a:solidFill>
              </a:rPr>
              <a:t>O(1) check</a:t>
            </a:r>
          </a:p>
        </p:txBody>
      </p:sp>
      <p:sp>
        <p:nvSpPr>
          <p:cNvPr id="33" name="Shape 31"/>
          <p:cNvSpPr/>
          <p:nvPr/>
        </p:nvSpPr>
        <p:spPr>
          <a:xfrm>
            <a:off x="6217920" y="214884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21792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883E"/>
                </a:solidFill>
              </a:rPr>
              <a:t>Medium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560320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6576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</a:rPr>
              <a:t>Type-State Pattern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94560" y="256032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19456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883E"/>
                </a:solidFill>
              </a:rPr>
              <a:t>Longer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06240" y="256032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20624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9D8F"/>
                </a:solidFill>
              </a:rPr>
              <a:t>Zero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256032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21792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</a:rPr>
              <a:t>High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2971800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6576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</a:rPr>
              <a:t>Template Constraints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194560" y="297180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219456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883E"/>
                </a:solidFill>
              </a:rPr>
              <a:t>Longer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206240" y="297180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20624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9D8F"/>
                </a:solidFill>
              </a:rPr>
              <a:t>Zero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2971800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217920" y="2971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883E"/>
                </a:solidFill>
              </a:rPr>
              <a:t>Moderate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Most techniques have zero runtime cost; when there is runtime work (e.g., StateMachine), it is explicit and O(1).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" cy="5029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320040" cy="2743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987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</a:rPr>
              <a:t>Strong Typedefs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StrongId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27432" cy="5029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709928"/>
            <a:ext cx="320040" cy="2743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16733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</a:rPr>
              <a:t>Exhaustive Enums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1874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EnumPlusMap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7432" cy="50292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2395728"/>
            <a:ext cx="320040" cy="27432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23957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3591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</a:rPr>
              <a:t>Type-Safe State Machines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5603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StateMachine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27432" cy="50292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57200" y="3081528"/>
            <a:ext cx="320040" cy="27432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57200" y="30815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30449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</a:rPr>
              <a:t>Type-State Pattern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2461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semantics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54880" y="914400"/>
            <a:ext cx="27432" cy="502920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846320" y="1024128"/>
            <a:ext cx="320040" cy="274320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846320" y="10241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987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</a:rPr>
              <a:t>Const Correctness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11887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16002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754880" y="1600200"/>
            <a:ext cx="27432" cy="50292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846320" y="1709928"/>
            <a:ext cx="320040" cy="27432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846320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16733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Non-Null References (optional)</a:t>
            </a:r>
          </a:p>
        </p:txBody>
      </p:sp>
      <p:sp>
        <p:nvSpPr>
          <p:cNvPr id="38" name="Text 36"/>
          <p:cNvSpPr/>
          <p:nvPr/>
        </p:nvSpPr>
        <p:spPr>
          <a:xfrm>
            <a:off x="5257800" y="1874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—</a:t>
            </a:r>
          </a:p>
        </p:txBody>
      </p:sp>
      <p:sp>
        <p:nvSpPr>
          <p:cNvPr id="39" name="Shape 37"/>
          <p:cNvSpPr/>
          <p:nvPr/>
        </p:nvSpPr>
        <p:spPr>
          <a:xfrm>
            <a:off x="4754880" y="22860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4754880" y="2286000"/>
            <a:ext cx="27432" cy="50292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846320" y="2395728"/>
            <a:ext cx="320040" cy="27432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846320" y="23957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57800" y="23591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[[nodiscard]] (optional)</a:t>
            </a:r>
          </a:p>
        </p:txBody>
      </p:sp>
      <p:sp>
        <p:nvSpPr>
          <p:cNvPr id="44" name="Text 42"/>
          <p:cNvSpPr/>
          <p:nvPr/>
        </p:nvSpPr>
        <p:spPr>
          <a:xfrm>
            <a:off x="5257800" y="25603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Expected / std::expected</a:t>
            </a:r>
          </a:p>
        </p:txBody>
      </p:sp>
      <p:sp>
        <p:nvSpPr>
          <p:cNvPr id="45" name="Shape 43"/>
          <p:cNvSpPr/>
          <p:nvPr/>
        </p:nvSpPr>
        <p:spPr>
          <a:xfrm>
            <a:off x="4754880" y="2971800"/>
            <a:ext cx="420624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4754880" y="2971800"/>
            <a:ext cx="27432" cy="50292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4846320" y="3081528"/>
            <a:ext cx="320040" cy="27432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846320" y="30815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57800" y="30449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Template Constraints (optional)</a:t>
            </a:r>
          </a:p>
        </p:txBody>
      </p:sp>
      <p:sp>
        <p:nvSpPr>
          <p:cNvPr id="50" name="Text 48"/>
          <p:cNvSpPr/>
          <p:nvPr/>
        </p:nvSpPr>
        <p:spPr>
          <a:xfrm>
            <a:off x="5257800" y="32461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SFINAE / Concepts</a:t>
            </a:r>
            <a:endParaRPr lang="en-US" sz="800" dirty="0"/>
          </a:p>
        </p:txBody>
      </p:sp>
      <p:sp>
        <p:nvSpPr>
          <p:cNvPr id="51" name="TextBox 50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Sessions 6–8 are optional extensions and are not included in this bundle.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525</Words>
  <Application>Microsoft Office PowerPoint</Application>
  <PresentationFormat>On-screen Show (16:9)</PresentationFormat>
  <Paragraphs>141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Compile-Time Error Detection</dc:title>
  <dc:subject>PptxGenJS Presentation</dc:subject>
  <dc:creator>PptxGenJS</dc:creator>
  <cp:lastModifiedBy>Schroeder, Matthew Q [US] (MS)</cp:lastModifiedBy>
  <cp:revision>2</cp:revision>
  <dcterms:created xsi:type="dcterms:W3CDTF">2026-01-19T08:44:38Z</dcterms:created>
  <dcterms:modified xsi:type="dcterms:W3CDTF">2026-01-19T20:40:58Z</dcterms:modified>
</cp:coreProperties>
</file>