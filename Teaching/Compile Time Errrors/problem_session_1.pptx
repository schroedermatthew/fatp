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272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78771" y="1828800"/>
            <a:ext cx="33864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105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PROBLEM-SOLVING SESSION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878771" y="2209800"/>
            <a:ext cx="338645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Wrong ID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878770" y="3232298"/>
            <a:ext cx="3386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Facilitator Guide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code shipped. It passed code review. It has a bug.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1963489"/>
            <a:ext cx="8382000" cy="1974652"/>
          </a:xfrm>
          <a:prstGeom prst="roundRect">
            <a:avLst>
              <a:gd name="adj" fmla="val 3859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963489"/>
            <a:ext cx="0" cy="1974652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7700" y="2153989"/>
            <a:ext cx="80444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A8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int UserId;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47700" y="2365325"/>
            <a:ext cx="80444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A8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int DocumentId;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47700" y="2576661"/>
            <a:ext cx="80444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can_access(UserId user, DocumentId doc, PermissionLevel level);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647700" y="2864197"/>
            <a:ext cx="80444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A8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Somewhere in the codebase: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647700" y="3075533"/>
            <a:ext cx="80444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 requester = get_current_user();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47700" y="3286869"/>
            <a:ext cx="80444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DocumentId target = get_requested_document();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47700" y="3574405"/>
            <a:ext cx="80444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</a:t>
            </a:r>
            <a:r>
              <a:rPr lang="en-US" sz="975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can_access(target, requester, required)</a:t>
            </a:r>
            <a:r>
              <a:rPr lang="en-US" sz="975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// &lt;-- spot it?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Q1: What's the bug?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642318"/>
            <a:ext cx="8382000" cy="849511"/>
          </a:xfrm>
          <a:prstGeom prst="roundRect">
            <a:avLst>
              <a:gd name="adj" fmla="val 8970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642318"/>
            <a:ext cx="0" cy="849511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7700" y="1794718"/>
            <a:ext cx="80444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can_access(</a:t>
            </a:r>
            <a:r>
              <a:rPr lang="en-US" sz="10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r>
              <a:rPr lang="en-US" sz="10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requester</a:t>
            </a:r>
            <a:r>
              <a:rPr lang="en-US" sz="10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required)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7700" y="2019449"/>
            <a:ext cx="80444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A8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^^^^^^ DocumentId passed as UserId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7700" y="2179439"/>
            <a:ext cx="80444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A8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^^^^^^^^^ UserId passed as DocumentId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644229"/>
            <a:ext cx="8382000" cy="948482"/>
          </a:xfrm>
          <a:prstGeom prst="roundRect">
            <a:avLst>
              <a:gd name="adj" fmla="val 8034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2834729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compiler will not warn.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9600" y="3188940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typedef creates an </a:t>
            </a:r>
            <a:r>
              <a:rPr lang="en-US" sz="1050" i="1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alias</a:t>
            </a:r>
            <a:r>
              <a:rPr lang="en-US" sz="105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 new type. To the compiler, UserId, DocumentId, and int are identical.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" y="3745111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typedef provides documentation for humans, not safety from the compiler.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Q2: Would any of these help?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2692450" cy="4076700"/>
          </a:xfrm>
          <a:prstGeom prst="roundRect">
            <a:avLst>
              <a:gd name="adj" fmla="val 2830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990600"/>
            <a:ext cx="23576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variable names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71500" y="1253430"/>
            <a:ext cx="23576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names are already reasonable. The bug exists despite good naming.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1500" y="1710630"/>
            <a:ext cx="23576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Verdict: Doesn't prevent the bug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25850" y="838200"/>
            <a:ext cx="2692450" cy="4076700"/>
          </a:xfrm>
          <a:prstGeom prst="roundRect">
            <a:avLst>
              <a:gd name="adj" fmla="val 2830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16350" y="990600"/>
            <a:ext cx="23576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checklist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16350" y="1253430"/>
            <a:ext cx="23576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are bad at this. We read what we expect to see. The brain autocompletes.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16350" y="1710630"/>
            <a:ext cx="23576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Verdict: Unreliable, doesn't scale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70699" y="838200"/>
            <a:ext cx="2692450" cy="4076700"/>
          </a:xfrm>
          <a:prstGeom prst="roundRect">
            <a:avLst>
              <a:gd name="adj" fmla="val 2830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61199" y="990600"/>
            <a:ext cx="23576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61199" y="1253430"/>
            <a:ext cx="23576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catches it if you test the specific wrong case. Why would you write that test?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61199" y="1710630"/>
            <a:ext cx="23576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Verdict: Unlikely to catch it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Q2: Static Analysis Tools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718518"/>
            <a:ext cx="5334000" cy="1005632"/>
          </a:xfrm>
          <a:prstGeom prst="roundRect">
            <a:avLst>
              <a:gd name="adj" fmla="val 7577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1851868"/>
            <a:ext cx="50909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clang-tidy bugprone-argument-comment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52450" y="2082254"/>
            <a:ext cx="50909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discipline to add comments at every call site: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552450" y="2305050"/>
            <a:ext cx="4991100" cy="285750"/>
          </a:xfrm>
          <a:prstGeom prst="roundRect">
            <a:avLst>
              <a:gd name="adj" fmla="val 13333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6750" y="2381250"/>
            <a:ext cx="4857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can_access(</a:t>
            </a:r>
            <a:r>
              <a:rPr lang="en-US" sz="75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/*user=*/</a:t>
            </a: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target, ...)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1000" y="2838450"/>
            <a:ext cx="5334000" cy="1158032"/>
          </a:xfrm>
          <a:prstGeom prst="roundRect">
            <a:avLst>
              <a:gd name="adj" fmla="val 6580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2450" y="2971800"/>
            <a:ext cx="50909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Coverity SWAPPED_ARGUMENTS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52450" y="3202186"/>
            <a:ext cx="50909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MongoDB SERVER-30569. Uses name-matching heuristic: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52450" y="3424982"/>
            <a:ext cx="4991100" cy="438150"/>
          </a:xfrm>
          <a:prstGeom prst="roundRect">
            <a:avLst>
              <a:gd name="adj" fmla="val 8696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6750" y="3501182"/>
            <a:ext cx="4857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update(int </a:t>
            </a:r>
            <a:r>
              <a:rPr lang="en-US" sz="75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int </a:t>
            </a:r>
            <a:r>
              <a:rPr lang="en-US" sz="75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66750" y="3653582"/>
            <a:ext cx="4857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update(</a:t>
            </a:r>
            <a:r>
              <a:rPr lang="en-US" sz="7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7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// Warning!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05500" y="1931789"/>
            <a:ext cx="2857500" cy="868561"/>
          </a:xfrm>
          <a:prstGeom prst="roundRect">
            <a:avLst>
              <a:gd name="adj" fmla="val 8773"/>
            </a:avLst>
          </a:prstGeom>
          <a:solidFill>
            <a:srgbClr val="1A1A2E"/>
          </a:solidFill>
          <a:ln w="19050">
            <a:solidFill>
              <a:srgbClr val="E6394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96000" y="2084189"/>
            <a:ext cx="25260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096000" y="2333625"/>
            <a:ext cx="252603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require discipline at every call site. All fail silently when discipline lapses.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905500" y="2914650"/>
            <a:ext cx="2857500" cy="868561"/>
          </a:xfrm>
          <a:prstGeom prst="roundRect">
            <a:avLst>
              <a:gd name="adj" fmla="val 8773"/>
            </a:avLst>
          </a:prstGeom>
          <a:solidFill>
            <a:srgbClr val="1A1A2E"/>
          </a:solidFill>
          <a:ln w="19050">
            <a:solidFill>
              <a:srgbClr val="2A9D8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96000" y="3067050"/>
            <a:ext cx="25260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Answer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096000" y="3316486"/>
            <a:ext cx="252603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compiler reject incorrect code. That requires </a:t>
            </a:r>
            <a:r>
              <a:rPr lang="en-US" sz="825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types</a:t>
            </a:r>
            <a:r>
              <a:rPr lang="en-US" sz="825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aliases.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7023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Q3: Why does Android fdsan exist?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87587"/>
            <a:ext cx="5143500" cy="1152079"/>
          </a:xfrm>
          <a:prstGeom prst="roundRect">
            <a:avLst>
              <a:gd name="adj" fmla="val 661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887587"/>
            <a:ext cx="0" cy="1152079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0550" y="2020937"/>
            <a:ext cx="48577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1: fd = open("/dev/null") → gets fd </a:t>
            </a:r>
            <a:r>
              <a:rPr lang="en-US" sz="825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590550" y="2205633"/>
            <a:ext cx="48577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1: close(fd) → fd 123 is now free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90550" y="2390329"/>
            <a:ext cx="48577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2: fd2 = open("log") → gets fd </a:t>
            </a:r>
            <a:r>
              <a:rPr lang="en-US" sz="825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</a:t>
            </a:r>
            <a:r>
              <a:rPr lang="en-US" sz="825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(reused!)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90550" y="2575024"/>
            <a:ext cx="48577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1: close(fd) → closes 123 again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90550" y="2759720"/>
            <a:ext cx="48577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2: write(fd2, ...) → fd2 is invalid!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3153966"/>
            <a:ext cx="5143500" cy="673298"/>
          </a:xfrm>
          <a:prstGeom prst="roundRect">
            <a:avLst>
              <a:gd name="adj" fmla="val 11317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2450" y="3287316"/>
            <a:ext cx="489661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fundamental issue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52450" y="3536752"/>
            <a:ext cx="489661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descriptors are just int. The kernel sees 123—it doesn't know which resource that represents.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715000" y="2030760"/>
            <a:ext cx="3048000" cy="1417290"/>
          </a:xfrm>
          <a:prstGeom prst="roundRect">
            <a:avLst>
              <a:gd name="adj" fmla="val 5376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867400" y="2145060"/>
            <a:ext cx="27980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Match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67400" y="2381250"/>
            <a:ext cx="27980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ID Bug: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867400" y="2552700"/>
            <a:ext cx="27980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are all int, compiler can't distinguish, swapping compiles, wrong data accessed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867400" y="2895600"/>
            <a:ext cx="27980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fdsan Bug: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867400" y="3067050"/>
            <a:ext cx="27980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FDs are all int, kernel can't distinguish, double-close "works", wrong file corrupted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715000" y="3524250"/>
            <a:ext cx="31089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Integers are semantically meaningless.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Broken Fix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941314"/>
            <a:ext cx="559612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one attempt: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2242245"/>
            <a:ext cx="5486400" cy="1607641"/>
          </a:xfrm>
          <a:prstGeom prst="roundRect">
            <a:avLst>
              <a:gd name="adj" fmla="val 4740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2242245"/>
            <a:ext cx="0" cy="1607641"/>
          </a:xfrm>
          <a:prstGeom prst="line">
            <a:avLst/>
          </a:prstGeom>
          <a:noFill/>
          <a:ln w="381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9600" y="2394645"/>
            <a:ext cx="51686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UserId { int value; };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9600" y="2592735"/>
            <a:ext cx="51686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DocumentId { int value; };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600" y="2867025"/>
            <a:ext cx="51686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can_access(UserId user, DocumentId doc, ...);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9600" y="3141315"/>
            <a:ext cx="51686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8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Now this won't compile: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9600" y="3339405"/>
            <a:ext cx="51686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can_access(target, requester, required);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9600" y="3537496"/>
            <a:ext cx="51686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ERROR: DocumentId vs UserId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96000" y="2385120"/>
            <a:ext cx="2667000" cy="453330"/>
          </a:xfrm>
          <a:prstGeom prst="roundRect">
            <a:avLst>
              <a:gd name="adj" fmla="val 1680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67450" y="2518470"/>
            <a:ext cx="23705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Creates distinct types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96000" y="2952750"/>
            <a:ext cx="2667000" cy="453330"/>
          </a:xfrm>
          <a:prstGeom prst="roundRect">
            <a:avLst>
              <a:gd name="adj" fmla="val 16809"/>
            </a:avLst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67450" y="3086100"/>
            <a:ext cx="23705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Missing operations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Q4: What's wrong with this fix?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912590"/>
            <a:ext cx="4114800" cy="693390"/>
          </a:xfrm>
          <a:prstGeom prst="roundRect">
            <a:avLst>
              <a:gd name="adj" fmla="val 10989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2026890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comparison operators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3400" y="2244030"/>
            <a:ext cx="3810000" cy="247650"/>
          </a:xfrm>
          <a:prstGeom prst="roundRect">
            <a:avLst>
              <a:gd name="adj" fmla="val 15385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8650" y="2301180"/>
            <a:ext cx="36918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 == b) { ... } </a:t>
            </a:r>
            <a:r>
              <a:rPr lang="en-US" sz="7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81000" y="2720280"/>
            <a:ext cx="4114800" cy="693390"/>
          </a:xfrm>
          <a:prstGeom prst="roundRect">
            <a:avLst>
              <a:gd name="adj" fmla="val 10989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2834580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use as map key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3400" y="3051721"/>
            <a:ext cx="3810000" cy="247650"/>
          </a:xfrm>
          <a:prstGeom prst="roundRect">
            <a:avLst>
              <a:gd name="adj" fmla="val 15385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8650" y="3108871"/>
            <a:ext cx="36918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std::map&lt;UserId, string&gt; </a:t>
            </a:r>
            <a:r>
              <a:rPr lang="en-US" sz="7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48200" y="1912590"/>
            <a:ext cx="4114800" cy="693390"/>
          </a:xfrm>
          <a:prstGeom prst="roundRect">
            <a:avLst>
              <a:gd name="adj" fmla="val 10989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00600" y="2026890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hash 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00600" y="2244030"/>
            <a:ext cx="3810000" cy="247650"/>
          </a:xfrm>
          <a:prstGeom prst="roundRect">
            <a:avLst>
              <a:gd name="adj" fmla="val 15385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95850" y="2301180"/>
            <a:ext cx="36918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std::unordered_map </a:t>
            </a:r>
            <a:r>
              <a:rPr lang="en-US" sz="7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48200" y="2720280"/>
            <a:ext cx="4114800" cy="693390"/>
          </a:xfrm>
          <a:prstGeom prst="roundRect">
            <a:avLst>
              <a:gd name="adj" fmla="val 10989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00600" y="2834580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 conversion from braces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3051721"/>
            <a:ext cx="3810000" cy="247650"/>
          </a:xfrm>
          <a:prstGeom prst="roundRect">
            <a:avLst>
              <a:gd name="adj" fmla="val 15385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95850" y="3108871"/>
            <a:ext cx="36918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foo({42}); </a:t>
            </a:r>
            <a:r>
              <a:rPr lang="en-US" sz="7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Compiles!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97180" y="475491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You'd need 15+ lines of boilerplate per ID type. This is why templates exist.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Fix: Strong Typedefs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00671"/>
            <a:ext cx="5676900" cy="2113657"/>
          </a:xfrm>
          <a:prstGeom prst="roundRect">
            <a:avLst>
              <a:gd name="adj" fmla="val 3605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800671"/>
            <a:ext cx="0" cy="2113657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0550" y="1934021"/>
            <a:ext cx="54018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template&lt;typename Tag&gt;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590550" y="2118717"/>
            <a:ext cx="54018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StrongId {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90550" y="2303413"/>
            <a:ext cx="54018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value_;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90550" y="2488109"/>
            <a:ext cx="54018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90550" y="2672804"/>
            <a:ext cx="54018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explicit</a:t>
            </a:r>
            <a:r>
              <a:rPr lang="en-US" sz="825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StrongId(int v) : value_(v) {}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90550" y="2857500"/>
            <a:ext cx="54018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raw() const { return value_; }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90550" y="3042196"/>
            <a:ext cx="54018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operator==(StrongId o) const;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90550" y="3226891"/>
            <a:ext cx="54018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90550" y="3449687"/>
            <a:ext cx="54018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A8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UserTag {};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90550" y="3634383"/>
            <a:ext cx="54018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UserId = StrongId&lt;UserTag&gt;;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286500" y="1808857"/>
            <a:ext cx="2476500" cy="679996"/>
          </a:xfrm>
          <a:prstGeom prst="roundRect">
            <a:avLst>
              <a:gd name="adj" fmla="val 11206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38900" y="1923157"/>
            <a:ext cx="22151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Tag-Based Distinction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6438900" y="2107853"/>
            <a:ext cx="22151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struct tag exists only at compile time. No runtime cost.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286500" y="2584103"/>
            <a:ext cx="2476500" cy="679996"/>
          </a:xfrm>
          <a:prstGeom prst="roundRect">
            <a:avLst>
              <a:gd name="adj" fmla="val 11206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38900" y="2698403"/>
            <a:ext cx="22151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Operations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438900" y="2883098"/>
            <a:ext cx="22151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Comparison, hashing, arithmetic—all in one template.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286500" y="3359348"/>
            <a:ext cx="2476500" cy="546646"/>
          </a:xfrm>
          <a:prstGeom prst="roundRect">
            <a:avLst>
              <a:gd name="adj" fmla="val 13940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38900" y="3419226"/>
            <a:ext cx="3254290" cy="299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 dirty="0">
                <a:solidFill>
                  <a:schemeClr val="bg2"/>
                </a:solidFill>
              </a:rPr>
              <a:t>Designed for near-zero overhead</a:t>
            </a:r>
          </a:p>
        </p:txBody>
      </p:sp>
      <p:sp>
        <p:nvSpPr>
          <p:cNvPr id="23" name="Text 21"/>
          <p:cNvSpPr/>
          <p:nvPr/>
        </p:nvSpPr>
        <p:spPr>
          <a:xfrm>
            <a:off x="6438900" y="3658344"/>
            <a:ext cx="22151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size, same assembly as raw int.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Q5: Why explicit?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611660"/>
            <a:ext cx="5486400" cy="1207740"/>
          </a:xfrm>
          <a:prstGeom prst="roundRect">
            <a:avLst>
              <a:gd name="adj" fmla="val 6309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611660"/>
            <a:ext cx="0" cy="120774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0550" y="1745010"/>
            <a:ext cx="52075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explicit: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0550" y="1981200"/>
            <a:ext cx="5105400" cy="704850"/>
          </a:xfrm>
          <a:prstGeom prst="roundRect">
            <a:avLst>
              <a:gd name="adj" fmla="val 5405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3900" y="2076450"/>
            <a:ext cx="49354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A8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StrongId(int v) : value_(v) {} // No explicit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23900" y="2247900"/>
            <a:ext cx="49354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process(UserId user);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23900" y="2457450"/>
            <a:ext cx="49354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process(42); </a:t>
            </a:r>
            <a:r>
              <a:rPr lang="en-US" sz="7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COMPILES! Defeats purpose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1000" y="2933700"/>
            <a:ext cx="5486400" cy="1169640"/>
          </a:xfrm>
          <a:prstGeom prst="roundRect">
            <a:avLst>
              <a:gd name="adj" fmla="val 6515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0050" y="2933700"/>
            <a:ext cx="0" cy="116964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0550" y="3067050"/>
            <a:ext cx="52075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explicit: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0550" y="3303240"/>
            <a:ext cx="5105400" cy="666750"/>
          </a:xfrm>
          <a:prstGeom prst="roundRect">
            <a:avLst>
              <a:gd name="adj" fmla="val 571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3900" y="3398490"/>
            <a:ext cx="49354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explicit</a:t>
            </a: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StrongId(int v) : value_(v) {}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23900" y="3569940"/>
            <a:ext cx="49354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process(42); </a:t>
            </a:r>
            <a:r>
              <a:rPr lang="en-US" sz="7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23900" y="3741390"/>
            <a:ext cx="49354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process(UserId{42}); </a:t>
            </a:r>
            <a:r>
              <a:rPr lang="en-US" sz="75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OK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096000" y="2142232"/>
            <a:ext cx="2667000" cy="963811"/>
          </a:xfrm>
          <a:prstGeom prst="roundRect">
            <a:avLst>
              <a:gd name="adj" fmla="val 7906"/>
            </a:avLst>
          </a:prstGeom>
          <a:solidFill>
            <a:srgbClr val="1A1A2E"/>
          </a:solidFill>
          <a:ln w="19050">
            <a:solidFill>
              <a:srgbClr val="2A9D8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86500" y="2332732"/>
            <a:ext cx="23317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Point of Friction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286500" y="2601218"/>
            <a:ext cx="233172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programmer must explicitly state "yes, I mean to create a UserId from this integer."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096000" y="3258443"/>
            <a:ext cx="27203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</a:t>
            </a:r>
            <a:r>
              <a:rPr lang="en-US" sz="825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Single-argument constructors should almost always be explicit.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Q6: What's the runtime cost?</a:t>
            </a:r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80784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dirty="0">
                <a:solidFill>
                  <a:schemeClr val="bg2"/>
                </a:solidFill>
              </a:rPr>
              <a:t>Designed to be zero/near-zero overhead in optimized builds:</a:t>
            </a:r>
          </a:p>
          <a:p>
            <a:pPr>
              <a:defRPr sz="2000"/>
            </a:pPr>
            <a:r>
              <a:rPr dirty="0">
                <a:solidFill>
                  <a:schemeClr val="bg2"/>
                </a:solidFill>
              </a:rPr>
              <a:t>• Single int member (same size as raw int)</a:t>
            </a:r>
          </a:p>
          <a:p>
            <a:pPr>
              <a:defRPr sz="2000"/>
            </a:pPr>
            <a:r>
              <a:rPr dirty="0">
                <a:solidFill>
                  <a:schemeClr val="bg2"/>
                </a:solidFill>
              </a:rPr>
              <a:t>• Tag exists only at compile time</a:t>
            </a:r>
          </a:p>
          <a:p>
            <a:pPr>
              <a:defRPr sz="2000"/>
            </a:pPr>
            <a:r>
              <a:rPr dirty="0">
                <a:solidFill>
                  <a:schemeClr val="bg2"/>
                </a:solidFill>
              </a:rPr>
              <a:t>• Thin wrapper should inline away under -O2/-O3</a:t>
            </a:r>
          </a:p>
          <a:p>
            <a:pPr>
              <a:defRPr sz="2000"/>
            </a:pPr>
            <a:r>
              <a:rPr dirty="0">
                <a:solidFill>
                  <a:schemeClr val="bg2"/>
                </a:solidFill>
              </a:rPr>
              <a:t>• Verify with Compiler Explorer or a micro-benchmark if this is a hot path</a:t>
            </a:r>
          </a:p>
          <a:p>
            <a:pPr>
              <a:defRPr sz="2000"/>
            </a:pPr>
            <a:endParaRPr dirty="0">
              <a:solidFill>
                <a:schemeClr val="bg2"/>
              </a:solidFill>
            </a:endParaRPr>
          </a:p>
          <a:p>
            <a:pPr>
              <a:defRPr sz="2000"/>
            </a:pPr>
            <a:r>
              <a:rPr dirty="0">
                <a:solidFill>
                  <a:schemeClr val="bg2"/>
                </a:solidFill>
              </a:rPr>
              <a:t>Note: checked policies (e.g., overflow detection) add runtime 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Typedef Libraries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614636"/>
            <a:ext cx="1333500" cy="285750"/>
          </a:xfrm>
          <a:prstGeom prst="roundRect">
            <a:avLst>
              <a:gd name="adj" fmla="val 1333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1690836"/>
            <a:ext cx="11269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790700" y="1614636"/>
            <a:ext cx="1685925" cy="285750"/>
          </a:xfrm>
          <a:prstGeom prst="roundRect">
            <a:avLst>
              <a:gd name="adj" fmla="val 13333"/>
            </a:avLst>
          </a:prstGeom>
          <a:solidFill>
            <a:srgbClr val="1A3D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890427" y="1690836"/>
            <a:ext cx="14864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Fat-P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552825" y="1614636"/>
            <a:ext cx="1685925" cy="285750"/>
          </a:xfrm>
          <a:prstGeom prst="roundRect">
            <a:avLst>
              <a:gd name="adj" fmla="val 13333"/>
            </a:avLst>
          </a:prstGeom>
          <a:solidFill>
            <a:srgbClr val="1A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52552" y="1690836"/>
            <a:ext cx="14864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314950" y="1614636"/>
            <a:ext cx="1685925" cy="285750"/>
          </a:xfrm>
          <a:prstGeom prst="roundRect">
            <a:avLst>
              <a:gd name="adj" fmla="val 13333"/>
            </a:avLst>
          </a:prstGeom>
          <a:solidFill>
            <a:srgbClr val="1A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14677" y="1690836"/>
            <a:ext cx="14864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type_safe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077075" y="1614636"/>
            <a:ext cx="1685925" cy="285750"/>
          </a:xfrm>
          <a:prstGeom prst="roundRect">
            <a:avLst>
              <a:gd name="adj" fmla="val 13333"/>
            </a:avLst>
          </a:prstGeom>
          <a:solidFill>
            <a:srgbClr val="1A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76802" y="1690836"/>
            <a:ext cx="14864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1000" y="1976586"/>
            <a:ext cx="1333500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0726" y="1944897"/>
            <a:ext cx="1126999" cy="284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800" dirty="0">
                <a:solidFill>
                  <a:schemeClr val="bg2"/>
                </a:solidFill>
              </a:rPr>
              <a:t>Designed for near-zero overhead</a:t>
            </a:r>
          </a:p>
        </p:txBody>
      </p:sp>
      <p:sp>
        <p:nvSpPr>
          <p:cNvPr id="15" name="Text 13"/>
          <p:cNvSpPr/>
          <p:nvPr/>
        </p:nvSpPr>
        <p:spPr>
          <a:xfrm>
            <a:off x="1790700" y="1976586"/>
            <a:ext cx="1685925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890427" y="2033736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3552825" y="1976586"/>
            <a:ext cx="1685925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652552" y="2033736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5314950" y="1976586"/>
            <a:ext cx="1685925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414677" y="2033736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7077075" y="1976586"/>
            <a:ext cx="1685925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176802" y="2033736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381000" y="2287042"/>
            <a:ext cx="1333500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5300" y="2344192"/>
            <a:ext cx="11269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policies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1790700" y="2287042"/>
            <a:ext cx="1685925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890427" y="2344192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3552825" y="2287042"/>
            <a:ext cx="1685925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652552" y="2344192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5314950" y="2287042"/>
            <a:ext cx="1685925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414677" y="2344192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7077075" y="2287042"/>
            <a:ext cx="1685925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176802" y="2344192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381000" y="2597497"/>
            <a:ext cx="1333500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5300" y="2654647"/>
            <a:ext cx="11269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 checking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1790700" y="2597497"/>
            <a:ext cx="1685925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890427" y="2654647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3552825" y="2597497"/>
            <a:ext cx="1685925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652552" y="2654647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5314950" y="2597497"/>
            <a:ext cx="1685925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414677" y="2654647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7077075" y="2597497"/>
            <a:ext cx="1685925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176802" y="2654647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381000" y="2907953"/>
            <a:ext cx="1333500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95300" y="2965103"/>
            <a:ext cx="11269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wrapper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1790700" y="2907953"/>
            <a:ext cx="1685925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890427" y="2965103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3552825" y="2907953"/>
            <a:ext cx="1685925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652552" y="2965103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5314950" y="2907953"/>
            <a:ext cx="1685925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414677" y="2965103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75" dirty="0"/>
          </a:p>
        </p:txBody>
      </p:sp>
      <p:sp>
        <p:nvSpPr>
          <p:cNvPr id="51" name="Text 49"/>
          <p:cNvSpPr/>
          <p:nvPr/>
        </p:nvSpPr>
        <p:spPr>
          <a:xfrm>
            <a:off x="7077075" y="2907953"/>
            <a:ext cx="1685925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176802" y="2965103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75" dirty="0"/>
          </a:p>
        </p:txBody>
      </p:sp>
      <p:sp>
        <p:nvSpPr>
          <p:cNvPr id="53" name="Text 51"/>
          <p:cNvSpPr/>
          <p:nvPr/>
        </p:nvSpPr>
        <p:spPr>
          <a:xfrm>
            <a:off x="381000" y="3218408"/>
            <a:ext cx="1333500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95300" y="3275558"/>
            <a:ext cx="11269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integration</a:t>
            </a:r>
            <a:endParaRPr lang="en-US" sz="675" dirty="0"/>
          </a:p>
        </p:txBody>
      </p:sp>
      <p:sp>
        <p:nvSpPr>
          <p:cNvPr id="55" name="Text 53"/>
          <p:cNvSpPr/>
          <p:nvPr/>
        </p:nvSpPr>
        <p:spPr>
          <a:xfrm>
            <a:off x="1790700" y="3218408"/>
            <a:ext cx="1685925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890427" y="3275558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75" dirty="0"/>
          </a:p>
        </p:txBody>
      </p:sp>
      <p:sp>
        <p:nvSpPr>
          <p:cNvPr id="57" name="Text 55"/>
          <p:cNvSpPr/>
          <p:nvPr/>
        </p:nvSpPr>
        <p:spPr>
          <a:xfrm>
            <a:off x="3552825" y="3218408"/>
            <a:ext cx="1685925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3652552" y="3275558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75" dirty="0"/>
          </a:p>
        </p:txBody>
      </p:sp>
      <p:sp>
        <p:nvSpPr>
          <p:cNvPr id="59" name="Text 57"/>
          <p:cNvSpPr/>
          <p:nvPr/>
        </p:nvSpPr>
        <p:spPr>
          <a:xfrm>
            <a:off x="5314950" y="3218408"/>
            <a:ext cx="1685925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414677" y="3275558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75" dirty="0"/>
          </a:p>
        </p:txBody>
      </p:sp>
      <p:sp>
        <p:nvSpPr>
          <p:cNvPr id="61" name="Text 59"/>
          <p:cNvSpPr/>
          <p:nvPr/>
        </p:nvSpPr>
        <p:spPr>
          <a:xfrm>
            <a:off x="7077075" y="3218408"/>
            <a:ext cx="1685925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176802" y="3275558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75" dirty="0"/>
          </a:p>
        </p:txBody>
      </p:sp>
      <p:sp>
        <p:nvSpPr>
          <p:cNvPr id="63" name="Text 61"/>
          <p:cNvSpPr/>
          <p:nvPr/>
        </p:nvSpPr>
        <p:spPr>
          <a:xfrm>
            <a:off x="381000" y="3528864"/>
            <a:ext cx="1333500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495300" y="3586014"/>
            <a:ext cx="11269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standard</a:t>
            </a:r>
            <a:endParaRPr lang="en-US" sz="675" dirty="0"/>
          </a:p>
        </p:txBody>
      </p:sp>
      <p:sp>
        <p:nvSpPr>
          <p:cNvPr id="65" name="Text 63"/>
          <p:cNvSpPr/>
          <p:nvPr/>
        </p:nvSpPr>
        <p:spPr>
          <a:xfrm>
            <a:off x="1790700" y="3528864"/>
            <a:ext cx="1685925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1890427" y="3586014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C++17</a:t>
            </a:r>
            <a:endParaRPr lang="en-US" sz="675" dirty="0"/>
          </a:p>
        </p:txBody>
      </p:sp>
      <p:sp>
        <p:nvSpPr>
          <p:cNvPr id="67" name="Text 65"/>
          <p:cNvSpPr/>
          <p:nvPr/>
        </p:nvSpPr>
        <p:spPr>
          <a:xfrm>
            <a:off x="3552825" y="3528864"/>
            <a:ext cx="1685925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3652552" y="3586014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C++14</a:t>
            </a:r>
            <a:endParaRPr lang="en-US" sz="675" dirty="0"/>
          </a:p>
        </p:txBody>
      </p:sp>
      <p:sp>
        <p:nvSpPr>
          <p:cNvPr id="69" name="Text 67"/>
          <p:cNvSpPr/>
          <p:nvPr/>
        </p:nvSpPr>
        <p:spPr>
          <a:xfrm>
            <a:off x="5314950" y="3528864"/>
            <a:ext cx="1685925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5414677" y="3586014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C++11</a:t>
            </a:r>
            <a:endParaRPr lang="en-US" sz="675" dirty="0"/>
          </a:p>
        </p:txBody>
      </p:sp>
      <p:sp>
        <p:nvSpPr>
          <p:cNvPr id="71" name="Text 69"/>
          <p:cNvSpPr/>
          <p:nvPr/>
        </p:nvSpPr>
        <p:spPr>
          <a:xfrm>
            <a:off x="7077075" y="3528864"/>
            <a:ext cx="1685925" cy="234255"/>
          </a:xfrm>
          <a:prstGeom prst="roundRect">
            <a:avLst>
              <a:gd name="adj" fmla="val 16264"/>
            </a:avLst>
          </a:prstGeom>
          <a:solidFill>
            <a:srgbClr val="0D0D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7176802" y="3586014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C++03</a:t>
            </a:r>
            <a:endParaRPr lang="en-US" sz="675" dirty="0"/>
          </a:p>
        </p:txBody>
      </p:sp>
      <p:sp>
        <p:nvSpPr>
          <p:cNvPr id="73" name="Text 71"/>
          <p:cNvSpPr/>
          <p:nvPr/>
        </p:nvSpPr>
        <p:spPr>
          <a:xfrm>
            <a:off x="297180" y="3915519"/>
            <a:ext cx="8549640" cy="548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dirty="0">
                <a:solidFill>
                  <a:schemeClr val="bg2"/>
                </a:solidFill>
              </a:rPr>
              <a:t>All achieve the core goal: compile-time type distinction with minimal overhead (verify with your toolchain).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Choose What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800100"/>
            <a:ext cx="4114800" cy="2114550"/>
          </a:xfrm>
          <a:prstGeom prst="roundRect">
            <a:avLst>
              <a:gd name="adj" fmla="val 3604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81000" y="819150"/>
            <a:ext cx="4114800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1500" y="990600"/>
            <a:ext cx="38084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Fat-P StrongId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1272480"/>
            <a:ext cx="3733800" cy="11430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validation policies (positive, non-zero, range)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overflow-checked arithmetic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using Fat-P components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48200" y="800100"/>
            <a:ext cx="4114800" cy="2114550"/>
          </a:xfrm>
          <a:prstGeom prst="roundRect">
            <a:avLst>
              <a:gd name="adj" fmla="val 3604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48200" y="819150"/>
            <a:ext cx="4114800" cy="0"/>
          </a:xfrm>
          <a:prstGeom prst="line">
            <a:avLst/>
          </a:prstGeom>
          <a:noFill/>
          <a:ln w="381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38700" y="990600"/>
            <a:ext cx="38084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fluent::NamedType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38700" y="1272480"/>
            <a:ext cx="37338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feature set with "skills"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 conversion control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documentation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81000" y="3067050"/>
            <a:ext cx="4114800" cy="1847850"/>
          </a:xfrm>
          <a:prstGeom prst="roundRect">
            <a:avLst>
              <a:gd name="adj" fmla="val 4124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81000" y="3086100"/>
            <a:ext cx="4114800" cy="0"/>
          </a:xfrm>
          <a:prstGeom prst="line">
            <a:avLst/>
          </a:prstGeom>
          <a:noFill/>
          <a:ln w="381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1500" y="3257550"/>
            <a:ext cx="38084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type_safe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1500" y="3539430"/>
            <a:ext cx="37338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of larger type safety toolkit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dimensional analysis (units)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C++11 compatibility needed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48200" y="3067050"/>
            <a:ext cx="4114800" cy="1847850"/>
          </a:xfrm>
          <a:prstGeom prst="roundRect">
            <a:avLst>
              <a:gd name="adj" fmla="val 4124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48200" y="3086100"/>
            <a:ext cx="4114800" cy="0"/>
          </a:xfrm>
          <a:prstGeom prst="line">
            <a:avLst/>
          </a:prstGeom>
          <a:noFill/>
          <a:ln w="381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38700" y="3257550"/>
            <a:ext cx="38084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Boost.StrongTypedef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38700" y="3539430"/>
            <a:ext cx="37338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using Boost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battle-tested macro approach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C++ standard support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 Points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800100"/>
            <a:ext cx="4095750" cy="2000250"/>
          </a:xfrm>
          <a:prstGeom prst="roundRect">
            <a:avLst>
              <a:gd name="adj" fmla="val 3810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933450"/>
            <a:ext cx="38279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"Where else in your codebase?"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52450" y="1182886"/>
            <a:ext cx="382790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row IDs, API request IDs, session tokens, hardware register addresses, array indices, subsystem handles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81000" y="2914650"/>
            <a:ext cx="4095750" cy="2000250"/>
          </a:xfrm>
          <a:prstGeom prst="roundRect">
            <a:avLst>
              <a:gd name="adj" fmla="val 3810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2450" y="3048000"/>
            <a:ext cx="38279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"Argument-order bugs you've seen?"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52450" y="3297436"/>
            <a:ext cx="382790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memcpy(src,dst) confusion, Rect(x,y,w,h) vs (l,t,r,b), Date(y,m,d) vs (m,d,y)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667250" y="800100"/>
            <a:ext cx="4095750" cy="2000250"/>
          </a:xfrm>
          <a:prstGeom prst="roundRect">
            <a:avLst>
              <a:gd name="adj" fmla="val 3810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38700" y="933450"/>
            <a:ext cx="38279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"When is this overkill?"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838700" y="1182886"/>
            <a:ext cx="382790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is local to one function, prototyping code, used in exactly one place, C interop needed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667250" y="2914650"/>
            <a:ext cx="4095750" cy="2000250"/>
          </a:xfrm>
          <a:prstGeom prst="roundRect">
            <a:avLst>
              <a:gd name="adj" fmla="val 3810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38700" y="3048000"/>
            <a:ext cx="38279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"When is it worth it?"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838700" y="3297436"/>
            <a:ext cx="382790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A8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cross API boundaries, multiple ID types exist, bug would be costly (security, data corruption), long-term codebase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1181</Words>
  <Application>Microsoft Office PowerPoint</Application>
  <PresentationFormat>On-screen Show (16:9)</PresentationFormat>
  <Paragraphs>189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Problem-Solving Session 1: The Wrong ID</dc:title>
  <dc:subject>PptxGenJS Presentation</dc:subject>
  <dc:creator>Fat-P Library</dc:creator>
  <cp:lastModifiedBy>Schroeder, Matthew Q [US] (MS)</cp:lastModifiedBy>
  <cp:revision>3</cp:revision>
  <dcterms:created xsi:type="dcterms:W3CDTF">2026-01-19T07:26:15Z</dcterms:created>
  <dcterms:modified xsi:type="dcterms:W3CDTF">2026-01-19T20:48:15Z</dcterms:modified>
</cp:coreProperties>
</file>